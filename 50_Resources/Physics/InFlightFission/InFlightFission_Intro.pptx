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-1645920"/>
            <a:ext cx="5120640" cy="5120640"/>
          </a:xfrm>
          <a:prstGeom prst="ellipse">
            <a:avLst/>
          </a:prstGeom>
          <a:solidFill>
            <a:srgbClr val="075985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-1097280"/>
            <a:ext cx="3474720" cy="347472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88575" y="109728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1828800"/>
            <a:ext cx="228600" cy="228600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43055" y="2468880"/>
            <a:ext cx="164592" cy="164592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In-Flight Fission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Nuclear Physics Reactions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486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Mechanism, facilities, and recent frontier results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BigRIPS/RIBF and FRS/GSI to FRIB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· Institute of Modern Physics, CAS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April 2026 · OrbitOS / 50_Resources / Physics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In-Flight Fission?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858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unmapped nuclei lie in the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neutron-rich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mid-mass region (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≈ 80–160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the territory of the </a:t>
            </a:r>
            <a:pPr indent="0" marL="0">
              <a:spcAft>
                <a:spcPts val="800"/>
              </a:spcAft>
              <a:buNone/>
            </a:pPr>
            <a:r>
              <a:rPr lang="en-US" sz="15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r-process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of exotic shell evolution.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three main RI-beam production routes, only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of </a:t>
            </a:r>
            <a:pPr indent="0" marL="0">
              <a:spcAft>
                <a:spcPts val="800"/>
              </a:spcAft>
              <a:buNone/>
            </a:pPr>
            <a:r>
              <a:rPr lang="en-US" sz="1500" b="1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cleanly covers this mid-mass neutron-rich corner. ISOL is limited by release chemistry; projectile fragmentation peaks on the neutron-deficient side for heavier nuclei.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554480"/>
            <a:ext cx="40690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0" y="155448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the discovery program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20574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863840" y="3063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isotopes produced at BigRIPS since 2007 across 184 experimental programs (fission + fragmentation).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931920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52 %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6384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new-isotope discoveries worldwide in the 2020s come from RIBF in-flight separation.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2258568" cy="8686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37667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566928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Mid-mass Z ≈ 30–65 neutron-rich region unreachable by fragmentation.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43784" y="5303520"/>
            <a:ext cx="2258568" cy="8686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537667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80944" y="566928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exit target at v/c ≈ 0.7 — no release delay (unlike ISOL).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30368" y="5303520"/>
            <a:ext cx="2258568" cy="8686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537667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5669280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Event-by-event (Z, A/Q) particle ID on sub-ms lifetimes.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Kubo et al., PTEP 2012, 03C003; RIBF Facility Upgrade Proposal (NCAC, 2023); RIKEN BigRIPS Team documentation.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Production: Peripheral Abrasion → Fission at Relativistic Energies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18008" y="164592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6608" y="184708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660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6688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6608" y="25146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accelerated to 345 MeV/u (RIBF) or 400–1000 MeV/u (GSI).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8056" y="2651760"/>
            <a:ext cx="14630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52648" y="164592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1248" y="184708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124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21328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collision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1248" y="25146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Be target → few-nucleon abrasion → highly excited U* prefragment.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2696" y="2651760"/>
            <a:ext cx="14630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87288" y="164592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15888" y="184708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588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55968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 &amp; high-E fission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5888" y="25146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Prefragment fissions into two forward-focused, fast fragments.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57336" y="2651760"/>
            <a:ext cx="14630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21928" y="164592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50528" y="184708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052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90608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separation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50528" y="25146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Bρ–ΔE–TOF separation &amp; event-by-event Z, A/Q identification.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56692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977640"/>
            <a:ext cx="73152" cy="2148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069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large-acceptance separator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416552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Fission fragments exit forward-focused but with broad kinematic spread: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spread Δp/p ≈ ± 3 %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spread up to ≈ ± 50 mrad (vertical)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Z/A coverage in one setting — tuned via Bρ in two stages.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3977640"/>
            <a:ext cx="5440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397764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BigRIPS answer — design values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434840"/>
          <a:ext cx="4937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angular acceptance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40 mrad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angular acceptance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50 mrad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 acceptance Δp/p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structure — F1…F7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Kubo et al., “BigRIPS separator and ZeroDegree spectrometer at RIKEN RI Beam Factory,” PTEP 2012, 03C003.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Flagship In-Flight Fission Facilities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7729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9144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RIKEN Nishina Center (JP)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→ 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331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MeV/u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691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/ DOWNSTREAM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BigRIPS → ZeroDegree / SAMURAI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2331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since 2007 · Intensity upgrade underway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1828800"/>
            <a:ext cx="1828800" cy="914400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RIBF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1127729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91440" cy="146304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GSI / FAIR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GSI, Darmstadt (DE)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291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→ Be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400–1000 MeV/u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3291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/ DOWNSTREAM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FRS → Super-FRS (FAIR)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FRS operational · Super-FRS commissioning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26880" y="3429000"/>
            <a:ext cx="1828800" cy="914400"/>
          </a:xfrm>
          <a:prstGeom prst="rect">
            <a:avLst/>
          </a:prstGeom>
          <a:solidFill>
            <a:srgbClr val="075985">
              <a:alpha val="15000"/>
            </a:srgbClr>
          </a:solidFill>
          <a:ln w="6350">
            <a:solidFill>
              <a:srgbClr val="0759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GSI / FAIR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1127729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754880"/>
            <a:ext cx="91440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FRIB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8580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State Univ. (US)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74720" y="4892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TARGET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5120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ions → target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0" y="5532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5760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MeV/u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77840" y="4892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/ DOWNSTREAM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7784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 fragment separator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77840" y="5532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5760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since 2022 (CW heavy-ion linac)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326880" y="5029200"/>
            <a:ext cx="1828800" cy="914400"/>
          </a:xfrm>
          <a:prstGeom prst="rect">
            <a:avLst/>
          </a:prstGeom>
          <a:solidFill>
            <a:srgbClr val="B45309">
              <a:alpha val="15000"/>
            </a:srgbClr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26880" y="5029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FRIB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RIKEN Nishina Center BigRIPS documentation; GSI Super-FRS project pages; FRIB at MSU (frib.msu.edu).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CAMPAIGN · JAPAN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BigRIPS: Opening the Neutron-Rich Frontier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· MAY 2007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baseline="30000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pPr indent="0" marL="0">
              <a:buNone/>
            </a:pPr>
            <a:r>
              <a:rPr lang="en-US" sz="56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&amp;  </a:t>
            </a:r>
            <a:pPr indent="0" marL="0">
              <a:buNone/>
            </a:pPr>
            <a:r>
              <a:rPr lang="en-US" sz="3600" b="1" baseline="30000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pPr indent="0" marL="0">
              <a:buNone/>
            </a:pPr>
            <a:r>
              <a:rPr lang="en-US" sz="56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observation — produced by in-flight fission of 345 MeV/u </a:t>
            </a:r>
            <a:pPr indent="0" marL="0">
              <a:buNone/>
            </a:pP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on Be, in a commissioning run of ≈ 1 day at 0.007 pnA average beam current.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BigRIPS discovery campaigns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822960" cy="6400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965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1965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new neutron-rich isotopes identified from the Al (Z = 13) through Sn (Z = 50) region — Ohnishi et al., JPSJ 79, 073201 (2010).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670048"/>
            <a:ext cx="822960" cy="6400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670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26700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new isotopes observed in parallel with β-decay / isomer campaigns — JPSJ 87, 014203 (2018).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374136"/>
            <a:ext cx="822960" cy="6400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3741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37413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≈ 1,460 isotopes produced across 184 experimental programs (fission + fragmentation).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4078224"/>
            <a:ext cx="822960" cy="64008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07822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407822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additional rare-earth isotopes at the neutron-rich edge (Cs → Tb) — see next slide.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77295" cy="109728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19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230368"/>
            <a:ext cx="107286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its commissioning phase, BigRIPS established in-flight fission of </a:t>
            </a:r>
            <a:pPr indent="0" marL="0">
              <a:buNone/>
            </a:pPr>
            <a:r>
              <a:rPr lang="en-US" sz="1400" baseline="30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as the dominant production route for mid-mass neutron-rich exotica — a role it has only expanded since.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Ohnishi et al., J. Phys. Soc. Jpn. 77, 083201 (2008); 79, 073201 (2010); JPSJ 87, 014203 (2018).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CAMPAIGN · GERMANY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FRS at GSI: Fragmentation + Fission of 1 GeV/u </a:t>
            </a:r>
            <a:pPr indent="0" marL="0">
              <a:buNone/>
            </a:pPr>
            <a:r>
              <a:rPr lang="en-US" sz="2800" b="1" baseline="3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39319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KURCEWICZ ET AL. (2012)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neutron-rich isotopes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in a single dedicated FRS campaign, spanning Nd (Z = 60) through Pt (Z = 78), with </a:t>
            </a:r>
            <a:pPr indent="0" marL="0">
              <a:buNone/>
            </a:pP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at 1 GeV/u on a Be production target.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554480"/>
            <a:ext cx="57607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55448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mechanism makes which isotope?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Fission dominates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new isotopes up to holmium (Z ≲ 70).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Projectile fragmentation dominates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elements above hafnium (Z ≳ 72). Measured cross sections benchmark reaction models (EPAX, ABRABLA).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3611880"/>
            <a:ext cx="57607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3611880"/>
            <a:ext cx="73152" cy="1874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/ FAIR · 2025 HIGHLIGHT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06908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“island of asymmetric fission” mapped across ~100 neutron-deficient nuclei (Ir → Th) via secondary-beam fission after FRS separation — extending fission-systematics territory far from stability.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7150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FRS illustrates the complementarity of fragmentation and fission channels — both open in the same U-beam campaign by retuning Bρ.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Kurcewicz et al., Phys. Lett. B 717, 371 (2012) / arXiv:1112.0521; GSI/FAIR press release, 14 May 2025.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FRONTIERS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New 2026 RIBF Results on the In-Flight Fission Frontier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6692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526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 FRONTIER — JPSJ 95, 024202 (2026)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new neutron-rich isotopes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345 MeV/u </a:t>
            </a:r>
            <a:pPr indent="0" marL="0">
              <a:buNone/>
            </a:pP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+ Be in-flight fission, separated and identified by BigRIPS: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00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29968" y="3200400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3200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74136" y="3200400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4136" y="3200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18304" y="3200400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32004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4164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29968" y="4041648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9968" y="404164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74136" y="4041648"/>
            <a:ext cx="1234440" cy="731520"/>
          </a:xfrm>
          <a:prstGeom prst="rect">
            <a:avLst/>
          </a:prstGeom>
          <a:solidFill>
            <a:srgbClr val="0A192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404164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baseline="30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pPr algn="ctr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029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known chart well past N = 90 in the rare-earth region — r-process-relevant nuclei.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54406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554480"/>
            <a:ext cx="73152" cy="4526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 SHELL REGION — PTEP 2026, 033D06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5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of neutron-rich isotopes around N = 50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537960" y="2926080"/>
            <a:ext cx="5029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</a:t>
            </a:r>
            <a:pPr indent="0" marL="0">
              <a:spcAft>
                <a:spcPts val="400"/>
              </a:spcAft>
              <a:buNone/>
            </a:pPr>
            <a:r>
              <a:rPr lang="en-US" sz="1200" b="1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region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evolution of the N = 50 shell gap far from stability.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of 345 MeV/u </a:t>
            </a:r>
            <a:pPr indent="0" marL="0">
              <a:spcAft>
                <a:spcPts val="400"/>
              </a:spcAft>
              <a:buNone/>
            </a:pP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produces the short-lived Z ≈ 26–32 isotones in sufficient yield for cross-section and spectroscopy measurements.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informs nuclear-structure models (shell closures, islands of inversion) and r-process waiting points.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Shimizu et al., J. Phys. Soc. Jpn. 95, 024202 (2026); BigRIPS Team, PTEP 2026, 033D06 (2026).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In-Flight Fission Delivers Beyond Discovery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89408" y="1645920"/>
            <a:ext cx="3749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9408" y="1645920"/>
            <a:ext cx="3749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8008" y="1709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β-decay half-lives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3728" y="23774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Implantation + β–γ coincidence (WAS3ABi + EURICA) measures half-lives of ≳ 100 r-process-relevant neutron-rich nuclei — first direct constraints on the solar r-abundance pattern.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3728" y="5074920"/>
            <a:ext cx="2103120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728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R-PROCESS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21328" y="1645920"/>
            <a:ext cx="3749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21328" y="1645920"/>
            <a:ext cx="37490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9928" y="1709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measurements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95648" y="23774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Rare-RI Ring (2015, 60 m, Δp/p = 0.5 %, T_rev ≈ 355 ns at 200 A·MeV) coupled to BigRIPS; SHARAQ high-resolution TOF over a 105 m flight path.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95648" y="5074920"/>
            <a:ext cx="2103120" cy="365760"/>
          </a:xfrm>
          <a:prstGeom prst="rect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5648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+ R-PROCESS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53248" y="1645920"/>
            <a:ext cx="37490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3248" y="1645920"/>
            <a:ext cx="374904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1848" y="1709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Fission dynamics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27568" y="23774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kinematics give complete (Z, A, p) event reconstruction per fragment — enabling correlation studies, exotic spectroscopy, and symmetry-vs-asymmetry fragment-mass mapping (GSI 2025 ‘island of asymmetric fission’).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27568" y="5074920"/>
            <a:ext cx="2103120" cy="365760"/>
          </a:xfrm>
          <a:prstGeom prst="rect">
            <a:avLst/>
          </a:prstGeom>
          <a:solidFill>
            <a:srgbClr val="B91C1C">
              <a:alpha val="15000"/>
            </a:srgbClr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7568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FISSION &amp; SPECTROSCOPY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8064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vs. assumption: quoted facility parameters and discovery counts are taken from primary literature or facility documentation; astrophysical-impact claims reflect the consensus of cited reviews and may evolve with new r-process / kilonova constraints.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73952"/>
            <a:ext cx="8351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Nishimura et al., Phys. Rev. Lett. 106, 052502 (2011); Rare-RI Ring: Y. Yamaguchi et al., NIM B 317 (2013).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08415" y="6473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· OrbitOS · 2026-04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In-Flight Fission: Where We Are, Where We’re Going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fission of </a:t>
            </a:r>
            <a:pPr indent="0" marL="0">
              <a:spcAft>
                <a:spcPts val="600"/>
              </a:spcAft>
              <a:buNone/>
            </a:pPr>
            <a:r>
              <a:rPr lang="en-US" sz="1400" baseline="30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is the dominant route to mid-mass neutron-rich exotica.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Large-acceptance separators (BigRIPS, FRS / Super-FRS, ARIS) enable event-by-event (Z, A/Q) ID.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1,460 isotopes produced at BigRIPS since 2007; ~ 52 % of world discoveries in the 2020s.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output spans r-process β-decay, masses, and fission dynamics.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4864" cy="3840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(2026 → 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RIBF intensity upgrade: deeper push toward N = 126.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/ FAIR Super-FRS commissioning: ~ 10× FRS acceptance — new fission-fragment programs.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FRIB ramping up intensity — complementary CW beam coverage on a third continent.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to kilonova / neutron-star-merger nucleosynthesis models and to direct reactions with fast RI beams.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61220"/>
          </a:solidFill>
          <a:ln w="12700">
            <a:solidFill>
              <a:srgbClr val="0612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08076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references — Kubo et al., PTEP 2012 03C003 · Ohnishi et al., JPSJ 77, 083201 (2008); 79, 073201 (2010) · Kurcewicz et al., PLB 717, 371 (2012) / arXiv:1112.0521 · Shimizu et al., JPSJ 95, 024202 (2026) · BigRIPS Team, PTEP 2026 033D06 · GSI/FAIR press release, 14 May 2025.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Institute of Modern Physics, 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In-Flight Fission in Nuclear Physics Reactions</dc:title>
  <dc:subject>PptxGenJS Presentation</dc:subject>
  <dc:creator>Reid</dc:creator>
  <cp:lastModifiedBy>Reid</cp:lastModifiedBy>
  <cp:revision>1</cp:revision>
  <dcterms:created xsi:type="dcterms:W3CDTF">2026-04-21T07:10:47Z</dcterms:created>
  <dcterms:modified xsi:type="dcterms:W3CDTF">2026-04-21T07:10:47Z</dcterms:modified>
</cp:coreProperties>
</file>