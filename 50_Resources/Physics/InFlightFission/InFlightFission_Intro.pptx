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02575" y="-1645920"/>
            <a:ext cx="5120640" cy="5120640"/>
          </a:xfrm>
          <a:prstGeom prst="ellipse">
            <a:avLst/>
          </a:prstGeom>
          <a:solidFill>
            <a:srgbClr val="2D4A4C">
              <a:alpha val="4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99855" y="-1097280"/>
            <a:ext cx="3474720" cy="3474720"/>
          </a:xfrm>
          <a:prstGeom prst="ellipse">
            <a:avLst/>
          </a:prstGeom>
          <a:solidFill>
            <a:srgbClr val="4A7C7E">
              <a:alpha val="3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88575" y="1097280"/>
            <a:ext cx="320040" cy="32004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11535" y="1828800"/>
            <a:ext cx="228600" cy="228600"/>
          </a:xfrm>
          <a:prstGeom prst="ellipse">
            <a:avLst/>
          </a:prstGeom>
          <a:solidFill>
            <a:srgbClr val="E8A33D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43055" y="2468880"/>
            <a:ext cx="164592" cy="164592"/>
          </a:xfrm>
          <a:prstGeom prst="ellipse">
            <a:avLst/>
          </a:prstGeom>
          <a:solidFill>
            <a:srgbClr val="E8A33D">
              <a:alpha val="5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8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OVERVIEW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155448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0" b="1" dirty="0">
                <a:solidFill>
                  <a:srgbClr val="F5EFE6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In-Flight Fission</a:t>
            </a:r>
            <a:endParaRPr lang="en-US" sz="6800" dirty="0"/>
          </a:p>
        </p:txBody>
      </p:sp>
      <p:sp>
        <p:nvSpPr>
          <p:cNvPr id="11" name="Text 9"/>
          <p:cNvSpPr/>
          <p:nvPr/>
        </p:nvSpPr>
        <p:spPr>
          <a:xfrm>
            <a:off x="777240" y="283464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i="1" dirty="0">
                <a:solidFill>
                  <a:srgbClr val="F5EFE6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in Nuclear Physics Reactions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777240" y="3840480"/>
            <a:ext cx="640080" cy="45720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0233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A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Mechanism, facilities, and recent frontier results —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AFA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BigRIPS/RIBF and FRS/GSI to FRIB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77240" y="5806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Reid  ·  Institute of Modern Physics, CAS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77240" y="61447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AFA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April 2026  ·  OrbitOS / 50_Resources / Physics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9260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0" kern="0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728655" y="292608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·  09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713232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F2E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Why In-Flight Fission?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68580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unmapped nuclei lie in the </a:t>
            </a:r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neutron-rich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mid-mass region (</a:t>
            </a:r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≈ 80–160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— the territory of the </a:t>
            </a:r>
            <a:pPr indent="0" marL="0">
              <a:spcAft>
                <a:spcPts val="800"/>
              </a:spcAft>
              <a:buNone/>
            </a:pPr>
            <a:r>
              <a:rPr lang="en-US" sz="1500" b="1" i="1" dirty="0">
                <a:solidFill>
                  <a:srgbClr val="4A7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r-process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of exotic shell evolution.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three main RI-beam production routes, only </a:t>
            </a:r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in-flight fission of </a:t>
            </a:r>
            <a:pPr indent="0" marL="0">
              <a:spcAft>
                <a:spcPts val="800"/>
              </a:spcAft>
              <a:buNone/>
            </a:pPr>
            <a:r>
              <a:rPr lang="en-US" sz="1500" b="1" baseline="300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238</a:t>
            </a:r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cleanly covers this mid-mass neutron-rich corner. ISOL is limited by release chemistry; projectile fragmentation peaks on the neutron-deficient side for heavier nuclei.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680960" y="1554480"/>
            <a:ext cx="406908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6350">
            <a:solidFill>
              <a:srgbClr val="E8DFD2"/>
            </a:solidFill>
            <a:prstDash val="solid"/>
          </a:ln>
          <a:effectLst>
            <a:outerShdw sx="100000" sy="100000" kx="0" ky="0" algn="bl" rotWithShape="0" blurRad="177800" dist="38100" dir="5400000">
              <a:srgbClr val="1A1F2E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680960" y="1627632"/>
            <a:ext cx="73152" cy="3328416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0" y="1691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of the discovery program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955280" y="205740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D4A4C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1,460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7955280" y="30632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isotopes produced at BigRIPS since 2007 across 184 experimental programs (fission + fragmentation).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955280" y="3931920"/>
            <a:ext cx="3657600" cy="0"/>
          </a:xfrm>
          <a:prstGeom prst="line">
            <a:avLst/>
          </a:prstGeom>
          <a:noFill/>
          <a:ln w="9525">
            <a:solidFill>
              <a:srgbClr val="E8DFD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0" y="397764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7333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~ 52 %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7955280" y="44805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new-isotope discoveries worldwide in the 2020s come from RIBF in-flight separation.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5303520"/>
            <a:ext cx="2258568" cy="868680"/>
          </a:xfrm>
          <a:prstGeom prst="rect">
            <a:avLst/>
          </a:prstGeom>
          <a:solidFill>
            <a:srgbClr val="2D4A4C"/>
          </a:solidFill>
          <a:ln w="12700">
            <a:solidFill>
              <a:srgbClr val="2D4A4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5376672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94360" y="5669280"/>
            <a:ext cx="198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Mid-mass Z ≈ 30–65 neutron-rich region unreachable by fragmentation.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843784" y="5303520"/>
            <a:ext cx="2258568" cy="868680"/>
          </a:xfrm>
          <a:prstGeom prst="rect">
            <a:avLst/>
          </a:prstGeom>
          <a:solidFill>
            <a:srgbClr val="2D4A4C"/>
          </a:solidFill>
          <a:ln w="12700">
            <a:solidFill>
              <a:srgbClr val="2D4A4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80944" y="5376672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980944" y="5669280"/>
            <a:ext cx="198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Fragments exit target at v/c ≈ 0.7 — no release delay (unlike ISOL).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230368" y="5303520"/>
            <a:ext cx="2258568" cy="868680"/>
          </a:xfrm>
          <a:prstGeom prst="rect">
            <a:avLst/>
          </a:prstGeom>
          <a:solidFill>
            <a:srgbClr val="2D4A4C"/>
          </a:solidFill>
          <a:ln w="12700">
            <a:solidFill>
              <a:srgbClr val="2D4A4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67528" y="5376672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367528" y="5669280"/>
            <a:ext cx="198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Event-by-event (Z, A/Q) particle ID on sub-ms lifetimes.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6350">
            <a:solidFill>
              <a:srgbClr val="D9D2C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6446520"/>
            <a:ext cx="82597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Kubo et al., PTEP 2012, 03C003; RIBF Facility Upgrade Proposal (NCAC, 2023); RIKEN BigRIPS Team documentation.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808415" y="644652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In-Flight Fission  ·  OrbitOS  ·  2026-04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9260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0" kern="0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728655" y="292608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09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713232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F2E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Production: Peripheral Abrasion → Fission at Relativistic Energies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518008" y="1645920"/>
            <a:ext cx="265176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8DFD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6608" y="1847088"/>
            <a:ext cx="502920" cy="50292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8" y="18470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426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86688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4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beam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46608" y="251460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100" baseline="300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238</a:t>
            </a:r>
            <a:pPr indent="0" marL="0">
              <a:buNone/>
            </a:pPr>
            <a:r>
              <a:rPr lang="en-US" sz="11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accelerated to 345 MeV/u (RIBF) or 400–1000 MeV/u (GSI).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188056" y="2651760"/>
            <a:ext cx="146304" cy="0"/>
          </a:xfrm>
          <a:prstGeom prst="line">
            <a:avLst/>
          </a:prstGeom>
          <a:noFill/>
          <a:ln w="254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352648" y="1645920"/>
            <a:ext cx="265176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8DFD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581248" y="1847088"/>
            <a:ext cx="502920" cy="50292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81248" y="18470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426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221328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4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Peripheral collision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581248" y="251460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Be target → few-nucleon abrasion → highly excited U* prefragment.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22696" y="2651760"/>
            <a:ext cx="146304" cy="0"/>
          </a:xfrm>
          <a:prstGeom prst="line">
            <a:avLst/>
          </a:prstGeom>
          <a:noFill/>
          <a:ln w="254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187288" y="1645920"/>
            <a:ext cx="265176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8DFD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15888" y="1847088"/>
            <a:ext cx="502920" cy="50292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15888" y="18470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426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055968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4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 &amp; high-E fission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15888" y="251460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Prefragment fissions into two forward-focused, fast fragments.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857336" y="2651760"/>
            <a:ext cx="146304" cy="0"/>
          </a:xfrm>
          <a:prstGeom prst="line">
            <a:avLst/>
          </a:prstGeom>
          <a:noFill/>
          <a:ln w="254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021928" y="1645920"/>
            <a:ext cx="265176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8DFD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250528" y="1847088"/>
            <a:ext cx="502920" cy="50292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50528" y="18470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426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890608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4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In-flight separation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250528" y="251460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Bρ–ΔE–TOF separation &amp; event-by-event Z, A/Q identification.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3977640"/>
            <a:ext cx="566928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6350">
            <a:solidFill>
              <a:srgbClr val="E8DFD2"/>
            </a:solidFill>
            <a:prstDash val="solid"/>
          </a:ln>
          <a:effectLst>
            <a:outerShdw sx="100000" sy="100000" kx="0" ky="0" algn="bl" rotWithShape="0" blurRad="177800" dist="38100" dir="5400000">
              <a:srgbClr val="1A1F2E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57200" y="4050792"/>
            <a:ext cx="73152" cy="2002536"/>
          </a:xfrm>
          <a:prstGeom prst="rect">
            <a:avLst/>
          </a:prstGeom>
          <a:solidFill>
            <a:srgbClr val="4A7C7E"/>
          </a:solidFill>
          <a:ln w="12700">
            <a:solidFill>
              <a:srgbClr val="4A7C7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40690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need a large-acceptance separator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31520" y="4416552"/>
            <a:ext cx="5303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Fission fragments exit forward-focused but with broad kinematic spread: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Momentum spread Δp/p ≈ ± 3 %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 spread up to ≈ ± 50 mrad (vertical)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Z/A coverage in one setting — tuned via Bρ in two stages.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309360" y="397764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6350">
            <a:solidFill>
              <a:srgbClr val="E8DFD2"/>
            </a:solidFill>
            <a:prstDash val="solid"/>
          </a:ln>
          <a:effectLst>
            <a:outerShdw sx="100000" sy="100000" kx="0" ky="0" algn="bl" rotWithShape="0" blurRad="177800" dist="38100" dir="5400000">
              <a:srgbClr val="1A1F2E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309360" y="4050792"/>
            <a:ext cx="73152" cy="2002536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83680" y="40690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BigRIPS answer — design values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4434840"/>
          <a:ext cx="49377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6459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Horizontal angular acceptance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B87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 40 mrad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Vertical angular acceptance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B87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 50 mrad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Momentum acceptance Δp/p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B87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 3 %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Two-stage structure — F1…F7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B87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Purification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DF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Shape 35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6350">
            <a:solidFill>
              <a:srgbClr val="D9D2C5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02920" y="6446520"/>
            <a:ext cx="82597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Kubo et al., “BigRIPS separator and ZeroDegree spectrometer at RIKEN RI Beam Factory,” PTEP 2012, 03C003.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8808415" y="644652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In-Flight Fission  ·  OrbitOS  ·  2026-04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9260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0" kern="0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FACILITIES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728655" y="292608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09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713232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F2E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Three Flagship In-Flight Fission Facilities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11277295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8DFD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554480"/>
            <a:ext cx="91440" cy="1463040"/>
          </a:xfrm>
          <a:prstGeom prst="rect">
            <a:avLst/>
          </a:prstGeom>
          <a:solidFill>
            <a:srgbClr val="4A7C7E"/>
          </a:solidFill>
          <a:ln w="12700">
            <a:solidFill>
              <a:srgbClr val="4A7C7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6916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F2E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RIBF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85800" y="22402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RIKEN Nishina Center (JP)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474720" y="169164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/ TARGET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474720" y="1920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aseline="300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238</a:t>
            </a:r>
            <a:pPr indent="0" marL="0"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→ Be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74720" y="233172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474720" y="2560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345 MeV/u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577840" y="16916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SEPARATOR / DOWNSTREAM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577840" y="1920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BigRIPS → ZeroDegree / SAMURAI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577840" y="23317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577840" y="2560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since 2007 · Intensity upgrade underway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326880" y="1828800"/>
            <a:ext cx="1828800" cy="914400"/>
          </a:xfrm>
          <a:prstGeom prst="rect">
            <a:avLst/>
          </a:prstGeom>
          <a:solidFill>
            <a:srgbClr val="4A7C7E">
              <a:alpha val="15000"/>
            </a:srgbClr>
          </a:solidFill>
          <a:ln w="6350">
            <a:solidFill>
              <a:srgbClr val="4A7C7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0" y="18288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A7C7E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RIBF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457200" y="3154680"/>
            <a:ext cx="11277295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8DFD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3154680"/>
            <a:ext cx="91440" cy="1463040"/>
          </a:xfrm>
          <a:prstGeom prst="rect">
            <a:avLst/>
          </a:prstGeom>
          <a:solidFill>
            <a:srgbClr val="2D4A4C"/>
          </a:solidFill>
          <a:ln w="12700">
            <a:solidFill>
              <a:srgbClr val="2D4A4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32918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F2E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GSI / FAIR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685800" y="3840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GSI, Darmstadt (DE)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474720" y="329184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/ TARGET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74720" y="35204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aseline="300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238</a:t>
            </a:r>
            <a:pPr indent="0" marL="0"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→ Be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474720" y="393192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474720" y="41605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400–1000 MeV/u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577840" y="32918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SEPARATOR / DOWNSTREAM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577840" y="3520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FRS → Super-FRS (FAIR)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577840" y="39319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77840" y="41605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FRS operational · Super-FRS commissioning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326880" y="3429000"/>
            <a:ext cx="1828800" cy="914400"/>
          </a:xfrm>
          <a:prstGeom prst="rect">
            <a:avLst/>
          </a:prstGeom>
          <a:solidFill>
            <a:srgbClr val="2D4A4C">
              <a:alpha val="15000"/>
            </a:srgbClr>
          </a:solidFill>
          <a:ln w="6350">
            <a:solidFill>
              <a:srgbClr val="2D4A4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326880" y="34290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D4A4C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GSI / FAIR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457200" y="4754880"/>
            <a:ext cx="11277295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8DFD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57200" y="4754880"/>
            <a:ext cx="91440" cy="146304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5800" y="4892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F2E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FRIB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685800" y="5440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Michigan State Univ. (US)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474720" y="489204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/ TARGET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474720" y="51206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ions → target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3474720" y="553212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3474720" y="5760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200 MeV/u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577840" y="48920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SEPARATOR / DOWNSTREAM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77840" y="5120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ARIS fragment separator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577840" y="55321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577840" y="57607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since 2022 (CW heavy-ion linac)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9326880" y="5029200"/>
            <a:ext cx="1828800" cy="914400"/>
          </a:xfrm>
          <a:prstGeom prst="rect">
            <a:avLst/>
          </a:prstGeom>
          <a:solidFill>
            <a:srgbClr val="B87333">
              <a:alpha val="15000"/>
            </a:srgbClr>
          </a:solidFill>
          <a:ln w="6350">
            <a:solidFill>
              <a:srgbClr val="B87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326880" y="50292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7333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FRIB</a:t>
            </a:r>
            <a:endParaRPr lang="en-US" sz="2000" dirty="0"/>
          </a:p>
        </p:txBody>
      </p:sp>
      <p:sp>
        <p:nvSpPr>
          <p:cNvPr id="49" name="Shape 47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6350">
            <a:solidFill>
              <a:srgbClr val="D9D2C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2920" y="6446520"/>
            <a:ext cx="82597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RIKEN Nishina Center BigRIPS documentation; GSI Super-FRS project pages; FRIB at MSU (frib.msu.edu).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8808415" y="644652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In-Flight Fission  ·  OrbitOS  ·  2026-04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9260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0" kern="0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CAMPAIGN · JAPAN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728655" y="292608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·  09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713232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F2E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BigRIPS: Opening the Neutron-Rich Frontier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502920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6350">
            <a:solidFill>
              <a:srgbClr val="E8DFD2"/>
            </a:solidFill>
            <a:prstDash val="solid"/>
          </a:ln>
          <a:effectLst>
            <a:outerShdw sx="100000" sy="100000" kx="0" ky="0" algn="bl" rotWithShape="0" blurRad="177800" dist="38100" dir="5400000">
              <a:srgbClr val="1A1F2E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627632"/>
            <a:ext cx="73152" cy="2871216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6916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RUN · MAY 2007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5800" y="210312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baseline="30000" dirty="0">
                <a:solidFill>
                  <a:srgbClr val="2D4A4C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125</a:t>
            </a:r>
            <a:pPr indent="0" marL="0">
              <a:buNone/>
            </a:pPr>
            <a:r>
              <a:rPr lang="en-US" sz="5600" b="1" dirty="0">
                <a:solidFill>
                  <a:srgbClr val="2D4A4C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Pd</a:t>
            </a:r>
            <a:pPr indent="0" marL="0">
              <a:buNone/>
            </a:pPr>
            <a:r>
              <a:rPr lang="en-US" sz="2800" dirty="0">
                <a:solidFill>
                  <a:srgbClr val="8B8578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  &amp;  </a:t>
            </a:r>
            <a:pPr indent="0" marL="0">
              <a:buNone/>
            </a:pPr>
            <a:r>
              <a:rPr lang="en-US" sz="3600" b="1" baseline="30000" dirty="0">
                <a:solidFill>
                  <a:srgbClr val="2D4A4C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126</a:t>
            </a:r>
            <a:pPr indent="0" marL="0">
              <a:buNone/>
            </a:pPr>
            <a:r>
              <a:rPr lang="en-US" sz="5600" b="1" dirty="0">
                <a:solidFill>
                  <a:srgbClr val="2D4A4C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Pd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685800" y="333756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observation — produced by in-flight fission of 345 MeV/u </a:t>
            </a:r>
            <a:pPr indent="0" marL="0">
              <a:buNone/>
            </a:pPr>
            <a:r>
              <a:rPr lang="en-US" sz="1200" baseline="300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238</a:t>
            </a:r>
            <a:pPr indent="0" marL="0"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on Be, in a commissioning run of ≈ 1 day at 0.007 pnA average beam current.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852160" y="155448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Subsequent BigRIPS discovery campaigns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852160" y="1965960"/>
            <a:ext cx="822960" cy="640080"/>
          </a:xfrm>
          <a:prstGeom prst="rect">
            <a:avLst/>
          </a:prstGeom>
          <a:solidFill>
            <a:srgbClr val="2D4A4C"/>
          </a:solidFill>
          <a:ln w="12700">
            <a:solidFill>
              <a:srgbClr val="2D4A4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52160" y="19659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2010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12280" y="196596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new neutron-rich isotopes identified from the Al (Z = 13) through Sn (Z = 50) region — Ohnishi et al., JPSJ 79, 073201 (2010).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852160" y="2670048"/>
            <a:ext cx="822960" cy="640080"/>
          </a:xfrm>
          <a:prstGeom prst="rect">
            <a:avLst/>
          </a:prstGeom>
          <a:solidFill>
            <a:srgbClr val="2D4A4C"/>
          </a:solidFill>
          <a:ln w="12700">
            <a:solidFill>
              <a:srgbClr val="2D4A4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52160" y="2670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2018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12280" y="2670048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new isotopes observed in parallel with β-decay / isomer campaigns — JPSJ 87, 014203 (2018).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852160" y="3374136"/>
            <a:ext cx="822960" cy="640080"/>
          </a:xfrm>
          <a:prstGeom prst="rect">
            <a:avLst/>
          </a:prstGeom>
          <a:solidFill>
            <a:srgbClr val="2D4A4C"/>
          </a:solidFill>
          <a:ln w="12700">
            <a:solidFill>
              <a:srgbClr val="2D4A4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52160" y="3374136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2024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812280" y="3374136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≈ 1,460 isotopes produced across 184 experimental programs (fission + fragmentation).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852160" y="4078224"/>
            <a:ext cx="822960" cy="640080"/>
          </a:xfrm>
          <a:prstGeom prst="rect">
            <a:avLst/>
          </a:prstGeom>
          <a:solidFill>
            <a:srgbClr val="2D4A4C"/>
          </a:solidFill>
          <a:ln w="12700">
            <a:solidFill>
              <a:srgbClr val="2D4A4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52160" y="4078224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2026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812280" y="4078224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additional rare-earth isotopes at the neutron-rich edge (Cs → Tb) — see next slide.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846320"/>
            <a:ext cx="11277295" cy="1097280"/>
          </a:xfrm>
          <a:prstGeom prst="rect">
            <a:avLst/>
          </a:prstGeom>
          <a:solidFill>
            <a:srgbClr val="0B1426"/>
          </a:solidFill>
          <a:ln w="12700">
            <a:solidFill>
              <a:srgbClr val="0B14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919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31520" y="5230368"/>
            <a:ext cx="107286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in its commissioning phase, BigRIPS established in-flight fission of </a:t>
            </a:r>
            <a:pPr indent="0" marL="0">
              <a:buNone/>
            </a:pPr>
            <a:r>
              <a:rPr lang="en-US" sz="1400" baseline="300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238</a:t>
            </a:r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as the dominant production route for mid-mass neutron-rich exotica — a role it has only expanded since.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6350">
            <a:solidFill>
              <a:srgbClr val="D9D2C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" y="6446520"/>
            <a:ext cx="82597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Ohnishi et al., J. Phys. Soc. Jpn. 77, 083201 (2008); 79, 073201 (2010); JPSJ 87, 014203 (2018).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808415" y="644652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In-Flight Fission  ·  OrbitOS  ·  2026-04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9260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0" kern="0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CAMPAIGN · GERMANY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728655" y="292608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·  09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713232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F2E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FRS at GSI: Fragmentation + Fission of 1 GeV/u </a:t>
            </a:r>
            <a:pPr indent="0" marL="0">
              <a:buNone/>
            </a:pPr>
            <a:r>
              <a:rPr lang="en-US" sz="3600" b="1" baseline="30000" dirty="0">
                <a:solidFill>
                  <a:srgbClr val="1A1F2E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238</a:t>
            </a:r>
            <a:pPr indent="0" marL="0">
              <a:buNone/>
            </a:pPr>
            <a:r>
              <a:rPr lang="en-US" sz="3600" b="1" dirty="0">
                <a:solidFill>
                  <a:srgbClr val="1A1F2E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U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530352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6350">
            <a:solidFill>
              <a:srgbClr val="E8DFD2"/>
            </a:solidFill>
            <a:prstDash val="solid"/>
          </a:ln>
          <a:effectLst>
            <a:outerShdw sx="100000" sy="100000" kx="0" ky="0" algn="bl" rotWithShape="0" blurRad="177800" dist="38100" dir="5400000">
              <a:srgbClr val="1A1F2E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627632"/>
            <a:ext cx="73152" cy="3785616"/>
          </a:xfrm>
          <a:prstGeom prst="rect">
            <a:avLst/>
          </a:prstGeom>
          <a:solidFill>
            <a:srgbClr val="2D4A4C"/>
          </a:solidFill>
          <a:ln w="12700">
            <a:solidFill>
              <a:srgbClr val="2D4A4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6916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KURCEWICZ ET AL. (2012)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5800" y="201168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2D4A4C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60</a:t>
            </a:r>
            <a:endParaRPr lang="en-US" sz="11000" dirty="0"/>
          </a:p>
        </p:txBody>
      </p:sp>
      <p:sp>
        <p:nvSpPr>
          <p:cNvPr id="11" name="Text 9"/>
          <p:cNvSpPr/>
          <p:nvPr/>
        </p:nvSpPr>
        <p:spPr>
          <a:xfrm>
            <a:off x="685800" y="35661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neutron-rich isotopes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402336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discovered in a single dedicated FRS campaign, spanning Nd (Z = 60) through Pt (Z = 78), with </a:t>
            </a:r>
            <a:pPr indent="0" marL="0">
              <a:buNone/>
            </a:pPr>
            <a:r>
              <a:rPr lang="en-US" sz="1200" baseline="300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238</a:t>
            </a:r>
            <a:pPr indent="0" marL="0"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at 1 GeV/u on a Be production target.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89320" y="1554480"/>
            <a:ext cx="576072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6350">
            <a:solidFill>
              <a:srgbClr val="E8DFD2"/>
            </a:solidFill>
            <a:prstDash val="solid"/>
          </a:ln>
          <a:effectLst>
            <a:outerShdw sx="100000" sy="100000" kx="0" ky="0" algn="bl" rotWithShape="0" blurRad="177800" dist="38100" dir="5400000">
              <a:srgbClr val="1A1F2E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89320" y="1627632"/>
            <a:ext cx="73152" cy="1728216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0" y="16916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mechanism makes which isotope?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17920" y="2057400"/>
            <a:ext cx="5303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Fission dominates</a:t>
            </a:r>
            <a:pPr indent="0" marL="0"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new isotopes up to holmium (Z ≲ 70).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2D4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Projectile fragmentation dominates</a:t>
            </a:r>
            <a:pPr indent="0" marL="0"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elements above hafnium (Z ≳ 72). Measured cross sections benchmark reaction models (EPAX, ABRABLA).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89320" y="3611880"/>
            <a:ext cx="576072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6350">
            <a:solidFill>
              <a:srgbClr val="E8DFD2"/>
            </a:solidFill>
            <a:prstDash val="solid"/>
          </a:ln>
          <a:effectLst>
            <a:outerShdw sx="100000" sy="100000" kx="0" ky="0" algn="bl" rotWithShape="0" blurRad="177800" dist="38100" dir="5400000">
              <a:srgbClr val="1A1F2E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989320" y="3685032"/>
            <a:ext cx="73152" cy="1728216"/>
          </a:xfrm>
          <a:prstGeom prst="rect">
            <a:avLst/>
          </a:prstGeom>
          <a:solidFill>
            <a:srgbClr val="7A2E2E"/>
          </a:solidFill>
          <a:ln w="12700">
            <a:solidFill>
              <a:srgbClr val="7A2E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0" y="37490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7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GSI / FAIR · 2025 HIGHLIGHT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217920" y="4069080"/>
            <a:ext cx="5303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“island of asymmetric fission” mapped across ~100 neutron-deficient nuclei (Ir → Th) via secondary-beam fission after FRS separation — extending fission-systematics territory far from stability.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57150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FRS illustrates the complementarity of fragmentation and fission channels — both open in the same U-beam campaign by retuning Bρ.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6350">
            <a:solidFill>
              <a:srgbClr val="D9D2C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6446520"/>
            <a:ext cx="82597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W. Kurcewicz et al., Phys. Lett. B 717, 371 (2012) / arXiv:1112.0521; GSI/FAIR press release, 14 May 2025.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808415" y="644652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In-Flight Fission  ·  OrbitOS  ·  2026-04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9260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0" kern="0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FRONTIERS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728655" y="292608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·  09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713232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F2E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Two 2026 Results on the Fission Frontier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5669280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6350">
            <a:solidFill>
              <a:srgbClr val="E8DFD2"/>
            </a:solidFill>
            <a:prstDash val="solid"/>
          </a:ln>
          <a:effectLst>
            <a:outerShdw sx="100000" sy="100000" kx="0" ky="0" algn="bl" rotWithShape="0" blurRad="177800" dist="38100" dir="5400000">
              <a:srgbClr val="1A1F2E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627632"/>
            <a:ext cx="73152" cy="4379976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6916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RARE-EARTH FRONTIER — JPSJ 95, 024202 (2026)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5800" y="205740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D4A4C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Seven new neutron-rich isotopes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85800" y="260604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by 345 MeV/u </a:t>
            </a:r>
            <a:pPr indent="0" marL="0">
              <a:buNone/>
            </a:pPr>
            <a:r>
              <a:rPr lang="en-US" sz="1200" baseline="300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238</a:t>
            </a:r>
            <a:pPr indent="0" marL="0"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+ Be in-flight fission, separated and identified by BigRIPS: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3200400"/>
            <a:ext cx="1234440" cy="731520"/>
          </a:xfrm>
          <a:prstGeom prst="rect">
            <a:avLst/>
          </a:prstGeom>
          <a:solidFill>
            <a:srgbClr val="0B1426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20040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baseline="30000" dirty="0">
                <a:solidFill>
                  <a:srgbClr val="E8A33D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152</a:t>
            </a:r>
            <a:pPr algn="ctr" indent="0" marL="0">
              <a:buNone/>
            </a:pPr>
            <a:r>
              <a:rPr lang="en-US" sz="2600" b="1" dirty="0">
                <a:solidFill>
                  <a:srgbClr val="F5EFE6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Cs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029968" y="3200400"/>
            <a:ext cx="1234440" cy="731520"/>
          </a:xfrm>
          <a:prstGeom prst="rect">
            <a:avLst/>
          </a:prstGeom>
          <a:solidFill>
            <a:srgbClr val="0B1426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29968" y="320040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baseline="30000" dirty="0">
                <a:solidFill>
                  <a:srgbClr val="E8A33D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155</a:t>
            </a:r>
            <a:pPr algn="ctr" indent="0" marL="0">
              <a:buNone/>
            </a:pPr>
            <a:r>
              <a:rPr lang="en-US" sz="2600" b="1" dirty="0">
                <a:solidFill>
                  <a:srgbClr val="F5EFE6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Ba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374136" y="3200400"/>
            <a:ext cx="1234440" cy="731520"/>
          </a:xfrm>
          <a:prstGeom prst="rect">
            <a:avLst/>
          </a:prstGeom>
          <a:solidFill>
            <a:srgbClr val="0B1426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74136" y="320040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baseline="30000" dirty="0">
                <a:solidFill>
                  <a:srgbClr val="E8A33D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158</a:t>
            </a:r>
            <a:pPr algn="ctr" indent="0" marL="0">
              <a:buNone/>
            </a:pPr>
            <a:r>
              <a:rPr lang="en-US" sz="2600" b="1" dirty="0">
                <a:solidFill>
                  <a:srgbClr val="F5EFE6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La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718304" y="3200400"/>
            <a:ext cx="1234440" cy="731520"/>
          </a:xfrm>
          <a:prstGeom prst="rect">
            <a:avLst/>
          </a:prstGeom>
          <a:solidFill>
            <a:srgbClr val="0B1426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18304" y="320040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baseline="30000" dirty="0">
                <a:solidFill>
                  <a:srgbClr val="E8A33D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159</a:t>
            </a:r>
            <a:pPr algn="ctr" indent="0" marL="0">
              <a:buNone/>
            </a:pPr>
            <a:r>
              <a:rPr lang="en-US" sz="2600" b="1" dirty="0">
                <a:solidFill>
                  <a:srgbClr val="F5EFE6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Ce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357884" y="4041648"/>
            <a:ext cx="1234440" cy="731520"/>
          </a:xfrm>
          <a:prstGeom prst="rect">
            <a:avLst/>
          </a:prstGeom>
          <a:solidFill>
            <a:srgbClr val="0B1426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57884" y="4041648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baseline="30000" dirty="0">
                <a:solidFill>
                  <a:srgbClr val="E8A33D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160</a:t>
            </a:r>
            <a:pPr algn="ctr" indent="0" marL="0">
              <a:buNone/>
            </a:pPr>
            <a:r>
              <a:rPr lang="en-US" sz="2600" b="1" dirty="0">
                <a:solidFill>
                  <a:srgbClr val="F5EFE6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Ce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702052" y="4041648"/>
            <a:ext cx="1234440" cy="731520"/>
          </a:xfrm>
          <a:prstGeom prst="rect">
            <a:avLst/>
          </a:prstGeom>
          <a:solidFill>
            <a:srgbClr val="0B1426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02052" y="4041648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baseline="30000" dirty="0">
                <a:solidFill>
                  <a:srgbClr val="E8A33D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173</a:t>
            </a:r>
            <a:pPr algn="ctr" indent="0" marL="0">
              <a:buNone/>
            </a:pPr>
            <a:r>
              <a:rPr lang="en-US" sz="2600" b="1" dirty="0">
                <a:solidFill>
                  <a:srgbClr val="F5EFE6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Gd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046220" y="4041648"/>
            <a:ext cx="1234440" cy="731520"/>
          </a:xfrm>
          <a:prstGeom prst="rect">
            <a:avLst/>
          </a:prstGeom>
          <a:solidFill>
            <a:srgbClr val="0B1426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46220" y="4041648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baseline="30000" dirty="0">
                <a:solidFill>
                  <a:srgbClr val="E8A33D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175</a:t>
            </a:r>
            <a:pPr algn="ctr" indent="0" marL="0">
              <a:buNone/>
            </a:pPr>
            <a:r>
              <a:rPr lang="en-US" sz="2600" b="1" dirty="0">
                <a:solidFill>
                  <a:srgbClr val="F5EFE6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Tb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85800" y="502920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the known chart well past N = 90 in the rare-earth region — r-process-relevant nuclei.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1554480"/>
            <a:ext cx="5440680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6350">
            <a:solidFill>
              <a:srgbClr val="E8DFD2"/>
            </a:solidFill>
            <a:prstDash val="solid"/>
          </a:ln>
          <a:effectLst>
            <a:outerShdw sx="100000" sy="100000" kx="0" ky="0" algn="bl" rotWithShape="0" blurRad="177800" dist="38100" dir="5400000">
              <a:srgbClr val="1A1F2E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309360" y="1627632"/>
            <a:ext cx="73152" cy="4379976"/>
          </a:xfrm>
          <a:prstGeom prst="rect">
            <a:avLst/>
          </a:prstGeom>
          <a:solidFill>
            <a:srgbClr val="4A7C7E"/>
          </a:solidFill>
          <a:ln w="12700">
            <a:solidFill>
              <a:srgbClr val="4A7C7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37960" y="16916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50 SHELL REGION — PTEP 2026, 033D06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537960" y="205740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D4A4C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Exploration of neutron-rich isotopes around N = 50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6537960" y="2926080"/>
            <a:ext cx="5029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the </a:t>
            </a:r>
            <a:pPr indent="0" marL="0">
              <a:spcAft>
                <a:spcPts val="400"/>
              </a:spcAft>
              <a:buNone/>
            </a:pPr>
            <a:r>
              <a:rPr lang="en-US" sz="1200" b="1" baseline="300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</a:t>
            </a:r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region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evolution of the N = 50 shell gap far from stability.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In-flight fission of 345 MeV/u </a:t>
            </a:r>
            <a:pPr indent="0" marL="0">
              <a:spcAft>
                <a:spcPts val="400"/>
              </a:spcAft>
              <a:buNone/>
            </a:pPr>
            <a:r>
              <a:rPr lang="en-US" sz="1200" baseline="300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238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produces the short-lived Z ≈ 26–32 isotones in sufficient yield for cross-section and spectroscopy measurements.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informs nuclear-structure models (shell closures, islands of inversion) and r-process waiting points.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537960" y="521208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Probes shell evolution near the most neutron-rich doubly-magic nucleus accessible today.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6350">
            <a:solidFill>
              <a:srgbClr val="D9D2C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6446520"/>
            <a:ext cx="82597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Y. Shimizu et al., J. Phys. Soc. Jpn. 95, 024202 (2026); BigRIPS Team, PTEP 2026, 033D06 (2026).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8808415" y="644652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In-Flight Fission  ·  OrbitOS  ·  2026-04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92608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0" kern="0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 OUTPUT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728655" y="292608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·  09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713232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F2E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What In-Flight Fission Delivers Beyond Discovery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89408" y="1645920"/>
            <a:ext cx="374904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8DFD2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89408" y="1645920"/>
            <a:ext cx="3749040" cy="457200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8008" y="170992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EFE6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β-decay half-lives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63728" y="237744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Implantation + β–γ coincidence (WAS3ABi + EURICA) measures half-lives of ≳ 100 r-process-relevant neutron-rich nuclei — first direct constraints on the solar r-abundance pattern.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3728" y="5074920"/>
            <a:ext cx="2103120" cy="365760"/>
          </a:xfrm>
          <a:prstGeom prst="rect">
            <a:avLst/>
          </a:prstGeom>
          <a:solidFill>
            <a:srgbClr val="E8A33D">
              <a:alpha val="15000"/>
            </a:srgbClr>
          </a:solidFill>
          <a:ln w="6350">
            <a:solidFill>
              <a:srgbClr val="E8A3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3728" y="5074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R-PROCESS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221328" y="1645920"/>
            <a:ext cx="374904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8DFD2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221328" y="1645920"/>
            <a:ext cx="3749040" cy="457200"/>
          </a:xfrm>
          <a:prstGeom prst="rect">
            <a:avLst/>
          </a:prstGeom>
          <a:solidFill>
            <a:srgbClr val="4A7C7E"/>
          </a:solidFill>
          <a:ln w="12700">
            <a:solidFill>
              <a:srgbClr val="4A7C7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49928" y="170992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EFE6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Mass measurements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495648" y="237744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Rare-RI Ring (2015, 60 m, Δp/p = 0.5 %, T_rev ≈ 355 ns at 200 A·MeV) coupled to BigRIPS; SHARAQ high-resolution TOF over a 105 m flight path.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495648" y="5074920"/>
            <a:ext cx="2103120" cy="365760"/>
          </a:xfrm>
          <a:prstGeom prst="rect">
            <a:avLst/>
          </a:prstGeom>
          <a:solidFill>
            <a:srgbClr val="4A7C7E">
              <a:alpha val="15000"/>
            </a:srgbClr>
          </a:solidFill>
          <a:ln w="6350">
            <a:solidFill>
              <a:srgbClr val="4A7C7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95648" y="5074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4A7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+ R-PROCESS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153248" y="1645920"/>
            <a:ext cx="374904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8DFD2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53248" y="1645920"/>
            <a:ext cx="3749040" cy="457200"/>
          </a:xfrm>
          <a:prstGeom prst="rect">
            <a:avLst/>
          </a:prstGeom>
          <a:solidFill>
            <a:srgbClr val="7A2E2E"/>
          </a:solidFill>
          <a:ln w="12700">
            <a:solidFill>
              <a:srgbClr val="7A2E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81848" y="170992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EFE6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Fission dynamics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27568" y="237744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In-flight kinematics give complete (Z, A, p) event reconstruction per fragment — enabling correlation studies, exotic spectroscopy, and symmetry-vs-asymmetry fragment-mass mapping (GSI 2025 ‘island of asymmetric fission’).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427568" y="5074920"/>
            <a:ext cx="2103120" cy="365760"/>
          </a:xfrm>
          <a:prstGeom prst="rect">
            <a:avLst/>
          </a:prstGeom>
          <a:solidFill>
            <a:srgbClr val="7A2E2E">
              <a:alpha val="15000"/>
            </a:srgbClr>
          </a:solidFill>
          <a:ln w="6350">
            <a:solidFill>
              <a:srgbClr val="7A2E2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27568" y="5074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7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FISSION DYNAMICS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580644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vs. assumption: quoted facility parameters and discovery counts are taken from primary literature or facility documentation; astrophysical-impact claims reflect the consensus of cited reviews and may evolve with new r-process / kilonova constraints.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6350">
            <a:solidFill>
              <a:srgbClr val="D9D2C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6446520"/>
            <a:ext cx="82597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Nishimura et al., Phys. Rev. Lett. 106, 052502 (2011); Rare-RI Ring: Y. Yamaguchi et al., NIM B 317 (2013).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8808415" y="644652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8B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In-Flight Fission  ·  OrbitOS  ·  2026-04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92608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 ·  OUTLOOK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728655" y="292608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AFA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·  09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713232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EFE6"/>
                </a:solidFill>
                <a:latin typeface="Palatino" pitchFamily="34" charset="0"/>
                <a:ea typeface="Palatino" pitchFamily="34" charset="-122"/>
                <a:cs typeface="Palatino" pitchFamily="34" charset="-120"/>
              </a:rPr>
              <a:t>In-Flight Fission: Where We Are, Where We’re Going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548640" y="19202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2331720"/>
            <a:ext cx="53949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In-flight fission of ²³⁸U is the dominant route to mid-mass neutron-rich exotica.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Large-acceptance separators (BigRIPS, FRS / Super-FRS, ARIS) enable event-by-event (Z, A/Q) ID.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1,460 isotopes produced at BigRIPS since 2007; ~ 52 % of world discoveries in the 2020s.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output spans r-process β-decay, masses, and fission dynamics.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26480" y="1920240"/>
            <a:ext cx="54864" cy="4206240"/>
          </a:xfrm>
          <a:prstGeom prst="rect">
            <a:avLst/>
          </a:prstGeom>
          <a:solidFill>
            <a:srgbClr val="4A7C7E"/>
          </a:solidFill>
          <a:ln w="12700">
            <a:solidFill>
              <a:srgbClr val="4A7C7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19202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A7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  ·  2026 →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09360" y="2331720"/>
            <a:ext cx="5212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RIBF intensity upgrade: deeper push toward N = 126.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GSI / FAIR Super-FRS commissioning: ~ 10× FRS acceptance — new fission-fragment programs.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FRIB ramping up intensity — complementary CW beam coverage on a third continent.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Coupling to kilonova / neutron-star-merger nucleosynthesis models and to direct reactions with fast RI beams.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61220"/>
          </a:solidFill>
          <a:ln w="12700">
            <a:solidFill>
              <a:srgbClr val="0612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08076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references — Kubo et al., PTEP 2012 03C003 · Ohnishi et al., JPSJ 77, 083201 (2008); 79, 073201 (2010) · Kurcewicz et al., PLB 717, 371 (2012) / arXiv:1112.0521 · Shimizu et al., JPSJ 95, 024202 (2026) · BigRIPS Team, PTEP 2026 033D06 · GSI/FAIR press release, 14 May 2025.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Institute of Modern Physics, CAS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In-Flight Fission in Nuclear Physics Reactions</dc:title>
  <dc:subject>PptxGenJS Presentation</dc:subject>
  <dc:creator>Reid</dc:creator>
  <cp:lastModifiedBy>Reid</cp:lastModifiedBy>
  <cp:revision>1</cp:revision>
  <dcterms:created xsi:type="dcterms:W3CDTF">2026-04-21T09:49:51Z</dcterms:created>
  <dcterms:modified xsi:type="dcterms:W3CDTF">2026-04-21T09:49:51Z</dcterms:modified>
</cp:coreProperties>
</file>