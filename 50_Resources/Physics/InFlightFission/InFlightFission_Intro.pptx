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1645920"/>
            <a:ext cx="5120640" cy="5120640"/>
          </a:xfrm>
          <a:prstGeom prst="ellipse">
            <a:avLst/>
          </a:prstGeom>
          <a:solidFill>
            <a:srgbClr val="075985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99855" y="-1097280"/>
            <a:ext cx="3474720" cy="3474720"/>
          </a:xfrm>
          <a:prstGeom prst="ellipse">
            <a:avLst/>
          </a:prstGeom>
          <a:solidFill>
            <a:srgbClr val="0891B2">
              <a:alpha val="3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8575" y="1097280"/>
            <a:ext cx="320040" cy="3200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11535" y="1828800"/>
            <a:ext cx="228600" cy="228600"/>
          </a:xfrm>
          <a:prstGeom prst="ellipse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43055" y="2468880"/>
            <a:ext cx="164592" cy="164592"/>
          </a:xfrm>
          <a:prstGeom prst="ellipse">
            <a:avLst/>
          </a:prstGeom>
          <a:solidFill>
            <a:srgbClr val="F59E0B">
              <a:alpha val="5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OVERVIEW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50876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In-Flight Fission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731520" y="26974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Nuclear Physics Reactions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5486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840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Mechanism, facilities, and recent frontier results 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BigRIPS/RIBF and FRS/GSI to FRIB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5852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Reid · Institute of Modern Physics, CAS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April 2026 · OrbitOS / 50_Resources / Physics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In-Flight Fission?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6858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unmapped nuclei lie in the </a:t>
            </a:r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neutron-rich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mid-mass region (</a:t>
            </a:r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≈ 80–160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— the territory of the </a:t>
            </a:r>
            <a:pPr indent="0" marL="0">
              <a:spcAft>
                <a:spcPts val="800"/>
              </a:spcAft>
              <a:buNone/>
            </a:pPr>
            <a:r>
              <a:rPr lang="en-US" sz="1500" b="1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r-process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of exotic shell evolution.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three main RI-beam production routes, only </a:t>
            </a:r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of 238U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cleanly covers this mid-mass neutron-rich corner. ISOL is limited by release chemistry; projectile fragmentation peaks on the neutron-deficient side for heavier nuclei.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80960" y="1554480"/>
            <a:ext cx="406908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680960" y="1554480"/>
            <a:ext cx="73152" cy="3474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of the discovery program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20574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759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1,460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7863840" y="30632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isotopes produced at BigRIPS since 2007 across 184 experimental programs (fission + fragmentation).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63840" y="3931920"/>
            <a:ext cx="3749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0" y="39776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 52 %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863840" y="44805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new-isotope discoveries worldwide in the 2020s come from RIBF in-flight separation.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303520"/>
            <a:ext cx="2258568" cy="8686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5376672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" y="566928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Mid-mass Z ≈ 30–65 neutron-rich region unreachable by fragmentation.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843784" y="5303520"/>
            <a:ext cx="2258568" cy="8686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80944" y="5376672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80944" y="566928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Fragments exit target at v/c ≈ 0.7 — no release delay (unlike ISOL).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30368" y="5303520"/>
            <a:ext cx="2258568" cy="8686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7528" y="5376672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67528" y="566928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Event-by-event (Z, A/Q) particle ID on sub-ms lifetimes.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473952"/>
            <a:ext cx="8351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Kubo et al., PTEP 2012, 03C003; RIBF Facility Upgrade Proposal (NCAC, 2023); RIKEN BigRIPS Team documentation.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08415" y="64739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· OrbitOS · 2026-04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Production: Peripheral Abrasion → Fission at Relativistic Energies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18008" y="164592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6608" y="1847088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6608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9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86688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beam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6608" y="25146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238U accelerated to 345 MeV/u (RIBF) or 400–1000 MeV/u (GSI).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88056" y="2651760"/>
            <a:ext cx="146304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52648" y="164592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81248" y="1847088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81248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9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221328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 collision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81248" y="25146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Be target → few-nucleon abrasion → highly excited U* prefragment.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22696" y="2651760"/>
            <a:ext cx="146304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87288" y="164592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15888" y="1847088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5888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9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055968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 &amp; high-E fission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15888" y="25146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Prefragment fissions into two forward-focused, fast fragments.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57336" y="2651760"/>
            <a:ext cx="146304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21928" y="164592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250528" y="1847088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50528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9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890608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separation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50528" y="25146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Bρ–ΔE–TOF separation &amp; event-by-event Z, A/Q identification.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56692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3977640"/>
            <a:ext cx="73152" cy="21488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4069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need a large-acceptance separator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" y="4416552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Fission fragments exit forward-focused but with broad kinematic spread: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 spread Δp/p ≈ ± 3 %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spread up to ≈ ± 50 mrad (vertical)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Z/A coverage in one setting — tuned via Bρ in two stages.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309360" y="3977640"/>
            <a:ext cx="5440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09360" y="3977640"/>
            <a:ext cx="73152" cy="2148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0" y="4069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BigRIPS answer — design values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4434840"/>
          <a:ext cx="49377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angular acceptance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40 mrad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 angular acceptance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50 mrad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Momentum acceptance Δp/p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3 %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structure — F1…F7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Shape 3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57200" y="6473952"/>
            <a:ext cx="8351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Kubo et al., “BigRIPS separator and ZeroDegree spectrometer at RIKEN RI Beam Factory,” PTEP 2012, 03C003.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8808415" y="64739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· OrbitOS · 2026-04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Flagship In-Flight Fission Facilities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77295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554480"/>
            <a:ext cx="91440" cy="14630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91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RIBF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RIKEN Nishina Center (JP)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16916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/ TARGET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7472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238U → Be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0" y="23317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74720" y="2560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345 MeV/u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77840" y="16916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 / DOWNSTREAM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57784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BigRIPS → ZeroDegree / SAMURAI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77840" y="2331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77840" y="2560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since 2007 · Intensity upgrade underway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26880" y="1828800"/>
            <a:ext cx="1828800" cy="914400"/>
          </a:xfrm>
          <a:prstGeom prst="rect">
            <a:avLst/>
          </a:prstGeom>
          <a:solidFill>
            <a:srgbClr val="0891B2">
              <a:alpha val="15000"/>
            </a:srgbClr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828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RIBF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11277295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154680"/>
            <a:ext cx="91440" cy="14630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291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GSI / FAIR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85800" y="3840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GSI, Darmstadt (DE)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74720" y="32918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/ TARGET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3520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238U → Be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474720" y="41605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400–1000 MeV/u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577840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 / DOWNSTREAM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77840" y="3520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FRS → Super-FRS (FAIR)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577840" y="3931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577840" y="4160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FRS operational · Super-FRS commissioning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326880" y="3429000"/>
            <a:ext cx="1828800" cy="914400"/>
          </a:xfrm>
          <a:prstGeom prst="rect">
            <a:avLst/>
          </a:prstGeom>
          <a:solidFill>
            <a:srgbClr val="075985">
              <a:alpha val="15000"/>
            </a:srgbClr>
          </a:solidFill>
          <a:ln w="6350">
            <a:solidFill>
              <a:srgbClr val="0759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0" y="3429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59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GSI / FAIR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57200" y="4754880"/>
            <a:ext cx="11277295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4754880"/>
            <a:ext cx="91440" cy="14630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FRIB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685800" y="5440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State Univ. (US)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74720" y="4892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/ TARGET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474720" y="5120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ions → target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55321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474720" y="5760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200 MeV/u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577840" y="4892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 / DOWNSTREAM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57784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 fragment separator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577840" y="5532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77840" y="5760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since 2022 (CW heavy-ion linac)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326880" y="5029200"/>
            <a:ext cx="1828800" cy="914400"/>
          </a:xfrm>
          <a:prstGeom prst="rect">
            <a:avLst/>
          </a:prstGeom>
          <a:solidFill>
            <a:srgbClr val="B45309">
              <a:alpha val="15000"/>
            </a:srgbClr>
          </a:solidFill>
          <a:ln w="6350">
            <a:solidFill>
              <a:srgbClr val="B4530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326880" y="50292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FRIB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6473952"/>
            <a:ext cx="8351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RIKEN Nishina Center BigRIPS documentation; GSI Super-FRS project pages; FRIB at MSU (frib.msu.edu).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808415" y="64739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· OrbitOS · 2026-04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CAMPAIGN · JAPAN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BigRIPS: Opening the Neutron-Rich Frontier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50292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554480"/>
            <a:ext cx="73152" cy="3017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91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· MAY 2007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10312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baseline="30000" dirty="0">
                <a:solidFill>
                  <a:srgbClr val="0759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125</a:t>
            </a:r>
            <a:pPr indent="0" marL="0">
              <a:buNone/>
            </a:pPr>
            <a:r>
              <a:rPr lang="en-US" sz="5600" b="1" dirty="0">
                <a:solidFill>
                  <a:srgbClr val="0759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</a:t>
            </a:r>
            <a:pPr indent="0" marL="0">
              <a:buNone/>
            </a:pPr>
            <a:r>
              <a:rPr lang="en-US" sz="28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&amp;  </a:t>
            </a:r>
            <a:pPr indent="0" marL="0">
              <a:buNone/>
            </a:pPr>
            <a:r>
              <a:rPr lang="en-US" sz="3600" b="1" baseline="30000" dirty="0">
                <a:solidFill>
                  <a:srgbClr val="0759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</a:t>
            </a:r>
            <a:pPr indent="0" marL="0">
              <a:buNone/>
            </a:pPr>
            <a:r>
              <a:rPr lang="en-US" sz="5600" b="1" dirty="0">
                <a:solidFill>
                  <a:srgbClr val="0759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3337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observation — produced by in-flight fission of 345 MeV/u 238U on Be, in a commissioning run of ≈ 1 day at 0.007 pnA average beam current.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0" y="15544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Subsequent BigRIPS discovery campaigns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52160" y="1965960"/>
            <a:ext cx="822960" cy="6400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0" y="19659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12280" y="19659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new neutron-rich isotopes identified from the Al (Z = 13) through Sn (Z = 50) region — Ohnishi et al., JPSJ 79, 073201 (2010).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52160" y="2670048"/>
            <a:ext cx="822960" cy="6400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670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12280" y="2670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new isotopes observed in parallel with β-decay / isomer campaigns — JPSJ 87, 014203 (2018).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52160" y="3374136"/>
            <a:ext cx="822960" cy="6400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0" y="337413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3374136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≈ 1,460 isotopes produced across 184 experimental programs (fission + fragmentation).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852160" y="4078224"/>
            <a:ext cx="822960" cy="6400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2160" y="4078224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12280" y="407822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additional rare-earth isotopes at the neutron-rich edge (Cs → Tb) — see next slide.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937760"/>
            <a:ext cx="11277295" cy="1143000"/>
          </a:xfrm>
          <a:prstGeom prst="rect">
            <a:avLst/>
          </a:prstGeom>
          <a:solidFill>
            <a:srgbClr val="0A1929"/>
          </a:solidFill>
          <a:ln w="12700">
            <a:solidFill>
              <a:srgbClr val="0A192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029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534924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in its commissioning phase, BigRIPS established in-flight fission of 238U as the dominant production route for mid-mass neutron-rich exotica — a role it has only expanded since.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473952"/>
            <a:ext cx="8351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Ohnishi et al., J. Phys. Soc. Jpn. 77, 083201 (2008); 79, 073201 (2010); JPSJ 87, 014203 (2018).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08415" y="64739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· OrbitOS · 2026-04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CAMPAIGN · GERMANY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FRS at GSI: Fragmentation + Fission of 1 GeV/u 238U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530352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554480"/>
            <a:ext cx="73152" cy="39319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916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KURCEWICZ ET AL. (2012)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0116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759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11000" dirty="0"/>
          </a:p>
        </p:txBody>
      </p:sp>
      <p:sp>
        <p:nvSpPr>
          <p:cNvPr id="10" name="Text 8"/>
          <p:cNvSpPr/>
          <p:nvPr/>
        </p:nvSpPr>
        <p:spPr>
          <a:xfrm>
            <a:off x="685800" y="3566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neutron-rich isotopes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40233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discovered in a single dedicated FRS campaign, spanning Nd (Z = 60) through Pt (Z = 78), with 238U at 1 GeV/u on a Be production target.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9320" y="1554480"/>
            <a:ext cx="57607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89320" y="1554480"/>
            <a:ext cx="73152" cy="1874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mechanism makes which isotope?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205740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Fission dominates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new isotopes up to holmium (Z ≲ 70).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Projectile fragmentation dominates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elements above hafnium (Z ≳ 72). Measured cross sections benchmark reaction models (EPAX, ABRABLA).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89320" y="3611880"/>
            <a:ext cx="57607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89320" y="3611880"/>
            <a:ext cx="73152" cy="18745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3749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 / FAIR · 2025 HIGHLIGHT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406908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“island of asymmetric fission” mapped across ~100 neutron-deficient nuclei (Ir → Th) via secondary-beam fission after FRS separation — extending fission-systematics territory far from stability.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715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FRS illustrates the complementarity of fragmentation and fission channels — both open in the same U-beam campaign by retuning Bρ.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6473952"/>
            <a:ext cx="8351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W. Kurcewicz et al., Phys. Lett. B 717, 371 (2012) / arXiv:1112.0521; GSI/FAIR press release, 14 May 2025.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08415" y="64739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· OrbitOS · 2026-04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FRONTIERS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New 2026 RIBF Results on the In-Flight Fission Frontier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56692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554480"/>
            <a:ext cx="73152" cy="4526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RARE-EARTH FRONTIER — JPSJ 95, 024202 (2026)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0574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759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new neutron-rich isotopes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345 MeV/u 238U + Be in-flight fission, separated and identified by BigRIPS: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200400"/>
            <a:ext cx="1234440" cy="731520"/>
          </a:xfrm>
          <a:prstGeom prst="rect">
            <a:avLst/>
          </a:prstGeom>
          <a:solidFill>
            <a:srgbClr val="0A1929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20040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</a:t>
            </a:r>
            <a:pPr algn="ct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029968" y="3200400"/>
            <a:ext cx="1234440" cy="731520"/>
          </a:xfrm>
          <a:prstGeom prst="rect">
            <a:avLst/>
          </a:prstGeom>
          <a:solidFill>
            <a:srgbClr val="0A1929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29968" y="320040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155</a:t>
            </a:r>
            <a:pPr algn="ct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374136" y="3200400"/>
            <a:ext cx="1234440" cy="731520"/>
          </a:xfrm>
          <a:prstGeom prst="rect">
            <a:avLst/>
          </a:prstGeom>
          <a:solidFill>
            <a:srgbClr val="0A1929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74136" y="320040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158</a:t>
            </a:r>
            <a:pPr algn="ct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18304" y="3200400"/>
            <a:ext cx="1234440" cy="731520"/>
          </a:xfrm>
          <a:prstGeom prst="rect">
            <a:avLst/>
          </a:prstGeom>
          <a:solidFill>
            <a:srgbClr val="0A1929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18304" y="320040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159</a:t>
            </a:r>
            <a:pPr algn="ct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4041648"/>
            <a:ext cx="1234440" cy="731520"/>
          </a:xfrm>
          <a:prstGeom prst="rect">
            <a:avLst/>
          </a:prstGeom>
          <a:solidFill>
            <a:srgbClr val="0A1929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04164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pPr algn="ct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029968" y="4041648"/>
            <a:ext cx="1234440" cy="731520"/>
          </a:xfrm>
          <a:prstGeom prst="rect">
            <a:avLst/>
          </a:prstGeom>
          <a:solidFill>
            <a:srgbClr val="0A1929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29968" y="404164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173</a:t>
            </a:r>
            <a:pPr algn="ct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74136" y="4041648"/>
            <a:ext cx="1234440" cy="731520"/>
          </a:xfrm>
          <a:prstGeom prst="rect">
            <a:avLst/>
          </a:prstGeom>
          <a:solidFill>
            <a:srgbClr val="0A1929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74136" y="404164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</a:t>
            </a:r>
            <a:pPr algn="ct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Tb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50292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known chart well past N = 90 in the rare-earth region — r-process-relevant nuclei.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9360" y="1554480"/>
            <a:ext cx="54406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09360" y="1554480"/>
            <a:ext cx="73152" cy="4526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50 SHELL REGION — PTEP 2026, 033D06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37960" y="20574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759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 of neutron-rich isotopes around N = 50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6537960" y="29260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the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78Ni region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evolution of the N = 50 shell gap far from stability.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of 345 MeV/u 238U produces the short-lived Z ≈ 26–32 isotones in sufficient yield for cross-section and spectroscopy measurements.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informs nuclear-structure models (shell closures, islands of inversion) and r-process waiting points.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6473952"/>
            <a:ext cx="8351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 Shimizu et al., J. Phys. Soc. Jpn. 95, 024202 (2026); BigRIPS Team, PTEP 2026, 033D06 (2026).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08415" y="64739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· OrbitOS · 2026-04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OUTPUT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In-Flight Fission Delivers Beyond Discovery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89408" y="1645920"/>
            <a:ext cx="37490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89408" y="1645920"/>
            <a:ext cx="374904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8008" y="17099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β-decay half-lives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3728" y="237744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Implantation + β–γ coincidence (WAS3ABi + EURICA) measures half-lives of ≳ 100 r-process-relevant neutron-rich nuclei — first direct constraints on the solar r-abundance pattern.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3728" y="5074920"/>
            <a:ext cx="2103120" cy="365760"/>
          </a:xfrm>
          <a:prstGeom prst="rect">
            <a:avLst/>
          </a:prstGeom>
          <a:solidFill>
            <a:srgbClr val="F59E0B">
              <a:alpha val="15000"/>
            </a:srgbClr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3728" y="5074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R-PROCESS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21328" y="1645920"/>
            <a:ext cx="37490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21328" y="1645920"/>
            <a:ext cx="3749040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49928" y="17099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measurements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95648" y="237744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Rare-RI Ring (2015, 60 m, Δp/p = 0.5 %, T_rev ≈ 355 ns at 200 A·MeV) coupled to BigRIPS; SHARAQ high-resolution TOF over a 105 m flight path.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95648" y="5074920"/>
            <a:ext cx="2103120" cy="365760"/>
          </a:xfrm>
          <a:prstGeom prst="rect">
            <a:avLst/>
          </a:prstGeom>
          <a:solidFill>
            <a:srgbClr val="0891B2">
              <a:alpha val="15000"/>
            </a:srgbClr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95648" y="5074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+ R-PROCESS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53248" y="1645920"/>
            <a:ext cx="37490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53248" y="1645920"/>
            <a:ext cx="3749040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1848" y="17099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Fission dynamics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27568" y="237744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kinematics give complete (Z, A, p) event reconstruction per fragment — enabling correlation studies, exotic spectroscopy, and symmetry-vs-asymmetry fragment-mass mapping (GSI 2025 ‘island of asymmetric fission’).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427568" y="5074920"/>
            <a:ext cx="2103120" cy="365760"/>
          </a:xfrm>
          <a:prstGeom prst="rect">
            <a:avLst/>
          </a:prstGeom>
          <a:solidFill>
            <a:srgbClr val="B91C1C">
              <a:alpha val="15000"/>
            </a:srgbClr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27568" y="5074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FISSION &amp; SPECTROSCOPY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vs. assumption: quoted facility parameters and discovery counts are taken from primary literature or facility documentation; astrophysical-impact claims reflect the consensus of cited reviews and may evolve with new r-process / kilonova constraints.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473952"/>
            <a:ext cx="8351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Nishimura et al., Phys. Rev. Lett. 106, 052502 (2011); Rare-RI Ring: Y. Yamaguchi et al., NIM B 317 (2013).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08415" y="64739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· OrbitOS · 2026-04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&amp; OUTLOOK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728655" y="3200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In-Flight Fission: Where We Are, Where We’re Going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4864" cy="3840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of 238U is the dominant route to mid-mass neutron-rich exotica.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Large-acceptance separators (BigRIPS, FRS / Super-FRS, ARIS) enable event-by-event (Z, A/Q) ID.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1,460 isotopes produced at BigRIPS since 2007; ~ 52 % of world discoveries in the 2020s.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output spans r-process β-decay, masses, and fission dynamics.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4864" cy="3840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(2026 → 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0" y="23317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RIBF intensity upgrade: deeper push toward N = 126.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 / FAIR Super-FRS commissioning: ~ 10× FRS acceptance — new fission-fragment programs.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FRIB ramping up intensity — complementary CW beam coverage on a third continent.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to kilonova / neutron-star-merger nucleosynthesis models and to direct reactions with fast RI beams.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61220"/>
          </a:solidFill>
          <a:ln w="12700">
            <a:solidFill>
              <a:srgbClr val="0612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080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references — Kubo et al., PTEP 2012 03C003 · Ohnishi et al., JPSJ 77, 083201 (2008); 79, 073201 (2010) · Kurcewicz et al., PLB 717, 371 (2012) / arXiv:1112.0521 · Shimizu et al., JPSJ 95, 024202 (2026) · BigRIPS Team, PTEP 2026 033D06 · GSI/FAIR press release, 14 May 2025.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Institute of Modern Physics, CAS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In-Flight Fission in Nuclear Physics Reactions</dc:title>
  <dc:subject>PptxGenJS Presentation</dc:subject>
  <dc:creator>Reid</dc:creator>
  <cp:lastModifiedBy>Reid</cp:lastModifiedBy>
  <cp:revision>1</cp:revision>
  <dcterms:created xsi:type="dcterms:W3CDTF">2026-04-21T06:42:38Z</dcterms:created>
  <dcterms:modified xsi:type="dcterms:W3CDTF">2026-04-21T06:42:38Z</dcterms:modified>
</cp:coreProperties>
</file>