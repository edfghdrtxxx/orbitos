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0"/>
            <a:ext cx="9144000" cy="2743200"/>
          </a:xfrm>
          <a:prstGeom prst="rect">
            <a:avLst/>
          </a:prstGeom>
          <a:solidFill>
            <a:srgbClr val="F7F5EE"/>
          </a:solidFill>
          <a:ln w="12700">
            <a:solidFill>
              <a:srgbClr val="F7F5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201168" cy="2743200"/>
          </a:xfrm>
          <a:prstGeom prst="rect">
            <a:avLst/>
          </a:prstGeom>
          <a:solidFill>
            <a:srgbClr val="7A2048"/>
          </a:solidFill>
          <a:ln w="12700">
            <a:solidFill>
              <a:srgbClr val="7A20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COMPARISON  ·  VISION MODELS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 vs. Vision Transformers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residual skip-connections to patch-wise self-attention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Student, Particle &amp; Nuclear Physics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Modern Physics, Chinese Academy of Sciences  (via UCAS)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46405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9B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 et al. (2016) · Dosovitskiy et al. (2021)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Pre-2020 CNN paradigm and the transformer challenge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architecture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learning, bottleneck block, depth scaling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embedding, self-attention, classification head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236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identity vs. Eqs. 1–4 of Dosovitskiy et 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12618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top-1 accuracy across configurations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9842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behavior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pre-training data size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64261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trade-offs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TPUv3-core-days vs. accuracy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3009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2369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biases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ViT must learn that CNNs bake in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95935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8953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references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architecture wins, and why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 Outline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Motivation: Can transformers replace CNNs in vision?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Pre-2020 vision paradigm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networks dominated since AlexNet (2012); ResNet (2016) became the canonical backbone across classification, detection, and segmentation.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inductive biases: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locality, translation equivariance, and hierarchical feature composition.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234440"/>
            <a:ext cx="3840480" cy="274320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34440"/>
            <a:ext cx="73152" cy="2743200"/>
          </a:xfrm>
          <a:prstGeom prst="rect">
            <a:avLst/>
          </a:prstGeom>
          <a:solidFill>
            <a:srgbClr val="7A2048"/>
          </a:solidFill>
          <a:ln w="12700">
            <a:solidFill>
              <a:srgbClr val="7A2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pure transformer—with no convolutional inductive bias—match or surpass state-of-the-art CNNs on ImageNet-scale classification?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063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 et al. (ICLR 2021): </a:t>
            </a:r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pre-trained at sufficient scale, our best model reaches 88.55% top-1 on ImageNet and exceeds ResNet-based baselines on all evaluated datasets.”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Dosovitskiy et al., ICLR 2021, §1 &amp; §4 (arXiv:2010.11929).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 Motivation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 RESNET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ResNet: residual learning with identity skip connections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pic>
        <p:nvPicPr>
          <p:cNvPr id="6" name="Image 0" descr="/sessions/lucid-ecstatic-hopper/mnt/outputs/assets/diag_res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7008"/>
            <a:ext cx="324612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12070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31920" y="144475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fitting </a:t>
            </a:r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directly, a block fits the residual </a:t>
            </a:r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H(x) − x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adds back the identity. Skip connections carry gradients unchanged, enabling stable optimization up to 152+ layers.</a:t>
            </a:r>
            <a:endParaRPr lang="en-US" sz="1200" dirty="0"/>
          </a:p>
        </p:txBody>
      </p:sp>
      <p:pic>
        <p:nvPicPr>
          <p:cNvPr id="9" name="Image 1" descr="/sessions/lucid-ecstatic-hopper/mnt/outputs/assets/eq_res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487168"/>
            <a:ext cx="4206240" cy="56692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3154680"/>
          <a:ext cx="4800600" cy="100584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188720"/>
                <a:gridCol w="1417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 (×10⁹)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err.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 et al., CVPR 2016, Tables 1 &amp; 4 (single-model, multi-scale testing).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 ResNet architecture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 VIT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Transformer: image as a sequence of 16×16 patches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pic>
        <p:nvPicPr>
          <p:cNvPr id="6" name="Image 0" descr="/sessions/lucid-ecstatic-hopper/mnt/outputs/assets/diag_v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97280"/>
            <a:ext cx="8503920" cy="21488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4937760" cy="100584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868680"/>
                <a:gridCol w="914400"/>
                <a:gridCol w="640080"/>
                <a:gridCol w="868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ViT-Large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ViT-Huge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3383280"/>
            <a:ext cx="3200400" cy="100584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577840" y="3383280"/>
            <a:ext cx="73152" cy="100584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42432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conv, no pooling.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42432" y="37307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 beyond “2-D patch structure + position” is learned from data. Consequence: strong dependence on pre-training scale.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Dosovitskiy et al., ICLR 2021, Fig. 1 &amp; Table 1 (model variants).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 Vision Transformer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 EQUATIONS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formulation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069080" cy="324612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3246120"/>
          </a:xfrm>
          <a:prstGeom prst="rect">
            <a:avLst/>
          </a:prstGeom>
          <a:solidFill>
            <a:srgbClr val="408EC6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 —  identity mapping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et al., CVPR 2016 (Eq. 1)</a:t>
            </a:r>
            <a:endParaRPr lang="en-US" sz="900" dirty="0"/>
          </a:p>
        </p:txBody>
      </p:sp>
      <p:pic>
        <p:nvPicPr>
          <p:cNvPr id="10" name="Image 0" descr="/sessions/lucid-ecstatic-hopper/mnt/outputs/assets/eq_res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566160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5603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400"/>
              </a:spcAft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F(x, {W_i})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residual mapping (2–3 stacked conv layers).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Identity shortcut adds </a:t>
            </a:r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parameters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input/output dims match.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 through unchanged, mitigating the degradation problem observed in plain nets &gt; 20 layers.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234440"/>
            <a:ext cx="4069080" cy="324612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1234440"/>
            <a:ext cx="73152" cy="324612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 —  patch + attention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10328" y="1572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 et al., ICLR 2021 (Eqs. 1–4)</a:t>
            </a:r>
            <a:endParaRPr lang="en-US" sz="900" dirty="0"/>
          </a:p>
        </p:txBody>
      </p:sp>
      <p:pic>
        <p:nvPicPr>
          <p:cNvPr id="16" name="Image 1" descr="/sessions/lucid-ecstatic-hopper/mnt/outputs/assets/eq_vi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28800"/>
            <a:ext cx="3840480" cy="502920"/>
          </a:xfrm>
          <a:prstGeom prst="rect">
            <a:avLst/>
          </a:prstGeom>
        </p:spPr>
      </p:pic>
      <p:pic>
        <p:nvPicPr>
          <p:cNvPr id="17" name="Image 2" descr="/sessions/lucid-ecstatic-hopper/mnt/outputs/assets/eq_vi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77440"/>
            <a:ext cx="3840480" cy="411480"/>
          </a:xfrm>
          <a:prstGeom prst="rect">
            <a:avLst/>
          </a:prstGeom>
        </p:spPr>
      </p:pic>
      <p:pic>
        <p:nvPicPr>
          <p:cNvPr id="18" name="Image 3" descr="/sessions/lucid-ecstatic-hopper/mnt/outputs/assets/eq_vi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34640"/>
            <a:ext cx="3840480" cy="411480"/>
          </a:xfrm>
          <a:prstGeom prst="rect">
            <a:avLst/>
          </a:prstGeom>
        </p:spPr>
      </p:pic>
      <p:pic>
        <p:nvPicPr>
          <p:cNvPr id="19" name="Image 4" descr="/sessions/lucid-ecstatic-hopper/mnt/outputs/assets/eq_vit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91840"/>
            <a:ext cx="2377440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10328" y="3703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z₀  concatenates a learnable [cls] token with N patch embeddings plus positional encoding.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 et al., 2016 (Eq. 1); Dosovitskiy et al., 2021 (Eqs. 1–4).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 Mathematical formulation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 BENCHMARK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results: ImageNet top-1 accuracy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pic>
        <p:nvPicPr>
          <p:cNvPr id="6" name="Image 0" descr="/sessions/lucid-ecstatic-hopper/mnt/outputs/assets/chart_image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07008"/>
            <a:ext cx="585216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207008"/>
            <a:ext cx="2423160" cy="310896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55080" y="1207008"/>
            <a:ext cx="73152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2070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92240" y="1481328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ResNet-152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(ImageNet-only training):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80.62% top-1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ViT-L/16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reaches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85.30%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ImageNet-21k pre-training, exceeding ResNet-152 by ~4.7 pp.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JFT-300M pre-training,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ViT-H/14 hits 88.55%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above every CNN baseline tested.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 et al., 2016 (Table 4); Dosovitskiy et al., 2021 (Table 2); BiT: Kolesnikov et al., 2020.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 Empirical results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 DATA SCALING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behavior: pre-training data is the deciding factor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pic>
        <p:nvPicPr>
          <p:cNvPr id="6" name="Image 0" descr="/sessions/lucid-ecstatic-hopper/mnt/outputs/assets/chart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7008"/>
            <a:ext cx="539496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207008"/>
            <a:ext cx="2834640" cy="306324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0" y="1207008"/>
            <a:ext cx="73152" cy="3063240"/>
          </a:xfrm>
          <a:prstGeom prst="rect">
            <a:avLst/>
          </a:prstGeom>
          <a:solidFill>
            <a:srgbClr val="7A2048"/>
          </a:solidFill>
          <a:ln w="12700">
            <a:solidFill>
              <a:srgbClr val="7A20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“Large-scale training trumps inductive bias.”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Dosovitskiy et al., 2021, §1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80760" y="22860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small pre-training sets (ImageNet only, ~1 M), ResNets still win: ViT underperforms without enough data.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~100 M samples, ViT curves overtake the BiT-ResNet band and keep rising.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ViTs (H/14) gain more from extra data than smaller (B/16) — consistent with the scaling-law picture in NLP.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Dosovitskiy et al., 2021, Figure 3 (right panel, linear-5-shot ImageNet evaluation). Curves shown are a stylized reproduction — exact tabular values are not published.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 Scaling behavior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 COMPUTE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cost: ViT is Pareto-efficient at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pic>
        <p:nvPicPr>
          <p:cNvPr id="6" name="Image 0" descr="/sessions/lucid-ecstatic-hopper/mnt/outputs/assets/chart_comp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7008"/>
            <a:ext cx="54864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188720"/>
            <a:ext cx="2743200" cy="868680"/>
          </a:xfrm>
          <a:prstGeom prst="rect">
            <a:avLst/>
          </a:prstGeom>
          <a:solidFill>
            <a:srgbClr val="F7F5EE"/>
          </a:solidFill>
          <a:ln w="6350">
            <a:solidFill>
              <a:srgbClr val="B9B6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1188720"/>
            <a:ext cx="73152" cy="86868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9632" y="1261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ViT-H/14 pre-training cost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99632" y="1444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2.5k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199632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TPUv3-core-days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2176272"/>
            <a:ext cx="2743200" cy="868680"/>
          </a:xfrm>
          <a:prstGeom prst="rect">
            <a:avLst/>
          </a:prstGeom>
          <a:solidFill>
            <a:srgbClr val="F7F5EE"/>
          </a:solidFill>
          <a:ln w="6350">
            <a:solidFill>
              <a:srgbClr val="B9B6A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176272"/>
            <a:ext cx="73152" cy="868680"/>
          </a:xfrm>
          <a:prstGeom prst="rect">
            <a:avLst/>
          </a:prstGeom>
          <a:solidFill>
            <a:srgbClr val="408EC6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9632" y="22494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BiT-L (ResNet152×4)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99632" y="2432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8E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9.9k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199632" y="2816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TPUv3-core-days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0" y="3163824"/>
            <a:ext cx="2743200" cy="868680"/>
          </a:xfrm>
          <a:prstGeom prst="rect">
            <a:avLst/>
          </a:prstGeom>
          <a:solidFill>
            <a:srgbClr val="F7F5EE"/>
          </a:solidFill>
          <a:ln w="6350">
            <a:solidFill>
              <a:srgbClr val="B9B6A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163824"/>
            <a:ext cx="73152" cy="86868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32369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NoisyStudent (EffNet-L2)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99632" y="34198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12.3k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199632" y="3803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TPUv3-core-days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Dosovitskiy et al., 2021, Table 2 (TPUv3-core-days row, thousands).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 Compute trade-offs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BIASES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Inductive biases: what each architecture assumes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3017520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920240"/>
                <a:gridCol w="3063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/ property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(CNN)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Transformer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08E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(3×3 conv)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44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— attention is global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captures local texture cheaply; ViT can attend long-range from layer 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equivariance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08E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(shared conv kernels)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44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via positional embedding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generalizes to shifts; ViT must learn shift behavior from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08E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(strided downsampling)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44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— constant token count across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matches classical vision pyramid; ViT mixes global info early.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sharing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08E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(kernels)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44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tokens (attention + MLP)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axis of sharing; both reduce parameter count effectively.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efficiency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08E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≤ 1 M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44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≤ 1 M; strong ≥ 100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wins small-data; ViT wins large-pretraining regime.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65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from Dosovitskiy et al., 2021, §3.1; data-regime claim per Fig. 3 (ibid.).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Inductive biases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 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when to choose which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4069080" cy="310896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07008"/>
            <a:ext cx="73152" cy="3108960"/>
          </a:xfrm>
          <a:prstGeom prst="rect">
            <a:avLst/>
          </a:prstGeom>
          <a:solidFill>
            <a:srgbClr val="408EC6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234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8E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ResNet (or CNN-like) when...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1645920"/>
            <a:ext cx="3794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 limited (≤ 1 M images) and no large pre-trained backbone fits the domain.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 low compute (edge/TPU-small) and tight latency budgets.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benefits from explicit locality: detection, segmentation of small objects, medical imaging.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transfer recipes (ImageNet pre-train + fine-tune) are already baked into the pipeline.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069080" cy="3108960"/>
          </a:xfrm>
          <a:prstGeom prst="rect">
            <a:avLst/>
          </a:prstGeom>
          <a:solidFill>
            <a:srgbClr val="F7F5EE"/>
          </a:solidFill>
          <a:ln w="9525">
            <a:solidFill>
              <a:srgbClr val="B9B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07008"/>
            <a:ext cx="73152" cy="31089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34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ViT when...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645920"/>
            <a:ext cx="3794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pre-training data (≥ 100 M samples, JFT-scale) or a publicly available ViT backbone is accessible.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rewards long-range dependencies — scene understanding, document images, video.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afford pre-training compute (hundreds to thousands of TPU-core-days) or reuse foundation weights.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plan to unify vision with other modalities (CLIP, DINO, multimodal LLMs).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  Discussion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 REFERENCES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371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He, X. Zhang, S. Ren, J. Sun.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Residual Learning for Image Recognition.  </a:t>
            </a:r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2016, pp. 770–778. arXiv:1512.03385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556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Dosovitskiy et al..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Worth 16×16 Words: Transformers for Image Recognition at Scale.  </a:t>
            </a:r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2021. arXiv:2010.11929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32257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Kolesnikov et al..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Transfer (BiT): General Visual Representation Learning.  </a:t>
            </a:r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2020. arXiv:1912.11370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[4]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88950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Xie, M.-T. Luong, E. Hovy, Q. V. Le.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Self-training with Noisy Student improves ImageNet classification.  </a:t>
            </a:r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2020. arXiv:1911.04252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[5]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4564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Vaswani et al..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Need.  </a:t>
            </a:r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2017. arXiv:1706.03762  (origin of the multi-head attention block reused by ViT)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36576"/>
          </a:xfrm>
          <a:prstGeom prst="rect">
            <a:avLst/>
          </a:prstGeom>
          <a:solidFill>
            <a:srgbClr val="B9B6AB"/>
          </a:solidFill>
          <a:ln w="12700">
            <a:solidFill>
              <a:srgbClr val="B9B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claims in this deck are verbatim from the cited primary sources; the scaling chart (slide 8) is a stylized reproduction of Dosovitskiy et al. 2021, Fig. 3.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143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 References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48143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ResNet vs Vision Transformers: An Architectural Comparison</dc:title>
  <dc:subject>Academic survey deck, IMP/CAS</dc:subject>
  <dc:creator>Reid (IMP / UCAS)</dc:creator>
  <cp:lastModifiedBy>Reid (IMP / UCAS)</cp:lastModifiedBy>
  <cp:revision>1</cp:revision>
  <dcterms:created xsi:type="dcterms:W3CDTF">2026-04-17T04:18:33Z</dcterms:created>
  <dcterms:modified xsi:type="dcterms:W3CDTF">2026-04-17T04:18:33Z</dcterms:modified>
</cp:coreProperties>
</file>