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287" r:id="rId28"/>
    <p:sldId id="313" r:id="rId29"/>
    <p:sldId id="31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592" autoAdjust="0"/>
  </p:normalViewPr>
  <p:slideViewPr>
    <p:cSldViewPr snapToGrid="0" snapToObjects="1">
      <p:cViewPr varScale="1">
        <p:scale>
          <a:sx n="130" d="100"/>
          <a:sy n="130" d="100"/>
        </p:scale>
        <p:origin x="42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96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本讲分四部分。第一部分总览,先校准 openGauss 与 GaussDB 的边界,给出存储全景和读路径地图。</a:t>
            </a:r>
          </a:p>
          <a:p>
            <a:r>
              <a:rPr lang="zh-CN" dirty="0"/>
              <a:t>第二部分缓存管理,讲共享缓冲池的查找、淘汰、刷盘,以及系统缓存与计划缓存——含 openGauss 特有的 GSC 和 GPC。</a:t>
            </a:r>
          </a:p>
          <a:p>
            <a:r>
              <a:rPr lang="zh-CN" dirty="0"/>
              <a:t>第三部分持久化存储,从 SMGR 抽象往下:MD、段页式、页面布局、FSM、WAL 与检查点,以及 Astore、Ustore、Undo 三套引擎。</a:t>
            </a:r>
          </a:p>
          <a:p>
            <a:r>
              <a:rPr lang="zh-CN" dirty="0"/>
              <a:t>第四部分端到端与保真度,把两大主题缝成一次 UPDATE 的完整链路,最后用'文档 vs 开源'对照表收尾。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这页是全讲的地图:数据从 SQL 到磁盘要穿过四个主层,外加三个旁路子系统。</a:t>
            </a:r>
          </a:p>
          <a:p>
            <a:r>
              <a:rPr lang="zh-CN" dirty="0"/>
              <a:t>自顶向下——访问方法层(heap/Astore、uheap/Ustore)只认元组和页面,把'页在哪、是否在内存'交给下一层;缓存层 Buffer Pool 是核心,bufmgr.cpp 判命中、装缺页,freelist.cpp 挑淘汰页,几乎所有读写都过这里。</a:t>
            </a:r>
          </a:p>
          <a:p>
            <a:r>
              <a:rPr lang="zh-CN" dirty="0"/>
              <a:t>再往下 SMGR(smgr.cpp)是存储抽象,用函数表把逻辑 relation 映射到物理实现:普通表落 md.cpp,段页式落 segment/;最底层才是文件读写和可选的 CFS 压缩。</a:t>
            </a:r>
          </a:p>
          <a:p>
            <a:r>
              <a:rPr lang="zh-CN" dirty="0"/>
              <a:t>右侧三条旁路不在主读路径,但同样关键:WAL 保证崩溃可恢复,Undo 支撑 Ustore 就地更新的多版本,检查点借 pagewriter 批量刷脏页、推进 redo 起点。提一句:Astore、Ustore 是开源真实存在的;Enhanced Toast 属 GaussDB 专有,不在本图开源层里。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这页把'缓存层 → SMGR → 磁盘'放大成一条真实函数调用链,都是验证过的 file:line。</a:t>
            </a:r>
          </a:p>
          <a:p>
            <a:r>
              <a:rPr lang="zh-CN" dirty="0"/>
              <a:t>入口 ReadBuffer 转 ReadBufferExtended,进核心 ReadBuffer_common;页面定位和分配在 BufferAlloc 里完成。BufferAlloc 先用 BufTableLookup 在共享哈希表查 (relfilenode, fork, block):命中就复用、pin 住返回,计入 shared_blks_hit,不触盘——这是最快的热路径。</a:t>
            </a:r>
          </a:p>
          <a:p>
            <a:r>
              <a:rPr lang="zh-CN" dirty="0"/>
              <a:t>未命中就 StrategyGetBuffer 按时钟/freelist 挑 victim;victim 若是脏页,得先 FlushBuffer 写回再复用。腾好后 smgrread 经 SMGR 落到 mdread 或段页式读,把块装进缓冲页,返回句柄。</a:t>
            </a:r>
          </a:p>
          <a:p>
            <a:r>
              <a:rPr lang="zh-CN" dirty="0"/>
              <a:t>写路径对称:改完页 MarkBufferDirty 置脏,不立即落盘,由后台 BgWriter/pagewriter 或检查点异步刷;落盘前 WAL 必须先写——这就是崩溃可恢复的保证。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InitBufferPool 在共享内存初始化阶段只调一次。先 ShmemInitStruct 申请 BufferDescriptors 数组,长度 TOTAL_BUFFER_NUM,做缓存行对齐降低并发争用;再申请 BufferBlocks,每个普通缓冲页 8KB。</a:t>
            </a:r>
          </a:p>
          <a:p>
            <a:r>
              <a:rPr lang="zh-CN" dirty="0"/>
              <a:t>两者按下标对齐:第 i 个 BufferDesc 描述第 i 个数据块。结构见 buf_internals.h——BufferDesc 含 tag、原子 state、buf_id、content_lock;BufferTag 内嵌 RelFileNode(表空间/库/关系)加 forkNum、blockNum,正是哈希表的查找键。</a:t>
            </a:r>
          </a:p>
          <a:p>
            <a:r>
              <a:rPr lang="zh-CN" dirty="0"/>
              <a:t>容量基准:NBuffers 由 GUC shared_buffers 换算而来,是整个缓冲管理的容量基准。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BufferAlloc 是共享缓冲池的核心入口。先用 INIT_BUFFERTAG 由 (rnode, forkNum, blockNum) 构造 new_tag,再 BufTableHashCode 算哈希、选定分区锁。</a:t>
            </a:r>
          </a:p>
          <a:p>
            <a:r>
              <a:rPr lang="zh-CN" dirty="0"/>
              <a:t>查找:BufTableLookup 在哈希表里找,buf_id≥0 即命中——取描述符、PinBuffer 钉住、置 found 返回,省掉磁盘 I/O。未命中则 StrategyGetBuffer 选淘汰页;若带 BM_DIRTY 脏标记,先 FlushBuffer 写回(仍受 double_write 控制)。</a:t>
            </a:r>
          </a:p>
          <a:p>
            <a:r>
              <a:rPr lang="zh-CN" dirty="0"/>
              <a:t>腾出后 BufTableInsert 把 new_tag 映射到 buf_id;若发现别人已插入同一 tag,就放弃本缓冲、按命中处理。BufTableLookup 实为 buf_hash_operate&lt;HASH_FIND&gt;,没找到返回 -1。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这是一次缓冲读的完整路径。ReadBuffer 是面向上层的简写入口(MAIN_FORKNUM、RBM_NORMAL、默认策略),经 ReadBufferExtended 汇入 ReadBuffer_common,统一处理本地/共享缓冲、P_NEW 扩展页,并调 BufferAlloc 分配。</a:t>
            </a:r>
          </a:p>
          <a:p>
            <a:r>
              <a:rPr lang="zh-CN" dirty="0"/>
              <a:t>BufferAlloc 先 BufTableLookup:命中置 hit 直接返回,省 I/O;未命中走 StrategyGetBuffer 选受害页,脏页 FlushBuffer 写回,再 BufTableInsert 登记。最终在 ReadBlock 里 smgrread 把 8KB 页从磁盘读入缓冲块。</a:t>
            </a:r>
          </a:p>
          <a:p>
            <a:r>
              <a:rPr lang="zh-CN" dirty="0"/>
              <a:t>运维侧:GaussDB 用告警 ALM-2001050001 监控命中率偏低;开源 openGauss 确有列存专用 cstore_buffers,独立于行存 shared_buffers。提醒一句:'去双写'被夸大了——FlushBuffer 仍受 dw_enabled() 保护,并未移除。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这页讲缓冲池满时怎么选受害页。入口 StrategyGetBuffer 先看有没有 BufferAccessStrategy:顺序扫描、VACUUM、批量写这类会污染缓存的操作,用 GetAccessStrategy 申请一个小环形缓冲 ring,只在自己的 ring 内复用少量页,不冲刷整个 shared_buffers;GetBufferFromRing 就是从 ring 取页。</a:t>
            </a:r>
          </a:p>
          <a:p>
            <a:r>
              <a:rPr lang="zh-CN" dirty="0"/>
              <a:t>普通分配或 ring 取不到时,走经典 clock-sweep:ClockSweepTick 把时钟指针前进一格,自旋取页头锁;若 refcount=0、非元数据页、且非脏或可刷脏,就是可淘汰页。每扫一次递减 usage_count,降到 0 才算冷页淘汰——这就是'时钟'的本质:给每页第二次机会。</a:t>
            </a:r>
          </a:p>
          <a:p>
            <a:r>
              <a:rPr lang="zh-CN" dirty="0"/>
              <a:t>补充:openGauss 在 clock-sweep 之上加了增量检查点的 candidate list,由 pagewriter 预挑淘汰页,是相对社区 PostgreSQL 的增强;但核心判据仍是 refcount 和 usage_count。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这页讲页引用计数怎么在并发下做到无锁高效。每个 BufferDesc 把 refcount、usage_count 和所有标志位压进一个 64 位 state:低 32 位是 refcount,中间几位是 usage_count,高位是 BM_LOCKED、BM_DIRTY、BM_VALID、BM_IO_IN_PROGRESS 等。塞进一个原子字,是为了一次 CAS 同时读改多个字段,免得每次 pin/unpin 都抢头锁自旋。</a:t>
            </a:r>
          </a:p>
          <a:p>
            <a:r>
              <a:rPr lang="zh-CN" dirty="0"/>
              <a:t>PinBuffer:私有引用表里没有该页时,先原子把 refcount 加 1(refcount&gt;0 就钉住,clock-sweep 不选它);若发现 BM_LOCKED 已被别人置位,就回退这次 +1、等解锁再重试。随后用 CAS 把 usage_count 抬高一档(封顶),让热页更难淘汰;返回值取自 BM_VALID,告诉调用方数据是否有效。</a:t>
            </a:r>
          </a:p>
          <a:p>
            <a:r>
              <a:rPr lang="zh-CN" dirty="0"/>
              <a:t>对照:UnpinBuffer 反向原子减 refcount,减到 0 才真正释放、处理等待者。确需独占改头部状态时走 LockBufHdr,自旋把 BM_LOCKED 置 1,改完再 UnlockBufHdr 清位。'原子 CAS 优先、头锁兜底'是高并发的关键。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FlushBuffer 是脏页写盘的统一出口。先 StartBufferIO 抢到这页的 io_in_progress 状态;如果别人已经在刷,直接返回,避免重复写。写盘只需共享内容锁——此刻别的会话还可能在改 hint bit,所以算 checksum 时用 PageSetChecksumCopy 把页拷一份到私有内存。</a:t>
            </a:r>
          </a:p>
          <a:p>
            <a:r>
              <a:rPr lang="zh-CN" dirty="0"/>
              <a:t>接着 XLogWaitFlush 落实 WAL 铁律:数据页落盘前,必须先把这次修改对应的 redo 日志(page LSN 之前的)刷到磁盘,否则崩溃后没法重放。</a:t>
            </a:r>
          </a:p>
          <a:p>
            <a:r>
              <a:rPr lang="zh-CN" dirty="0"/>
              <a:t>真正的写在 smgrwrite,经存储管理器写进数据文件;skipFsync 决定要不要把 fsync 推迟给检查点统一做以提吞吐。段页式表走 seg_physical_write 分支,不在这里。</a:t>
            </a:r>
          </a:p>
          <a:p>
            <a:r>
              <a:rPr lang="zh-CN" dirty="0"/>
              <a:t>串起来看:这个函数由 SyncOneBuffer 调用,而 SyncOneBuffer 被 bgwriter、检查点/pagewriter 三条上游共用——同一段刷盘逻辑复用。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脏页怎么来的:业务线程改页时 MarkBufferDirty 置 BM_DIRTY,并挂进脏页队列。清理有两条后台路径。</a:t>
            </a:r>
          </a:p>
          <a:p>
            <a:r>
              <a:rPr lang="zh-CN" dirty="0"/>
              <a:t>第一条 bgwriter:BgBufferSync 跟着 freelist 时钟指针顺扫,对可复用脏页提前 SyncOneBuffer 写干净,让前台分配 buffer 时少等。第二条增量检查点:pagewriter 主循环把脏页排序、唤醒子线程成批刷盘。</a:t>
            </a:r>
          </a:p>
          <a:p>
            <a:r>
              <a:rPr lang="zh-CN" dirty="0"/>
              <a:t>重点纠偏(文档 vs 开源):宣传的'去双写'被夸大。开源 6.0.0 这里仍是 dw_copy_page 把整批脏页拷进 double-write 文件、dw_batch_flush 落盘,之后才逐页 FlushBuffer 写回——经典双写防页撕裂,由 dw_enabled() 控制,段页式另有 seg_dw_single_flush。所谓'去双写'其实是 ADIO 适配路径(enable_adio_function),是新增适配不是移除。别把开源 openGauss 等同于 GaussDB 商业版。</a:t>
            </a:r>
          </a:p>
          <a:p>
            <a:r>
              <a:rPr lang="zh-CN" dirty="0"/>
              <a:t>观测视图:BGWRITER_STAT 看后台写吞吐,GLOBAL_CKPT_STATUS 看检查点进度,GLOBAL_DOUBLE_WRITE_STATUS 看双写文件使用。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临时表(temp/unlogged)只在单会话可见,没必要进共享缓冲池。ReadBuffer_common 判断 relpersistence 为 TEMP 时改走 LocalBufferAlloc,命中和淘汰都在会话私有结构里。</a:t>
            </a:r>
          </a:p>
          <a:p>
            <a:r>
              <a:rPr lang="zh-CN" dirty="0"/>
              <a:t>先查会话私有哈希 LocalBufHash;命中就等价于 PinBuffer:bump usagecount、记 LocalRefCount,直接返回。注意全程只用普通读写,没有 LockBufHdr/原子 CAS 那套共享池并发保护——本地缓存天然无并发,省掉锁开销正是它最大的特点。</a:t>
            </a:r>
          </a:p>
          <a:p>
            <a:r>
              <a:rPr lang="zh-CN" dirty="0"/>
              <a:t>未命中走本地 clock-sweep:从 nextFreeLocalBuf 起循环,usagecount&gt;0 减一继续,归零即可复用;选中的旧 buffer 若是脏页,先 LocalBufferWrite 写回再复用。对应置脏入口 MarkLocalBufferDirty 用原子 fetch_or 打 BM_DIRTY,同样不走共享池那套锁。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这页讲系统目录(catalog)的三级缓存。入口 SearchSysCache 按 cacheId 取到对应 CatCache,转 SearchCatCache 再进 SearchCatCacheInternal 干活。</a:t>
            </a:r>
          </a:p>
          <a:p>
            <a:r>
              <a:rPr lang="zh-CN" dirty="0"/>
              <a:t>快路径很短:cc_hashfunc 算 hashValue 定位哈希桶,沿桶内双向链表比键。命中后 DLMoveToFront 把它挪到链头形成 LRU,让热点行后续更快;正项 refcount++ 返回,负项直接返回 NULL——负缓存避免对不存在的 key 反复扫表。</a:t>
            </a:r>
          </a:p>
          <a:p>
            <a:r>
              <a:rPr lang="zh-CN" dirty="0"/>
              <a:t>整桶没命中才走慢路径 SearchCatCacheMiss:heap_open 打开真实系统表,扫一行,再建缓存项(找不到就建负项)。慢路径单独拆出,是为了让快路径足够小。</a:t>
            </a:r>
          </a:p>
          <a:p>
            <a:r>
              <a:rPr lang="zh-CN" dirty="0"/>
              <a:t>表级别由 RelationIdGetRelation 负责:先查 RelCache 哈希,命中即加引用返回;未命中 RelationBuildDesc 从 pg_class、pg_attribute 重建整个 Relation 描述符。一句话:CatCache 缓存'行',RelCache 缓存'表结构',二者互相依赖。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这页讲准备语句(PBE)的执行计划缓存。一条语句的 CachedPlanSource 分三步建立:CreateCachedPlan 建壳,CompleteCachedPlan 填 querytree、参数类型、游标选项定型,之后每次执行调 GetCachedPlan 取计划。</a:t>
            </a:r>
          </a:p>
          <a:p>
            <a:r>
              <a:rPr lang="zh-CN" dirty="0"/>
              <a:t>GetCachedPlan 先 RevalidateCachedQuery:若期间有 DDL 失效,重新分析重写、补齐锁。再 ChooseCustomPlan 比较通用计划估算成本和定制计划历史成本,决定这次用 generic 还是 custom——这是带参语句'一次规划多次执行'与'按实参定制'之间的权衡。</a:t>
            </a:r>
          </a:p>
          <a:p>
            <a:r>
              <a:rPr lang="zh-CN" dirty="0"/>
              <a:t>走通用计划:CheckCachedPlan 验证缓存的 gplan 是否仍有效,有效就复用并记一次软解析(soft parse),省掉重新规划;无效就丢弃旧计划、在临时上下文重建。</a:t>
            </a:r>
          </a:p>
          <a:p>
            <a:r>
              <a:rPr lang="zh-CN" dirty="0"/>
              <a:t>走定制计划:用实参 boundParams 构建计划挂到 cplan,并累计 custom 成本供下次决策。最后统一 refcount++ 并登记到 ResourceOwner,保证引用计数和释放正确。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这页讲 openGauss 区别于原生 PG 的两个跨会话共享缓存。原生 PG 的 SysCache、RelCache、PlanCache 每会话各一份,连接越多副本越多、越费内存。openGauss 用 GSC(Global SysCache)和 GPC(Global Plan Cache),把只读可共享的部分提升到实例级。</a:t>
            </a:r>
          </a:p>
          <a:p>
            <a:r>
              <a:rPr lang="zh-CN" dirty="0"/>
              <a:t>SysCache 分两层:每会话有 LocalSysCache(LSC),其后是全局三级 GlobalSysDBCache → GlobalSysTabCache → GlobalSysTupCache,分别按库、按表、按元组组织。会话本地未命中就回源到全局层,命中即多会话共享同一份目录元组。</a:t>
            </a:r>
          </a:p>
          <a:p>
            <a:r>
              <a:rPr lang="zh-CN" dirty="0"/>
              <a:t>Plan 侧由 GlobalPlanCache 管:Fetch 按 query 文本加参数在全局哈希里找已编译的 CachedPlanSource 复用,TryStore 把本会话新建的可共享计划存进去,省掉别人重复硬解析。两者由 GUC 控制:enable_global_syscache 默认 on,enable_global_plancache 默认 off。</a:t>
            </a:r>
          </a:p>
          <a:p>
            <a:r>
              <a:rPr lang="zh-CN" dirty="0"/>
              <a:t>文档 vs 开源(要说明):商业版宣传的'Global PL/SQL Cache'覆盖更广,但开源 6.0.0 能找到的全局缓存只有这里的 GSC/GPC,PL/SQL 侧仅 pl_global_package_runtime_cache 一处 package 运行时缓存,并不等于完整的 Global PL/SQL Cache。别把开源 GSC/GPC 直接等同于商业版全部能力。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这页讲 SMGR 层的核心抽象。f_smgr 是一张函数指针表(vtable),每个介质实现填一行;smgrsw[] 把它们静态登记成数组。上层只调 smgrread/smgrwrite,内部用 reln-&gt;smgr_which 作下标取出实现,这就是运行时多态。</a:t>
            </a:r>
          </a:p>
          <a:p>
            <a:r>
              <a:rPr lang="zh-CN" dirty="0"/>
              <a:t>真实下标:0=MD 经典单文件,1=undo file,2=段页式,3=extreme-rto standby read。任务描述把段页式写成 index1 是简化,按源码应是 index2(宏 SEGMENT_MANAGER=2)。</a:t>
            </a:r>
          </a:p>
          <a:p>
            <a:r>
              <a:rPr lang="zh-CN" dirty="0"/>
              <a:t>SMgrRelationData 是每个物理关系的句柄:smgr_rnode 作哈希键,md_fd 给 MD 用,seg_desc/seg_space 给段页式用,smgr_which 决定走哪一行。smgropen 第一次访问时建哈希表、HASH_ENTER 插条目,并不真打开文件,延迟到读写时再 _mdfd_getseg。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这页讲最经典的介质层 MD。它把一个 relation fork 拆成多个定长段文件(RELSEG_SIZE,默认 1GB),用 _MdfdVec 单链表串起来:mdfd_vfd 是虚拟文件描述符,mdfd_segno 段号,mdfd_chain 指向下一段。</a:t>
            </a:r>
          </a:p>
          <a:p>
            <a:r>
              <a:rPr lang="zh-CN" dirty="0"/>
              <a:t>mdwrite 两步:先 _mdfd_getseg 用 blocknum 算出该块在哪一段(EXTENSION_FAIL 表示越界报错、写不扩段);再算段内偏移 seekpos = BLCKSZ × (blocknum % RELSEG_SIZE),最后 FilePWrite 定位写入。压缩主 fork 走 CfsWritePage 分支。</a:t>
            </a:r>
          </a:p>
          <a:p>
            <a:r>
              <a:rPr lang="zh-CN" dirty="0"/>
              <a:t>注意:mdwrite 只更新 EOF 之前已存在的块,扩展要用 mdextend;它不保证立即落盘,持久性交给后续 checkpoint/fsync。Assert 保证偏移不越段边界。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这页讲段页式读路径。和 MD'每关系独占文件'不同,段页式把同表空间的多关系塞进表空间级物理大文件(按 1/8/128… 块分级 extent),逻辑块号得先映射成物理块号。</a:t>
            </a:r>
          </a:p>
          <a:p>
            <a:r>
              <a:rPr lang="zh-CN" dirty="0"/>
              <a:t>seg_read 流程:read_head_buffer 把该 fork 的 SegmentHead 读进缓冲;校验 blocknum 小于 nblocks;seg_logic_to_physic_mapping 通过段头里的多级 BMT 把逻辑块翻译成物理 loc;再 spc_read_block 按 extent 选中对应 extent_group,调 df_pread_block 从 SegLogicFile 读出。读完 PageIsVerified 校验 CRC。写路径 seg_write 对称,末尾 spc_write_block。</a:t>
            </a:r>
          </a:p>
          <a:p>
            <a:r>
              <a:rPr lang="zh-CN" dirty="0"/>
              <a:t>观测:文档侧可用 GS_SEG_* 系统视图看段页式表空间占用。差异提醒:商业版宣传的'去双写'在开源 6.0.0 不成立——段页式刷脏仍调 seg_dw_single_flush(受 dw_enabled() 控制),ADIO 只是 enable_adio_function 适配,不是移除双写。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这页讲页面的物理布局和两个基础操作。PageInit 把整页清零,再用空闲指针切成几段:pd_lower 指到线指针数组末端(空闲起点),pd_upper 指到元组区顶端(空闲终点),pd_special 指到页尾 special 区。</a:t>
            </a:r>
          </a:p>
          <a:p>
            <a:r>
              <a:rPr lang="zh-CN" dirty="0"/>
              <a:t>注意 isHeap 分支:堆页用 SizeOfHeapPageHeaderData,因为堆页头比通用页头多了 pd_xid_base、pd_multi_base 两个 64 位字段——这是 openGauss 用'页内 base + 32 位短 XID'拼出 64 位事务号的关键,解决了 PG 的 32 位 XID 回卷问题。</a:t>
            </a:r>
          </a:p>
          <a:p>
            <a:r>
              <a:rPr lang="zh-CN" dirty="0"/>
              <a:t>插入时 PageAddItem 先校验三个指针没被写坏,再挑 offset,把元组拷到 pd_upper 之下、把 ItemId 写进 pd_linp 数组:线指针自顶向下增长、元组自底向上增长,两头相遇即页满。每个 ItemId 用位域把偏移、状态、长度压进 4 字节,lp_off、lp_len 各 15 位,所以页面最大到 32KB。</a:t>
            </a:r>
          </a:p>
          <a:p>
            <a:r>
              <a:rPr lang="zh-CN" dirty="0"/>
              <a:t>关于 TOAST:字段超长放不进一页时,标准做法是切片存到 TOAST 副表、主元组留指针,这是社区 PG 既有能力。文档里的 Enhanced Toast 是 GaussDB 商业版特性,开源 6.0.0 源码里没找到实现,讲解时别把开源等同于商业版。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这页讲插入时怎么快速找到有足够空间的页,避免全表扫。每张表都有伴随的 FSM(Free Space Map),把每个堆块的可用空间量化成一字节的 category 档位。</a:t>
            </a:r>
          </a:p>
          <a:p>
            <a:r>
              <a:rPr lang="zh-CN" dirty="0"/>
              <a:t>查询路径:heap_insert 需要 spaceNeeded 字节,调 GetPageWithFreeSpace。先用 fsm_space_needed_to_cat 把字节折成最低档 min_cat,再 fsm_search 在 FSM 树里自顶向下走——上层节点存子树里的最大档位,所以只要根的最大值≥min_cat,下层一定找得到候选块;否则返回 InvalidBlockNumber,让上层去扩展关系。</a:t>
            </a:r>
          </a:p>
          <a:p>
            <a:r>
              <a:rPr lang="zh-CN" dirty="0"/>
              <a:t>更新路径反向:某页空间变了,RecordPageWithFreeSpace 用 fsm_space_avail_to_cat 折成 new_cat,经 fsm_get_location 定位到该块的 FSM 字节写回。注意它只改底层、不强刷上层(minValue 传 0),上层聚合值可能暂时偏旧,新空间要等 FreeSpaceMapVacuum 自顶向下扫一遍才完全可见——性能与一致性的折中。</a:t>
            </a:r>
          </a:p>
          <a:p>
            <a:r>
              <a:rPr lang="zh-CN" dirty="0"/>
              <a:t>结构:FSM 几层取决于 SlotsPerFSMPage,8KB 块下每页约 4000 槽,够撑三层树(FSM_TREE_DEPTH)。每个逻辑节点用 FSMAddress 寻址,只有 level 和 logpageno 两个字段,把多层 FSM 抽象成可独立寻址的逻辑文件。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XLogInsertRecord 是把已组装好的 rdata 记录链写进 WAL 的统一入口。它自己不搬数据,只按平台和 GUC 选插入策略:aarch64 上,若是日志切换记录(XLOG_SWITCH)或没开 enable_xlog_insert_record_group,走 single 逐条插;否则走 group 模式,把多个后端的插入聚合,减少 insertpos_lck 自旋争用。x86 始终 single。</a:t>
            </a:r>
          </a:p>
          <a:p>
            <a:r>
              <a:rPr lang="zh-CN" dirty="0"/>
              <a:t>真正分配空间和 LSN 的是下游 ReserveXLogInsertLocation:它在锁内只做一句 CurrBytePos += size,把可用字节位置映射成物理 XLogRecPtr(即 LSN),拿到 StartPos/EndPos/PrevPtr,再把记录拷进 WAL 缓冲页。持锁时间最短,是高并发写入的关键。</a:t>
            </a:r>
          </a:p>
          <a:p>
            <a:r>
              <a:rPr lang="zh-CN" dirty="0"/>
              <a:t>结构 XLogRecord 是每条 WAL 记录的定长头:xl_tot_len 整条长度、xl_xid 事务号、xl_prev 指向上一条形成日志链、xl_info 标志、xl_rmid 资源管理器(决定回放用哪套 redo)、xl_crc 校验。WAL 物理上按段文件存于 pg_xlog,单段默认 16MB,写满即切换。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XLogFlushCore 是把 WAL 真正落盘的核心。进临界区后构造 WriteRqst,把 Write 和 Flush 目标都设为 writeRqstPtr,调 XLogWrite 写文件并 fsync——XLogWrite 必须持 WALWriteLock 调用。落盘后用 pg_memory_barrier 保证可见性,唤醒 walsender 把日志发往备机,再原子更新 flushResult、唤醒等待提交的代理线程去检查最新已刷 LSN。</a:t>
            </a:r>
          </a:p>
          <a:p>
            <a:r>
              <a:rPr lang="zh-CN" dirty="0"/>
              <a:t>无锁刷盘 self-flush 是 openGauss 的并发优化:XLogSelfFlushWithoutStatus 让插入线程在没有专职 walwriter、或一次拷贝内第二次命中起始页时,自己驱动刷盘并自旋等 lastLRCFlushed 追平 prevLRC,避免全局写锁成为瓶颈。</a:t>
            </a:r>
          </a:p>
          <a:p>
            <a:r>
              <a:rPr lang="zh-CN" dirty="0"/>
              <a:t>LRC(Log Record Counter)是这套机制的串行号:定义在 Combined128 里,和 64 位 CurrBytePos 打包成 128 位,用 atomic_compare_and_swap_u128 一次原子推进。刷盘侧据 LRC 判断记录拷贝是否完成、顺序是否连续,从而在多线程下安全推进 flush 水位。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检查点把内存脏数据成批落盘,并在控制文件里记一个 redo point,使崩溃恢复只需从该点向后重放 WAL,不必从头。入口 CreateCheckPoint 先取 WAL 插入位置算出 redo 点、写下 checkpoint 记录;核心刷盘委托给 CheckPointGuts,它依次刷 CLOG、CSNLOG、MultiXact、Predicate、RelationMap、ReplicationSlots 等子系统,再调 CheckPointBuffers。</a:t>
            </a:r>
          </a:p>
          <a:p>
            <a:r>
              <a:rPr lang="zh-CN" dirty="0"/>
              <a:t>CheckPointBuffers 看是否增量检查点:非增量直接 BufferSync 刷全部脏页;增量做全量时自身不刷、等 pagewriter 刷够。BufferSync 扫所有缓冲,给脏页打 BM_CHECKPOINT_NEEDED 后逐个 FlushBuffer,经 smgrwrite 分流——行存堆走 mdwrite,段页式走 seg_write。</a:t>
            </a:r>
          </a:p>
          <a:p>
            <a:r>
              <a:rPr lang="zh-CN" dirty="0"/>
              <a:t>文档 vs 开源提醒:doc 侧补充的 WAL GUC(wal_level、fsync、full_page_writes、checkpoint_segments)和'Parallel Page-based Redo for Ustore(基于页的并行回放)'属 GaussDB 文档/概念层,用来解释配置与回放加速;它们不改变上图这条开源真实调用链,并行回放的具体实现以源码为准,别把文档能力直接等同于开源代码路径。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Astore(append-style heap)是 openGauss 兼容 PostgreSQL 的行存引擎。heap_insert 先 heap_prepare_insert 填元组头、按需 TOAST,再 RelationGetBufferForTuple 找一个有空闲的页钉住。进临界区后 RelationPutHeapTuple 把元组放进页内、写回 t_self(TID),MarkBufferDirty 标脏等后台刷,最后构造 xl_heap_insert 经 XLogInsert 写 WAL 保证可恢复。</a:t>
            </a:r>
          </a:p>
          <a:p>
            <a:r>
              <a:rPr lang="zh-CN" dirty="0"/>
              <a:t>关键特征:Astore 更新不原地改旧版本——heap_update 尽量用 HOT 链在同页串联新旧版本,heap_delete 只在旧元组上打删除标记。于是旧元组留在页里成为'死元组',要等 VACUUM 才能真正回收空间。这正是 Astore 易膨胀、依赖 autovacuum 的根因,也是与下一页 Ustore 原位更新的核心差异。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Ustore(in-place update store)是 openGauss 的原位更新引擎,目标是抑制 Astore 的膨胀。UHeapInsert 先 UHeapPageReserveTransactionSlot 在页内 TD(事务目录)预留一个事务槽——TD 槽数即 UHeapPageHeaderData.td_count。再 UHeapPrepareUndoInsert 预分配 undo 得到 urecPtr,把当前事务的 prevUrecptr 串进 undo 链。UHeapTupleHeaderSetTDSlot 让磁盘元组记录所属 TD 槽号——可见性信息靠 TD 槽而非元组头里的 XID 定位,所以元组头更紧凑。</a:t>
            </a:r>
          </a:p>
          <a:p>
            <a:r>
              <a:rPr lang="zh-CN" dirty="0"/>
              <a:t>RelationPutUTuple 原地写入元组,UHeapPageSetUndo 把 TD 槽指向 undo 记录,MarkBufferDirty 标脏。原位更新意味着 UPDATE 时新值直接覆盖旧值,旧版本搬进 undo(见下一页),页内不再堆积死元组,从而显著降低膨胀、减轻对 VACUUM 的依赖。Ustore 是 openGauss 默认推荐的 OLTP 行存引擎。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Ustore 的 MVCC 靠 undo 子系统,模块分布在 knl_uundoapi/uundozone/uundorecycle/uundospace/uundotxn/uundoxlog 等文件。更新路径上,UHeapUpdate 先 UHeapPrepareUndoUpdate 组织本次 undo 记录,再由 UndoRecord::Prepare 按 RecordSize 用 AdvanceUndoPtr 在 undo 空间预留一段、返回 urp_,PrepareUndoMeta 登记元数据;随后 RelationPutUTuple 原地写新版本、MarkBufferDirty 标脏、XLogInsert 落 WAL。旧版本保存在 undo 里。</a:t>
            </a:r>
          </a:p>
          <a:p>
            <a:r>
              <a:rPr lang="zh-CN" dirty="0"/>
              <a:t>读快照需要旧版本时,FetchUndoRecord 按 blkno/offset/xid 沿 undo 链 LoadUndoRecord 逐条回溯,重建某个历史快照对应的元组版本——这就是 Ustore 的版本重建。</a:t>
            </a:r>
          </a:p>
          <a:p>
            <a:r>
              <a:rPr lang="zh-CN" dirty="0"/>
              <a:t>文档 vs 开源差异(务必标注):所谓 RCR(Row Consistency Read)在开源 6.0.0 主要出现在 ubtree 索引层(如 UBTREE_OPAQUE_VERSION_RCR),uheap 代码本身不含 'RCR' 字串,属文档用词,别当成 uheap 源码概念。再对比 Astore:Astore 旧版本留页内、靠 VACUUM 异步回收(易膨胀);Ustore 旧版本进 undo、由 undo recycle 按事务可见性回收,二者空间回收机制本质不同。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本页把缓冲管理和持久化存储串成一条链。以 Ustore 的一次 UPDATE 为例:入口是 UHeapUpdate(knl_uheap.cpp),三步——先 Prepare undo,留下旧版本,支撑回滚和 MVCC;再 RelationPutUTuple,把新元组写进共享缓冲区的页;最后 MarkBufferDirty,给这页打上脏标记。</a:t>
            </a:r>
          </a:p>
          <a:p>
            <a:r>
              <a:rPr lang="zh-CN" dirty="0"/>
              <a:t>关键规矩是 WAL 先行:解锁页面前必须先 XLogInsert 生成 redo 日志;事务提交时 XLogFlush 把日志强制落盘,返回客户端前已持久。此刻数据页可能还在内存——这正是 WAL 的取舍:用顺序写日志,换数据页延迟刷盘。</a:t>
            </a:r>
          </a:p>
          <a:p>
            <a:r>
              <a:rPr lang="zh-CN" dirty="0"/>
              <a:t>真正刷脏页的是检查点:CreateCheckPoint 调 BufferSync 扫脏页,逐个 FlushBuffer,经 smgrwrite 分派到 mdwrite 或 seg_write,最后 FilePWrite 落盘。崩溃后从上一个检查点重放 WAL 即可重建。一句话:WAL 保证'提交不丢',检查点决定'恢复重放多少',二者配合。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这页是全场的'打假与对齐'表,防止把开源 openGauss 6.0.0 直接当成 GaussDB 商业版讲。前 10 行都能在源码里找到对应文件/GUC,我已逐一核对路径存在:Ustore、UBTree(RCR)、Undo、Global SysCache、Global Plan Cache、ADIO 开关、段页式、NUMA、cstore_buffers、MOT(编译可选)。</a:t>
            </a:r>
          </a:p>
          <a:p>
            <a:r>
              <a:rPr lang="zh-CN" dirty="0"/>
              <a:t>最后三行必须标红。Enhanced Toast 在开源 6.0.0 找不到实现,开源只有标准 PostgreSQL 的 TOAST,属 GaussDB 专有增强。所谓'去双写'明显夸大:开源里 double_write 依旧存在,dw_enabled() 仍是开关,段页式落盘还会调 seg_dw_single_flush;ADIO 只是另一条由 enable_adio_function 控制的直接 IO 路径,是适配不是移除双写。Global PL/SQL Cache 在开源里只覆盖 package 运行时缓存这一小块,远窄于文档描述。讲到这三行,一定口头点明'文档 vs 开源'的边界。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收尾页用三到五条把全程主线再串一遍。第一条复述缓冲管理:入口 ReadBuffer 经 BufferAlloc 查共享哈希表,命中直接 pin,未命中用时钟(clock-sweep)选淘汰页,脏页先 FlushBuffer;状态机围绕 BM_DIRTY、pin count、usage count 运转。第二条复述持久化:WAL 先行保证已提交不丢,检查点周期性把脏页经 smgr 写盘——mdwrite 走普通堆、seg_write 走段页式,double-write 防半页写坏(torn page)。</a:t>
            </a:r>
          </a:p>
          <a:p>
            <a:r>
              <a:rPr lang="zh-CN" dirty="0"/>
              <a:t>第三条是两主题的缝合点,即上一张 UPDATE 流程图的文字版:改内存 + 写日志 → 提交只 flush 日志 → 检查点异步刷数据页 → 崩溃靠 WAL 重放。第四条再强调保真度边界,呼应对照表的三个商业增强差异,别让听众把开源当商业版。最后一条给可复现的引用坐标:具体 commit 号、源码根目录、文档版本章节,方便课后按图索骥核对每处 file:line。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GaussDB(openGauss 6.0.0) 持久化存储管理与缓存管理 源码讲解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64008" cy="68580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395728"/>
            <a:ext cx="146304" cy="1417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0120" y="3931920"/>
            <a:ext cx="4206240" cy="25603"/>
          </a:xfrm>
          <a:prstGeom prst="rect">
            <a:avLst/>
          </a:prstGeom>
          <a:solidFill>
            <a:srgbClr val="1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3931920"/>
            <a:ext cx="1280160" cy="25603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188720"/>
            <a:ext cx="3703320" cy="475488"/>
          </a:xfrm>
          <a:prstGeom prst="rect">
            <a:avLst/>
          </a:prstGeom>
          <a:solidFill>
            <a:srgbClr val="E9F1FB"/>
          </a:solidFill>
          <a:ln w="12700">
            <a:solidFill>
              <a:srgbClr val="D7E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0">
                <a:solidFill>
                  <a:srgbClr val="164480"/>
                </a:solidFill>
                <a:latin typeface="Consolas"/>
                <a:ea typeface="Consolas"/>
                <a:cs typeface="Consolas"/>
              </a:rPr>
              <a:t>openGauss 6.0.0  ·  storage &amp; cache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2084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第一部分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总览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: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存储层全景架构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核心读路径</a:t>
            </a:r>
            <a:endParaRPr sz="1800" b="0" i="0" dirty="0">
              <a:solidFill>
                <a:srgbClr val="212B3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缓存管理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: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共享缓冲池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/ clock-sweep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淘汰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/ Pin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状态机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刷盘与双写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SysCache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PlanCache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/ GSC·GPC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第三部分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持久化存储管理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: SMGR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抽象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/ MD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与段页式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页面与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FSM / WAL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与检查点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Astore·Ustore·Undo</a:t>
            </a:r>
            <a:endParaRPr sz="1800" b="0" i="0" dirty="0">
              <a:solidFill>
                <a:srgbClr val="212B3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第四部分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端到端与保真度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: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一次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UPDATE </a:t>
            </a:r>
            <a:r>
              <a:rPr sz="18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全链路</a:t>
            </a:r>
            <a:r>
              <a:rPr sz="18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02 / 30</a:t>
            </a:r>
          </a:p>
        </p:txBody>
      </p:sp>
    </p:spTree>
    <p:extLst>
      <p:ext uri="{BB962C8B-B14F-4D97-AF65-F5344CB8AC3E}">
        <p14:creationId xmlns:p14="http://schemas.microsoft.com/office/powerpoint/2010/main" val="3272272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存储层全景架构 (自顶向下分层)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• 访问方法层: heap 为传统 Astore, uheap 为 Inplace-Update 的 Ustore, 对上层提供元组读写, 不直接碰磁盘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• 缓存层: 所有页面读写先经 Buffer Pool, bufmgr 管命中/装入, freelist 管淘汰候选, 是性能关键路径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1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04 / 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1481328"/>
            <a:ext cx="6903720" cy="786384"/>
          </a:xfrm>
          <a:prstGeom prst="roundRect">
            <a:avLst>
              <a:gd name="adj" fmla="val 7000"/>
            </a:avLst>
          </a:prstGeom>
          <a:solidFill>
            <a:srgbClr val="E9F1FB"/>
          </a:solidFill>
          <a:ln w="17780">
            <a:solidFill>
              <a:srgbClr val="1E5BA8"/>
            </a:solidFill>
          </a:ln>
          <a:effectLst>
            <a:outerShdw blurRad="45720" dist="27432" dir="5400000" rotWithShape="0">
              <a:srgbClr val="2A33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SQL 执行 / 访问方法层</a:t>
            </a:r>
          </a:p>
          <a:p>
            <a:pPr algn="ctr"/>
            <a:r>
              <a:rPr sz="105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heap = Astore   ·   uheap = Ustore   ·   元组读写, 不碰磁盘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20540" y="2267712"/>
            <a:ext cx="0" cy="310896"/>
          </a:xfrm>
          <a:prstGeom prst="line">
            <a:avLst/>
          </a:prstGeom>
          <a:ln w="30480">
            <a:solidFill>
              <a:srgbClr val="1E5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" y="2578608"/>
            <a:ext cx="6903720" cy="786384"/>
          </a:xfrm>
          <a:prstGeom prst="roundRect">
            <a:avLst>
              <a:gd name="adj" fmla="val 7000"/>
            </a:avLst>
          </a:prstGeom>
          <a:solidFill>
            <a:srgbClr val="E9F1FB"/>
          </a:solidFill>
          <a:ln w="17780">
            <a:solidFill>
              <a:srgbClr val="1E5BA8"/>
            </a:solidFill>
          </a:ln>
          <a:effectLst>
            <a:outerShdw blurRad="45720" dist="27432" dir="5400000" rotWithShape="0">
              <a:srgbClr val="2A33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缓存层  Buffer Pool</a:t>
            </a:r>
          </a:p>
          <a:p>
            <a:pPr algn="ctr"/>
            <a:r>
              <a:rPr sz="105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bufmgr.cpp 命中/装入   ·   freelist.cpp 淘汰   ·   性能关键路径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20540" y="3364992"/>
            <a:ext cx="0" cy="310896"/>
          </a:xfrm>
          <a:prstGeom prst="line">
            <a:avLst/>
          </a:prstGeom>
          <a:ln w="30480">
            <a:solidFill>
              <a:srgbClr val="1E5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" y="3675887"/>
            <a:ext cx="6903720" cy="786384"/>
          </a:xfrm>
          <a:prstGeom prst="roundRect">
            <a:avLst>
              <a:gd name="adj" fmla="val 7000"/>
            </a:avLst>
          </a:prstGeom>
          <a:solidFill>
            <a:srgbClr val="E9F1FB"/>
          </a:solidFill>
          <a:ln w="17780">
            <a:solidFill>
              <a:srgbClr val="1E5BA8"/>
            </a:solidFill>
          </a:ln>
          <a:effectLst>
            <a:outerShdw blurRad="45720" dist="27432" dir="5400000" rotWithShape="0">
              <a:srgbClr val="2A33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存储管理抽象  SMGR</a:t>
            </a:r>
          </a:p>
          <a:p>
            <a:pPr algn="ctr"/>
            <a:r>
              <a:rPr sz="105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smgr.cpp  →  md.cpp (经典文件)  /  segment/ (段页式)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20540" y="4462272"/>
            <a:ext cx="0" cy="310896"/>
          </a:xfrm>
          <a:prstGeom prst="line">
            <a:avLst/>
          </a:prstGeom>
          <a:ln w="30480">
            <a:solidFill>
              <a:srgbClr val="1E5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8680" y="4773168"/>
            <a:ext cx="6903720" cy="786384"/>
          </a:xfrm>
          <a:prstGeom prst="roundRect">
            <a:avLst>
              <a:gd name="adj" fmla="val 7000"/>
            </a:avLst>
          </a:prstGeom>
          <a:solidFill>
            <a:srgbClr val="ECEFF3"/>
          </a:solidFill>
          <a:ln w="17780">
            <a:solidFill>
              <a:srgbClr val="5C6B7E"/>
            </a:solidFill>
          </a:ln>
          <a:effectLst>
            <a:outerShdw blurRad="45720" dist="27432" dir="5400000" rotWithShape="0">
              <a:srgbClr val="2A33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500" b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文件系统 / 磁盘</a:t>
            </a:r>
          </a:p>
          <a:p>
            <a:pPr algn="ctr"/>
            <a:r>
              <a:rPr sz="105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数据文件  +  CFS 压缩   ·   FilePWrite 落盘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" y="1481328"/>
            <a:ext cx="640080" cy="3145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E5BA8"/>
                </a:solidFill>
                <a:latin typeface="Microsoft YaHei"/>
                <a:ea typeface="Microsoft YaHei"/>
                <a:cs typeface="Microsoft YaHei"/>
              </a:rPr>
              <a:t>页
面
读
写
主
路
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2578608"/>
            <a:ext cx="3246120" cy="2980944"/>
          </a:xfrm>
          <a:prstGeom prst="roundRect">
            <a:avLst>
              <a:gd name="adj" fmla="val 5000"/>
            </a:avLst>
          </a:prstGeom>
          <a:solidFill>
            <a:srgbClr val="FBE9EA"/>
          </a:solidFill>
          <a:ln w="1778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>
                <a:solidFill>
                  <a:srgbClr val="9E0009"/>
                </a:solidFill>
                <a:latin typeface="Microsoft YaHei"/>
                <a:ea typeface="Microsoft YaHei"/>
                <a:cs typeface="Microsoft YaHei"/>
              </a:rPr>
              <a:t>旁路 · 持久化与刷盘</a:t>
            </a:r>
          </a:p>
          <a:p>
            <a:pPr algn="ctr"/>
            <a:endParaRPr sz="1300" b="1">
              <a:solidFill>
                <a:srgbClr val="9E0009"/>
              </a:solidFill>
              <a:latin typeface="Microsoft YaHei"/>
              <a:ea typeface="Microsoft YaHei"/>
              <a:cs typeface="Microsoft YaHei"/>
            </a:endParaRPr>
          </a:p>
          <a:p>
            <a:pPr algn="ctr"/>
            <a:r>
              <a:rPr sz="1150" b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WAL 日志 (xlog)</a:t>
            </a:r>
          </a:p>
          <a:p>
            <a:pPr algn="ctr"/>
            <a:r>
              <a:rPr sz="1150" b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Undo (Ustore 多版本)</a:t>
            </a:r>
          </a:p>
          <a:p>
            <a:pPr algn="ctr"/>
            <a:r>
              <a:rPr sz="1150" b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检查点刷盘 (pagewriter)</a:t>
            </a:r>
          </a:p>
          <a:p>
            <a:pPr algn="ctr"/>
            <a:r>
              <a:rPr sz="1150" b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双写 double-write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0" y="2971800"/>
            <a:ext cx="502920" cy="64008"/>
          </a:xfrm>
          <a:prstGeom prst="line">
            <a:avLst/>
          </a:prstGeom>
          <a:ln w="20320"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772400" y="5102352"/>
            <a:ext cx="502920" cy="64007"/>
          </a:xfrm>
          <a:prstGeom prst="line">
            <a:avLst/>
          </a:prstGeom>
          <a:ln w="20320"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652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核心读路径数据流 (自顶向下)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• 读主线: ReadBuffer -&gt; ReadBufferExtended -&gt; ReadBuffer_common -&gt; BufferAlloc, 先在共享哈希表查页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• 命中 (BufTableLookup 返回有效 buf_id): 直接 pin 住返回, 计入 shared_blks_hit, 不碰磁盘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98064" y="1466812"/>
            <a:ext cx="6583680" cy="369646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ReadBuffer (bufmgr.cpp:1661)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80176" y="1836458"/>
            <a:ext cx="219456" cy="19042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98064" y="2026882"/>
            <a:ext cx="6583680" cy="369646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ReadBuffer_common (bufmgr.cpp:2568)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80176" y="2396528"/>
            <a:ext cx="219456" cy="19042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98064" y="2586952"/>
            <a:ext cx="6583680" cy="369646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BufferAlloc (bufmgr.cpp:3047)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0176" y="2956598"/>
            <a:ext cx="219456" cy="19042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98064" y="3147022"/>
            <a:ext cx="6583680" cy="369646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BufTableLookup 命中? (bufmgr.cpp:3078)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80176" y="3516668"/>
            <a:ext cx="219456" cy="19042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98064" y="3707092"/>
            <a:ext cx="6583680" cy="369646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未命中: StrategyGetBuffer 选 victim 淘汰 (bufmgr.cpp:3159)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80176" y="4076738"/>
            <a:ext cx="219456" cy="19042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798064" y="4267162"/>
            <a:ext cx="6583680" cy="369646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victim 为脏页: FlushBuffer 回写 (bufmgr.cpp:5176)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80176" y="4636808"/>
            <a:ext cx="219456" cy="19042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98064" y="4827232"/>
            <a:ext cx="6583680" cy="369646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smgrread 到 mdread 从磁盘装入 (bufmgr.cpp:2141)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80176" y="5196878"/>
            <a:ext cx="219456" cy="19042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798064" y="5387302"/>
            <a:ext cx="6583680" cy="369646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返回 Buffer 给上层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1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总览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05 / 30</a:t>
            </a:r>
          </a:p>
        </p:txBody>
      </p:sp>
    </p:spTree>
    <p:extLst>
      <p:ext uri="{BB962C8B-B14F-4D97-AF65-F5344CB8AC3E}">
        <p14:creationId xmlns:p14="http://schemas.microsoft.com/office/powerpoint/2010/main" val="4271988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共享缓冲池布局与初始化 InitBufferPool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881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shared_buffers (GUC) 决定 NBuffers/TOTAL_BUFFER_NUM，即缓冲页总数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共享内存中并排两块：BufferDescriptors 数组(元信息) 与 BufferBlocks(8KB 数据页)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BufferDesc 由 buf_id 与 BufferBlocks 中第 buf_id 个 BLCKSZ 块一一对应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BufferTag 字段：rnode(spcNode/dbNode/relNode) + forkNum + blockNum，作为哈希键唯一标识一个磁盘页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src/gausskernel/storage/buffer/buf_init.cpp:76 InitBufferPool()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35808"/>
            <a:ext cx="557784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9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void InitBufferPool(void)</a:t>
            </a:r>
          </a:p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bool found_bufs = false;</a:t>
            </a:r>
          </a:p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bool found_descs = false;</a:t>
            </a:r>
          </a:p>
          <a:p>
            <a:pPr algn="l">
              <a:lnSpc>
                <a:spcPct val="104000"/>
              </a:lnSpc>
            </a:pPr>
            <a:r>
              <a:rPr sz="9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*/</a:t>
            </a:r>
          </a:p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t_thrd.storage_cxt.BufferDescriptors = (BufferDescPadded *)CACHELINEALIGN(</a:t>
            </a:r>
          </a:p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ShmemInitStruct("Buffer Descriptors",</a:t>
            </a:r>
          </a:p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                TOTAL_BUFFER_NUM * sizeof(BufferDescPadded) + PG_CACHE_LINE_SIZE,</a:t>
            </a:r>
          </a:p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                &amp;found_descs));</a:t>
            </a:r>
          </a:p>
          <a:p>
            <a:pPr algn="l">
              <a:lnSpc>
                <a:spcPct val="104000"/>
              </a:lnSpc>
            </a:pPr>
            <a:r>
              <a:rPr sz="9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*/</a:t>
            </a:r>
          </a:p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buffer_size = (TOTAL_BUFFER_NUM - NVM_BUFFER_NUM) * (Size)BLCKSZ;</a:t>
            </a:r>
          </a:p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t_thrd.storage_cxt.BufferBlocks =</a:t>
            </a:r>
          </a:p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(char *)ShmemInitStruct("Buffer Blocks", buffer_size, &amp;found_bufs);</a:t>
            </a:r>
          </a:p>
          <a:p>
            <a:pPr algn="l">
              <a:lnSpc>
                <a:spcPct val="104000"/>
              </a:lnSpc>
            </a:pPr>
            <a:r>
              <a:rPr sz="9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2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缓存管理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06 /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43200"/>
            <a:ext cx="5074920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D7E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816352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64480"/>
                </a:solidFill>
                <a:latin typeface="Microsoft YaHei"/>
                <a:ea typeface="Microsoft YaHei"/>
                <a:cs typeface="Microsoft YaHei"/>
              </a:rPr>
              <a:t>共享内存  Shared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1272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BufferDescriptors[]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1272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BufferBlocks[]  8KB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419856"/>
            <a:ext cx="1920240" cy="420624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240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buf_id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3419856"/>
            <a:ext cx="1920240" cy="420624"/>
          </a:xfrm>
          <a:prstGeom prst="roundRect">
            <a:avLst>
              <a:gd name="adj" fmla="val 6000"/>
            </a:avLst>
          </a:prstGeom>
          <a:solidFill>
            <a:srgbClr val="ECEFF3"/>
          </a:solidFill>
          <a:ln w="15240">
            <a:solidFill>
              <a:srgbClr val="C4C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页 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32520" y="3630168"/>
            <a:ext cx="594360" cy="0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12280" y="3931920"/>
            <a:ext cx="1920240" cy="420624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240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buf_id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3931920"/>
            <a:ext cx="1920240" cy="420624"/>
          </a:xfrm>
          <a:prstGeom prst="roundRect">
            <a:avLst>
              <a:gd name="adj" fmla="val 6000"/>
            </a:avLst>
          </a:prstGeom>
          <a:solidFill>
            <a:srgbClr val="ECEFF3"/>
          </a:solidFill>
          <a:ln w="15240">
            <a:solidFill>
              <a:srgbClr val="C4C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页 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32520" y="4142232"/>
            <a:ext cx="594360" cy="0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12280" y="4443984"/>
            <a:ext cx="1920240" cy="420624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240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buf_id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4443984"/>
            <a:ext cx="1920240" cy="420624"/>
          </a:xfrm>
          <a:prstGeom prst="roundRect">
            <a:avLst>
              <a:gd name="adj" fmla="val 6000"/>
            </a:avLst>
          </a:prstGeom>
          <a:solidFill>
            <a:srgbClr val="ECEFF3"/>
          </a:solidFill>
          <a:ln w="15240">
            <a:solidFill>
              <a:srgbClr val="C4C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页 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32520" y="4654296"/>
            <a:ext cx="594360" cy="0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12280" y="4956048"/>
            <a:ext cx="1920240" cy="420624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240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…  N-1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4956048"/>
            <a:ext cx="1920240" cy="420624"/>
          </a:xfrm>
          <a:prstGeom prst="roundRect">
            <a:avLst>
              <a:gd name="adj" fmla="val 6000"/>
            </a:avLst>
          </a:prstGeom>
          <a:solidFill>
            <a:srgbClr val="ECEFF3"/>
          </a:solidFill>
          <a:ln w="15240">
            <a:solidFill>
              <a:srgbClr val="C4C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…  N-1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32520" y="5166360"/>
            <a:ext cx="594360" cy="0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732520" y="3401568"/>
            <a:ext cx="5943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1:1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5760720"/>
            <a:ext cx="4526280" cy="475488"/>
          </a:xfrm>
          <a:prstGeom prst="roundRect">
            <a:avLst>
              <a:gd name="adj" fmla="val 20000"/>
            </a:avLst>
          </a:prstGeom>
          <a:solidFill>
            <a:srgbClr val="FBE9EA"/>
          </a:solidFill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50" b="1">
                <a:solidFill>
                  <a:srgbClr val="9E0009"/>
                </a:solidFill>
                <a:latin typeface="Consolas"/>
                <a:ea typeface="Consolas"/>
                <a:cs typeface="Consolas"/>
              </a:rPr>
              <a:t>BufferTag = { rnode(spc/db/rel) · forkNum · blockNum }</a:t>
            </a:r>
          </a:p>
        </p:txBody>
      </p:sp>
    </p:spTree>
    <p:extLst>
      <p:ext uri="{BB962C8B-B14F-4D97-AF65-F5344CB8AC3E}">
        <p14:creationId xmlns:p14="http://schemas.microsoft.com/office/powerpoint/2010/main" val="2313155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缓冲区查找与分配 BufferAlloc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调用链：ReadBuffer(:1661) → ReadBufferExtended → ReadBuffer_common(:2568) → BufferAlloc(:3047)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命中：BufTableLookup 返回 buf_id&gt;=0，PinBuffer 后直接返回，置 *found=TRUE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未命中：StrategyGetBuffer 选淘汰页，脏页先 FlushBuffer，再 BufTableInsert 建立新映射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哈希查找入口 BufTableLookup 见 buf_table.cpp:86，内部走 buf_hash_operate&lt;HASH_FIND&gt;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src/gausskernel/storage/buffer/bufmgr.cpp:3047 BufferAlloc()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INIT_BUFFERTAG(new_tag, rel_file_node, fork_num, block_num);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new_hash = BufTableHashCode(&amp;new_tag);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retry: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buf_id = BufTableLookup(&amp;new_tag, new_hash);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if (buf_id &gt;= 0) {                       /* hit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buf = GetBufferDescriptor(buf_id);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valid = PinBuffer(buf, strategy);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    /* ... */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    *found = TRUE;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return buf;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miss: select a victim buffer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buf = (BufferDesc *)StrategyGetBuffer(strategy, &amp;buf_state);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if (old_flags &amp; BM_DIRTY) FlushBuffer(buf, NULL);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buf_id = BufTableInsert(&amp;new_tag, new_hash, buf-&gt;buf_id);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2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缓存管理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07 / 30</a:t>
            </a:r>
          </a:p>
        </p:txBody>
      </p:sp>
    </p:spTree>
    <p:extLst>
      <p:ext uri="{BB962C8B-B14F-4D97-AF65-F5344CB8AC3E}">
        <p14:creationId xmlns:p14="http://schemas.microsoft.com/office/powerpoint/2010/main" val="2542826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读取调用链 ReadBuffer → smgrread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8064" y="1476527"/>
            <a:ext cx="6583680" cy="407365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ReadBuffer (bufmgr.cpp:1661)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80176" y="1883892"/>
            <a:ext cx="219456" cy="209855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98064" y="2093747"/>
            <a:ext cx="6583680" cy="407365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ReadBuffer_common (bufmgr.cpp:2568)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0176" y="2501112"/>
            <a:ext cx="219456" cy="209855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98064" y="2710967"/>
            <a:ext cx="6583680" cy="407365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BufferAlloc (bufmgr.cpp:3047)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80176" y="3118332"/>
            <a:ext cx="219456" cy="209855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98064" y="3328187"/>
            <a:ext cx="6583680" cy="407365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BufTableLookup (命中? buf_table.cpp:86)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0176" y="3735552"/>
            <a:ext cx="219456" cy="209855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98064" y="3945407"/>
            <a:ext cx="6583680" cy="407365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(miss) StrategyGetBuffer 选淘汰页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0176" y="4352772"/>
            <a:ext cx="219456" cy="209855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98064" y="4562627"/>
            <a:ext cx="6583680" cy="407365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(dirty) FlushBuffer 写回脏页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80176" y="4969992"/>
            <a:ext cx="219456" cy="209855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98064" y="5179847"/>
            <a:ext cx="6583680" cy="407365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BufTableInsert 建立新映射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80176" y="5587212"/>
            <a:ext cx="219456" cy="209855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798064" y="5797067"/>
            <a:ext cx="6583680" cy="407365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smgrread 从存储介质读入 8KB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2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缓存管理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08 / 30</a:t>
            </a:r>
          </a:p>
        </p:txBody>
      </p:sp>
    </p:spTree>
    <p:extLst>
      <p:ext uri="{BB962C8B-B14F-4D97-AF65-F5344CB8AC3E}">
        <p14:creationId xmlns:p14="http://schemas.microsoft.com/office/powerpoint/2010/main" val="974417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替换淘汰 clock-sweep 与 BufferAccessStrategy 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881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5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调用路径：BufferAlloc -&gt; StrategyGetBuffer(freelist.cpp:180) -&gt; GetBufferFromRing(:544) 或时钟扫描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5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有策略对象先走环形缓冲；否则 ClockSweepTick 转动时钟指针扫描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5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时钟扫描中 retryLockBufHdr 取头锁，refcount==0 且非脏/可刷的页即淘汰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5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BAS_BULKREAD/BULKWRITE/VACUUM 等通过 GetAccessStrategy(:466) 取环，结构 BufferAccessStrategyData(bufmgr.h:93)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2788920"/>
            <a:ext cx="5623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src/gausskernel/storage/buffer/freelist.cpp:180 StrategyGetBuffer()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3108960"/>
            <a:ext cx="5623560" cy="321868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85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BufferDesc* StrategyGetBuffer(BufferAccessStrategy strategy, uint64* buf_state)</a:t>
            </a:r>
          </a:p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if (strategy != NULL) {</a:t>
            </a:r>
          </a:p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buf = GetBufferFromRing(strategy, buf_state);</a:t>
            </a:r>
          </a:p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if (buf != NULL) { return buf; }</a:t>
            </a:r>
          </a:p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  <a:p>
            <a:pPr algn="l">
              <a:lnSpc>
                <a:spcPct val="104000"/>
              </a:lnSpc>
            </a:pPr>
            <a:r>
              <a:rPr sz="85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wake bgwriter, count allocs, scan candidate list ... */</a:t>
            </a:r>
          </a:p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retry:</a:t>
            </a:r>
          </a:p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try_counter = max_buffer_can_use;</a:t>
            </a:r>
          </a:p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for (;;) {</a:t>
            </a:r>
          </a:p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buf = GetBufferDescriptor(ClockSweepTick(max_buffer_can_use));</a:t>
            </a:r>
          </a:p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if (!retryLockBufHdr(buf, &amp;local_buf_state)) { perform_delay(&amp;retry_lock_status); continue; }</a:t>
            </a:r>
          </a:p>
          <a:p>
            <a:pPr algn="l">
              <a:lnSpc>
                <a:spcPct val="104000"/>
              </a:lnSpc>
            </a:pPr>
            <a:r>
              <a:rPr sz="85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    if (BUF_STATE_GET_REFCOUNT(local_buf_state) == 0 /* &amp;&amp; usable */) {</a:t>
            </a:r>
          </a:p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    if (strategy != NULL) AddBufferToRing(strategy, buf);</a:t>
            </a:r>
          </a:p>
          <a:p>
            <a:pPr algn="l">
              <a:lnSpc>
                <a:spcPct val="104000"/>
              </a:lnSpc>
            </a:pPr>
            <a:r>
              <a:rPr sz="85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        return buf;  /* Found a usable buffer */ }</a:t>
            </a:r>
          </a:p>
          <a:p>
            <a:pPr algn="l">
              <a:lnSpc>
                <a:spcPct val="104000"/>
              </a:lnSpc>
            </a:pPr>
            <a:r>
              <a:rPr sz="85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2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缓存管理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09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700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64480"/>
                </a:solidFill>
                <a:latin typeface="Microsoft YaHei"/>
                <a:ea typeface="Microsoft YaHei"/>
                <a:cs typeface="Microsoft YaHei"/>
              </a:rPr>
              <a:t>时钟扫描淘汰环  ·  clock-sweep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4436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指针转动；refcount==0 的页即被选为 victim</a:t>
            </a:r>
          </a:p>
        </p:txBody>
      </p:sp>
      <p:sp>
        <p:nvSpPr>
          <p:cNvPr id="14" name="Oval 13"/>
          <p:cNvSpPr/>
          <p:nvPr/>
        </p:nvSpPr>
        <p:spPr>
          <a:xfrm>
            <a:off x="1947672" y="3529583"/>
            <a:ext cx="2414016" cy="2414016"/>
          </a:xfrm>
          <a:prstGeom prst="ellipse">
            <a:avLst/>
          </a:prstGeom>
          <a:noFill/>
          <a:ln w="17780">
            <a:solidFill>
              <a:srgbClr val="D7E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862072" y="3236975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E9F1FB"/>
          </a:solidFill>
          <a:ln w="15240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75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buf</a:t>
            </a:r>
          </a:p>
          <a:p>
            <a:pPr algn="ctr"/>
            <a:r>
              <a:rPr sz="800" b="1">
                <a:solidFill>
                  <a:srgbClr val="10335B"/>
                </a:solidFill>
                <a:latin typeface="Consolas"/>
                <a:ea typeface="Consolas"/>
                <a:cs typeface="Consolas"/>
              </a:rPr>
              <a:t>uc=3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15555" y="359050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E9F1FB"/>
          </a:solidFill>
          <a:ln w="15240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75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buf</a:t>
            </a:r>
          </a:p>
          <a:p>
            <a:pPr algn="ctr"/>
            <a:r>
              <a:rPr sz="800" b="1">
                <a:solidFill>
                  <a:srgbClr val="10335B"/>
                </a:solidFill>
                <a:latin typeface="Consolas"/>
                <a:ea typeface="Consolas"/>
                <a:cs typeface="Consolas"/>
              </a:rPr>
              <a:t>uc=2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4443983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E9F1FB"/>
          </a:solidFill>
          <a:ln w="15240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75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buf</a:t>
            </a:r>
          </a:p>
          <a:p>
            <a:pPr algn="ctr"/>
            <a:r>
              <a:rPr sz="800" b="1">
                <a:solidFill>
                  <a:srgbClr val="10335B"/>
                </a:solidFill>
                <a:latin typeface="Consolas"/>
                <a:ea typeface="Consolas"/>
                <a:cs typeface="Consolas"/>
              </a:rPr>
              <a:t>uc=1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15555" y="5297467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E9F1FB"/>
          </a:solidFill>
          <a:ln w="15240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75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buf</a:t>
            </a:r>
          </a:p>
          <a:p>
            <a:pPr algn="ctr"/>
            <a:r>
              <a:rPr sz="800" b="1">
                <a:solidFill>
                  <a:srgbClr val="10335B"/>
                </a:solidFill>
                <a:latin typeface="Consolas"/>
                <a:ea typeface="Consolas"/>
                <a:cs typeface="Consolas"/>
              </a:rPr>
              <a:t>uc=0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62072" y="5650992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E9F1FB"/>
          </a:solidFill>
          <a:ln w="15240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75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buf</a:t>
            </a:r>
          </a:p>
          <a:p>
            <a:pPr algn="ctr"/>
            <a:r>
              <a:rPr sz="800" b="1">
                <a:solidFill>
                  <a:srgbClr val="10335B"/>
                </a:solidFill>
                <a:latin typeface="Consolas"/>
                <a:ea typeface="Consolas"/>
                <a:cs typeface="Consolas"/>
              </a:rPr>
              <a:t>uc=2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08588" y="5297467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C7000B"/>
          </a:solidFill>
          <a:ln w="15240">
            <a:solidFill>
              <a:srgbClr val="9E00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淘汰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rc=0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55063" y="4443983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E9F1FB"/>
          </a:solidFill>
          <a:ln w="15240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75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buf</a:t>
            </a:r>
          </a:p>
          <a:p>
            <a:pPr algn="ctr"/>
            <a:r>
              <a:rPr sz="800" b="1">
                <a:solidFill>
                  <a:srgbClr val="10335B"/>
                </a:solidFill>
                <a:latin typeface="Consolas"/>
                <a:ea typeface="Consolas"/>
                <a:cs typeface="Consolas"/>
              </a:rPr>
              <a:t>uc=1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08588" y="359050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E9F1FB"/>
          </a:solidFill>
          <a:ln w="15240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75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buf</a:t>
            </a:r>
          </a:p>
          <a:p>
            <a:pPr algn="ctr"/>
            <a:r>
              <a:rPr sz="800" b="1">
                <a:solidFill>
                  <a:srgbClr val="10335B"/>
                </a:solidFill>
                <a:latin typeface="Consolas"/>
                <a:ea typeface="Consolas"/>
                <a:cs typeface="Consolas"/>
              </a:rPr>
              <a:t>uc=1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79192" y="4462272"/>
            <a:ext cx="950976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64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00" b="1">
                <a:solidFill>
                  <a:srgbClr val="164480"/>
                </a:solidFill>
                <a:latin typeface="Microsoft YaHei"/>
                <a:ea typeface="Microsoft YaHei"/>
                <a:cs typeface="Microsoft YaHei"/>
              </a:rPr>
              <a:t>clock</a:t>
            </a:r>
          </a:p>
          <a:p>
            <a:pPr algn="ctr"/>
            <a:r>
              <a:rPr sz="85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指针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521033" y="4736592"/>
            <a:ext cx="633647" cy="633646"/>
          </a:xfrm>
          <a:prstGeom prst="line">
            <a:avLst/>
          </a:prstGeom>
          <a:ln w="27940">
            <a:solidFill>
              <a:srgbClr val="C700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669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Pin/Unpin 与 64 位原子状态机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881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5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buf-&gt;state 是一个 64 位原子量：bits0-31=refcount，bits50-53=usage_count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5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标志位（高位）：BM_LOCKED 位54(头锁)、BM_DIRTY 位55、BM_VALID 位56、BM_IO_IN_PROGRESS 位58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5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PinBuffer(:3854) 用 __sync_add_and_fetch 原子加 refcount，再 CAS 抬升 usage_count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5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调用路径：refcount++ 防淘汰；UnpinBuffer(:3963) 原子减 refcount；LockBufHdr(:7381) 自旋 CAS 置 BM_LOCKED 取头锁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1363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src/gausskernel/storage/buffer/bufmgr.cpp:3854 PinBuffer()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9663"/>
            <a:ext cx="10881360" cy="2157984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8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bool PinBuffer(BufferDesc *buf, BufferAccessStrategy strategy)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ref = GetPrivateRefCountEntry(b, true);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if (ref == NULL) {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ref = NewPrivateRefCountEntry(b);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for (;;) {</a:t>
            </a:r>
          </a:p>
          <a:p>
            <a:pPr algn="l">
              <a:lnSpc>
                <a:spcPct val="104000"/>
              </a:lnSpc>
            </a:pPr>
            <a:r>
              <a:rPr sz="8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        buf_state = __sync_add_and_fetch(&amp;buf-&gt;state, 1);   /* refcount++ */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    if (buf_state &amp; BM_LOCKED) { __sync_fetch_and_add(&amp;buf-&gt;state, -1); WaitBufHdrUnlocked(buf); continue; }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    while (BUF_STATE_GET_USAGECOUNT(buf_state) != BM_MAX_USAGE_COUNT) {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        new_buf_state = buf_state; new_buf_state += BUF_USAGECOUNT_ONE;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        if (pg_atomic_compare_exchange_u64(&amp;buf-&gt;state, &amp;buf_state, new_buf_state)) break;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    }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    result = (buf_state &amp; BM_VALID) != 0; break;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} }</a:t>
            </a:r>
          </a:p>
          <a:p>
            <a:pPr algn="l">
              <a:lnSpc>
                <a:spcPct val="104000"/>
              </a:lnSpc>
            </a:pPr>
            <a:r>
              <a:rPr sz="8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ref-&gt;refcount++;  /* ... ResourceOwnerRememberBuffer; return result ... */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2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缓存管理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10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06624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64480"/>
                </a:solidFill>
                <a:latin typeface="Microsoft YaHei"/>
                <a:ea typeface="Microsoft YaHei"/>
                <a:cs typeface="Microsoft YaHei"/>
              </a:rPr>
              <a:t>buf-&gt;state  ·  64 位原子状态字 (高位 → 低位)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907792"/>
            <a:ext cx="1691640" cy="658368"/>
          </a:xfrm>
          <a:prstGeom prst="rect">
            <a:avLst/>
          </a:prstGeom>
          <a:solidFill>
            <a:srgbClr val="FBE9EA"/>
          </a:solidFill>
          <a:ln w="1651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1">
                <a:solidFill>
                  <a:srgbClr val="9E0009"/>
                </a:solidFill>
                <a:latin typeface="Microsoft YaHei"/>
                <a:ea typeface="Microsoft YaHei"/>
                <a:cs typeface="Microsoft YaHei"/>
              </a:rPr>
              <a:t>BM_* 标志位</a:t>
            </a:r>
          </a:p>
          <a:p>
            <a:pPr algn="ctr"/>
            <a:r>
              <a:rPr sz="900" b="0">
                <a:solidFill>
                  <a:srgbClr val="5C6B7E"/>
                </a:solidFill>
                <a:latin typeface="Consolas"/>
                <a:ea typeface="Consolas"/>
                <a:cs typeface="Consolas"/>
              </a:rPr>
              <a:t>54–58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907792"/>
            <a:ext cx="1051560" cy="658368"/>
          </a:xfrm>
          <a:prstGeom prst="rect">
            <a:avLst/>
          </a:prstGeom>
          <a:solidFill>
            <a:srgbClr val="FCF1DC"/>
          </a:solidFill>
          <a:ln w="16510">
            <a:solidFill>
              <a:srgbClr val="B9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1">
                <a:solidFill>
                  <a:srgbClr val="B96A00"/>
                </a:solidFill>
                <a:latin typeface="Microsoft YaHei"/>
                <a:ea typeface="Microsoft YaHei"/>
                <a:cs typeface="Microsoft YaHei"/>
              </a:rPr>
              <a:t>usage_count</a:t>
            </a:r>
          </a:p>
          <a:p>
            <a:pPr algn="ctr"/>
            <a:r>
              <a:rPr sz="900" b="0">
                <a:solidFill>
                  <a:srgbClr val="5C6B7E"/>
                </a:solidFill>
                <a:latin typeface="Consolas"/>
                <a:ea typeface="Consolas"/>
                <a:cs typeface="Consolas"/>
              </a:rPr>
              <a:t>50–53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79" y="2907792"/>
            <a:ext cx="2468880" cy="658368"/>
          </a:xfrm>
          <a:prstGeom prst="rect">
            <a:avLst/>
          </a:prstGeom>
          <a:solidFill>
            <a:srgbClr val="ECEFF3"/>
          </a:solidFill>
          <a:ln w="16510">
            <a:solidFill>
              <a:srgbClr val="C4C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保留 reserved</a:t>
            </a:r>
          </a:p>
          <a:p>
            <a:pPr algn="ctr"/>
            <a:r>
              <a:rPr sz="900" b="0">
                <a:solidFill>
                  <a:srgbClr val="5C6B7E"/>
                </a:solidFill>
                <a:latin typeface="Consolas"/>
                <a:ea typeface="Consolas"/>
                <a:cs typeface="Consolas"/>
              </a:rPr>
              <a:t>32–49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907792"/>
            <a:ext cx="4617720" cy="658368"/>
          </a:xfrm>
          <a:prstGeom prst="rect">
            <a:avLst/>
          </a:prstGeom>
          <a:solidFill>
            <a:srgbClr val="E9F1FB"/>
          </a:solidFill>
          <a:ln w="16510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00" b="1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refcount</a:t>
            </a:r>
          </a:p>
          <a:p>
            <a:pPr algn="ctr"/>
            <a:r>
              <a:rPr sz="900" b="0">
                <a:solidFill>
                  <a:srgbClr val="5C6B7E"/>
                </a:solidFill>
                <a:latin typeface="Consolas"/>
                <a:ea typeface="Consolas"/>
                <a:cs typeface="Consolas"/>
              </a:rPr>
              <a:t>0–31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21024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9E0009"/>
                </a:solidFill>
                <a:latin typeface="Microsoft YaHei"/>
                <a:ea typeface="Microsoft YaHei"/>
                <a:cs typeface="Microsoft YaHei"/>
              </a:rPr>
              <a:t>54 锁 · 55 脏 · 56 有效 · 58 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62102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0" i="0">
                <a:solidFill>
                  <a:srgbClr val="10335B"/>
                </a:solidFill>
                <a:latin typeface="Consolas"/>
                <a:ea typeface="Consolas"/>
                <a:cs typeface="Consolas"/>
              </a:rPr>
              <a:t>PinBuffer: __sync_add_and_fetch(state,1)</a:t>
            </a:r>
          </a:p>
        </p:txBody>
      </p:sp>
    </p:spTree>
    <p:extLst>
      <p:ext uri="{BB962C8B-B14F-4D97-AF65-F5344CB8AC3E}">
        <p14:creationId xmlns:p14="http://schemas.microsoft.com/office/powerpoint/2010/main" val="1992291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单页刷盘 FlushBuffer：取共享锁、WAL 先行、smgrwrite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调用路径：SyncOneBuffer(bufmgr.cpp:4703) / ckpt 刷页 -&gt; FlushBuffer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StartBufferIO 抢 io_in_progress；持页面共享内容锁即可写盘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遵守 WAL 规则：XLogWaitFlush 先把页面 LSN 对应的日志落盘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smgrwrite 写数据文件；skipFsync 控制是否本次跳过 fsync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src/gausskernel/storage/buffer/bufmgr.cpp:5176 FlushBuffer()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void FlushBuffer(void *buf, SMgrRelation reln, ReadBufferMethod flushmethod, bool skipFsync)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if (flushmethod == WITH_NORMAL_CACHE) 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if (!StartBufferIO((BufferDesc *)buf, false))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    return;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GetFlushBufferInfo / smgropen / encrypt / checksum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XLogWaitFlush(bufferinfo.lsn);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smgrwrite(reln, bufferinfo.blockinfo.forknum, bufferinfo.blockinfo.blkno, bufToWrite, skipFsync);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if (flushmethod == WITH_NORMAL_CACHE) 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TerminateBufferIO((BufferDesc *)buf, true, 0);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2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缓存管理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11 / 30</a:t>
            </a:r>
          </a:p>
        </p:txBody>
      </p:sp>
    </p:spTree>
    <p:extLst>
      <p:ext uri="{BB962C8B-B14F-4D97-AF65-F5344CB8AC3E}">
        <p14:creationId xmlns:p14="http://schemas.microsoft.com/office/powerpoint/2010/main" val="4261728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后台写、增量检查点与双写 dw_perform_batch_flush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bgwriter：BgBufferSync(bufmgr.cpp:4296) -&gt; SyncOneBuffer 顺时钟扫 LRU 预清理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增量检查点：ckpt_pagewriter_main(pagewriter.cpp:1763) -&gt; ..._flush_dirty_page(pagewriter.cpp:758)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子线程刷批前先双写：dw_perform_batch_flush(double_write.cpp:2329) 写 dw 文件，再逐页 FlushBuffer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文档视图：BGWRITER_STAT / GLOBAL_CKPT_STATUS / GLOBAL_DOUBLE_WRITE_STATUS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src/gausskernel/storage/access/transam/double_write.cpp:2329 dw_perform_batch_flush()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void dw_perform_batch_flush(uint32 size, CkptSortItem *dirty_buf_list, int thread_id, ThrdDwCxt* thrd_dw_cxt)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if (!dw_enabled()) {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    /* Double write is not enabled, nothing to do.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return;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for (uint16 i = 0; i &lt; batch_size; i++) 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page_lsn = dw_copy_page(thrd_dw_cxt, dirty_buf_list[i].buf_id, &amp;is_skipped);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    /*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if (thrd_dw_cxt-&gt;write_pos &gt; 0) 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dw_batch_flush(dw_cxt, latest_lsn, thrd_dw_cxt);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2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缓存管理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12 / 30</a:t>
            </a:r>
          </a:p>
        </p:txBody>
      </p:sp>
    </p:spTree>
    <p:extLst>
      <p:ext uri="{BB962C8B-B14F-4D97-AF65-F5344CB8AC3E}">
        <p14:creationId xmlns:p14="http://schemas.microsoft.com/office/powerpoint/2010/main" val="131588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本地缓存（临时表）LocalBufferAlloc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ReadBuffer_common 见 RELPERSISTENCE_TEMP 时走本地缓存，不进共享池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会话私有：LocalBufHash + LocalBufferDescriptors，无共享锁、无原子争用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淘汰用本地时钟扫描（clock sweep）；脏页用 LocalBufferWrite 写回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置脏走 MarkLocalBufferDirty(localbuf.cpp:300)，只 fetch_or BM_DIRTY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src/gausskernel/storage/buffer/localbuf.cpp:139 LocalBufferAlloc()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BufferDesc *LocalBufferAlloc(SMgrRelation smgr, ForkNumber forkNum, BlockNumber blockNum, bool *foundPtr)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hresult = (LocalBufferLookupEnt*)hash_search(u_sess-&gt;storage_cxt.LocalBufHash, (void*)&amp;new_tag, HASH_FIND, NULL);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if (hresult != NULL) {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    /* ... hit: equivalent to PinBuffer, bump usagecount, return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return buf_desc;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Need to get a new buffer.  We use a clock sweep algorithm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for (;;) {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    /* ... clock sweep: usagecount&gt;0 减一继续, 归零即可复用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break;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2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缓存管理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13 / 30</a:t>
            </a:r>
          </a:p>
        </p:txBody>
      </p:sp>
    </p:spTree>
    <p:extLst>
      <p:ext uri="{BB962C8B-B14F-4D97-AF65-F5344CB8AC3E}">
        <p14:creationId xmlns:p14="http://schemas.microsoft.com/office/powerpoint/2010/main" val="3560369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系统目录缓存 SysCache / CatCache / RelCache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调用链 SearchSysCache -&gt; SearchCatCache -&gt; SearchCatCacheInternal(查哈希桶)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未命中走 SearchCatCacheMiss 真正堆扫描 systable_beginscan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表级元数据由 RelationIdGetRelation 命中 RelationIdCacheLookup，未命中 RelationBuildDesc 重建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src/common/backend/utils/cache/catcache.cpp:1276 SearchCatCacheInternal() / :1666 SearchCatCacheMiss()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hashValue = CatalogCacheComputeHashValue(cache-&gt;cc_hashfunc, nkeys, arguments);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hashIndex = HASH_INDEX(hashValue, (uint32)cache-&gt;cc_nbuckets);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for (elt = DLGetHead(&amp;cache-&gt;cc_bucket[hashIndex]); elt; elt = DLGetSucc(elt)) 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ct = (CatCTup*)DLE_VAL(elt);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if (ct-&gt;dead) continue;                       /* ignore dead entries */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if (ct-&gt;hash_value != hashValue) continue;    /* wrong hash val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if (!CatalogCacheCompareTuple(cache-&gt;cc_fastequal, nkeys, ct-&gt;keys, arguments)) continue;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DLMoveToFront(&amp;ct-&gt;cache_elem);               /* LRU: move hit to front */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if (!ct-&gt;negative &amp;&amp; ...) { ct-&gt;refcount++; return &amp;ct-&gt;tuple; }   /* hit */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else return NULL;                             /* negative entry hit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return SearchCatCacheMiss(cache, nkeys, hashValue, hashIndex, v1, v2, v3, v4, level);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/* --- SearchCatCacheMiss: 缓存未命中, 退化为真正的堆扫描 ---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relation = heap_open(cache-&gt;cc_reloid, AccessShareLock);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scandesc = systable_beginscan(relation, cache-&gt;cc_indexoid, IndexScanOK(cache-&gt;id), NULL, nkeys, cur_skey);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while (HeapTupleIsValid(ntp = systable_getnext(scandesc))) { ct = CatalogCacheCreateEntry(...); break; 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2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缓存管理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14 / 30</a:t>
            </a:r>
          </a:p>
        </p:txBody>
      </p:sp>
    </p:spTree>
    <p:extLst>
      <p:ext uri="{BB962C8B-B14F-4D97-AF65-F5344CB8AC3E}">
        <p14:creationId xmlns:p14="http://schemas.microsoft.com/office/powerpoint/2010/main" val="1715739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计划缓存 PlanCache：GetCachedPlan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生命周期 CreateCachedPlan(:192) -&gt; CompleteCachedPlan(:443) -&gt; GetCachedPlan(:2088)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先 RevalidateCachedQuery 校验/补锁，再 ChooseCustomPlan 决定通用 vs 定制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通用计划可复用则 CheckCachedPlan 命中(软解析计数)，否则重建 gplan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src/common/backend/utils/cache/plancache.cpp:2088 GetCachedPlan()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/* Make sure the querytree list is valid and we have parse-time locks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qlist = RevalidateCachedQuery(plansource);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/* Decide whether to use a custom plan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customplan = ChooseCustomPlan(plansource, boundParams);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if (!customplan) 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if (CheckCachedPlan(plansource, plansource-&gt;gplan)) {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    /* We want a generic plan, and we already have a valid one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plan = plansource-&gt;gplan;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    UniqueSQLStatCountSoftParse(1);          /* 软解析: 直接复用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 else {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    ReleaseGenericPlan(plansource);          /* 旧计划失效, 重新规划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plan = BuildCachedPlanInTransientContext(plansource, qlist, NULL, customplan);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    /* ... gplan = plan; plan-&gt;refcount++; update generic_cost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/* ... customplan 分支: BuildCachedPlanInTransientContext(..., boundParams, customplan) ... */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2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缓存管理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15 / 30</a:t>
            </a:r>
          </a:p>
        </p:txBody>
      </p:sp>
    </p:spTree>
    <p:extLst>
      <p:ext uri="{BB962C8B-B14F-4D97-AF65-F5344CB8AC3E}">
        <p14:creationId xmlns:p14="http://schemas.microsoft.com/office/powerpoint/2010/main" val="2410202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openGauss 特有 GSC 与 GPC 跨会话共享层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• GSC/GPC 把只读元数据与通用计划提到实例级共享，多会话复用、显著省内存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• 命中路径 EnableLocalSysCache() 为真时，SearchSysCache/RelationIdGetRelation 改走 LSC，再回源到全局层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494815"/>
            <a:ext cx="9784080" cy="873709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会话本地 Session-Local：LocalSysCache(systabcache/tabdefcache) + 局部 plancache(CachedPlanSource)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614955"/>
            <a:ext cx="9784080" cy="873709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全局系统缓存 GSC：GlobalSysDBCache -&gt; GlobalSysTabCache -&gt; GlobalSysTupCache (按 DB/表/元组分层共享)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735095"/>
            <a:ext cx="9784080" cy="873709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全局计划缓存 GPC：GlobalPlanCache(Fetch 复用 / TryStore 入库, 哈希表按 query 文本)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855235"/>
            <a:ext cx="9784080" cy="873709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开关 GUC：enable_global_syscache(默认 on) / enable_global_plancache(默认 off)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2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缓存管理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16 / 30</a:t>
            </a:r>
          </a:p>
        </p:txBody>
      </p:sp>
    </p:spTree>
    <p:extLst>
      <p:ext uri="{BB962C8B-B14F-4D97-AF65-F5344CB8AC3E}">
        <p14:creationId xmlns:p14="http://schemas.microsoft.com/office/powerpoint/2010/main" val="3525849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SMGR 存储管理抽象 f_smgr 虚表与 smgrsw[]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f_smgr 是一组函数指针 vtable，把上层缓冲区操作与具体介质解耦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smgrsw[] 是静态注册表：index0=magnetic disk(MD 经典文件)，index1=undo file，index2=segment-page(段页式)，index3=extreme-rto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调用路径：smgropen(:233) 建/查 SMgrRelationData → smgrread(:766)/smgrwrite(:786) 按 reln-&gt;smgr_which 索引 smgrsw[] 分发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src/gausskernel/storage/smgr/smgr.cpp:46 f_smgr / :67 smgrsw[]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typedef struct f_smgr {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smgr_init/close/create/exists/unlink/extend/prefetch ... */</a:t>
            </a:r>
          </a:p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    SMGR_READ_STATUS (*smgr_read)(SMgrRelation reln, ForkNumber forknum, BlockNumber blocknum, char *buffer);</a:t>
            </a:r>
          </a:p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    void (*smgr_write)(SMgrRelation reln, ForkNumber forknum, BlockNumber blocknum, const char *buffer, bool skipFsync);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nblocks/truncate/immedsync/async_read/async_write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 f_smgr;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static const f_smgr smgrsw[] = {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magnetic disk */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{ mdinit, NULL, mdclose, mdcreate, mdexists, mdunlink, mdextend, mdprefetch, mdread, /* ... */ mdwrite, /* ... */ },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undo file */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{ InitUndoFile, /* ... */ },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segment-page */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{ seg_init, /* ... */ seg_read, NULL, seg_write, /* ... */ },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};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3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持久化存储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17 / 30</a:t>
            </a:r>
          </a:p>
        </p:txBody>
      </p:sp>
    </p:spTree>
    <p:extLst>
      <p:ext uri="{BB962C8B-B14F-4D97-AF65-F5344CB8AC3E}">
        <p14:creationId xmlns:p14="http://schemas.microsoft.com/office/powerpoint/2010/main" val="3631787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磁盘介质层 MD：mdwrite 块号到段文件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MD 是经典 PostgreSQL 风格：一个 fork 由若干 1GB 段文件(RELSEG_SIZE)串成 _MdfdVec 链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调用路径：smgrwrite → mdwrite → _mdfd_getseg 定位段 → FilePWrite 落到该段对应偏移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配套：mdread(:1289) 读单块、mdextend(:673) 扩展并按需创建新段文件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src/gausskernel/storage/smgr/md.cpp:1470 mdwrite()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void mdwrite(SMgrRelation reln, ForkNumber forknum, BlockNumber blocknum, const char *buffer, bool skipFsync)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off_t seekpos;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int nbytes;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MdfdVec *v = NULL;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timing/trace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v = _mdfd_getseg(reln, forknum, blocknum, skipFsync, EXTENSION_FAIL);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if (v == NULL) 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return;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seekpos = (off_t)BLCKSZ * (blocknum % ((BlockNumber)RELSEG_SIZE));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compressed-mainfork branch (CfsWritePage) elided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Assert(seekpos &lt; (off_t)BLCKSZ * RELSEG_SIZE);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nbytes = FilePWrite(v-&gt;mdfd_vfd, buffer, BLCKSZ, seekpos, (uint32)WAIT_EVENT_DATA_FILE_WRITE);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3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持久化存储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18 / 30</a:t>
            </a:r>
          </a:p>
        </p:txBody>
      </p:sp>
    </p:spTree>
    <p:extLst>
      <p:ext uri="{BB962C8B-B14F-4D97-AF65-F5344CB8AC3E}">
        <p14:creationId xmlns:p14="http://schemas.microsoft.com/office/powerpoint/2010/main" val="3404748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段页式存储 Segment-Page：seg_read 到 spc_read_block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段页式把多个 relation 共享到表空间级的物理大文件，按 extent 分配，逻辑块号经映射变物理块号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调用路径：seg_read → read_head_buffer 取 SegmentHead → seg_logic_to_physic_mapping 逻辑→物理 → spc_read_block(space.cpp:94) → df_pread_block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结构：SegSpace(segment_internal.h:379) 持 extent_group[EXTENT_TYPES][fork]，每组 SegExtentGroup(:259) 一个 SegLogicFile；SMgrRelationData.seg_desc 是 SegmentDesc(:507)，存 head_blocknum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src/gausskernel/storage/smgr/segstore.cpp:1509 seg_read()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SMGR_READ_STATUS seg_read(SMgrRelation reln, ForkNumber forknum, BlockNumber blocknum, char *buffer)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DMS/SSSegRead fast-path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Buffer seg_buffer = read_head_buffer(reln, forknum, false);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SegmentHead *seg_head = (SegmentHead *)PageGetContents(BufferGetBlock(seg_buffer));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bounds check: seg_head-&gt;nblocks &gt; blocknum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SegPageLocation loc = seg_logic_to_physic_mapping(reln, seg_head, blocknum);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SegSpace *spc = reln-&gt;seg_space;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spc_read_block(spc, EXTENT_GROUP_RNODE(spc, loc.extent_size), forknum, buffer, loc.blocknum);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SegReleaseBuffer(seg_buffer);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if (PageIsVerified((Page)buffer, loc.blocknum)) 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return SMGR_RD_OK;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 else 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return SMGR_RD_CRC_ERROR;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3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持久化存储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19 / 30</a:t>
            </a:r>
          </a:p>
        </p:txBody>
      </p:sp>
    </p:spTree>
    <p:extLst>
      <p:ext uri="{BB962C8B-B14F-4D97-AF65-F5344CB8AC3E}">
        <p14:creationId xmlns:p14="http://schemas.microsoft.com/office/powerpoint/2010/main" val="1989730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页面布局与行指针 PageInit / PageAddItem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532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页面分区: header | 线指针 pd_linp[] | 空闲空间 | 元组(自底向上) | special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PageInit 置三个边界: pd_lower(空闲起点) / pd_upper(空闲终点) / pd_special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HeapPageHeaderData 比通用头多 pd_xid_base/pd_multi_base, 支持 64 位 XID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ItemIdData: 15 位 lp_off + 2 位 lp_flags + 15 位 lp_len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调用链: heap_insert -&gt; RelationPutHeapTuple -&gt; PageAddItem -&gt; 写 ItemId 并下移 pd_upper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DOC: TOAST 表存超长字段是标准 PostgreSQL 行为; Enhanced Toast 为 GaussDB 文档特性, 开源 6.0.0 未实现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5532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src/gausskernel/storage/access/redo/redo_bufpage.cpp:39 PageInit()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43984"/>
            <a:ext cx="5532120" cy="1883664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8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void PageInit(Page page, Size pageSize, Size specialSize, bool isHeap)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PageHeader p = (PageHeader)page;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specialSize = MAXALIGN(specialSize);</a:t>
            </a:r>
          </a:p>
          <a:p>
            <a:pPr algn="l">
              <a:lnSpc>
                <a:spcPct val="104000"/>
              </a:lnSpc>
            </a:pPr>
            <a:r>
              <a:rPr sz="8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memset whole page to zero (memset_s + securec_check) ... */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p-&gt;pd_upper = pageSize - specialSize;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p-&gt;pd_special = pageSize - specialSize;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if (isHeap) {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p-&gt;pd_lower = SizeOfHeapPageHeaderData;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PageSetPageSizeAndVersion(page, pageSize, PG_HEAP_PAGE_LAYOUT_VERSION);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 else {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p-&gt;pd_lower = SizeOfPageHeaderData;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PageSetPageSizeAndVersion(page, pageSize, PG_COMM_PAGE_LAYOUT_VERSION);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3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持久化存储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20 / 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481328"/>
            <a:ext cx="2788920" cy="4800600"/>
          </a:xfrm>
          <a:prstGeom prst="rect">
            <a:avLst/>
          </a:prstGeom>
          <a:solidFill>
            <a:srgbClr val="FFFFFF"/>
          </a:solidFill>
          <a:ln w="20320">
            <a:solidFill>
              <a:srgbClr val="1033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9400" y="1481328"/>
            <a:ext cx="2788920" cy="768096"/>
          </a:xfrm>
          <a:prstGeom prst="rect">
            <a:avLst/>
          </a:prstGeom>
          <a:solidFill>
            <a:srgbClr val="D7E6F7"/>
          </a:solidFill>
          <a:ln w="12700">
            <a:solidFill>
              <a:srgbClr val="1033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50" b="1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PageHeader</a:t>
            </a:r>
          </a:p>
          <a:p>
            <a:pPr algn="ctr"/>
            <a:r>
              <a:rPr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pd_lower / pd_upper / pd_special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2249424"/>
            <a:ext cx="2788920" cy="864108"/>
          </a:xfrm>
          <a:prstGeom prst="rect">
            <a:avLst/>
          </a:prstGeom>
          <a:solidFill>
            <a:srgbClr val="E9F1FB"/>
          </a:solidFill>
          <a:ln w="12700">
            <a:solidFill>
              <a:srgbClr val="1033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50" b="1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线指针 pd_linp[]</a:t>
            </a:r>
          </a:p>
          <a:p>
            <a:pPr algn="ctr"/>
            <a:r>
              <a:rPr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ItemId 数组  ↓ 向下生长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3113532"/>
            <a:ext cx="2788920" cy="1440180"/>
          </a:xfrm>
          <a:prstGeom prst="rect">
            <a:avLst/>
          </a:prstGeom>
          <a:solidFill>
            <a:srgbClr val="F6F8FB"/>
          </a:solidFill>
          <a:ln w="12700">
            <a:solidFill>
              <a:srgbClr val="1033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50" b="1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空闲空间</a:t>
            </a:r>
          </a:p>
          <a:p>
            <a:pPr algn="ctr"/>
            <a:r>
              <a:rPr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free space  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4553712"/>
            <a:ext cx="2788920" cy="1248156"/>
          </a:xfrm>
          <a:prstGeom prst="rect">
            <a:avLst/>
          </a:prstGeom>
          <a:solidFill>
            <a:srgbClr val="E6F1E9"/>
          </a:solidFill>
          <a:ln w="12700">
            <a:solidFill>
              <a:srgbClr val="1033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50" b="1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元组 Tuples</a:t>
            </a:r>
          </a:p>
          <a:p>
            <a:pPr algn="ctr"/>
            <a:r>
              <a:rPr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↑ 自底向上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5801868"/>
            <a:ext cx="2788920" cy="480060"/>
          </a:xfrm>
          <a:prstGeom prst="rect">
            <a:avLst/>
          </a:prstGeom>
          <a:solidFill>
            <a:srgbClr val="ECEFF3"/>
          </a:solidFill>
          <a:ln w="12700">
            <a:solidFill>
              <a:srgbClr val="1033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50" b="1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Special</a:t>
            </a:r>
          </a:p>
          <a:p>
            <a:pPr algn="ctr"/>
            <a:r>
              <a:rPr sz="8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索引专用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18320" y="2249424"/>
            <a:ext cx="411480" cy="0"/>
          </a:xfrm>
          <a:prstGeom prst="line">
            <a:avLst/>
          </a:prstGeom>
          <a:ln w="16510">
            <a:solidFill>
              <a:srgbClr val="9E00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84080" y="21305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9E0009"/>
                </a:solidFill>
                <a:latin typeface="Consolas"/>
                <a:ea typeface="Consolas"/>
                <a:cs typeface="Consolas"/>
              </a:rPr>
              <a:t>pd_lower ↓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18320" y="3113532"/>
            <a:ext cx="411480" cy="0"/>
          </a:xfrm>
          <a:prstGeom prst="line">
            <a:avLst/>
          </a:prstGeom>
          <a:ln w="16510">
            <a:solidFill>
              <a:srgbClr val="9E00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784080" y="29946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9E0009"/>
                </a:solidFill>
                <a:latin typeface="Consolas"/>
                <a:ea typeface="Consolas"/>
                <a:cs typeface="Consolas"/>
              </a:rPr>
              <a:t>pd_upper ↑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18320" y="5801868"/>
            <a:ext cx="411480" cy="0"/>
          </a:xfrm>
          <a:prstGeom prst="line">
            <a:avLst/>
          </a:prstGeom>
          <a:ln w="16510">
            <a:solidFill>
              <a:srgbClr val="9E00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784080" y="56829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9E0009"/>
                </a:solidFill>
                <a:latin typeface="Consolas"/>
                <a:ea typeface="Consolas"/>
                <a:cs typeface="Consolas"/>
              </a:rPr>
              <a:t>pd_special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6373368"/>
            <a:ext cx="4800600" cy="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63550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5C6B7E"/>
                </a:solidFill>
                <a:latin typeface="Consolas"/>
                <a:ea typeface="Consolas"/>
                <a:cs typeface="Consolas"/>
              </a:rPr>
              <a:t>ItemIdData = 15b off · 2b flags · 15b len</a:t>
            </a:r>
          </a:p>
        </p:txBody>
      </p:sp>
    </p:spTree>
    <p:extLst>
      <p:ext uri="{BB962C8B-B14F-4D97-AF65-F5344CB8AC3E}">
        <p14:creationId xmlns:p14="http://schemas.microsoft.com/office/powerpoint/2010/main" val="377676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空闲空间管理 FSM 三层树与查找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FSM 是每张表的伴随文件, 用一字节 category 记录每个堆块的可用空间档位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调用链: heap_insert -&gt; GetPageWithFreeSpace -&gt; fsm_search 自顶向下找够大的块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GetPageWithFreeSpace 把 spaceNeeded 换算成 min_cat, 交给 fsm_search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RecordPageWithFreeSpace(125) 反向更新: 块剩余空间换算 cat 写回 FSM 字节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三层 FSM 树由 FSMAddress{level, logpageno} 寻址(freespace.h:74); 上层是下层的聚合最大值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FreeSpaceMapVacuum(366) 自顶向下修复上层与底层不一致, 让新空间对查找可见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src/gausskernel/storage/freespace/freespace.cpp:80 GetPageWithFreeSpace()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BlockNumber GetPageWithFreeSpace(Relation rel, Size spaceNeeded)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uint8 min_cat = fsm_space_needed_to_cat(spaceNeeded);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return fsm_search(rel, min_cat);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/* ... */</a:t>
            </a:r>
          </a:p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void RecordPageWithFreeSpace(Relation rel, BlockNumber heapBlk, Size spaceAvail)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    int new_cat = fsm_space_avail_to_cat(spaceAvail);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FSMAddress addr;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uint16 slot;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Get the location of the FSM byte representing the heap block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addr = fsm_get_location(heapBlk, &amp;slot);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fsm_set_and_search(rel, addr, slot, (uint8)new_cat, 0);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3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持久化存储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21 / 30</a:t>
            </a:r>
          </a:p>
        </p:txBody>
      </p:sp>
    </p:spTree>
    <p:extLst>
      <p:ext uri="{BB962C8B-B14F-4D97-AF65-F5344CB8AC3E}">
        <p14:creationId xmlns:p14="http://schemas.microsoft.com/office/powerpoint/2010/main" val="3058171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WAL/Xlog 写入入口 XLogInsertRecord 与 XLogRecord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调用链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XLogInsert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XLogInsertRecord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XLogInsertRecordSingle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/Group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入口按架构与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GUC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分流：ARM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下普通记录走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group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模式聚合提交，LogSwitch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/x86 走 single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真正的"占位+分配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LSN"在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ReserveXLogInsertLocation：CurrBytePos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+=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size，产出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StartPos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EndPos，再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CopyXLogRecordToWAL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拷入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WAL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缓冲</a:t>
            </a:r>
            <a:endParaRPr sz="1300" b="0" i="0" dirty="0">
              <a:solidFill>
                <a:srgbClr val="212B3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记录头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XLogRecord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含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xl_tot_len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xl_xid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xl_prev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链上一条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) /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xl_info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xl_rmid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xl_crc，校验回放靠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xl_crc</a:t>
            </a:r>
            <a:endParaRPr sz="1300" b="0" i="0" dirty="0">
              <a:solidFill>
                <a:srgbClr val="212B3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WAL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段文件落在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pg_xlog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0" i="0" dirty="0" err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目录，单段默认</a:t>
            </a:r>
            <a:r>
              <a:rPr sz="1300" b="0" i="0" dirty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 16MB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9068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 dirty="0" err="1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</a:t>
            </a:r>
            <a:r>
              <a:rPr sz="1100" b="0" i="0" dirty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/</a:t>
            </a:r>
            <a:r>
              <a:rPr sz="1100" b="0" i="0" dirty="0" err="1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gausskernel</a:t>
            </a:r>
            <a:r>
              <a:rPr sz="1100" b="0" i="0" dirty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/storage/access/</a:t>
            </a:r>
            <a:r>
              <a:rPr sz="1100" b="0" i="0" dirty="0" err="1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transam</a:t>
            </a:r>
            <a:r>
              <a:rPr sz="1100" b="0" i="0" dirty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/xlog.cpp:1368 </a:t>
            </a:r>
            <a:r>
              <a:rPr sz="1100" b="0" i="0" dirty="0" err="1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XLogInsertRecord</a:t>
            </a:r>
            <a:r>
              <a:rPr sz="1100" b="0" i="0" dirty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31372"/>
            <a:ext cx="1078992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XLogRecPtr XLogInsertRecord(XLogRecData *rdata, XLogRecPtr fpw_lsn)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#ifdef __aarch64__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XLogRecord *rechdr = (XLogRecord *)rdata-&gt;data;</a:t>
            </a:r>
          </a:p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    bool isLogSwitch = (rechdr-&gt;xl_rmid == RM_XLOG_ID &amp;&amp; rechdr-&gt;xl_info == XLOG_SWITCH);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if (isLogSwitch || !u_sess-&gt;attr.attr_storage.enable_xlog_insert_record_group) 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return XLogInsertRecordSingle(rdata, fpw_lsn);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 else 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return XLogInsertRecordGroup(rdata, fpw_lsn);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}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#else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return XLogInsertRecordSingle(rdata, fpw_lsn);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#endif /* __aarch64__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3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持久化存储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22 / 30</a:t>
            </a:r>
          </a:p>
        </p:txBody>
      </p:sp>
    </p:spTree>
    <p:extLst>
      <p:ext uri="{BB962C8B-B14F-4D97-AF65-F5344CB8AC3E}">
        <p14:creationId xmlns:p14="http://schemas.microsoft.com/office/powerpoint/2010/main" val="634135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WAL 刷盘 XLogFlushCore 与无锁刷盘 self-flush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调用链 XLogFlush -&gt; XLogFlushCore -&gt; XLogWrite(2640, 持 WALWriteLock) -&gt; 落盘并 fsync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XLogFlushCore 在临界区内调 XLogWrite，把 Write/Flush 推进到 writeRqstPtr，再唤醒 walsender 与等待提交的代理线程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无锁刷盘路径 XLogSelfFlushWithoutStatus(341 声明 / 3844 实现)：仅在一次 WAL 拷贝内第二次命中起始页时，自旋等待 lastLRCFlushed 追平 prevLRC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LRC(Log Record Counter) 来自 Combined128.LRC(xlog_internal.h:239)，与 CurrBytePos 一起做 128 位原子 CAS，串接记录顺序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src/gausskernel/storage/access/transam/xlog.cpp:3526 XLogFlushCore()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1000" b="1" i="0">
                <a:solidFill>
                  <a:srgbClr val="164480"/>
                </a:solidFill>
                <a:latin typeface="Consolas"/>
                <a:ea typeface="Microsoft YaHei"/>
                <a:cs typeface="Consolas"/>
              </a:rPr>
              <a:t>static void XLogFlushCore(XLogRecPtr writeRqstPtr)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START_CRIT_SECTION();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XLogwrtRqst WriteRqst;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WriteRqst.Write = writeRqstPtr;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WriteRqst.Flush = writeRqstPtr;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XLogWrite(WriteRqst, false);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END_CRIT_SECTION();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pg_memory_barrier();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wake up walsenders now that we've released heavily contended locks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WalSndWakeupProcessRequests();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SendShareStorageXLogCopyBackendWakeupRequest()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(void)pg_atomic_exchange_u64((uint64 *)&amp;g_instance.wal_cxt.flushResult,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                             t_thrd.shemem_ptr_cxt.XLogCtl-&gt;LogwrtResult.Flush);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WakeupWalSemaphore(&amp;g_instance.wal_cxt.walFlushWaitLock-&gt;l.sem);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3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持久化存储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23 / 30</a:t>
            </a:r>
          </a:p>
        </p:txBody>
      </p:sp>
    </p:spTree>
    <p:extLst>
      <p:ext uri="{BB962C8B-B14F-4D97-AF65-F5344CB8AC3E}">
        <p14:creationId xmlns:p14="http://schemas.microsoft.com/office/powerpoint/2010/main" val="3061746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检查点链 CreateCheckPoint 到落盘 redo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8064" y="1491517"/>
            <a:ext cx="6583680" cy="465560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CreateCheckPoint(xlog.cpp:12069) 计算 redo 点、写 checkpoint 记录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80176" y="1957077"/>
            <a:ext cx="219456" cy="23983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98064" y="2196911"/>
            <a:ext cx="6583680" cy="465560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CheckPointGuts(xlog.cpp:12726) 依次刷 CLOG/CSNLOG/MultiXact 等子系统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0176" y="2662471"/>
            <a:ext cx="219456" cy="23983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98064" y="2902305"/>
            <a:ext cx="6583680" cy="465560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CheckPointBuffers(bufmgr.cpp:4978) 刷脏共享缓冲并 fsync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80176" y="3367865"/>
            <a:ext cx="219456" cy="23983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98064" y="3607699"/>
            <a:ext cx="6583680" cy="465560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BufferSync(bufmgr.cpp:4036) 扫描标记 BM_CHECKPOINT_NEEDED 的脏页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0176" y="4073259"/>
            <a:ext cx="219456" cy="23983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98064" y="4313093"/>
            <a:ext cx="6583680" cy="465560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FlushBuffer 逐个写出脏页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0176" y="4778653"/>
            <a:ext cx="219456" cy="23983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98064" y="5018487"/>
            <a:ext cx="6583680" cy="465560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smgrwrite -&gt; mdwrite(堆表) 或 seg_write(段页式表)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80176" y="5484047"/>
            <a:ext cx="219456" cy="23983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98064" y="5723881"/>
            <a:ext cx="6583680" cy="465560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推进并写入 redo point(控制文件记录回放起点)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3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持久化存储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24 / 30</a:t>
            </a:r>
          </a:p>
        </p:txBody>
      </p:sp>
    </p:spTree>
    <p:extLst>
      <p:ext uri="{BB962C8B-B14F-4D97-AF65-F5344CB8AC3E}">
        <p14:creationId xmlns:p14="http://schemas.microsoft.com/office/powerpoint/2010/main" val="349497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Astore 追加存储引擎 heap_insert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调用链 heap_insert -&gt; RelationGetBufferForTuple -&gt; RelationPutHeapTuple -&gt; MarkBufferDirty -&gt; XLogInsert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原地不改旧版本：UPDATE/DELETE 只标记旧元组，新版本另写新位置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heap_update (heapam.cpp:5025) 走 HOT 链；heap_delete (heapam.cpp:4485) 只置删除标志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src/gausskernel/storage/access/heap/heapam.cpp:2972 heap_insert()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buffer = RelationGetBufferForTuple(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relation, heaptup-&gt;t_len, InvalidBuffer, options, bistate, &amp;vmbuffer, NULL, rel_end_block);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/* ... */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/* NO EREPORT(ERROR) from here till changes are logged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START_CRIT_SECTION();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RelationPutHeapTuple(relation, buffer, heaptup, xid);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/*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MarkBufferDirty(buffer);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/* XLOG stuff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if (!(options &amp; HEAP_INSERT_SKIP_WAL) &amp;&amp; RelationNeedsWAL(relation)) {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xl_heap_insert xlrec;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    /*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XLogBeginInsert();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3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持久化存储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25 / 30</a:t>
            </a:r>
          </a:p>
        </p:txBody>
      </p:sp>
    </p:spTree>
    <p:extLst>
      <p:ext uri="{BB962C8B-B14F-4D97-AF65-F5344CB8AC3E}">
        <p14:creationId xmlns:p14="http://schemas.microsoft.com/office/powerpoint/2010/main" val="3978094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Ustore 原位更新引擎 UHeapInsert（默认）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调用链 UHeapInsert -&gt; UHeapPageReserveTransactionSlot -&gt; UHeapPrepareUndoInsert -&gt; RelationPutUTuple -&gt; MarkBufferDirty -&gt; LogUHeapInsert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关键结构 UHeapPageHeaderData（knl_upage.h:260，td_count 个 TD 事务目录槽）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关键结构 UHeapTupleData（knl_utuple.h:168，磁盘元组用 TD 槽定位事务，而非头部 XID）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B7E"/>
                </a:solidFill>
                <a:latin typeface="Consolas"/>
                <a:ea typeface="Microsoft YaHei"/>
                <a:cs typeface="Consolas"/>
              </a:rPr>
              <a:t>src/gausskernel/storage/access/ustore/knl_uheap.cpp:563 UHeapInsert()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3310128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73152" rtlCol="0" anchor="t"/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tdSlot = UHeapPageReserveTransactionSlot(rel, buffer, fxid, &amp;prevUrecptr,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&amp;lockReacquired, InvalidBuffer, &amp;minXidInTDSlots, false);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/*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urecPtr = UHeapPrepareUndoInsert(relOid, partitionOid, RelationGetRelFileNode(rel),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RelationGetRnodeSpace(rel), persistence, fxid, cid,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   prevUrecptr, INVALID_UNDO_REC_PTR, BufferGetBlockNumber(buffer), NULL, &amp;xlum);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/*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UHeapTupleHeaderSetTDSlot(tuple-&gt;disk_tuple, tdSlot);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UHeapTupleSetModifiedXid(rel, buffer, tuple, fxid);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 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/* Put utuple into buffer page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RelationPutUTuple(rel, buffer, tuple);</a:t>
            </a:r>
          </a:p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2E7D46"/>
                </a:solidFill>
                <a:latin typeface="Consolas"/>
                <a:ea typeface="Microsoft YaHei"/>
                <a:cs typeface="Consolas"/>
              </a:rPr>
              <a:t>/* ... */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UHeapPageSetUndo(buffer, tdSlot, fxid, urecPtr);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212B36"/>
                </a:solidFill>
                <a:latin typeface="Consolas"/>
                <a:ea typeface="Microsoft YaHei"/>
                <a:cs typeface="Consolas"/>
              </a:rPr>
              <a:t>MarkBufferDirty(buffer);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3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持久化存储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26 / 30</a:t>
            </a:r>
          </a:p>
        </p:txBody>
      </p:sp>
    </p:spTree>
    <p:extLst>
      <p:ext uri="{BB962C8B-B14F-4D97-AF65-F5344CB8AC3E}">
        <p14:creationId xmlns:p14="http://schemas.microsoft.com/office/powerpoint/2010/main" val="3189912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Undo 多版本与版本重建（Ustore）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8064" y="1491517"/>
            <a:ext cx="6583680" cy="465560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UHeapUpdate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80176" y="1957077"/>
            <a:ext cx="219456" cy="23983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98064" y="2196911"/>
            <a:ext cx="6583680" cy="465560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UHeapPrepareUndoUpdate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0176" y="2662471"/>
            <a:ext cx="219456" cy="23983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98064" y="2902305"/>
            <a:ext cx="6583680" cy="465560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UndoRecord::Prepare（knl_uundorecord.cpp:264 预留 undo 空间）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80176" y="3367865"/>
            <a:ext cx="219456" cy="23983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98064" y="3607699"/>
            <a:ext cx="6583680" cy="465560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PrepareUndoMeta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0176" y="4073259"/>
            <a:ext cx="219456" cy="23983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98064" y="4313093"/>
            <a:ext cx="6583680" cy="465560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RelationPutUTuple（原地覆盖新值）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0176" y="4778653"/>
            <a:ext cx="219456" cy="23983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98064" y="5018487"/>
            <a:ext cx="6583680" cy="465560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MarkBufferDirty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80176" y="5484047"/>
            <a:ext cx="219456" cy="239834"/>
          </a:xfrm>
          <a:prstGeom prst="downArrow">
            <a:avLst/>
          </a:prstGeom>
          <a:solidFill>
            <a:srgbClr val="1E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98064" y="5723881"/>
            <a:ext cx="6583680" cy="465560"/>
          </a:xfrm>
          <a:prstGeom prst="roundRect">
            <a:avLst>
              <a:gd name="adj" fmla="val 12000"/>
            </a:avLst>
          </a:prstGeom>
          <a:solidFill>
            <a:srgbClr val="E9F1FB"/>
          </a:solidFill>
          <a:ln w="15875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0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XLogInsert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3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持久化存储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27 / 30</a:t>
            </a:r>
          </a:p>
        </p:txBody>
      </p:sp>
    </p:spTree>
    <p:extLst>
      <p:ext uri="{BB962C8B-B14F-4D97-AF65-F5344CB8AC3E}">
        <p14:creationId xmlns:p14="http://schemas.microsoft.com/office/powerpoint/2010/main" val="3493790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端到端贯通 一次 UPDATE 从缓存到落盘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• 上半段是访问方法在共享缓冲区里原地修改, 下半段是检查点把脏页刷回磁盘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• WAL 先行(WAL-before-data): 改页前先写 redo 日志, 提交时 XLogFlush 把 WAL 落盘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4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端到端 · 保真度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28 / 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1554480"/>
            <a:ext cx="9098280" cy="1170432"/>
          </a:xfrm>
          <a:prstGeom prst="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1520" y="1847088"/>
            <a:ext cx="160020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50" b="1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内存 Buffer Pool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2889504"/>
            <a:ext cx="9098280" cy="1170432"/>
          </a:xfrm>
          <a:prstGeom prst="rect">
            <a:avLst/>
          </a:prstGeom>
          <a:solidFill>
            <a:srgbClr val="FC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31520" y="3182112"/>
            <a:ext cx="160020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B9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50" b="1">
                <a:solidFill>
                  <a:srgbClr val="B96A00"/>
                </a:solidFill>
                <a:latin typeface="Microsoft YaHei"/>
                <a:ea typeface="Microsoft YaHei"/>
                <a:cs typeface="Microsoft YaHei"/>
              </a:rPr>
              <a:t>WAL 日志 (redo)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4224528"/>
            <a:ext cx="9098280" cy="117043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31520" y="4517136"/>
            <a:ext cx="160020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4C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50" b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磁盘 数据文件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1810512"/>
            <a:ext cx="1627632" cy="658368"/>
          </a:xfrm>
          <a:prstGeom prst="roundRect">
            <a:avLst>
              <a:gd name="adj" fmla="val 14000"/>
            </a:avLst>
          </a:prstGeom>
          <a:solidFill>
            <a:srgbClr val="E9F1FB"/>
          </a:solidFill>
          <a:ln w="15240">
            <a:solidFill>
              <a:srgbClr val="1E5BA8"/>
            </a:solidFill>
          </a:ln>
          <a:effectLst>
            <a:outerShdw blurRad="45720" dist="27432" dir="5400000" rotWithShape="0">
              <a:srgbClr val="2A33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50" b="1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UHeapUpdate</a:t>
            </a:r>
          </a:p>
          <a:p>
            <a:pPr algn="ctr"/>
            <a:r>
              <a:rPr sz="950" b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访问方法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17720" y="1810512"/>
            <a:ext cx="1627632" cy="658368"/>
          </a:xfrm>
          <a:prstGeom prst="roundRect">
            <a:avLst>
              <a:gd name="adj" fmla="val 14000"/>
            </a:avLst>
          </a:prstGeom>
          <a:solidFill>
            <a:srgbClr val="E9F1FB"/>
          </a:solidFill>
          <a:ln w="15240">
            <a:solidFill>
              <a:srgbClr val="1E5BA8"/>
            </a:solidFill>
          </a:ln>
          <a:effectLst>
            <a:outerShdw blurRad="45720" dist="27432" dir="5400000" rotWithShape="0">
              <a:srgbClr val="2A33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50" b="1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RelationPutUTuple</a:t>
            </a:r>
          </a:p>
          <a:p>
            <a:pPr algn="ctr"/>
            <a:r>
              <a:rPr sz="950" b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原地改页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1810512"/>
            <a:ext cx="1627632" cy="658368"/>
          </a:xfrm>
          <a:prstGeom prst="roundRect">
            <a:avLst>
              <a:gd name="adj" fmla="val 14000"/>
            </a:avLst>
          </a:prstGeom>
          <a:solidFill>
            <a:srgbClr val="E9F1FB"/>
          </a:solidFill>
          <a:ln w="15240">
            <a:solidFill>
              <a:srgbClr val="1E5BA8"/>
            </a:solidFill>
          </a:ln>
          <a:effectLst>
            <a:outerShdw blurRad="45720" dist="27432" dir="5400000" rotWithShape="0">
              <a:srgbClr val="2A33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50" b="1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MarkBufferDirty</a:t>
            </a:r>
          </a:p>
          <a:p>
            <a:pPr algn="ctr"/>
            <a:r>
              <a:rPr sz="950" b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BM_DIRTY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3145536"/>
            <a:ext cx="1627632" cy="658368"/>
          </a:xfrm>
          <a:prstGeom prst="roundRect">
            <a:avLst>
              <a:gd name="adj" fmla="val 14000"/>
            </a:avLst>
          </a:prstGeom>
          <a:solidFill>
            <a:srgbClr val="FCF1DC"/>
          </a:solidFill>
          <a:ln w="15240">
            <a:solidFill>
              <a:srgbClr val="B96A00"/>
            </a:solidFill>
          </a:ln>
          <a:effectLst>
            <a:outerShdw blurRad="45720" dist="27432" dir="5400000" rotWithShape="0">
              <a:srgbClr val="2A33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50" b="1">
                <a:solidFill>
                  <a:srgbClr val="B96A00"/>
                </a:solidFill>
                <a:latin typeface="Microsoft YaHei"/>
                <a:ea typeface="Microsoft YaHei"/>
                <a:cs typeface="Microsoft YaHei"/>
              </a:rPr>
              <a:t>UndoRecord</a:t>
            </a:r>
          </a:p>
          <a:p>
            <a:pPr algn="ctr"/>
            <a:r>
              <a:rPr sz="950" b="0">
                <a:solidFill>
                  <a:srgbClr val="B96A00"/>
                </a:solidFill>
                <a:latin typeface="Microsoft YaHei"/>
                <a:ea typeface="Microsoft YaHei"/>
                <a:cs typeface="Microsoft YaHei"/>
              </a:rPr>
              <a:t>::Prepare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3145536"/>
            <a:ext cx="1627632" cy="658368"/>
          </a:xfrm>
          <a:prstGeom prst="roundRect">
            <a:avLst>
              <a:gd name="adj" fmla="val 14000"/>
            </a:avLst>
          </a:prstGeom>
          <a:solidFill>
            <a:srgbClr val="FCF1DC"/>
          </a:solidFill>
          <a:ln w="15240">
            <a:solidFill>
              <a:srgbClr val="B96A00"/>
            </a:solidFill>
          </a:ln>
          <a:effectLst>
            <a:outerShdw blurRad="45720" dist="27432" dir="5400000" rotWithShape="0">
              <a:srgbClr val="2A33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50" b="1">
                <a:solidFill>
                  <a:srgbClr val="B96A00"/>
                </a:solidFill>
                <a:latin typeface="Microsoft YaHei"/>
                <a:ea typeface="Microsoft YaHei"/>
                <a:cs typeface="Microsoft YaHei"/>
              </a:rPr>
              <a:t>XLogInsert</a:t>
            </a:r>
          </a:p>
          <a:p>
            <a:pPr algn="ctr"/>
            <a:r>
              <a:rPr sz="950" b="0">
                <a:solidFill>
                  <a:srgbClr val="B96A00"/>
                </a:solidFill>
                <a:latin typeface="Microsoft YaHei"/>
                <a:ea typeface="Microsoft YaHei"/>
                <a:cs typeface="Microsoft YaHei"/>
              </a:rPr>
              <a:t>写 redo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3145536"/>
            <a:ext cx="1627632" cy="658368"/>
          </a:xfrm>
          <a:prstGeom prst="roundRect">
            <a:avLst>
              <a:gd name="adj" fmla="val 14000"/>
            </a:avLst>
          </a:prstGeom>
          <a:solidFill>
            <a:srgbClr val="FCF1DC"/>
          </a:solidFill>
          <a:ln w="15240">
            <a:solidFill>
              <a:srgbClr val="B96A00"/>
            </a:solidFill>
          </a:ln>
          <a:effectLst>
            <a:outerShdw blurRad="45720" dist="27432" dir="5400000" rotWithShape="0">
              <a:srgbClr val="2A33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50" b="1">
                <a:solidFill>
                  <a:srgbClr val="B96A00"/>
                </a:solidFill>
                <a:latin typeface="Microsoft YaHei"/>
                <a:ea typeface="Microsoft YaHei"/>
                <a:cs typeface="Microsoft YaHei"/>
              </a:rPr>
              <a:t>XLogFlush</a:t>
            </a:r>
          </a:p>
          <a:p>
            <a:pPr algn="ctr"/>
            <a:r>
              <a:rPr sz="950" b="0">
                <a:solidFill>
                  <a:srgbClr val="B96A00"/>
                </a:solidFill>
                <a:latin typeface="Microsoft YaHei"/>
                <a:ea typeface="Microsoft YaHei"/>
                <a:cs typeface="Microsoft YaHei"/>
              </a:rPr>
              <a:t>提交落盘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4480559"/>
            <a:ext cx="1783080" cy="658368"/>
          </a:xfrm>
          <a:prstGeom prst="roundRect">
            <a:avLst>
              <a:gd name="adj" fmla="val 14000"/>
            </a:avLst>
          </a:prstGeom>
          <a:solidFill>
            <a:srgbClr val="ECEFF3"/>
          </a:solidFill>
          <a:ln w="15240">
            <a:solidFill>
              <a:srgbClr val="C4CED9"/>
            </a:solidFill>
          </a:ln>
          <a:effectLst>
            <a:outerShdw blurRad="45720" dist="27432" dir="5400000" rotWithShape="0">
              <a:srgbClr val="2A33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50" b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CreateCheckPoint</a:t>
            </a:r>
          </a:p>
          <a:p>
            <a:pPr algn="ctr"/>
            <a:r>
              <a:rPr sz="950" b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BufferSync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38360" y="4480559"/>
            <a:ext cx="1627632" cy="658368"/>
          </a:xfrm>
          <a:prstGeom prst="roundRect">
            <a:avLst>
              <a:gd name="adj" fmla="val 14000"/>
            </a:avLst>
          </a:prstGeom>
          <a:solidFill>
            <a:srgbClr val="ECEFF3"/>
          </a:solidFill>
          <a:ln w="15240">
            <a:solidFill>
              <a:srgbClr val="C4CED9"/>
            </a:solidFill>
          </a:ln>
          <a:effectLst>
            <a:outerShdw blurRad="45720" dist="27432" dir="5400000" rotWithShape="0">
              <a:srgbClr val="2A334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950" b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FlushBuffer →</a:t>
            </a:r>
          </a:p>
          <a:p>
            <a:pPr algn="ctr"/>
            <a:r>
              <a:rPr sz="950" b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FilePWrite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325112" y="2139696"/>
            <a:ext cx="292608" cy="0"/>
          </a:xfrm>
          <a:prstGeom prst="line">
            <a:avLst/>
          </a:prstGeom>
          <a:ln w="20320">
            <a:solidFill>
              <a:srgbClr val="1E5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245352" y="2139696"/>
            <a:ext cx="292608" cy="0"/>
          </a:xfrm>
          <a:prstGeom prst="line">
            <a:avLst/>
          </a:prstGeom>
          <a:ln w="20320">
            <a:solidFill>
              <a:srgbClr val="1E5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511296" y="2468879"/>
            <a:ext cx="960120" cy="676657"/>
          </a:xfrm>
          <a:prstGeom prst="line">
            <a:avLst/>
          </a:prstGeom>
          <a:ln w="15240"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6391655" y="2468879"/>
            <a:ext cx="960121" cy="676657"/>
          </a:xfrm>
          <a:prstGeom prst="line">
            <a:avLst/>
          </a:prstGeom>
          <a:ln w="15240"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285232" y="3474720"/>
            <a:ext cx="292608" cy="0"/>
          </a:xfrm>
          <a:prstGeom prst="line">
            <a:avLst/>
          </a:prstGeom>
          <a:ln w="20320">
            <a:solidFill>
              <a:srgbClr val="B96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05472" y="3474720"/>
            <a:ext cx="292607" cy="0"/>
          </a:xfrm>
          <a:prstGeom prst="line">
            <a:avLst/>
          </a:prstGeom>
          <a:ln w="20320">
            <a:solidFill>
              <a:srgbClr val="B96A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351776" y="2468879"/>
            <a:ext cx="1335024" cy="2011680"/>
          </a:xfrm>
          <a:prstGeom prst="line">
            <a:avLst/>
          </a:prstGeom>
          <a:ln w="20320"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601200" y="4809744"/>
            <a:ext cx="137160" cy="0"/>
          </a:xfrm>
          <a:prstGeom prst="line">
            <a:avLst/>
          </a:prstGeom>
          <a:ln w="20320">
            <a:solidFill>
              <a:srgbClr val="5C6B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2697480" y="5230368"/>
            <a:ext cx="5029200" cy="402336"/>
          </a:xfrm>
          <a:prstGeom prst="roundRect">
            <a:avLst>
              <a:gd name="adj" fmla="val 20000"/>
            </a:avLst>
          </a:prstGeom>
          <a:solidFill>
            <a:srgbClr val="FBE9EA"/>
          </a:solidFill>
          <a:ln w="1524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1">
                <a:solidFill>
                  <a:srgbClr val="9E0009"/>
                </a:solidFill>
                <a:latin typeface="Microsoft YaHei"/>
                <a:ea typeface="Microsoft YaHei"/>
                <a:cs typeface="Microsoft YaHei"/>
              </a:rPr>
              <a:t>WAL 先行：改页前先写 redo；提交只刷日志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55279" y="5230368"/>
            <a:ext cx="3566160" cy="402336"/>
          </a:xfrm>
          <a:prstGeom prst="roundRect">
            <a:avLst>
              <a:gd name="adj" fmla="val 20000"/>
            </a:avLst>
          </a:prstGeom>
          <a:solidFill>
            <a:srgbClr val="ECEFF3"/>
          </a:solidFill>
          <a:ln w="15240">
            <a:solidFill>
              <a:srgbClr val="C4C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000" b="1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数据页由检查点异步落盘</a:t>
            </a:r>
          </a:p>
        </p:txBody>
      </p:sp>
    </p:spTree>
    <p:extLst>
      <p:ext uri="{BB962C8B-B14F-4D97-AF65-F5344CB8AC3E}">
        <p14:creationId xmlns:p14="http://schemas.microsoft.com/office/powerpoint/2010/main" val="226028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文档 vs 开源 保真度对照表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0704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凡商业增强项需明确区分: openGauss 6.0.0 开源 != GaussDB 商业版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2014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4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特性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GaussDB 文档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openGauss 6.0.0 开源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73152" marR="54864" marT="18288" marB="182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Ustore (In-place)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完整支持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src/gausskernel/storage/access/ustore/knl_uheap.cpp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开源主线已实现</a:t>
                      </a:r>
                    </a:p>
                  </a:txBody>
                  <a:tcPr marL="73152" marR="54864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UBTree (RCR+PCR)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RCR/PCR 多版本索引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RCR, UBTREE_OPAQUE_VERSION_RCR (include/access/ubtree.h)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RCR 术语主要落在 ubtree 层</a:t>
                      </a:r>
                    </a:p>
                  </a:txBody>
                  <a:tcPr marL="73152" marR="54864" marT="18288" marB="18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Undo 子系统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ustore/undo/knl_uundoapi.cpp 等 6 文件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文件齐备</a:t>
                      </a:r>
                    </a:p>
                  </a:txBody>
                  <a:tcPr marL="73152" marR="54864" marT="18288" marB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Global SysCache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全局系统缓存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include/utils/knl_globalsys*.h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knl_globalsystupcache 等</a:t>
                      </a:r>
                    </a:p>
                  </a:txBody>
                  <a:tcPr marL="73152" marR="54864" marT="18288" marB="18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Global Plan Cache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全局计划缓存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process/globalplancache/globalplancache.cpp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开源实现完整</a:t>
                      </a:r>
                    </a:p>
                  </a:txBody>
                  <a:tcPr marL="73152" marR="54864" marT="18288" marB="182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ADIO 异步直接 IO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默认能力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GUC enable_adio_function (guc_storage.cpp)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默认关闭, 是适配开关</a:t>
                      </a:r>
                    </a:p>
                  </a:txBody>
                  <a:tcPr marL="73152" marR="54864" marT="18288" marB="1828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段页式存储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storage/smgr/segment/*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seg_write/space.cpp</a:t>
                      </a:r>
                    </a:p>
                  </a:txBody>
                  <a:tcPr marL="73152" marR="54864" marT="18288" marB="1828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NUMA 感知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GUC numa_distribute_mode (guc.cpp); MOT mm_numa.cpp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多处 NUMA 支持</a:t>
                      </a:r>
                    </a:p>
                  </a:txBody>
                  <a:tcPr marL="73152" marR="54864" marT="18288" marB="1828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cstore_buffers 列存缓冲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GUC cstore_buffers (guc_storage.cpp)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列存独立缓冲池</a:t>
                      </a:r>
                    </a:p>
                  </a:txBody>
                  <a:tcPr marL="73152" marR="54864" marT="18288" marB="1828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MOT 内存表引擎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开源可选, storage/mot/core/*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需编译期开启</a:t>
                      </a:r>
                    </a:p>
                  </a:txBody>
                  <a:tcPr marL="73152" marR="54864" marT="18288" marB="18288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Enhanced Toast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增强大对象存储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开源缺失, 仅标准 PostgreSQL TOAST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GaussDB 专有, 勿等同</a:t>
                      </a:r>
                    </a:p>
                  </a:txBody>
                  <a:tcPr marL="73152" marR="54864" marT="18288" marB="18288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去双写 (double-write)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宣称去双写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未真正移除: dw_enabled() (double_write.h:280), 段页式仍 seg_dw_single_flush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被夸大, 实为受 GUC 控制</a:t>
                      </a:r>
                    </a:p>
                  </a:txBody>
                  <a:tcPr marL="73152" marR="54864" marT="18288" marB="18288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2297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Global PL/SQL Cache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PL/SQL 缓存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开源更窄: 仅 package 运行时缓存 pl_global_package_runtime_cache.cpp</a:t>
                      </a:r>
                    </a:p>
                  </a:txBody>
                  <a:tcPr marL="73152" marR="54864" marT="18288" marB="18288"/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212B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不等于文档完整能力</a:t>
                      </a:r>
                    </a:p>
                  </a:txBody>
                  <a:tcPr marL="73152" marR="54864" marT="18288" marB="18288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4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端到端 · 保真度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29 / 30</a:t>
            </a:r>
          </a:p>
        </p:txBody>
      </p:sp>
    </p:spTree>
    <p:extLst>
      <p:ext uri="{BB962C8B-B14F-4D97-AF65-F5344CB8AC3E}">
        <p14:creationId xmlns:p14="http://schemas.microsoft.com/office/powerpoint/2010/main" val="105261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0335B"/>
                </a:solidFill>
                <a:latin typeface="Microsoft YaHei"/>
                <a:ea typeface="Microsoft YaHei"/>
                <a:cs typeface="Microsoft YaHei"/>
              </a:rPr>
              <a:t>总结与参考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8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缓冲管理主线: ReadBuffer -&gt; BufferAlloc 查哈希表命中/淘汰 -&gt; 时钟扫描选 victim -&gt; FlushBuffer/MarkBufferDirty, BM_DIRTY 与 pin/refcount 是核心状态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8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持久化主线: WAL 先行(XLogInsert/XLogFlush) + 检查点(CreateCheckPoint -&gt; BufferSync -&gt; FlushBuffer) + smgr 分派(mdwrite / seg_write -&gt; FilePWrite), double-write 防 torn page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8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端到端: 一次 UPDATE 先改内存页并写 WAL, 提交只刷日志, 数据页由检查点异步落盘, 崩溃后重放 WAL 追平——这就是两大主题的交汇点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8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保真度提醒: 开源 openGauss 6.0.0 != GaussDB 商业版; Enhanced Toast 缺失、"去双写"未真正移除、Global PL/SQL Cache 更窄, 讲解时务必区分文档与源码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800" b="0" i="0">
                <a:solidFill>
                  <a:srgbClr val="212B36"/>
                </a:solidFill>
                <a:latin typeface="Microsoft YaHei"/>
                <a:ea typeface="Microsoft YaHei"/>
                <a:cs typeface="Microsoft YaHei"/>
              </a:rPr>
              <a:t>• 参考: openGauss 6.0.0 (commit 00b0818b); 关键源码 src/gausskernel/storage/{buffer,smgr,access}; 概念以 GaussDB V2.0-25.860.1 文档对应章节补充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927080" cy="20116"/>
          </a:xfrm>
          <a:prstGeom prst="rect">
            <a:avLst/>
          </a:prstGeom>
          <a:solidFill>
            <a:srgbClr val="D9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417320" cy="2011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4206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1" i="0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PART 4  </a:t>
            </a:r>
            <a:r>
              <a:rPr sz="1000" b="0" i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端到端 · 保真度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5566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 i="0">
                <a:solidFill>
                  <a:srgbClr val="8A97A6"/>
                </a:solidFill>
                <a:latin typeface="Consolas"/>
                <a:ea typeface="Consolas"/>
                <a:cs typeface="Consolas"/>
              </a:rPr>
              <a:t>30 / 30</a:t>
            </a:r>
          </a:p>
        </p:txBody>
      </p:sp>
    </p:spTree>
    <p:extLst>
      <p:ext uri="{BB962C8B-B14F-4D97-AF65-F5344CB8AC3E}">
        <p14:creationId xmlns:p14="http://schemas.microsoft.com/office/powerpoint/2010/main" val="1161919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07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F91202F-AA9A-454F-90CB-1BD97D7EA59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d44253b-8b4d-4fad-85be-ff8ad871baf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11478</Words>
  <Application>Microsoft Office PowerPoint</Application>
  <PresentationFormat>Widescreen</PresentationFormat>
  <Paragraphs>741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Microsoft YaHei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智恒 胡</cp:lastModifiedBy>
  <cp:revision>4</cp:revision>
  <dcterms:created xsi:type="dcterms:W3CDTF">2013-01-27T09:14:16Z</dcterms:created>
  <dcterms:modified xsi:type="dcterms:W3CDTF">2026-06-30T14:34:49Z</dcterms:modified>
  <cp:category/>
</cp:coreProperties>
</file>