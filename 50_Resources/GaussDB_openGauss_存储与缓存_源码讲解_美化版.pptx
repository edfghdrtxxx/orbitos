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本讲以 openGauss 6.0.0 真实开源源码为主线, 自底向上地讲清"数据如何落盘、页面如何被缓存"两大主题。</a:t>
            </a:r>
          </a:p>
          <a:p>
            <a:r>
              <a:t>讲解方式是函数级源码精讲: 打开每个关键函数的 file:line, 逐字对照真实代码, 用 GaussDB 文档补充概念背景。</a:t>
            </a:r>
          </a:p>
          <a:p>
            <a:r>
              <a:t>关键定位声明 (完整保真度声明见 "GaussDB 与 openGauss 的关系与本讲范围" 页): openGauss 6.0.0 开源 != 商业版 GaussDB, 全程凡涉及这类差异都明确标注"文档 vs 开源", 不把开源 openGauss 当作商业 GaussDB。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本讲分四部分。总览先校准 openGauss 与 GaussDB 的边界并给出存储全景与读路径地图;</a:t>
            </a:r>
          </a:p>
          <a:p>
            <a:r>
              <a:t>缓存管理深入共享缓冲池的查找/淘汰/刷盘以及系统缓存与计划缓存(含 openGauss 特有的 GSC/GPC);</a:t>
            </a:r>
          </a:p>
          <a:p>
            <a:r>
              <a:t>持久化存储管理自 SMGR 抽象向下讲 MD、段页式、页面布局、FSM、WAL 与检查点, 以及 Astore/Ustore/Undo 三套引擎;</a:t>
            </a:r>
          </a:p>
          <a:p>
            <a:r>
              <a:t>端到端与保真度把两大主题缝合为一次 UPDATE 的完整链路, 并以"文档 vs 开源"对照表收尾。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本页先校准认知边界: 听众容易把"GaussDB 文档里的能力"直接套到开源 openGauss 上, 这会导致讲错。</a:t>
            </a:r>
          </a:p>
          <a:p>
            <a:r>
              <a:t>GaussDB 是闭源商业产品, openGauss 是它开源出来的内核底座; 我们能读到、能精讲的只有 openGauss 6.0.0 这一份源码。</a:t>
            </a:r>
          </a:p>
          <a:p>
            <a:r>
              <a:t>本讲范围分两大块: 存储侧 (SMGR、段页式、页面、FSM、WAL、检查点、Astore/Ustore/Undo) 与 缓存侧 (共享缓冲池、淘汰、刷盘、SysCache、PlanCache、GSC/GPC)。</a:t>
            </a:r>
          </a:p>
          <a:p>
            <a:r>
              <a:t>最后四条是必须反复强调的保真度声明: Enhanced Toast 开源未实现(GaussDB 专有); 双写并未真正"去掉", 开源仍有 double_write 与 seg_dw_single_flush, ADIO 只是 GUC 控制的适配路径;</a:t>
            </a:r>
          </a:p>
          <a:p>
            <a:r>
              <a:t>Global PL/SQL Cache 开源只覆盖 package 运行时缓存; RCR 这个词主要落在 ubtree 多版本上, uheap 源码里根本搜不到 RCR。讲到这些特性时一律标注"文档 vs 开源"。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这页是全讲的地图: 数据从 SQL 到磁盘要穿过四个主层, 外加三个旁路子系统。</a:t>
            </a:r>
          </a:p>
          <a:p>
            <a:r>
              <a:t>自顶向下: 访问方法层 (heap/Astore 与 uheap/Ustore) 只认元组与页面, 把"页面在哪、是否在内存"完全委托给下一层;</a:t>
            </a:r>
          </a:p>
          <a:p>
            <a:r>
              <a:t>缓存层 Buffer Pool 是核心, bufmgr.cpp 负责命中判定与缺页装入, freelist.cpp 负责挑选可淘汰的 victim; 几乎所有读写都从这里过。</a:t>
            </a:r>
          </a:p>
          <a:p>
            <a:r>
              <a:t>再往下 SMGR (smgr.cpp) 是存储管理抽象, 它用一张函数表把"逻辑 relation"映射到物理实现: 普通表落到 md.cpp 管理的物理文件, 段页式表落到 segment/ 目录的实现; 最底层才是真正的文件系统读写与可选的 CFS 压缩。</a:t>
            </a:r>
          </a:p>
          <a:p>
            <a:r>
              <a:t>右侧旁路不在主读路径上但同样关键: WAL(xlog) 保证崩溃可恢复, Undo 支撑 Ustore 的就地更新多版本, 检查点借 pagewriter 把脏页成批刷盘以推进 redo 起点。</a:t>
            </a:r>
          </a:p>
          <a:p>
            <a:r>
              <a:t>注意 Astore/Ustore 都是开源真实存在的访问方法; 而 Enhanced Toast 属 GaussDB 专有, 不在本图开源层中。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这页把上一张地图里的"缓存层 -&gt; SMGR -&gt; 磁盘"放大成一条真实函数调用链, 全部经过验证的 file:line。</a:t>
            </a:r>
          </a:p>
          <a:p>
            <a:r>
              <a:t>入口是 ReadBuffer(1661), 它转调 ReadBufferExtended, 再进入核心的 ReadBuffer_common(2568); 真正的页面定位与分配在 BufferAlloc(3047) 内完成。</a:t>
            </a:r>
          </a:p>
          <a:p>
            <a:r>
              <a:t>BufferAlloc 先用 BufTableLookup(3078) 在共享缓冲哈希表里查 (relfilenode, fork, block) 这个 tag: 命中就直接复用并 pin 住返回, 统计落到 shared_blks_hit, 整条路径不触盘, 这是最快的热路径。</a:t>
            </a:r>
          </a:p>
          <a:p>
            <a:r>
              <a:t>未命中时调用 StrategyGetBuffer(3159) 按时钟/freelist 策略挑一个 victim 槽位; 如果这个 victim 当前是脏页, 必须先 FlushBuffer(5176) 把它的旧内容写回磁盘, 腾干净后才能复用。</a:t>
            </a:r>
          </a:p>
          <a:p>
            <a:r>
              <a:t>腾好槽位后, ReadBuffer_common 调用 smgrread(2141), 经 SMGR 函数表落到普通表的 mdread (或段页式的 segment 读), 把目标块从磁盘装进缓冲页, 最后返回 Buffer 句柄给访问方法层。</a:t>
            </a:r>
          </a:p>
          <a:p>
            <a:r>
              <a:t>写路径与之对称: 上层改完页调用 MarkBufferDirty 置脏, 不立即落盘, 而由后台 BgWriter/pagewriter 或检查点异步 FlushBuffer; 落盘前 WAL 必须先写, 这就是 WAL 旁路保证崩溃可恢复的原因。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InitBufferPool 在共享内存初始化阶段(postmaster 或单机后端)只调用一次。它先用 ShmemInitStruct 申请 BufferDescriptors 数组，长度 TOTAL_BUFFER_NUM 个 BufferDescPadded，并做 CACHELINEALIGN 缓存行对齐以降低并发争用。随后申请 BufferBlocks，大小为 (TOTAL_BUFFER_NUM - NVM_BUFFER_NUM) * BLCKSZ，即每个普通缓冲页占 8KB。两者按下标对齐：第 i 个 BufferDesc 描述 BufferBlocks 中第 i 个数据块。结构体定义见 buf_internals.h:215 BufferDesc(含 tag、state 原子量、buf_id、content_lock 等) 和 buf_internals.h:98 BufferTag。BufferTag 内嵌 RelFileNode rnode(spcNode 表空间/dbNode 库/relNode 关系) 加 forkNum、blockNum，正是后续哈希表的查找键。这里 NBuffers 由 GUC shared_buffers 换算而来，是整个缓冲管理的容量基准。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BufferAlloc 是共享缓冲池的核心入口。先用 INIT_BUFFERTAG 由 (rnode, forkNum, blockNum) 构造 new_tag，再 BufTableHashCode 算出哈希值并据此选定分区锁。retry 标签处调用 BufTableLookup 在共享哈希表中查找：若返回 buf_id&gt;=0 即命中，GetBufferDescriptor 取出描述符、PinBuffer 钉住防止被淘汰，置 *found=TRUE 后返回，避免磁盘 I/O。未命中时进入 for 循环用 StrategyGetBuffer 选一个淘汰受害页；若受害页带 BM_DIRTY 脏标记，需先把它写回(FlushBuffer，此处仍受 double_write 控制，dw_enabled() 为真时走 first_version_dw_single_flush 双写)。腾出后用 BufTableInsert 把 new_tag 映射到该 buf_id；若此刻发现别人已插入同一 tag(返回值&gt;=0)，则放弃本缓冲、按命中处理。BufTableLookup(buf_table.cpp:86) 实际封装 buf_hash_operate&lt;HASH_FIND&gt;，未找到返回 -1。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这是一次缓冲读的完整路径：ReadBuffer 是面向上层(MAIN_FORKNUM、RBM_NORMAL、默认策略)的简写入口，经 ReadBufferExtended 汇入 ReadBuffer_common，由它统一处理本地/共享缓冲、扩展页(P_NEW) 等情况，并调用 BufferAlloc(bufmgr.cpp:2470 处) 完成分配。BufferAlloc 先 BufTableLookup 查哈希表：命中则置 *hit=true 直接返回，省去 I/O；未命中走 StrategyGetBuffer 选受害页，脏页经 FlushBuffer 写回，再 BufTableInsert 登记新 tag。最终在 ReadBuffer_common_ReadBlock(bufmgr.cpp:2141) 调 smgrread(smgr, forkNum, blockNum, bufBlock) 经存储管理器从磁盘把 8KB 页读入缓冲块。运维侧：GaussDB 文档以告警 ALM-2001050001 监控缓冲池命中率偏低；此外开源 openGauss 确有列存专用缓冲 cstore_buffers(独立于行存 shared_buffers)。注意"去双写"在开源版被夸大——上图 FlushBuffer 仍受 dw_enabled() 双写保护，并非已移除。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这页讲缓冲池满时如何选受害页淘汰。入口 StrategyGetBuffer 先判断是否带 BufferAccessStrategy 策略对象：顺序扫描、VACUUM、批量写这类会污染缓存的操作，用 GetAccessStrategy(freelist.cpp:466) 申请一个小的环形缓冲(ring)，让它们只在自己的 ring 内循环复用少量页，避免冲刷整个 shared_buffers；GetBufferFromRing(:544) 就是从 ring 当前槽取页。</a:t>
            </a:r>
          </a:p>
          <a:p>
            <a:r>
              <a:t>普通分配(strategy==NULL)或 ring 取不到页时，进入经典的 clock-sweep 时钟扫描：ClockSweepTick 把时钟指针前进一格，retryLockBufHdr 自旋取该页头锁；若 refcount==0（无人 pin）且不是元数据页、且非脏或后台可刷脏，则命中为可淘汰页，返回前若带策略再 AddBufferToRing 把它登记进环。源码真实逻辑里每次扫描会递减 usage_count（在 ClockSweepTick 内），usage_count 降为 0 才算冷页被淘汰——这就是"时钟"的本质：给每页第二次机会。</a:t>
            </a:r>
          </a:p>
          <a:p>
            <a:r>
              <a:t>补充：openGauss 在标准 clock-sweep 之上还叠加了增量检查点的 candidate list（get_buf_from_candidate_list），由后台 pagewriter 预先挑出可淘汰页，这是相对社区 PostgreSQL 的增强，但核心淘汰判据仍是 refcount 与 usage_count。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这页讲页引用计数如何在并发下保持无锁高效。每个 BufferDesc 把 refcount、usage_count 和所有标志位压进一个 64 位 state（见 buf_internals.h:42-73）：低 32 位是 refcount（BUF_STATE_GET_REFCOUNT 直接取低 32 位），bits50-53 是 usage_count（BUF_USAGECOUNT_SHIFT=18+32），更高位是 BM_LOCKED(位54)、BM_DIRTY(位55)、BM_VALID(位56)、BM_IO_IN_PROGRESS(位58) 等标志。把这些塞进一个原子字，是为了一次 CAS 同时读改多个字段，避免每次 pin/unpin 都抢头锁自旋。</a:t>
            </a:r>
          </a:p>
          <a:p>
            <a:r>
              <a:t>PinBuffer 的逻辑：若本线程私有引用表里没有该页，先用 __sync_add_and_fetch(&amp;buf-&gt;state,1) 原子把 refcount 加 1（refcount&gt;0 即"钉住"该页，clock-sweep 不会选它做受害者）。若发现 BM_LOCKED 已被别人置位（有人正持头锁改状态），就回退这次 +1 并 WaitBufHdrUnlocked 等待后重试。随后在 while 中用 pg_atomic_compare_exchange_u64 把 usage_count 抬高一档（封顶 BM_MAX_USAGE_COUNT），让热页更难被淘汰；result 取自 BM_VALID 位，告诉调用方页数据是否有效。</a:t>
            </a:r>
          </a:p>
          <a:p>
            <a:r>
              <a:t>对照：UnpinBuffer(bufmgr.cpp:3963) 反向用 __sync_add_and_fetch(&amp;buf-&gt;state,-1) 原子减 refcount，减到 0 才真正释放、并处理 BM_PIN_COUNT_WAITER 清理等待者。当确实需要独占修改头部状态时，走 LockBufHdr(bufmgr.cpp:7381)：用 pg_atomic_fetch_or_u64 自旋把 BM_LOCKED 置 1（CAS 风格），拿到后才能成块改写 state，UnlockBufHdr 再清位释放。这套"原子 CAS 优先、头锁兜底"的设计是缓冲管理高并发的关键。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FlushBuffer 是把一个脏页真正写到磁盘的统一出口。第 5196 行先用 StartBufferIO 抢到该 buffer 的 io_in_progress 状态，如果别人已经先刷了它就直接 return，避免重复写。注意写盘只需要页面的"共享内容锁"——因为别的会话此刻可能仍在改 hint bit，所以做 checksum 时会把页拷一份到私有内存（PageSetChecksumCopy）。</a:t>
            </a:r>
          </a:p>
          <a:p>
            <a:r>
              <a:t>第 5234 行的 XLogWaitFlush 是 WAL 铁律的落地：数据页落盘前，必须先把描述这次修改的 redo 日志刷到磁盘（page LSN 之前的日志），否则崩溃后无法重放。</a:t>
            </a:r>
          </a:p>
          <a:p>
            <a:r>
              <a:t>真正的写动作在 5333 行 smgrwrite，经存储管理器写入数据文件；skipFsync 决定是否把 fsync 推迟交给后续 checkpoint 统一做（提升吞吐）。段页式表走的是上面的 seg_physical_write 分支，不是这里。</a:t>
            </a:r>
          </a:p>
          <a:p>
            <a:r>
              <a:t>这个函数被 SyncOneBuffer(bufmgr.cpp:4703) 调用，而 SyncOneBuffer 同时被后台写线程 bgwriter 与检查点/pagewriter 共用——同一段刷盘逻辑，三条上游路径复用。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脏页怎么来的：业务线程改页时调 MarkBufferDirty 置 BM_DIRTY，并把 buffer 挂进脏页队列。清理它们有两条后台路径。第一条是 bgwriter——BgBufferSync(bufmgr.cpp:4296) 跟着 freelist 的时钟指针顺扫，对可复用脏页调 SyncOneBuffer(第 4544 行) 预先写干净，让前台分配 buffer 时少等。第二条是增量检查点：ckpt_pagewriter_main(pagewriter.cpp:1763) 主循环 -&gt; ckpt_pagewriter_main_thread_flush_dirty_page(pagewriter.cpp:758) 排序脏页并唤醒子线程，子线程成批刷盘。</a:t>
            </a:r>
          </a:p>
          <a:p>
            <a:r>
              <a:t>关键纠偏（文档 vs 开源）：宣传里的"去双写/double-write 消除"被夸大。开源 6.0.0 这里 dw_perform_batch_flush 仍是先 dw_copy_page 把整批脏页拷进 double-write 文件、dw_batch_flush 落盘，之后才逐页 FlushBuffer 写回数据文件——经典双写防"页撕裂"。是否启用由 dw_enabled() 即 GUC 控制；段页式表另有 seg_dw_single_flush。所谓"去双写"实为 ADIO 适配路径（GUC enable_adio_function 开启），是新增适配而非移除双写。不能把开源 openGauss 等同于 GaussDB 商业版。</a:t>
            </a:r>
          </a:p>
          <a:p>
            <a:r>
              <a:t>观测视图（文档侧）：BGWRITER_STAT 看后台写吞吐、GLOBAL_CKPT_STATUS 看检查点进度、GLOBAL_DOUBLE_WRITE_STATUS 看双写文件使用情况。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临时表（unlogged/temp）只在单个会话内可见，没必要进共享缓冲池。ReadBuffer_common 判断 relpersistence == RELPERSISTENCE_TEMP 时改走 LocalBufferAlloc，命中与淘汰都在会话私有结构里完成。</a:t>
            </a:r>
          </a:p>
          <a:p>
            <a:r>
              <a:t>第 156 行先查会话私有哈希 LocalBufHash；命中就等价于 PinBuffer：bump usagecount、记 LocalRefCount，直接返回（第 190 行）。注意全程只用普通读写，没有 LockBufHdr/原子 CAS 那套共享池的并发保护——因为本地缓存天然无并发，省掉锁开销是它最大的特点。</a:t>
            </a:r>
          </a:p>
          <a:p>
            <a:r>
              <a:t>未命中时进入第 203 行的本地时钟扫描（clock sweep）：从 nextFreeLocalBuf 起循环，usagecount&gt;0 就减一继续，归零的即可复用。若选中的旧 buffer 仍是 BM_DIRTY，会先 LocalBufferWrite 写回再复用（第 232-244 行）。</a:t>
            </a:r>
          </a:p>
          <a:p>
            <a:r>
              <a:t>对应的置脏入口是 MarkLocalBufferDirty(localbuf.cpp:300)：第 318 行用 pg_atomic_fetch_or_u64 给 state 打上 BM_DIRTY，并按需累加本地脏页统计——同样没有共享池的那套锁路径。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 openGauss 的系统目录(catalog)三级缓存。SearchSysCache(syscache.cpp:959) 是统一入口，按 cacheId 取到对应的 CatCache 后转调 SearchCatCache(catcache.cpp:1231)，再进 SearchCatCacheInternal 做真正工作。</a:t>
            </a:r>
          </a:p>
          <a:p>
            <a:r>
              <a:t>快路径很短：先用 cc_hashfunc 算 hashValue，HASH_INDEX 定位到某个哈希桶 cc_bucket[hashIndex]，沿该桶的双向链表(Dllist)逐项比较 hash_value 与 fastequal 键。命中后用 DLMoveToFront 把该项挪到链头，形成 LRU，让热点元组后续查得更快；正项 refcount++ 返回元组指针，负项(negative)直接返回 NULL —— 负缓存避免对不存在的 key 反复扫表。</a:t>
            </a:r>
          </a:p>
          <a:p>
            <a:r>
              <a:t>整桶扫完没命中，才调 SearchCatCacheMiss(catcache.cpp:1579) 这条慢路径：heap_open 打开真实系统表，systable_beginscan/getnext 走索引或堆扫描取一行，再 CatalogCacheCreateEntry 建缓存项(找不到则建负项)。把慢路径单独拆出来是为了让快路径尽量小、避免被内联拖累。</a:t>
            </a:r>
          </a:p>
          <a:p>
            <a:r>
              <a:t>表级别则由 RelationIdGetRelation(relcache.cpp:3353) 负责：先 RelationIdCacheLookup 查 RelCache 哈希表，命中即增引用计数返回；未命中调 RelationBuildDesc(relcache.cpp:2243) 从 pg_class/pg_attribute 等目录重建整个 Relation 描述符。CatCache 缓存"行"，RelCache 缓存"表结构"，二者互相依赖、共同构成元数据访问的基础。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这一页讲准备语句(prepared statement)/PBE 的执行计划缓存。一条语句的计划缓存对象 CachedPlanSource 经三步建立：CreateCachedPlan(plancache.cpp:192) 用 raw parse tree 建壳，CompleteCachedPlan(plancache.cpp:443) 填入 querytree、参数类型与游标选项完成定型，之后每次执行调 GetCachedPlan 取可用计划。</a:t>
            </a:r>
          </a:p>
          <a:p>
            <a:r>
              <a:t>GetCachedPlan 先 RevalidateCachedQuery：若期间发生 DDL/失效，会重新分析重写并补齐 parse-time 锁，保证 querytree 仍然有效。然后 ChooseCustomPlan 基于通用计划估算成本与定制计划历史成本，决定本次用 generic plan 还是 custom plan —— 这是 openGauss 对带参语句"一次规划多次执行"与"按实参定制"之间的权衡。</a:t>
            </a:r>
          </a:p>
          <a:p>
            <a:r>
              <a:t>走通用计划时，CheckCachedPlan 验证已缓存的 plansource-&gt;gplan 是否仍有效：有效就直接复用，并用 UniqueSQLStatCountSoftParse(1) 记一次软解析(soft parse)，省掉重新规划开销；无效则 ReleaseGenericPlan 丢弃旧计划，BuildCachedPlanInTransientContext 在临时上下文重建，挂回 gplan 并更新 generic_cost。</a:t>
            </a:r>
          </a:p>
          <a:p>
            <a:r>
              <a:t>customplan 分支则用 boundParams 实参构建定制计划，挂到 plansource-&gt;cplan，并累计 total_custom_cost / num_custom_plans 供下次 ChooseCustomPlan 决策。最后统一把 plan-&gt;refcount++ 并按 useResOwner 登记到 ResourceOwner，确保引用计数与资源释放正确。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 openGauss 区别于原生 PostgreSQL 的两个跨会话共享缓存。原生 PG 的 SysCache/RelCache/PlanCache 都是每会话(进程)各一份，连接越多元数据副本越多、内存浪费越大。openGauss 引入 GSC(Global SysCache) 与 GPC(Global Plan Cache)，把只读、可共享的部分提升到实例(进程组)级别。</a:t>
            </a:r>
          </a:p>
          <a:p>
            <a:r>
              <a:t>SysCache 侧分两层：每会话有 LocalSysCache(LSC，含 systabcache/tabdefcache，对应前面 SearchSysCache、RelationIdGetRelation 里 EnableLocalSysCache() 为真的分支)；其后是全局三级结构 GlobalSysDBCache(knl_globalsysdbcache.h:61) -&gt; GlobalSysTabCache(knl_globalsystabcache.h:40) -&gt; GlobalSysTupCache(knl_globalsystupcache.h:241)，分别按数据库、按表、按元组组织共享内容。会话本地未命中时回源到全局层，命中即多会话共享同一份目录元组。</a:t>
            </a:r>
          </a:p>
          <a:p>
            <a:r>
              <a:t>Plan 侧由 GlobalPlanCache(globalplancache.h:41) 管理：Fetch 按 query 文本+参数在全局哈希表里找已编译的 CachedPlanSource 复用，TryStore(globalplancache.h:57) 把本会话新建的可共享计划存入全局表，让其它会话省去重复硬解析。</a:t>
            </a:r>
          </a:p>
          <a:p>
            <a:r>
              <a:t>两者分别由 GUC 控制：enable_global_syscache(guc.cpp:1784) 默认 on，enable_global_plancache(guc.cpp:1743) 默认 off。</a:t>
            </a:r>
          </a:p>
          <a:p>
            <a:r>
              <a:t>文档 vs 开源差异(必须说明)：商业版 GaussDB 宣传的"Global PL/SQL Cache"覆盖面更广，但开源 openGauss 6.0.0 中能找到的全局缓存仅限此处的 GSC/GPC，PL/SQL 侧只有 src/common/pl/plpgsql/src/pl_global_package_runtime_cache.cpp 这一处 package 运行时缓存，并不等于文档描述的完整 Global PL/SQL Cache 能力。讲解时不应把开源 GSC/GPC 直接等同于 GaussDB 商业版全部能力。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这页讲 SMGR 层的核心抽象。f_smgr 是一张函数指针表（vtable），每个介质实现填一行；smgrsw[] 把它们静态登记成数组。上层（如 BufferAlloc/FlushBuffer）只调 smgrread/smgrwrite，内部用 reln-&gt;smgr_which 作下标取出对应实现，例如 (*(smgrsw[reln-&gt;smgr_which].smgr_read))(...)，这就是运行时多态。注意源码真实下标：0=MD 经典单文件，1=undo file，2=segment-page 段页式，3=extreme-rto standby read——任务描述把段页式写成 index1 是简化，按源码应是 index2（宏 SEGMENT_MANAGER=2）。SMgrRelationData(smgr.h:48) 是每个物理关系的句柄，smgr_rnode 作哈希键，md_fd 给 MD 用、seg_desc/seg_space 给段页式用，smgr_which 决定走哪一行。smgropen 第一次访问时建哈希表并 HASH_ENTER 插入条目，并不真正打开文件，延迟到读写时再 _mdfd_getseg。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这页讲最经典的介质层。MD 把一个 relation fork 拆成多个固定大小段文件（RELSEG_SIZE，默认 1GB / BLCKSZ 块），用 _MdfdVec(smgr.h:108) 单链表串起来：mdfd_vfd 是 fd.c 虚拟文件描述符，mdfd_segno 段号，mdfd_chain 指向下一段。mdwrite 的关键两步：先 _mdfd_getseg 用 blocknum 算出该块落在哪一段并返回对应 _MdfdVec（EXTENSION_FAIL 表示越界即报错、写不扩段）；再算段内偏移 seekpos = BLCKSZ * (blocknum % RELSEG_SIZE)，最后 FilePWrite 定位写入。压缩主 fork 走 CfsWritePage 分支（此处省略）。mdwrite 只更新 EOF 之前已存在的块，扩展要用 mdextend；它不保证立即落盘，由后续 checkpoint/fsync 保证持久性。Assert 保证偏移不越段边界。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这页讲段页式读路径。和 MD「每关系独占文件」不同，段页式把同表空间多关系塞进表空间级物理大文件（按 1/8/128/...块的 extent 分级），逻辑块号必须先映射成物理块号。seg_read 流程：read_head_buffer 把该 fork 的 SegmentHead 读进共享缓冲（seg_desc[forknum]-&gt;head_blocknum 记录段头位置）；校验 blocknum &lt; seg_head-&gt;nblocks；seg_logic_to_physic_mapping 通过段头里的多级 BMT 把逻辑块号翻译成物理 loc(extent_size, blocknum)；再 spc_read_block 按 EXTENT_TYPE_TO_GROUPID 选中 SegSpace-&gt;extent_group[egid][forknum]，调 df_pread_block 从对应 SegLogicFile 读出。读完 PageIsVerified 校验 CRC，决定返回 OK 还是 CRC_ERROR；写路径 seg_write(:1580) 对称，末尾 spc_write_block。文档侧可用 GS_SEG_* 系统视图（如 gs_seg_spc/segment 一类）观察段页式表空间占用。差异提醒（文档 vs 开源）：商业版宣传的「去双写」在开源 6.0.0 并不成立——段页式刷脏仍会调用 seg_dw_single_flush（受 dw_enabled() 控制），ADIO 仅由 GUC enable_adio_function 适配而非移除双写；不要把开源 openGauss 段页式等同于 GaussDB 商业版能力。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这一页讲页面的物理布局和两个基础操作。PageInit 把整页清零, 然后把页面切成上下两段空闲指针: pd_lower 指向页头之后线指针数组的末端(空闲空间起点), pd_upper 指向元组区的顶端(空闲空间终点), pd_special 指向页尾 special 区起点。</a:t>
            </a:r>
          </a:p>
          <a:p>
            <a:r>
              <a:t>注意 isHeap 分支: 堆页用 SizeOfHeapPageHeaderData, 因为 HeapPageHeaderData 比通用 PageHeaderData 多了 pd_xid_base 和 pd_multi_base 两个 64 位字段(bufpage.h:162), 这是 openGauss 用页内 base + 32 位短 XID 拼出 64 位事务号的关键, 解决了 PostgreSQL 32 位 XID 回卷问题。</a:t>
            </a:r>
          </a:p>
          <a:p>
            <a:r>
              <a:t>插入数据时, PageAddItem(redo_bufpage.cpp:720) 先校验 pd_lower/pd_upper/pd_special 没被写坏, 再挑一个 offset, 把元组拷到 pd_upper 之下、把 ItemId 写进 pd_linp 数组, 即线指针自顶向下增长、元组自底向上增长, 两头相遇即页满。每个 ItemId 是 ItemIdData(itemid.h:24), 用位域把偏移、状态、长度压进 4 字节: lp_off 和 lp_len 各 15 位, 所以页面最大只能到 32KB。</a:t>
            </a:r>
          </a:p>
          <a:p>
            <a:r>
              <a:t>关于 TOAST: 当字段超长放不进一页时, 标准做法是切片存到 TOAST 副表并在主元组留指针, 这是社区 PostgreSQL 既有能力。文档里的 Enhanced Toast 是 GaussDB 商业版宣传特性, 在开源 openGauss 6.0.0 源码中未找到实现, 讲解时不能把开源等同于商业版。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这一页讲插入数据时如何快速找到一个有足够空间的页, 避免全表扫。每张表有一个伴随的 FSM(Free Space Map), 它把每个堆块的可用空间量化成一个字节的 category 档位。</a:t>
            </a:r>
          </a:p>
          <a:p>
            <a:r>
              <a:t>查询路径: heap_insert 需要 spaceNeeded 字节, 调 GetPageWithFreeSpace。它先用 fsm_space_needed_to_cat 把字节数折成最低档位 min_cat, 再调 fsm_search 在 FSM 树里自顶向下走: 每个上层节点存的是其子树里的最大档位, 所以只要根节点的最大值 &gt;= min_cat 就一定能在下层找到候选块, 否则直接返回 InvalidBlockNumber 让上层去扩展关系。</a:t>
            </a:r>
          </a:p>
          <a:p>
            <a:r>
              <a:t>更新路径是反向的: 插入后某页剩余空间变了, RecordPageWithFreeSpace(125) 用 fsm_space_avail_to_cat 把剩余字节折成 new_cat, 通过 fsm_get_location 定位到该堆块对应的 FSM 字节(addr+slot), 写回底层。注意它把上层 minValue 传 0, 即只改底层不强制刷上层; 上层聚合值可能暂时偏旧, 新增空间要等 FreeSpaceMapVacuum(366) 自顶向下扫一遍(fsm_vacuum_page 从 g_fsm_root_address 开始)才对查找完全可见, 这是性能与一致性的折中。</a:t>
            </a:r>
          </a:p>
          <a:p>
            <a:r>
              <a:t>FSM 树是几层取决于 SlotsPerFSMPage: 8KB 块下每页约 4000 个槽, 满足三层树(FSM_TREE_DEPTH, freespace.h:65)。树的每个逻辑节点由 FSMAddress 寻址, 它只有两个字段 level(第几层)和 logpageno(该层内的页号), 把多层 FSM 抽象成可独立寻址的逻辑文件。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XLogInsertRecord 是把一条已组装好的 rdata 记录链写入 WAL 的统一入口。它本身不搬数据，只做"按平台与 GUC 选择插入策略"：在 aarch64 上，如果是日志切换记录(XLOG_SWITCH) 或没开 enable_xlog_insert_record_group，就走 single 模式逐条插入；否则走 group 模式，把多个后端的插入聚合，减少 insertpos_lck 自旋锁争用。x86 始终走 single。</a:t>
            </a:r>
          </a:p>
          <a:p>
            <a:r>
              <a:t>真正分配空间与 LSN 的是下游 ReserveXLogInsertLocation：它在锁内只做一句 CurrBytePos += size，把"可用字节位置"映射成物理 XLogRecPtr(即 LSN)，得到 StartPos/EndPos/PrevPtr，随后把记录拷贝进 WAL 缓冲页。这样持锁时间最短，是高并发写入的关键。</a:t>
            </a:r>
          </a:p>
          <a:p>
            <a:r>
              <a:t>结构 XLogRecord(xlog_basic.h:222) 是每条 WAL 记录的定长头：xl_tot_len 整条长度、xl_xid 事务号、xl_prev 指向上一条记录形成日志链、xl_info 标志位、xl_rmid 资源管理器(决定回放用哪套 redo)、xl_crc 校验码。WAL 物理上按段文件存放于 pg_xlog 目录，单段默认 16MB，写满即切换。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XLogFlushCore 是把 WAL 真正落盘的核心。它进入临界区后构造一个 WriteRqst，把 Write 和 Flush 目标都设为 writeRqstPtr，调用 XLogWrite(2640) 完成写文件并 fsync；XLogWrite 必须在持有 WALWriteLock 时调用(见函数头注释 Must be called with WALWriteLock held)。落盘后用 pg_memory_barrier 保证可见性，唤醒 walsender 把日志发往备机，并用原子写更新 flushResult、唤醒等待提交的代理线程，让它们检查最新已刷 LSN。</a:t>
            </a:r>
          </a:p>
          <a:p>
            <a:r>
              <a:t>无锁刷盘 self-flush 是 openGauss 的并发优化：XLogSelfFlushWithoutStatus(341 声明，3844 实现) 让插入线程在没有专职 walwriter、或一次拷贝内第二次命中起始页时，自己驱动刷盘并自旋等待 lastLRCFlushed 追平 prevLRC，避免全局写锁成为瓶颈。</a:t>
            </a:r>
          </a:p>
          <a:p>
            <a:r>
              <a:t>LRC(Log Record Counter) 是这套机制的串行号：定义在 Combined128(xlog_internal.h:239) 里，和 64 位 CurrBytePos 打包成 128 位，用 atomic_compare_and_swap_u128 一次性原子推进(见 ReserveXLogInsertLocation)。刷盘侧据 LRC 判断记录拷贝是否完成、顺序是否连续，从而在多线程下安全推进 flush 水位。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检查点把内存中的脏数据成批落盘，并在控制文件里记下一个 redo point，使崩溃恢复只需从该点向后重放 WAL，而非从头开始。入口 CreateCheckPoint(12069) 先获取 WAL 插入位置算出 redo 点并写下 checkpoint 记录；核心刷盘委托给 CheckPointGuts(12726)，它按顺序刷 CLOG、CSNLOG、MultiXact、Predicate、RelationMap、ReplicationSlots 等子系统，再调 CheckPointBuffers(4978)。</a:t>
            </a:r>
          </a:p>
          <a:p>
            <a:r>
              <a:t>CheckPointBuffers 根据是否增量检查点决定行为：非增量(USE_CKPT_THREAD_SYNC) 直接 BufferSync(4036) 刷全部脏页；增量且做全量检查点时，自身不刷页而是等待 pagewriter 线程刷够。BufferSync 扫描所有缓冲，对脏页打 BM_CHECKPOINT_NEEDED 标记后逐个 FlushBuffer，最终经 smgrwrite 分流：行存堆表走 mdwrite，段页式表走 seg_write。</a:t>
            </a:r>
          </a:p>
          <a:p>
            <a:r>
              <a:t>文档 vs 开源 提醒：本页 doc 侧补充的预写式日志 GUC(wal_level、fsync、full_page_writes、checkpoint_segments) 与"Parallel Page-based Redo for Ustore(基于页的并行回放)"属 GaussDB 文档/概念层表述，用于解释配置与回放加速；它们不改变上图这条开源真实调用链，回放并行能力的具体实现以源码为准，不应把文档能力直接等同于开源 openGauss 代码路径。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Astore（append-style heap）是 openGauss 兼容 PostgreSQL 的行存引擎。heap_insert 先用 heap_prepare_insert 填充元组头并按需 TOAST，再用 RelationGetBufferForTuple 找一个有空闲空间的页并钉住。进入临界区 START_CRIT_SECTION 后，RelationPutHeapTuple 把元组真正放进页内并写回 t_self（TID），MarkBufferDirty 把缓冲页标记为脏等待后台刷盘，最后构造 xl_heap_insert 并经 XLogBeginInsert/XLogInsert 写 WAL 保证崩溃可恢复。</a:t>
            </a:r>
          </a:p>
          <a:p>
            <a:r>
              <a:t>关键特征：Astore 更新不原地修改旧版本——heap_update（5025 行）尽量用 HOT 链在同页串联新旧版本，heap_delete（4485 行）只在旧元组上打删除标记。因此旧元组会留在页里成为“死元组”，要等 VACUUM 才能真正回收空间，这正是 Astore 易膨胀、依赖 autovacuum 的根因，也是与下一页 Ustore 原位更新的核心差异。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Ustore（in-place update store）是 openGauss 的原位更新引擎，目标是抑制 Astore 的膨胀。UHeapInsert 先 UHeapPageReserveTransactionSlot 在页内 TD（Transaction Directory）目录中预留一个事务槽——TD 槽数即 UHeapPageHeaderData.td_count（knl_upage.h:260）。然后 UHeapPrepareUndoInsert 预分配 undo 空间得到 urecPtr，把当前事务的 prevUrecptr 串进 undo 链。UHeapTupleHeaderSetTDSlot 让磁盘元组记录所属 TD 槽号，配合 UHeapTupleData（knl_utuple.h:168）——它通过 TD 槽而不是元组头里的 XID 来定位事务可见性信息，因此元组头更紧凑。</a:t>
            </a:r>
          </a:p>
          <a:p>
            <a:r>
              <a:t>RelationPutUTuple 原地写入元组，UHeapPageSetUndo 把 TD 槽指向 undo 记录，MarkBufferDirty 标脏。原位更新意味着 UPDATE 时新值直接覆盖旧值，旧版本被搬进 undo（见下一页），页内不再堆积死元组，从而显著降低膨胀、减轻对 VACUUM 的依赖。Ustore 是 openGauss 默认推荐的 OLTP 行存引擎。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Ustore 的多版本并发控制靠 undo 子系统实现，模块分布在 knl_uundoapi / knl_uundozone / knl_uundorecycle / knl_uundospace / knl_uundotxn / knl_uundoxlog 等文件中。更新路径上，UHeapUpdate 先 UHeapPrepareUndoUpdate 组织本次更新的 undo 记录，再由 UndoRecord::Prepare（knl_uundorecord.cpp:264）按 RecordSize 用 AdvanceUndoPtr 在 undo 空间里“预留”一段位置并返回 urp_，PrepareUndoMeta 登记元数据；随后 RelationPutUTuple 原地把新版本写回数据页、MarkBufferDirty 标脏、XLogInsert 落 WAL。旧版本被保存在 undo 里。</a:t>
            </a:r>
          </a:p>
          <a:p>
            <a:r>
              <a:t>读快照需要旧版本时，FetchUndoRecord（knl_uundorecord.cpp:524）按 blkno/offset/xid 沿 undo 链 LoadUndoRecord 逐条回溯，重建出某个历史快照对应的元组版本——这就是 Ustore 的版本重建。</a:t>
            </a:r>
          </a:p>
          <a:p>
            <a:r>
              <a:t>文档 vs 开源差异（务必标注）：所谓 RCR（Row Consistency Read）术语在开源 6.0.0 主要出现在 ubtree 索引层（如 UBTREE_OPAQUE_VERSION_RCR），uheap 代码本身并不含 “RCR” 字串，属文档用词，不要把它当作 uheap 源码概念。另外，对比 Astore：Astore 旧版本留在数据页、靠 VACUUM 异步回收（易膨胀）；Ustore 旧版本进 undo、由 undo recycle（knl_uundorecycle）按事务可见性回收，二者的空间回收机制本质不同。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这页把前面两大主题(缓冲管理 + 持久化存储)缝合成一条完整链路。以 Ustore 的一次 UPDATE 为例:UHeapUpdate(src/gausskernel/storage/access/ustore/knl_uheap.cpp)是访问方法入口, 先 Prepare undo 记录(旧版本回滚/MVCC), 再 RelationPutUTuple 把新元组写进共享缓冲区那一页, 然后 MarkBufferDirty 把该 buffer 描述符置上 BM_DIRTY 位。</a:t>
            </a:r>
          </a:p>
          <a:p>
            <a:r>
              <a:t>关键不变量是 WAL 先行:在解锁页面前必须先 XLogInsert 生成 redo 记录, 事务提交时 XLogFlush 强制把 WAL 刷到磁盘(返回客户端前 commit 已持久)。注意此刻数据页可能还停在内存里——这正是 WAL 的意义:用顺序写的日志换取数据页的延迟刷盘。</a:t>
            </a:r>
          </a:p>
          <a:p>
            <a:r>
              <a:t>真正把脏页写盘的是检查点:CreateCheckPoint 调 BufferSync 扫描脏页, 逐个 FlushBuffer, 经 smgrwrite 分派到 mdwrite(普通堆)或段页式 seg_write, 最后 FilePWrite 落到文件。崩溃恢复时从上一个检查点之后重放 WAL, 即可把丢失的脏页重建出来。讲解时强调:WAL 保证"已提交不丢", 检查点+刷脏页限制"恢复要重放多少", 二者配合而非替代。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这页是全场的"打假与对齐"表, 目的是防止把开源 openGauss 6.0.0 直接当成 GaussDB 商业版来讲。前 10 行都能在源码里找到对应文件/GUC, 我已逐一核对路径存在:Ustore、UBTree(RCR)、Undo、Global SysCache、Global Plan Cache、ADIO 开关、段页式、NUMA、cstore_buffers、MOT(编译可选)。</a:t>
            </a:r>
          </a:p>
          <a:p>
            <a:r>
              <a:t>最后三行是必须标红的差异点。Enhanced Toast 在开源 6.0.0 找不到实现, 开源只有标准 PostgreSQL 的 TOAST, 属 GaussDB 专有增强。所谓"去双写"被明显夸大:开源里 double_write 依旧存在, dw_enabled() 仍是开关, 段页式表落盘还会调 seg_dw_single_flush; ADIO 只是另一条由 enable_adio_function 控制的直接 IO 路径, 是适配而非移除双写。Global PL/SQL Cache 在开源里只覆盖 package 运行时缓存这一小块, 远窄于文档描述。讲到这三行时一定要口头点明"文档 vs 开源"的边界。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收尾页用三到五条把全程主线再串一遍。第一条复述缓冲管理:入口 ReadBuffer 经 BufferAlloc 查共享哈希表, 命中直接 pin, 未命中用时钟(clock-sweep)算法选淘汰页, 脏页要先 FlushBuffer; 状态机围绕 BM_DIRTY、pin count、usage count 运转。第二条复述持久化:WAL 先行保证已提交不丢, 检查点周期性把脏页经 smgr 写盘, mdwrite 走普通堆、seg_write 走段页式, double-write 防止半页写坏(torn page)。</a:t>
            </a:r>
          </a:p>
          <a:p>
            <a:r>
              <a:t>第三条是两主题的缝合点, 即上一张 UPDATE 流程图的文字版:改内存 + 写日志 -&gt; 提交只 flush 日志 -&gt; 检查点异步刷数据页 -&gt; 崩溃靠 WAL 重放。第四条再次强调保真度边界, 呼应对照表的三个商业增强差异, 避免听众把开源当商业版。最后一条给出可复现的引用坐标:具体 commit 号、源码根目录、以及文档版本章节, 方便课后按图索骥核对每一处 file:line。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GaussDB(openGauss 6.0.0) 持久化存储管理与缓存管理 源码讲解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11480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基于 openGauss 6.0.0 开源内核 (commit 00b0818b)</a:t>
            </a:r>
          </a:p>
          <a:p>
            <a:pPr algn="l"/>
            <a:r>
              <a:rPr sz="1800" b="0" i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对照 GaussDB V2.0-25.860.1 产品文档</a:t>
            </a:r>
          </a:p>
          <a:p>
            <a:pPr algn="l"/>
            <a:r>
              <a:rPr sz="1800" b="0" i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>源码精讲 · 函数级 · 中文讲解 / 代码保留英文</a:t>
            </a:r>
          </a:p>
          <a:p>
            <a:pPr algn="l"/>
            <a:r>
              <a:rPr sz="1800" b="0" i="0">
                <a:solidFill>
                  <a:srgbClr val="9FB2C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432304"/>
            <a:ext cx="109728" cy="713232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第一部分 总览: GaussDB 与 openGauss 关系 / 存储层全景架构 / 核心读路径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第二部分 缓存管理: 共享缓冲池 / clock-sweep 淘汰 / Pin 状态机 / 刷盘与双写 / SysCache / PlanCache / GSC·GPC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第三部分 持久化存储管理: SMGR 抽象 / MD 与段页式 / 页面与 FSM / WAL 与检查点 / Astore·Ustore·Undo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第四部分 端到端与保真度: 一次 UPDATE 全链路 / 文档 vs 开源对照表 / 总结与参考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GaussDB 与 openGauss 的关系与本讲范围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GaussDB 是华为商业闭源数据库; openGauss 是其对外开源的内核, 本讲一切源码均出自 openGauss 6.0.0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持久化存储管理: SMGR 存储抽象 / 段页式 segment / 页面 Page / FSM 空闲空间 / WAL 日志 / 检查点 checkpoint / Astore(堆) / Ustore(uheap+Undo)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缓存管理: 共享缓冲池 Buffer Pool / 淘汰策略 freelist / 脏页刷盘 pagewriter / SysCache 系统缓存 / PlanCache 计划缓存 / GSC 全局系统缓存与 GPC 全局计划缓存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文档 vs 开源 保真度声明 (贯穿全讲, 见 CAVEATS): Enhanced Toast 在开源 6.0.0 未找到实现, 属 GaussDB 专有, 开源仅标准 PostgreSQL TOAST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"去双写" 被夸大: 开源仍保留 double_write, 段页式表仍调用 seg_dw_single_flush(受 dw_enabled() 控制); ADIO 由 GUC enable_adio_function 开启, 是适配而非移除双写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Global PL/SQL Cache 在开源更窄: 仅 pl_global_package_runtime_cache.cpp 的 package 运行时缓存; RCR 主要见于 ubtree(UBTREE_OPAQUE_VERSION_RCR), uheap 代码本身无 "RCR" 字串, 属文档用词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存储层全景架构 (自顶向下分层)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89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访问方法层: heap 为传统 Astore, uheap 为 Inplace-Update 的 Ustore, 对上层提供元组读写, 不直接碰磁盘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缓存层: 所有页面读写先经 Buffer Pool, bufmgr 管命中/装入, freelist 管淘汰候选, 是性能关键路径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1470172"/>
            <a:ext cx="9784080" cy="698967"/>
          </a:xfrm>
          <a:prstGeom prst="round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SQL 执行 / 访问方法层 (heap=Astore, uheap=Ustore)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366284"/>
            <a:ext cx="9784080" cy="698967"/>
          </a:xfrm>
          <a:prstGeom prst="round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缓存层 Buffer Pool (bufmgr.cpp, freelist.cpp)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3262396"/>
            <a:ext cx="9784080" cy="698967"/>
          </a:xfrm>
          <a:prstGeom prst="round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存储管理抽象 SMGR (smgr.cpp 经 md.cpp 或 segment/)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4158508"/>
            <a:ext cx="9784080" cy="698967"/>
          </a:xfrm>
          <a:prstGeom prst="round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文件系统 / 磁盘 (数据文件 + CFS 压缩)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5054620"/>
            <a:ext cx="9784080" cy="698967"/>
          </a:xfrm>
          <a:prstGeom prst="roundRect">
            <a:avLst/>
          </a:prstGeom>
          <a:solidFill>
            <a:srgbClr val="0E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旁路: WAL 日志 (xlog) / Undo / 检查点刷盘 (pagewriter)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核心读路径数据流 (自顶向下)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89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读主线: ReadBuffer -&gt; ReadBufferExtended -&gt; ReadBuffer_common -&gt; BufferAlloc, 先在共享哈希表查页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命中 (BufTableLookup 返回有效 buf_id): 直接 pin 住返回, 计入 shared_blks_hit, 不碰磁盘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98064" y="1466812"/>
            <a:ext cx="6583680" cy="369646"/>
          </a:xfrm>
          <a:prstGeom prst="roundRect">
            <a:avLst/>
          </a:prstGeom>
          <a:solidFill>
            <a:srgbClr val="3B82C4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ReadBuffer (bufmgr.cpp:1661)</a:t>
            </a:r>
          </a:p>
        </p:txBody>
      </p:sp>
      <p:sp>
        <p:nvSpPr>
          <p:cNvPr id="6" name="Down Arrow 5"/>
          <p:cNvSpPr/>
          <p:nvPr/>
        </p:nvSpPr>
        <p:spPr>
          <a:xfrm>
            <a:off x="5980176" y="1836458"/>
            <a:ext cx="219456" cy="190424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98064" y="2026882"/>
            <a:ext cx="6583680" cy="369646"/>
          </a:xfrm>
          <a:prstGeom prst="roundRect">
            <a:avLst/>
          </a:prstGeom>
          <a:solidFill>
            <a:srgbClr val="3B82C4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ReadBuffer_common (bufmgr.cpp:2568)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80176" y="2396528"/>
            <a:ext cx="219456" cy="190424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98064" y="2586952"/>
            <a:ext cx="6583680" cy="369646"/>
          </a:xfrm>
          <a:prstGeom prst="roundRect">
            <a:avLst/>
          </a:prstGeom>
          <a:solidFill>
            <a:srgbClr val="3B82C4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BufferAlloc (bufmgr.cpp:3047)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80176" y="2956598"/>
            <a:ext cx="219456" cy="190424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98064" y="3147022"/>
            <a:ext cx="6583680" cy="369646"/>
          </a:xfrm>
          <a:prstGeom prst="roundRect">
            <a:avLst/>
          </a:prstGeom>
          <a:solidFill>
            <a:srgbClr val="3B82C4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BufTableLookup 命中? (bufmgr.cpp:3078)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80176" y="3516668"/>
            <a:ext cx="219456" cy="190424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98064" y="3707092"/>
            <a:ext cx="6583680" cy="369646"/>
          </a:xfrm>
          <a:prstGeom prst="roundRect">
            <a:avLst/>
          </a:prstGeom>
          <a:solidFill>
            <a:srgbClr val="0E7A72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未命中: StrategyGetBuffer 选 victim 淘汰 (bufmgr.cpp:3159)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80176" y="4076738"/>
            <a:ext cx="219456" cy="190424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98064" y="4267162"/>
            <a:ext cx="6583680" cy="369646"/>
          </a:xfrm>
          <a:prstGeom prst="roundRect">
            <a:avLst/>
          </a:prstGeom>
          <a:solidFill>
            <a:srgbClr val="0E7A72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victim 为脏页: FlushBuffer 回写 (bufmgr.cpp:5176)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980176" y="4636808"/>
            <a:ext cx="219456" cy="190424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98064" y="4827232"/>
            <a:ext cx="6583680" cy="369646"/>
          </a:xfrm>
          <a:prstGeom prst="roundRect">
            <a:avLst/>
          </a:prstGeom>
          <a:solidFill>
            <a:srgbClr val="3B82C4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smgrread 到 mdread 从磁盘装入 (bufmgr.cpp:2141)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980176" y="5196878"/>
            <a:ext cx="219456" cy="190424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98064" y="5387302"/>
            <a:ext cx="6583680" cy="369646"/>
          </a:xfrm>
          <a:prstGeom prst="roundRect">
            <a:avLst/>
          </a:prstGeom>
          <a:solidFill>
            <a:srgbClr val="3B82C4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返回 Buffer 给上层</a:t>
            </a:r>
          </a:p>
        </p:txBody>
      </p:sp>
      <p:sp>
        <p:nvSpPr>
          <p:cNvPr id="20" name="Oval 19"/>
          <p:cNvSpPr/>
          <p:nvPr/>
        </p:nvSpPr>
        <p:spPr>
          <a:xfrm>
            <a:off x="2336978" y="1466812"/>
            <a:ext cx="369646" cy="369646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1" name="Oval 20"/>
          <p:cNvSpPr/>
          <p:nvPr/>
        </p:nvSpPr>
        <p:spPr>
          <a:xfrm>
            <a:off x="2336978" y="2026882"/>
            <a:ext cx="369646" cy="369646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2" name="Oval 21"/>
          <p:cNvSpPr/>
          <p:nvPr/>
        </p:nvSpPr>
        <p:spPr>
          <a:xfrm>
            <a:off x="2336978" y="2586952"/>
            <a:ext cx="369646" cy="369646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3" name="Oval 22"/>
          <p:cNvSpPr/>
          <p:nvPr/>
        </p:nvSpPr>
        <p:spPr>
          <a:xfrm>
            <a:off x="2336978" y="3147022"/>
            <a:ext cx="369646" cy="369646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2336978" y="3707092"/>
            <a:ext cx="369646" cy="369646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5" name="Oval 24"/>
          <p:cNvSpPr/>
          <p:nvPr/>
        </p:nvSpPr>
        <p:spPr>
          <a:xfrm>
            <a:off x="2336978" y="4267162"/>
            <a:ext cx="369646" cy="369646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26" name="Oval 25"/>
          <p:cNvSpPr/>
          <p:nvPr/>
        </p:nvSpPr>
        <p:spPr>
          <a:xfrm>
            <a:off x="2336978" y="4827232"/>
            <a:ext cx="369646" cy="369646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2336978" y="5387302"/>
            <a:ext cx="369646" cy="369646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共享缓冲池布局与初始化 InitBufferPool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shared_buffers (GUC) 决定 NBuffers/TOTAL_BUFFER_NUM，即缓冲页总数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共享内存中并排两块：BufferDescriptors 数组(元信息) 与 BufferBlocks(8KB 数据页)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BufferDesc 由 buf_id 与 BufferBlocks 中第 buf_id 个 BLCKSZ 块一一对应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BufferTag 字段：rnode(spcNode/dbNode/relNode) + forkNum + blockNum，作为哈希键唯一标识一个磁盘页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34056"/>
            <a:ext cx="10789920" cy="274320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txBody>
          <a:bodyPr wrap="none" anchor="ctr" tIns="12700" bIns="12700" lIns="101600" rIns="76200">
            <a:spAutoFit/>
          </a:bodyPr>
          <a:lstStyle/>
          <a:p>
            <a:pPr algn="l"/>
            <a:r>
              <a:rPr sz="1100" b="0" i="1">
                <a:solidFill>
                  <a:srgbClr val="2563A8"/>
                </a:solidFill>
                <a:latin typeface="Microsoft YaHei"/>
                <a:ea typeface="Microsoft YaHei"/>
                <a:cs typeface="Microsoft YaHei"/>
              </a:rPr>
              <a:t>src/gausskernel/storage/buffer/buf_init.cpp:76 InitBufferPool()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08376"/>
            <a:ext cx="10789920" cy="3392424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void InitBufferPool(void)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bool found_bufs = false;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bool found_descs = false;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t_thrd.storage_cxt.BufferDescriptors = (BufferDescPadded *)CACHELINEALIGN(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ShmemInitStruct("Buffer Descriptors",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                TOTAL_BUFFER_NUM * sizeof(BufferDescPadded) + PG_CACHE_LINE_SIZE,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                &amp;found_descs));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buffer_size = (TOTAL_BUFFER_NUM - NVM_BUFFER_NUM) * (Size)BLCKSZ;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t_thrd.storage_cxt.BufferBlocks =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(char *)ShmemInitStruct("Buffer Blocks", buffer_size, &amp;found_bufs);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2734056"/>
            <a:ext cx="768096" cy="274320"/>
          </a:xfrm>
          <a:prstGeom prst="rect">
            <a:avLst/>
          </a:prstGeom>
          <a:noFill/>
        </p:spPr>
        <p:txBody>
          <a:bodyPr wrap="none" anchor="ctr" tIns="12700" bIns="12700" lIns="0" rIns="101600">
            <a:spAutoFit/>
          </a:bodyPr>
          <a:lstStyle/>
          <a:p>
            <a:pPr algn="r"/>
            <a:r>
              <a:rPr sz="1000">
                <a:solidFill>
                  <a:srgbClr val="8C99A6"/>
                </a:solidFill>
                <a:latin typeface="Consolas"/>
              </a:rPr>
              <a:t>C++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92240"/>
            <a:ext cx="4572000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l"/>
            <a:r>
              <a:rPr sz="900">
                <a:solidFill>
                  <a:srgbClr val="9AA6B2"/>
                </a:solidFill>
                <a:latin typeface="Microsoft YaHei"/>
              </a:rPr>
              <a:t>第二部分 · 缓存管理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492240"/>
            <a:ext cx="4873752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ctr"/>
            <a:r>
              <a:rPr sz="900">
                <a:solidFill>
                  <a:srgbClr val="9AA6B2"/>
                </a:solidFill>
                <a:latin typeface="Microsoft YaHei"/>
              </a:rPr>
              <a:t>openGauss 6.0.0 · 源码讲解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92240"/>
            <a:ext cx="1298448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r"/>
            <a:r>
              <a:rPr sz="900">
                <a:solidFill>
                  <a:srgbClr val="9AA6B2"/>
                </a:solidFill>
                <a:latin typeface="Microsoft YaHei"/>
              </a:rPr>
              <a:t>06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缓冲区查找与分配 BufferAlloc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调用链：ReadBuffer(:1661) → ReadBufferExtended → ReadBuffer_common(:2568) → BufferAlloc(:3047)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命中：BufTableLookup 返回 buf_id&gt;=0，PinBuffer 后直接返回，置 *found=TRUE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未命中：StrategyGetBuffer 选淘汰页，脏页先 FlushBuffer，再 BufTableInsert 建立新映射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哈希查找入口 BufTableLookup 见 buf_table.cpp:86，内部走 buf_hash_operate&lt;HASH_FIND&gt;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34056"/>
            <a:ext cx="10789920" cy="274320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txBody>
          <a:bodyPr wrap="none" anchor="ctr" tIns="12700" bIns="12700" lIns="101600" rIns="76200">
            <a:spAutoFit/>
          </a:bodyPr>
          <a:lstStyle/>
          <a:p>
            <a:pPr algn="l"/>
            <a:r>
              <a:rPr sz="1100" b="0" i="1">
                <a:solidFill>
                  <a:srgbClr val="2563A8"/>
                </a:solidFill>
                <a:latin typeface="Microsoft YaHei"/>
                <a:ea typeface="Microsoft YaHei"/>
                <a:cs typeface="Microsoft YaHei"/>
              </a:rPr>
              <a:t>src/gausskernel/storage/buffer/bufmgr.cpp:3047 BufferAlloc()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08376"/>
            <a:ext cx="10789920" cy="3392424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INIT_BUFFERTAG(new_tag, rel_file_node, fork_num, block_num);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new_hash = BufTableHashCode(&amp;new_tag);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retry: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buf_id = BufTableLookup(&amp;new_tag, new_hash);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if (buf_id &gt;= 0) {                       /* hit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buf = GetBufferDescriptor(buf_id);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valid = PinBuffer(buf, strategy);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*found = TRUE;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return buf;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/* miss: select a victim buffer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buf = (BufferDesc *)StrategyGetBuffer(strategy, &amp;buf_state);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/* if (old_flags &amp; BM_DIRTY) FlushBuffer(buf, NULL);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buf_id = BufTableInsert(&amp;new_tag, new_hash, buf-&gt;buf_id);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2734056"/>
            <a:ext cx="768096" cy="274320"/>
          </a:xfrm>
          <a:prstGeom prst="rect">
            <a:avLst/>
          </a:prstGeom>
          <a:noFill/>
        </p:spPr>
        <p:txBody>
          <a:bodyPr wrap="none" anchor="ctr" tIns="12700" bIns="12700" lIns="0" rIns="101600">
            <a:spAutoFit/>
          </a:bodyPr>
          <a:lstStyle/>
          <a:p>
            <a:pPr algn="r"/>
            <a:r>
              <a:rPr sz="1000">
                <a:solidFill>
                  <a:srgbClr val="8C99A6"/>
                </a:solidFill>
                <a:latin typeface="Consolas"/>
              </a:rPr>
              <a:t>C++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92240"/>
            <a:ext cx="4572000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l"/>
            <a:r>
              <a:rPr sz="900">
                <a:solidFill>
                  <a:srgbClr val="9AA6B2"/>
                </a:solidFill>
                <a:latin typeface="Microsoft YaHei"/>
              </a:rPr>
              <a:t>第二部分 · 缓存管理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492240"/>
            <a:ext cx="4873752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ctr"/>
            <a:r>
              <a:rPr sz="900">
                <a:solidFill>
                  <a:srgbClr val="9AA6B2"/>
                </a:solidFill>
                <a:latin typeface="Microsoft YaHei"/>
              </a:rPr>
              <a:t>openGauss 6.0.0 · 源码讲解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92240"/>
            <a:ext cx="1298448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r"/>
            <a:r>
              <a:rPr sz="900">
                <a:solidFill>
                  <a:srgbClr val="9AA6B2"/>
                </a:solidFill>
                <a:latin typeface="Microsoft YaHei"/>
              </a:rPr>
              <a:t>07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读取调用链 ReadBuffer → smgrread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98064" y="1476527"/>
            <a:ext cx="6583680" cy="407365"/>
          </a:xfrm>
          <a:prstGeom prst="roundRect">
            <a:avLst/>
          </a:prstGeom>
          <a:solidFill>
            <a:srgbClr val="3B82C4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ReadBuffer (bufmgr.cpp:1661)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80176" y="1883892"/>
            <a:ext cx="219456" cy="209855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98064" y="2093747"/>
            <a:ext cx="6583680" cy="407365"/>
          </a:xfrm>
          <a:prstGeom prst="roundRect">
            <a:avLst/>
          </a:prstGeom>
          <a:solidFill>
            <a:srgbClr val="3B82C4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ReadBuffer_common (bufmgr.cpp:2568)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80176" y="2501112"/>
            <a:ext cx="219456" cy="209855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98064" y="2710967"/>
            <a:ext cx="6583680" cy="407365"/>
          </a:xfrm>
          <a:prstGeom prst="roundRect">
            <a:avLst/>
          </a:prstGeom>
          <a:solidFill>
            <a:srgbClr val="3B82C4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BufferAlloc (bufmgr.cpp:3047)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80176" y="3118332"/>
            <a:ext cx="219456" cy="209855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98064" y="3328187"/>
            <a:ext cx="6583680" cy="407365"/>
          </a:xfrm>
          <a:prstGeom prst="roundRect">
            <a:avLst/>
          </a:prstGeom>
          <a:solidFill>
            <a:srgbClr val="3B82C4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BufTableLookup (命中? buf_table.cpp:86)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80176" y="3735552"/>
            <a:ext cx="219456" cy="209855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98064" y="3945407"/>
            <a:ext cx="6583680" cy="407365"/>
          </a:xfrm>
          <a:prstGeom prst="roundRect">
            <a:avLst/>
          </a:prstGeom>
          <a:solidFill>
            <a:srgbClr val="0E7A72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(miss) StrategyGetBuffer 选淘汰页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80176" y="4352772"/>
            <a:ext cx="219456" cy="209855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98064" y="4562627"/>
            <a:ext cx="6583680" cy="407365"/>
          </a:xfrm>
          <a:prstGeom prst="roundRect">
            <a:avLst/>
          </a:prstGeom>
          <a:solidFill>
            <a:srgbClr val="0E7A72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(dirty) FlushBuffer 写回脏页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80176" y="4969992"/>
            <a:ext cx="219456" cy="209855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98064" y="5179847"/>
            <a:ext cx="6583680" cy="407365"/>
          </a:xfrm>
          <a:prstGeom prst="roundRect">
            <a:avLst/>
          </a:prstGeom>
          <a:solidFill>
            <a:srgbClr val="3B82C4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BufTableInsert 建立新映射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80176" y="5587212"/>
            <a:ext cx="219456" cy="209855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98064" y="5797067"/>
            <a:ext cx="6583680" cy="407365"/>
          </a:xfrm>
          <a:prstGeom prst="roundRect">
            <a:avLst/>
          </a:prstGeom>
          <a:solidFill>
            <a:srgbClr val="3B82C4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smgrread 从存储介质读入 8KB</a:t>
            </a:r>
          </a:p>
        </p:txBody>
      </p:sp>
      <p:sp>
        <p:nvSpPr>
          <p:cNvPr id="19" name="Oval 18"/>
          <p:cNvSpPr/>
          <p:nvPr/>
        </p:nvSpPr>
        <p:spPr>
          <a:xfrm>
            <a:off x="2299259" y="1476527"/>
            <a:ext cx="407365" cy="407365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0" name="Oval 19"/>
          <p:cNvSpPr/>
          <p:nvPr/>
        </p:nvSpPr>
        <p:spPr>
          <a:xfrm>
            <a:off x="2299259" y="2093747"/>
            <a:ext cx="407365" cy="407365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2299259" y="2710967"/>
            <a:ext cx="407365" cy="407365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2299259" y="3328187"/>
            <a:ext cx="407365" cy="407365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3" name="Oval 22"/>
          <p:cNvSpPr/>
          <p:nvPr/>
        </p:nvSpPr>
        <p:spPr>
          <a:xfrm>
            <a:off x="2299259" y="3945407"/>
            <a:ext cx="407365" cy="407365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4" name="Oval 23"/>
          <p:cNvSpPr/>
          <p:nvPr/>
        </p:nvSpPr>
        <p:spPr>
          <a:xfrm>
            <a:off x="2299259" y="4562627"/>
            <a:ext cx="407365" cy="407365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25" name="Oval 24"/>
          <p:cNvSpPr/>
          <p:nvPr/>
        </p:nvSpPr>
        <p:spPr>
          <a:xfrm>
            <a:off x="2299259" y="5179847"/>
            <a:ext cx="407365" cy="407365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  <p:sp>
        <p:nvSpPr>
          <p:cNvPr id="26" name="Oval 25"/>
          <p:cNvSpPr/>
          <p:nvPr/>
        </p:nvSpPr>
        <p:spPr>
          <a:xfrm>
            <a:off x="2299259" y="5797067"/>
            <a:ext cx="407365" cy="407365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6492240"/>
            <a:ext cx="4572000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l"/>
            <a:r>
              <a:rPr sz="900">
                <a:solidFill>
                  <a:srgbClr val="9AA6B2"/>
                </a:solidFill>
                <a:latin typeface="Microsoft YaHei"/>
              </a:rPr>
              <a:t>第二部分 · 缓存管理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6492240"/>
            <a:ext cx="4873752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ctr"/>
            <a:r>
              <a:rPr sz="900">
                <a:solidFill>
                  <a:srgbClr val="9AA6B2"/>
                </a:solidFill>
                <a:latin typeface="Microsoft YaHei"/>
              </a:rPr>
              <a:t>openGauss 6.0.0 · 源码讲解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62895" y="6492240"/>
            <a:ext cx="1298448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r"/>
            <a:r>
              <a:rPr sz="900">
                <a:solidFill>
                  <a:srgbClr val="9AA6B2"/>
                </a:solidFill>
                <a:latin typeface="Microsoft YaHei"/>
              </a:rPr>
              <a:t>08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替换淘汰 clock-sweep 与 BufferAccessStrategy 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调用路径：BufferAlloc -&gt; StrategyGetBuffer(freelist.cpp:180) -&gt; GetBufferFromRing(:544) 或时钟扫描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有策略对象先走环形缓冲；否则 ClockSweepTick 转动时钟指针扫描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时钟扫描中 retryLockBufHdr 取头锁，refcount==0 且非脏/可刷的页即淘汰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BAS_BULKREAD/BULKWRITE/VACUUM 等通过 GetAccessStrategy(:466) 取环，结构 BufferAccessStrategyData(bufmgr.h:93)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34056"/>
            <a:ext cx="10789920" cy="274320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txBody>
          <a:bodyPr wrap="none" anchor="ctr" tIns="12700" bIns="12700" lIns="101600" rIns="76200">
            <a:spAutoFit/>
          </a:bodyPr>
          <a:lstStyle/>
          <a:p>
            <a:pPr algn="l"/>
            <a:r>
              <a:rPr sz="1100" b="0" i="1">
                <a:solidFill>
                  <a:srgbClr val="2563A8"/>
                </a:solidFill>
                <a:latin typeface="Microsoft YaHei"/>
                <a:ea typeface="Microsoft YaHei"/>
                <a:cs typeface="Microsoft YaHei"/>
              </a:rPr>
              <a:t>src/gausskernel/storage/buffer/freelist.cpp:180 StrategyGetBuffer()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08376"/>
            <a:ext cx="10789920" cy="3392424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BufferDesc* StrategyGetBuffer(BufferAccessStrategy strategy, uint64* buf_state)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if (strategy != NULL)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buf = GetBufferFromRing(strategy, buf_state);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if (buf != NULL) { return buf;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/* ... wake bgwriter, count allocs, scan candidate list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retry: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try_counter = max_buffer_can_use;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for (;;)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buf = GetBufferDescriptor(ClockSweepTick(max_buffer_can_use));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if (!retryLockBufHdr(buf, &amp;local_buf_state)) { perform_delay(&amp;retry_lock_status); continue;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if (BUF_STATE_GET_REFCOUNT(local_buf_state) == 0 /* &amp;&amp; usable */)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    if (strategy != NULL) AddBufferToRing(strategy, buf);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    return buf;  /* Found a usable buffer */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2734056"/>
            <a:ext cx="768096" cy="274320"/>
          </a:xfrm>
          <a:prstGeom prst="rect">
            <a:avLst/>
          </a:prstGeom>
          <a:noFill/>
        </p:spPr>
        <p:txBody>
          <a:bodyPr wrap="none" anchor="ctr" tIns="12700" bIns="12700" lIns="0" rIns="101600">
            <a:spAutoFit/>
          </a:bodyPr>
          <a:lstStyle/>
          <a:p>
            <a:pPr algn="r"/>
            <a:r>
              <a:rPr sz="1000">
                <a:solidFill>
                  <a:srgbClr val="8C99A6"/>
                </a:solidFill>
                <a:latin typeface="Consolas"/>
              </a:rPr>
              <a:t>C++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92240"/>
            <a:ext cx="4572000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l"/>
            <a:r>
              <a:rPr sz="900">
                <a:solidFill>
                  <a:srgbClr val="9AA6B2"/>
                </a:solidFill>
                <a:latin typeface="Microsoft YaHei"/>
              </a:rPr>
              <a:t>第二部分 · 缓存管理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492240"/>
            <a:ext cx="4873752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ctr"/>
            <a:r>
              <a:rPr sz="900">
                <a:solidFill>
                  <a:srgbClr val="9AA6B2"/>
                </a:solidFill>
                <a:latin typeface="Microsoft YaHei"/>
              </a:rPr>
              <a:t>openGauss 6.0.0 · 源码讲解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92240"/>
            <a:ext cx="1298448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r"/>
            <a:r>
              <a:rPr sz="900">
                <a:solidFill>
                  <a:srgbClr val="9AA6B2"/>
                </a:solidFill>
                <a:latin typeface="Microsoft YaHei"/>
              </a:rPr>
              <a:t>09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Pin/Unpin 与 64 位原子状态机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buf-&gt;state 是一个 64 位原子量：bits0-31=refcount，bits50-53=usage_count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标志位（高位）：BM_LOCKED 位54(头锁)、BM_DIRTY 位55、BM_VALID 位56、BM_IO_IN_PROGRESS 位58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PinBuffer(:3854) 用 __sync_add_and_fetch 原子加 refcount，再 CAS 抬升 usage_count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调用路径：refcount++ 防淘汰；UnpinBuffer(:3963) 原子减 refcount；LockBufHdr(:7381) 自旋 CAS 置 BM_LOCKED 取头锁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34056"/>
            <a:ext cx="10789920" cy="274320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txBody>
          <a:bodyPr wrap="none" anchor="ctr" tIns="12700" bIns="12700" lIns="101600" rIns="76200">
            <a:spAutoFit/>
          </a:bodyPr>
          <a:lstStyle/>
          <a:p>
            <a:pPr algn="l"/>
            <a:r>
              <a:rPr sz="1100" b="0" i="1">
                <a:solidFill>
                  <a:srgbClr val="2563A8"/>
                </a:solidFill>
                <a:latin typeface="Microsoft YaHei"/>
                <a:ea typeface="Microsoft YaHei"/>
                <a:cs typeface="Microsoft YaHei"/>
              </a:rPr>
              <a:t>src/gausskernel/storage/buffer/bufmgr.cpp:3854 PinBuffer()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08376"/>
            <a:ext cx="10789920" cy="3392424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bool PinBuffer(BufferDesc *buf, BufferAccessStrategy strategy)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ref = GetPrivateRefCountEntry(b, true);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if (ref == NULL)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ref = NewPrivateRefCountEntry(b);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for (;;)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    buf_state = __sync_add_and_fetch(&amp;buf-&gt;state, 1);   /* refcount++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    if (buf_state &amp; BM_LOCKED) { __sync_fetch_and_add(&amp;buf-&gt;state, -1); WaitBufHdrUnlocked(buf); continue;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    while (BUF_STATE_GET_USAGECOUNT(buf_state) != BM_MAX_USAGE_COUNT)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        new_buf_state = buf_state; new_buf_state += BUF_USAGECOUNT_ONE;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        if (pg_atomic_compare_exchange_u64(&amp;buf-&gt;state, &amp;buf_state, new_buf_state)) break;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   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    result = (buf_state &amp; BM_VALID) != 0; break;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}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ref-&gt;refcount++;  /* ... ResourceOwnerRememberBuffer; return result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2734056"/>
            <a:ext cx="768096" cy="274320"/>
          </a:xfrm>
          <a:prstGeom prst="rect">
            <a:avLst/>
          </a:prstGeom>
          <a:noFill/>
        </p:spPr>
        <p:txBody>
          <a:bodyPr wrap="none" anchor="ctr" tIns="12700" bIns="12700" lIns="0" rIns="101600">
            <a:spAutoFit/>
          </a:bodyPr>
          <a:lstStyle/>
          <a:p>
            <a:pPr algn="r"/>
            <a:r>
              <a:rPr sz="1000">
                <a:solidFill>
                  <a:srgbClr val="8C99A6"/>
                </a:solidFill>
                <a:latin typeface="Consolas"/>
              </a:rPr>
              <a:t>C++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92240"/>
            <a:ext cx="4572000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l"/>
            <a:r>
              <a:rPr sz="900">
                <a:solidFill>
                  <a:srgbClr val="9AA6B2"/>
                </a:solidFill>
                <a:latin typeface="Microsoft YaHei"/>
              </a:rPr>
              <a:t>第二部分 · 缓存管理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492240"/>
            <a:ext cx="4873752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ctr"/>
            <a:r>
              <a:rPr sz="900">
                <a:solidFill>
                  <a:srgbClr val="9AA6B2"/>
                </a:solidFill>
                <a:latin typeface="Microsoft YaHei"/>
              </a:rPr>
              <a:t>openGauss 6.0.0 · 源码讲解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92240"/>
            <a:ext cx="1298448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r"/>
            <a:r>
              <a:rPr sz="900">
                <a:solidFill>
                  <a:srgbClr val="9AA6B2"/>
                </a:solidFill>
                <a:latin typeface="Microsoft YaHei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单页刷盘 FlushBuffer：取共享锁、WAL 先行、smgrwrite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调用路径：SyncOneBuffer(bufmgr.cpp:4703) / ckpt 刷页 -&gt; FlushBuffer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StartBufferIO 抢 io_in_progress；持页面共享内容锁即可写盘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遵守 WAL 规则：XLogWaitFlush 先把页面 LSN 对应的日志落盘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smgrwrite 写数据文件；skipFsync 控制是否本次跳过 fsync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34056"/>
            <a:ext cx="10789920" cy="274320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txBody>
          <a:bodyPr wrap="none" anchor="ctr" tIns="12700" bIns="12700" lIns="101600" rIns="76200">
            <a:spAutoFit/>
          </a:bodyPr>
          <a:lstStyle/>
          <a:p>
            <a:pPr algn="l"/>
            <a:r>
              <a:rPr sz="1100" b="0" i="1">
                <a:solidFill>
                  <a:srgbClr val="2563A8"/>
                </a:solidFill>
                <a:latin typeface="Microsoft YaHei"/>
                <a:ea typeface="Microsoft YaHei"/>
                <a:cs typeface="Microsoft YaHei"/>
              </a:rPr>
              <a:t>src/gausskernel/storage/buffer/bufmgr.cpp:5176 FlushBuffer()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08376"/>
            <a:ext cx="10789920" cy="3392424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void FlushBuffer(void *buf, SMgrRelation reln, ReadBufferMethod flushmethod, bool skipFsync)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if (flushmethod == WITH_NORMAL_CACHE)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if (!StartBufferIO((BufferDesc *)buf, false))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    return;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/* ... GetFlushBufferInfo / smgropen / encrypt / checksum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XLogWaitFlush(bufferinfo.lsn);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smgrwrite(reln, bufferinfo.blockinfo.forknum, bufferinfo.blockinfo.blkno, bufToWrite, skipFsync);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if (flushmethod == WITH_NORMAL_CACHE)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TerminateBufferIO((BufferDesc *)buf, true, 0);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2734056"/>
            <a:ext cx="768096" cy="274320"/>
          </a:xfrm>
          <a:prstGeom prst="rect">
            <a:avLst/>
          </a:prstGeom>
          <a:noFill/>
        </p:spPr>
        <p:txBody>
          <a:bodyPr wrap="none" anchor="ctr" tIns="12700" bIns="12700" lIns="0" rIns="101600">
            <a:spAutoFit/>
          </a:bodyPr>
          <a:lstStyle/>
          <a:p>
            <a:pPr algn="r"/>
            <a:r>
              <a:rPr sz="1000">
                <a:solidFill>
                  <a:srgbClr val="8C99A6"/>
                </a:solidFill>
                <a:latin typeface="Consolas"/>
              </a:rPr>
              <a:t>C++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92240"/>
            <a:ext cx="4572000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l"/>
            <a:r>
              <a:rPr sz="900">
                <a:solidFill>
                  <a:srgbClr val="9AA6B2"/>
                </a:solidFill>
                <a:latin typeface="Microsoft YaHei"/>
              </a:rPr>
              <a:t>第二部分 · 缓存管理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492240"/>
            <a:ext cx="4873752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ctr"/>
            <a:r>
              <a:rPr sz="900">
                <a:solidFill>
                  <a:srgbClr val="9AA6B2"/>
                </a:solidFill>
                <a:latin typeface="Microsoft YaHei"/>
              </a:rPr>
              <a:t>openGauss 6.0.0 · 源码讲解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92240"/>
            <a:ext cx="1298448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r"/>
            <a:r>
              <a:rPr sz="900">
                <a:solidFill>
                  <a:srgbClr val="9AA6B2"/>
                </a:solidFill>
                <a:latin typeface="Microsoft YaHei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后台写、增量检查点与双写 dw_perform_batch_flush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bgwriter：BgBufferSync(bufmgr.cpp:4296) -&gt; SyncOneBuffer 顺时钟扫 LRU 预清理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增量检查点：ckpt_pagewriter_main(pagewriter.cpp:1763) -&gt; ..._flush_dirty_page(pagewriter.cpp:758)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子线程刷批前先双写：dw_perform_batch_flush(double_write.cpp:2329) 写 dw 文件，再逐页 FlushBuffer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文档视图：BGWRITER_STAT / GLOBAL_CKPT_STATUS / GLOBAL_DOUBLE_WRITE_STATUS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34056"/>
            <a:ext cx="10789920" cy="274320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txBody>
          <a:bodyPr wrap="none" anchor="ctr" tIns="12700" bIns="12700" lIns="101600" rIns="76200">
            <a:spAutoFit/>
          </a:bodyPr>
          <a:lstStyle/>
          <a:p>
            <a:pPr algn="l"/>
            <a:r>
              <a:rPr sz="1100" b="0" i="1">
                <a:solidFill>
                  <a:srgbClr val="2563A8"/>
                </a:solidFill>
                <a:latin typeface="Microsoft YaHei"/>
                <a:ea typeface="Microsoft YaHei"/>
                <a:cs typeface="Microsoft YaHei"/>
              </a:rPr>
              <a:t>src/gausskernel/storage/access/transam/double_write.cpp:2329 dw_perform_batch_flush()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08376"/>
            <a:ext cx="10789920" cy="3392424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void dw_perform_batch_flush(uint32 size, CkptSortItem *dirty_buf_list, int thread_id, ThrdDwCxt* thrd_dw_cxt)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if (!dw_enabled())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/* Double write is not enabled, nothing to do.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for (uint16 i = 0; i &lt; batch_size; i++)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page_lsn = dw_copy_page(thrd_dw_cxt, dirty_buf_list[i].buf_id, &amp;is_skipped);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if (thrd_dw_cxt-&gt;write_pos &gt; 0)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dw_batch_flush(dw_cxt, latest_lsn, thrd_dw_cxt);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2734056"/>
            <a:ext cx="768096" cy="274320"/>
          </a:xfrm>
          <a:prstGeom prst="rect">
            <a:avLst/>
          </a:prstGeom>
          <a:noFill/>
        </p:spPr>
        <p:txBody>
          <a:bodyPr wrap="none" anchor="ctr" tIns="12700" bIns="12700" lIns="0" rIns="101600">
            <a:spAutoFit/>
          </a:bodyPr>
          <a:lstStyle/>
          <a:p>
            <a:pPr algn="r"/>
            <a:r>
              <a:rPr sz="1000">
                <a:solidFill>
                  <a:srgbClr val="8C99A6"/>
                </a:solidFill>
                <a:latin typeface="Consolas"/>
              </a:rPr>
              <a:t>C++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92240"/>
            <a:ext cx="4572000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l"/>
            <a:r>
              <a:rPr sz="900">
                <a:solidFill>
                  <a:srgbClr val="9AA6B2"/>
                </a:solidFill>
                <a:latin typeface="Microsoft YaHei"/>
              </a:rPr>
              <a:t>第二部分 · 缓存管理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492240"/>
            <a:ext cx="4873752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ctr"/>
            <a:r>
              <a:rPr sz="900">
                <a:solidFill>
                  <a:srgbClr val="9AA6B2"/>
                </a:solidFill>
                <a:latin typeface="Microsoft YaHei"/>
              </a:rPr>
              <a:t>openGauss 6.0.0 · 源码讲解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92240"/>
            <a:ext cx="1298448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r"/>
            <a:r>
              <a:rPr sz="900">
                <a:solidFill>
                  <a:srgbClr val="9AA6B2"/>
                </a:solidFill>
                <a:latin typeface="Microsoft YaHei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本地缓存（临时表）LocalBufferAlloc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ReadBuffer_common 见 RELPERSISTENCE_TEMP 时走本地缓存，不进共享池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会话私有：LocalBufHash + LocalBufferDescriptors，无共享锁、无原子争用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淘汰用本地时钟扫描（clock sweep）；脏页用 LocalBufferWrite 写回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置脏走 MarkLocalBufferDirty(localbuf.cpp:300)，只 fetch_or BM_DIRTY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34056"/>
            <a:ext cx="10789920" cy="274320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txBody>
          <a:bodyPr wrap="none" anchor="ctr" tIns="12700" bIns="12700" lIns="101600" rIns="76200">
            <a:spAutoFit/>
          </a:bodyPr>
          <a:lstStyle/>
          <a:p>
            <a:pPr algn="l"/>
            <a:r>
              <a:rPr sz="1100" b="0" i="1">
                <a:solidFill>
                  <a:srgbClr val="2563A8"/>
                </a:solidFill>
                <a:latin typeface="Microsoft YaHei"/>
                <a:ea typeface="Microsoft YaHei"/>
                <a:cs typeface="Microsoft YaHei"/>
              </a:rPr>
              <a:t>src/gausskernel/storage/buffer/localbuf.cpp:139 LocalBufferAlloc()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08376"/>
            <a:ext cx="10789920" cy="3392424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BufferDesc *LocalBufferAlloc(SMgrRelation smgr, ForkNumber forkNum, BlockNumber blockNum, bool *foundPtr)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hresult = (LocalBufferLookupEnt*)hash_search(u_sess-&gt;storage_cxt.LocalBufHash, (void*)&amp;new_tag, HASH_FIND, NULL);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if (hresult != NULL)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/* ... hit: equivalent to PinBuffer, bump usagecount, return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return buf_desc;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/* Need to get a new buffer.  We use a clock sweep algorithm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for (;;)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/* ... clock sweep: usagecount&gt;0 减一继续, 归零即可复用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break;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2734056"/>
            <a:ext cx="768096" cy="274320"/>
          </a:xfrm>
          <a:prstGeom prst="rect">
            <a:avLst/>
          </a:prstGeom>
          <a:noFill/>
        </p:spPr>
        <p:txBody>
          <a:bodyPr wrap="none" anchor="ctr" tIns="12700" bIns="12700" lIns="0" rIns="101600">
            <a:spAutoFit/>
          </a:bodyPr>
          <a:lstStyle/>
          <a:p>
            <a:pPr algn="r"/>
            <a:r>
              <a:rPr sz="1000">
                <a:solidFill>
                  <a:srgbClr val="8C99A6"/>
                </a:solidFill>
                <a:latin typeface="Consolas"/>
              </a:rPr>
              <a:t>C++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92240"/>
            <a:ext cx="4572000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l"/>
            <a:r>
              <a:rPr sz="900">
                <a:solidFill>
                  <a:srgbClr val="9AA6B2"/>
                </a:solidFill>
                <a:latin typeface="Microsoft YaHei"/>
              </a:rPr>
              <a:t>第二部分 · 缓存管理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492240"/>
            <a:ext cx="4873752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ctr"/>
            <a:r>
              <a:rPr sz="900">
                <a:solidFill>
                  <a:srgbClr val="9AA6B2"/>
                </a:solidFill>
                <a:latin typeface="Microsoft YaHei"/>
              </a:rPr>
              <a:t>openGauss 6.0.0 · 源码讲解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92240"/>
            <a:ext cx="1298448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r"/>
            <a:r>
              <a:rPr sz="900">
                <a:solidFill>
                  <a:srgbClr val="9AA6B2"/>
                </a:solidFill>
                <a:latin typeface="Microsoft YaHei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系统目录缓存 SysCache / CatCache / RelCache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调用链 SearchSysCache -&gt; SearchCatCache -&gt; SearchCatCacheInternal(查哈希桶)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未命中走 SearchCatCacheMiss 真正堆扫描 systable_beginscan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表级元数据由 RelationIdGetRelation 命中 RelationIdCacheLookup，未命中 RelationBuildDesc 重建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41448"/>
            <a:ext cx="10789920" cy="274320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txBody>
          <a:bodyPr wrap="none" anchor="ctr" tIns="12700" bIns="12700" lIns="101600" rIns="76200">
            <a:spAutoFit/>
          </a:bodyPr>
          <a:lstStyle/>
          <a:p>
            <a:pPr algn="l"/>
            <a:r>
              <a:rPr sz="1100" b="0" i="1">
                <a:solidFill>
                  <a:srgbClr val="2563A8"/>
                </a:solidFill>
                <a:latin typeface="Microsoft YaHei"/>
                <a:ea typeface="Microsoft YaHei"/>
                <a:cs typeface="Microsoft YaHei"/>
              </a:rPr>
              <a:t>src/common/backend/utils/cache/catcache.cpp:1276 SearchCatCacheInternal() / :1666 SearchCatCacheMiss()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15768"/>
            <a:ext cx="10789920" cy="3685032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hashValue = CatalogCacheComputeHashValue(cache-&gt;cc_hashfunc, nkeys, arguments);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hashIndex = HASH_INDEX(hashValue, (uint32)cache-&gt;cc_nbuckets);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for (elt = DLGetHead(&amp;cache-&gt;cc_bucket[hashIndex]); elt; elt = DLGetSucc(elt))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ct = (CatCTup*)DLE_VAL(elt);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if (ct-&gt;dead) continue;                       /* ignore dead entries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if (ct-&gt;hash_value != hashValue) continue;    /* wrong hash val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if (!CatalogCacheCompareTuple(cache-&gt;cc_fastequal, nkeys, ct-&gt;keys, arguments)) continue;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DLMoveToFront(&amp;ct-&gt;cache_elem);               /* LRU: move hit to front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if (!ct-&gt;negative &amp;&amp; ...) { ct-&gt;refcount++; return &amp;ct-&gt;tuple; }   /* hit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else return NULL;                             /* negative entry hit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return SearchCatCacheMiss(cache, nkeys, hashValue, hashIndex, v1, v2, v3, v4, level);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/* --- SearchCatCacheMiss: 缓存未命中, 退化为真正的堆扫描 ---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relation = heap_open(cache-&gt;cc_reloid, AccessShareLock);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scandesc = systable_beginscan(relation, cache-&gt;cc_indexoid, IndexScanOK(cache-&gt;id), NULL, nkeys, cur_skey);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while (HeapTupleIsValid(ntp = systable_getnext(scandesc))) { ct = CatalogCacheCreateEntry(...); break;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2441448"/>
            <a:ext cx="768096" cy="274320"/>
          </a:xfrm>
          <a:prstGeom prst="rect">
            <a:avLst/>
          </a:prstGeom>
          <a:noFill/>
        </p:spPr>
        <p:txBody>
          <a:bodyPr wrap="none" anchor="ctr" tIns="12700" bIns="12700" lIns="0" rIns="101600">
            <a:spAutoFit/>
          </a:bodyPr>
          <a:lstStyle/>
          <a:p>
            <a:pPr algn="r"/>
            <a:r>
              <a:rPr sz="1000">
                <a:solidFill>
                  <a:srgbClr val="8C99A6"/>
                </a:solidFill>
                <a:latin typeface="Consolas"/>
              </a:rPr>
              <a:t>C++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92240"/>
            <a:ext cx="4572000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l"/>
            <a:r>
              <a:rPr sz="900">
                <a:solidFill>
                  <a:srgbClr val="9AA6B2"/>
                </a:solidFill>
                <a:latin typeface="Microsoft YaHei"/>
              </a:rPr>
              <a:t>第二部分 · 缓存管理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492240"/>
            <a:ext cx="4873752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ctr"/>
            <a:r>
              <a:rPr sz="900">
                <a:solidFill>
                  <a:srgbClr val="9AA6B2"/>
                </a:solidFill>
                <a:latin typeface="Microsoft YaHei"/>
              </a:rPr>
              <a:t>openGauss 6.0.0 · 源码讲解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92240"/>
            <a:ext cx="1298448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r"/>
            <a:r>
              <a:rPr sz="900">
                <a:solidFill>
                  <a:srgbClr val="9AA6B2"/>
                </a:solidFill>
                <a:latin typeface="Microsoft YaHei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计划缓存 PlanCache：GetCachedPlan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生命周期 CreateCachedPlan(:192) -&gt; CompleteCachedPlan(:443) -&gt; GetCachedPlan(:2088)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先 RevalidateCachedQuery 校验/补锁，再 ChooseCustomPlan 决定通用 vs 定制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通用计划可复用则 CheckCachedPlan 命中(软解析计数)，否则重建 gplan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41448"/>
            <a:ext cx="10789920" cy="274320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txBody>
          <a:bodyPr wrap="none" anchor="ctr" tIns="12700" bIns="12700" lIns="101600" rIns="76200">
            <a:spAutoFit/>
          </a:bodyPr>
          <a:lstStyle/>
          <a:p>
            <a:pPr algn="l"/>
            <a:r>
              <a:rPr sz="1100" b="0" i="1">
                <a:solidFill>
                  <a:srgbClr val="2563A8"/>
                </a:solidFill>
                <a:latin typeface="Microsoft YaHei"/>
                <a:ea typeface="Microsoft YaHei"/>
                <a:cs typeface="Microsoft YaHei"/>
              </a:rPr>
              <a:t>src/common/backend/utils/cache/plancache.cpp:2088 GetCachedPlan()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15768"/>
            <a:ext cx="10789920" cy="3685032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/* Make sure the querytree list is valid and we have parse-time locks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qlist = RevalidateCachedQuery(plansource);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/* Decide whether to use a custom plan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customplan = ChooseCustomPlan(plansource, boundParams);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if (!customplan)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if (CheckCachedPlan(plansource, plansource-&gt;gplan))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/* We want a generic plan, and we already have a valid one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plan = plansource-&gt;gplan;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UniqueSQLStatCountSoftParse(1);          /* 软解析: 直接复用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} else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ReleaseGenericPlan(plansource);          /* 旧计划失效, 重新规划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plan = BuildCachedPlanInTransientContext(plansource, qlist, NULL, customplan);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/* ... gplan = plan; plan-&gt;refcount++; update generic_cost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/* ... customplan 分支: BuildCachedPlanInTransientContext(..., boundParams, customplan) ... */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2441448"/>
            <a:ext cx="768096" cy="274320"/>
          </a:xfrm>
          <a:prstGeom prst="rect">
            <a:avLst/>
          </a:prstGeom>
          <a:noFill/>
        </p:spPr>
        <p:txBody>
          <a:bodyPr wrap="none" anchor="ctr" tIns="12700" bIns="12700" lIns="0" rIns="101600">
            <a:spAutoFit/>
          </a:bodyPr>
          <a:lstStyle/>
          <a:p>
            <a:pPr algn="r"/>
            <a:r>
              <a:rPr sz="1000">
                <a:solidFill>
                  <a:srgbClr val="8C99A6"/>
                </a:solidFill>
                <a:latin typeface="Consolas"/>
              </a:rPr>
              <a:t>C++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92240"/>
            <a:ext cx="4572000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l"/>
            <a:r>
              <a:rPr sz="900">
                <a:solidFill>
                  <a:srgbClr val="9AA6B2"/>
                </a:solidFill>
                <a:latin typeface="Microsoft YaHei"/>
              </a:rPr>
              <a:t>第二部分 · 缓存管理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492240"/>
            <a:ext cx="4873752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ctr"/>
            <a:r>
              <a:rPr sz="900">
                <a:solidFill>
                  <a:srgbClr val="9AA6B2"/>
                </a:solidFill>
                <a:latin typeface="Microsoft YaHei"/>
              </a:rPr>
              <a:t>openGauss 6.0.0 · 源码讲解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92240"/>
            <a:ext cx="1298448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r"/>
            <a:r>
              <a:rPr sz="900">
                <a:solidFill>
                  <a:srgbClr val="9AA6B2"/>
                </a:solidFill>
                <a:latin typeface="Microsoft YaHei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openGauss 特有 GSC 与 GPC 跨会话共享层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89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GSC/GPC 把只读元数据与通用计划提到实例级共享，多会话复用、显著省内存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命中路径 EnableLocalSysCache() 为真时，SearchSysCache/RelationIdGetRelation 改走 LSC，再回源到全局层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1494815"/>
            <a:ext cx="9784080" cy="873709"/>
          </a:xfrm>
          <a:prstGeom prst="round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会话本地 Session-Local：LocalSysCache(systabcache/tabdefcache) + 局部 plancache(CachedPlanSource)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614955"/>
            <a:ext cx="9784080" cy="873709"/>
          </a:xfrm>
          <a:prstGeom prst="round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全局系统缓存 GSC：GlobalSysDBCache -&gt; GlobalSysTabCache -&gt; GlobalSysTupCache (按 DB/表/元组分层共享)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3735095"/>
            <a:ext cx="9784080" cy="873709"/>
          </a:xfrm>
          <a:prstGeom prst="round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全局计划缓存 GPC：GlobalPlanCache(Fetch 复用 / TryStore 入库, 哈希表按 query 文本)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4855235"/>
            <a:ext cx="9784080" cy="873709"/>
          </a:xfrm>
          <a:prstGeom prst="roundRect">
            <a:avLst/>
          </a:prstGeom>
          <a:solidFill>
            <a:srgbClr val="0E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开关 GUC：enable_global_syscache(默认 on) / enable_global_plancache(默认 off)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SMGR 存储管理抽象 f_smgr 虚表与 smgrsw[]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f_smgr 是一组函数指针 vtable，把上层缓冲区操作与具体介质解耦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smgrsw[] 是静态注册表：index0=magnetic disk(MD 经典文件)，index1=undo file，index2=segment-page(段页式)，index3=extreme-rto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调用路径：smgropen(:233) 建/查 SMgrRelationData → smgrread(:766)/smgrwrite(:786) 按 reln-&gt;smgr_which 索引 smgrsw[] 分发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41448"/>
            <a:ext cx="10789920" cy="274320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txBody>
          <a:bodyPr wrap="none" anchor="ctr" tIns="12700" bIns="12700" lIns="101600" rIns="76200">
            <a:spAutoFit/>
          </a:bodyPr>
          <a:lstStyle/>
          <a:p>
            <a:pPr algn="l"/>
            <a:r>
              <a:rPr sz="1100" b="0" i="1">
                <a:solidFill>
                  <a:srgbClr val="2563A8"/>
                </a:solidFill>
                <a:latin typeface="Microsoft YaHei"/>
                <a:ea typeface="Microsoft YaHei"/>
                <a:cs typeface="Microsoft YaHei"/>
              </a:rPr>
              <a:t>src/gausskernel/storage/smgr/smgr.cpp:46 f_smgr / :67 smgrsw[]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15768"/>
            <a:ext cx="10789920" cy="3685032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typedef struct f_smgr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/* ... smgr_init/close/create/exists/unlink/extend/prefetch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SMGR_READ_STATUS (*smgr_read)(SMgrRelation reln, ForkNumber forknum, BlockNumber blocknum, char *buffer);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void (*smgr_write)(SMgrRelation reln, ForkNumber forknum, BlockNumber blocknum, const char *buffer, bool skipFsync);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/* ... nblocks/truncate/immedsync/async_read/async_write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} f_smgr;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static const f_smgr smgrsw[] =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/* magnetic disk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{ mdinit, NULL, mdclose, mdcreate, mdexists, mdunlink, mdextend, mdprefetch, mdread, /* ... */ mdwrite, /* ... */ },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/* undo file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{ InitUndoFile, /* ... */ },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/* segment-page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{ seg_init, /* ... */ seg_read, NULL, seg_write, /* ... */ },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2441448"/>
            <a:ext cx="768096" cy="274320"/>
          </a:xfrm>
          <a:prstGeom prst="rect">
            <a:avLst/>
          </a:prstGeom>
          <a:noFill/>
        </p:spPr>
        <p:txBody>
          <a:bodyPr wrap="none" anchor="ctr" tIns="12700" bIns="12700" lIns="0" rIns="101600">
            <a:spAutoFit/>
          </a:bodyPr>
          <a:lstStyle/>
          <a:p>
            <a:pPr algn="r"/>
            <a:r>
              <a:rPr sz="1000">
                <a:solidFill>
                  <a:srgbClr val="8C99A6"/>
                </a:solidFill>
                <a:latin typeface="Consolas"/>
              </a:rPr>
              <a:t>C++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92240"/>
            <a:ext cx="4572000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l"/>
            <a:r>
              <a:rPr sz="900">
                <a:solidFill>
                  <a:srgbClr val="9AA6B2"/>
                </a:solidFill>
                <a:latin typeface="Microsoft YaHei"/>
              </a:rPr>
              <a:t>第三部分 · 持久化存储管理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492240"/>
            <a:ext cx="4873752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ctr"/>
            <a:r>
              <a:rPr sz="900">
                <a:solidFill>
                  <a:srgbClr val="9AA6B2"/>
                </a:solidFill>
                <a:latin typeface="Microsoft YaHei"/>
              </a:rPr>
              <a:t>openGauss 6.0.0 · 源码讲解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92240"/>
            <a:ext cx="1298448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r"/>
            <a:r>
              <a:rPr sz="900">
                <a:solidFill>
                  <a:srgbClr val="9AA6B2"/>
                </a:solidFill>
                <a:latin typeface="Microsoft YaHei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磁盘介质层 MD：mdwrite 块号到段文件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MD 是经典 PostgreSQL 风格：一个 fork 由若干 1GB 段文件(RELSEG_SIZE)串成 _MdfdVec 链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调用路径：smgrwrite → mdwrite → _mdfd_getseg 定位段 → FilePWrite 落到该段对应偏移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配套：mdread(:1289) 读单块、mdextend(:673) 扩展并按需创建新段文件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41448"/>
            <a:ext cx="10789920" cy="274320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txBody>
          <a:bodyPr wrap="none" anchor="ctr" tIns="12700" bIns="12700" lIns="101600" rIns="76200">
            <a:spAutoFit/>
          </a:bodyPr>
          <a:lstStyle/>
          <a:p>
            <a:pPr algn="l"/>
            <a:r>
              <a:rPr sz="1100" b="0" i="1">
                <a:solidFill>
                  <a:srgbClr val="2563A8"/>
                </a:solidFill>
                <a:latin typeface="Microsoft YaHei"/>
                <a:ea typeface="Microsoft YaHei"/>
                <a:cs typeface="Microsoft YaHei"/>
              </a:rPr>
              <a:t>src/gausskernel/storage/smgr/md.cpp:1470 mdwrite()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15768"/>
            <a:ext cx="10789920" cy="3685032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void mdwrite(SMgrRelation reln, ForkNumber forknum, BlockNumber blocknum, const char *buffer, bool skipFsync)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off_t seekpos;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int nbytes;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MdfdVec *v = NULL;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/* ... timing/trace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v = _mdfd_getseg(reln, forknum, blocknum, skipFsync, EXTENSION_FAIL);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if (v == NULL)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seekpos = (off_t)BLCKSZ * (blocknum % ((BlockNumber)RELSEG_SIZE));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/* ... compressed-mainfork branch (CfsWritePage) elided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Assert(seekpos &lt; (off_t)BLCKSZ * RELSEG_SIZE);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nbytes = FilePWrite(v-&gt;mdfd_vfd, buffer, BLCKSZ, seekpos, (uint32)WAIT_EVENT_DATA_FILE_WRITE);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2441448"/>
            <a:ext cx="768096" cy="274320"/>
          </a:xfrm>
          <a:prstGeom prst="rect">
            <a:avLst/>
          </a:prstGeom>
          <a:noFill/>
        </p:spPr>
        <p:txBody>
          <a:bodyPr wrap="none" anchor="ctr" tIns="12700" bIns="12700" lIns="0" rIns="101600">
            <a:spAutoFit/>
          </a:bodyPr>
          <a:lstStyle/>
          <a:p>
            <a:pPr algn="r"/>
            <a:r>
              <a:rPr sz="1000">
                <a:solidFill>
                  <a:srgbClr val="8C99A6"/>
                </a:solidFill>
                <a:latin typeface="Consolas"/>
              </a:rPr>
              <a:t>C++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92240"/>
            <a:ext cx="4572000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l"/>
            <a:r>
              <a:rPr sz="900">
                <a:solidFill>
                  <a:srgbClr val="9AA6B2"/>
                </a:solidFill>
                <a:latin typeface="Microsoft YaHei"/>
              </a:rPr>
              <a:t>第三部分 · 持久化存储管理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492240"/>
            <a:ext cx="4873752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ctr"/>
            <a:r>
              <a:rPr sz="900">
                <a:solidFill>
                  <a:srgbClr val="9AA6B2"/>
                </a:solidFill>
                <a:latin typeface="Microsoft YaHei"/>
              </a:rPr>
              <a:t>openGauss 6.0.0 · 源码讲解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92240"/>
            <a:ext cx="1298448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r"/>
            <a:r>
              <a:rPr sz="900">
                <a:solidFill>
                  <a:srgbClr val="9AA6B2"/>
                </a:solidFill>
                <a:latin typeface="Microsoft YaHei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段页式存储 Segment-Page：seg_read 到 spc_read_block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段页式把多个 relation 共享到表空间级的物理大文件，按 extent 分配，逻辑块号经映射变物理块号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调用路径：seg_read → read_head_buffer 取 SegmentHead → seg_logic_to_physic_mapping 逻辑→物理 → spc_read_block(space.cpp:94) → df_pread_block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结构：SegSpace(segment_internal.h:379) 持 extent_group[EXTENT_TYPES][fork]，每组 SegExtentGroup(:259) 一个 SegLogicFile；SMgrRelationData.seg_desc 是 SegmentDesc(:507)，存 head_blocknum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41448"/>
            <a:ext cx="10789920" cy="274320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txBody>
          <a:bodyPr wrap="none" anchor="ctr" tIns="12700" bIns="12700" lIns="101600" rIns="76200">
            <a:spAutoFit/>
          </a:bodyPr>
          <a:lstStyle/>
          <a:p>
            <a:pPr algn="l"/>
            <a:r>
              <a:rPr sz="1100" b="0" i="1">
                <a:solidFill>
                  <a:srgbClr val="2563A8"/>
                </a:solidFill>
                <a:latin typeface="Microsoft YaHei"/>
                <a:ea typeface="Microsoft YaHei"/>
                <a:cs typeface="Microsoft YaHei"/>
              </a:rPr>
              <a:t>src/gausskernel/storage/smgr/segstore.cpp:1509 seg_read()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15768"/>
            <a:ext cx="10789920" cy="3685032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SMGR_READ_STATUS seg_read(SMgrRelation reln, ForkNumber forknum, BlockNumber blocknum, char *buffer)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/* ... DMS/SSSegRead fast-path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Buffer seg_buffer = read_head_buffer(reln, forknum, false);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SegmentHead *seg_head = (SegmentHead *)PageGetContents(BufferGetBlock(seg_buffer));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/* ... bounds check: seg_head-&gt;nblocks &gt; blocknum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SegPageLocation loc = seg_logic_to_physic_mapping(reln, seg_head, blocknum);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SegSpace *spc = reln-&gt;seg_space;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spc_read_block(spc, EXTENT_GROUP_RNODE(spc, loc.extent_size), forknum, buffer, loc.blocknum);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SegReleaseBuffer(seg_buffer);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if (PageIsVerified((Page)buffer, loc.blocknum))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return SMGR_RD_OK;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} else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return SMGR_RD_CRC_ERROR;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2441448"/>
            <a:ext cx="768096" cy="274320"/>
          </a:xfrm>
          <a:prstGeom prst="rect">
            <a:avLst/>
          </a:prstGeom>
          <a:noFill/>
        </p:spPr>
        <p:txBody>
          <a:bodyPr wrap="none" anchor="ctr" tIns="12700" bIns="12700" lIns="0" rIns="101600">
            <a:spAutoFit/>
          </a:bodyPr>
          <a:lstStyle/>
          <a:p>
            <a:pPr algn="r"/>
            <a:r>
              <a:rPr sz="1000">
                <a:solidFill>
                  <a:srgbClr val="8C99A6"/>
                </a:solidFill>
                <a:latin typeface="Consolas"/>
              </a:rPr>
              <a:t>C++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92240"/>
            <a:ext cx="4572000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l"/>
            <a:r>
              <a:rPr sz="900">
                <a:solidFill>
                  <a:srgbClr val="9AA6B2"/>
                </a:solidFill>
                <a:latin typeface="Microsoft YaHei"/>
              </a:rPr>
              <a:t>第三部分 · 持久化存储管理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492240"/>
            <a:ext cx="4873752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ctr"/>
            <a:r>
              <a:rPr sz="900">
                <a:solidFill>
                  <a:srgbClr val="9AA6B2"/>
                </a:solidFill>
                <a:latin typeface="Microsoft YaHei"/>
              </a:rPr>
              <a:t>openGauss 6.0.0 · 源码讲解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92240"/>
            <a:ext cx="1298448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r"/>
            <a:r>
              <a:rPr sz="900">
                <a:solidFill>
                  <a:srgbClr val="9AA6B2"/>
                </a:solidFill>
                <a:latin typeface="Microsoft YaHei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页面布局与行指针 PageInit / PageAddItem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页面分区: header | 线指针 pd_linp[] | 空闲空间 | 元组(自底向上) | special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PageInit 置三个边界: pd_lower(空闲起点) / pd_upper(空闲终点) / pd_special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HeapPageHeaderData 比通用头多 pd_xid_base/pd_multi_base, 支持 64 位 XID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ItemIdData: 15 位 lp_off + 2 位 lp_flags + 15 位 lp_len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调用链: heap_insert -&gt; RelationPutHeapTuple -&gt; PageAddItem -&gt; 写 ItemId 并下移 pd_upper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DOC: TOAST 表存超长字段是标准 PostgreSQL 行为; Enhanced Toast 为 GaussDB 文档特性, 开源 6.0.0 未实现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34056"/>
            <a:ext cx="10789920" cy="274320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txBody>
          <a:bodyPr wrap="none" anchor="ctr" tIns="12700" bIns="12700" lIns="101600" rIns="76200">
            <a:spAutoFit/>
          </a:bodyPr>
          <a:lstStyle/>
          <a:p>
            <a:pPr algn="l"/>
            <a:r>
              <a:rPr sz="1100" b="0" i="1">
                <a:solidFill>
                  <a:srgbClr val="2563A8"/>
                </a:solidFill>
                <a:latin typeface="Microsoft YaHei"/>
                <a:ea typeface="Microsoft YaHei"/>
                <a:cs typeface="Microsoft YaHei"/>
              </a:rPr>
              <a:t>src/gausskernel/storage/access/redo/redo_bufpage.cpp:39 PageInit()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08376"/>
            <a:ext cx="10789920" cy="3392424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void PageInit(Page page, Size pageSize, Size specialSize, bool isHeap)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PageHeader p = (PageHeader)page;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specialSize = MAXALIGN(specialSize);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/* ... memset whole page to zero (memset_s + securec_check)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p-&gt;pd_upper = pageSize - specialSize;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p-&gt;pd_special = pageSize - specialSize;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if (isHeap)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p-&gt;pd_lower = SizeOfHeapPageHeaderData;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PageSetPageSizeAndVersion(page, pageSize, PG_HEAP_PAGE_LAYOUT_VERSION);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} else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p-&gt;pd_lower = SizeOfPageHeaderData;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PageSetPageSizeAndVersion(page, pageSize, PG_COMM_PAGE_LAYOUT_VERSION);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2734056"/>
            <a:ext cx="768096" cy="274320"/>
          </a:xfrm>
          <a:prstGeom prst="rect">
            <a:avLst/>
          </a:prstGeom>
          <a:noFill/>
        </p:spPr>
        <p:txBody>
          <a:bodyPr wrap="none" anchor="ctr" tIns="12700" bIns="12700" lIns="0" rIns="101600">
            <a:spAutoFit/>
          </a:bodyPr>
          <a:lstStyle/>
          <a:p>
            <a:pPr algn="r"/>
            <a:r>
              <a:rPr sz="1000">
                <a:solidFill>
                  <a:srgbClr val="8C99A6"/>
                </a:solidFill>
                <a:latin typeface="Consolas"/>
              </a:rPr>
              <a:t>C++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92240"/>
            <a:ext cx="4572000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l"/>
            <a:r>
              <a:rPr sz="900">
                <a:solidFill>
                  <a:srgbClr val="9AA6B2"/>
                </a:solidFill>
                <a:latin typeface="Microsoft YaHei"/>
              </a:rPr>
              <a:t>第三部分 · 持久化存储管理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492240"/>
            <a:ext cx="4873752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ctr"/>
            <a:r>
              <a:rPr sz="900">
                <a:solidFill>
                  <a:srgbClr val="9AA6B2"/>
                </a:solidFill>
                <a:latin typeface="Microsoft YaHei"/>
              </a:rPr>
              <a:t>openGauss 6.0.0 · 源码讲解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92240"/>
            <a:ext cx="1298448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r"/>
            <a:r>
              <a:rPr sz="900">
                <a:solidFill>
                  <a:srgbClr val="9AA6B2"/>
                </a:solidFill>
                <a:latin typeface="Microsoft YaHei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空闲空间管理 FSM 三层树与查找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FSM 是每张表的伴随文件, 用一字节 category 记录每个堆块的可用空间档位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调用链: heap_insert -&gt; GetPageWithFreeSpace -&gt; fsm_search 自顶向下找够大的块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GetPageWithFreeSpace 把 spaceNeeded 换算成 min_cat, 交给 fsm_search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RecordPageWithFreeSpace(125) 反向更新: 块剩余空间换算 cat 写回 FSM 字节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三层 FSM 树由 FSMAddress{level, logpageno} 寻址(freespace.h:74); 上层是下层的聚合最大值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FreeSpaceMapVacuum(366) 自顶向下修复上层与底层不一致, 让新空间对查找可见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34056"/>
            <a:ext cx="10789920" cy="274320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txBody>
          <a:bodyPr wrap="none" anchor="ctr" tIns="12700" bIns="12700" lIns="101600" rIns="76200">
            <a:spAutoFit/>
          </a:bodyPr>
          <a:lstStyle/>
          <a:p>
            <a:pPr algn="l"/>
            <a:r>
              <a:rPr sz="1100" b="0" i="1">
                <a:solidFill>
                  <a:srgbClr val="2563A8"/>
                </a:solidFill>
                <a:latin typeface="Microsoft YaHei"/>
                <a:ea typeface="Microsoft YaHei"/>
                <a:cs typeface="Microsoft YaHei"/>
              </a:rPr>
              <a:t>src/gausskernel/storage/freespace/freespace.cpp:80 GetPageWithFreeSpace()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08376"/>
            <a:ext cx="10789920" cy="3392424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BlockNumber GetPageWithFreeSpace(Relation rel, Size spaceNeeded)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uint8 min_cat = fsm_space_needed_to_cat(spaceNeeded);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return fsm_search(rel, min_cat);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void RecordPageWithFreeSpace(Relation rel, BlockNumber heapBlk, Size spaceAvail)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int new_cat = fsm_space_avail_to_cat(spaceAvail);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FSMAddress addr;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uint16 slot;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/* Get the location of the FSM byte representing the heap block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addr = fsm_get_location(heapBlk, &amp;slot);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fsm_set_and_search(rel, addr, slot, (uint8)new_cat, 0);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2734056"/>
            <a:ext cx="768096" cy="274320"/>
          </a:xfrm>
          <a:prstGeom prst="rect">
            <a:avLst/>
          </a:prstGeom>
          <a:noFill/>
        </p:spPr>
        <p:txBody>
          <a:bodyPr wrap="none" anchor="ctr" tIns="12700" bIns="12700" lIns="0" rIns="101600">
            <a:spAutoFit/>
          </a:bodyPr>
          <a:lstStyle/>
          <a:p>
            <a:pPr algn="r"/>
            <a:r>
              <a:rPr sz="1000">
                <a:solidFill>
                  <a:srgbClr val="8C99A6"/>
                </a:solidFill>
                <a:latin typeface="Consolas"/>
              </a:rPr>
              <a:t>C++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92240"/>
            <a:ext cx="4572000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l"/>
            <a:r>
              <a:rPr sz="900">
                <a:solidFill>
                  <a:srgbClr val="9AA6B2"/>
                </a:solidFill>
                <a:latin typeface="Microsoft YaHei"/>
              </a:rPr>
              <a:t>第三部分 · 持久化存储管理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492240"/>
            <a:ext cx="4873752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ctr"/>
            <a:r>
              <a:rPr sz="900">
                <a:solidFill>
                  <a:srgbClr val="9AA6B2"/>
                </a:solidFill>
                <a:latin typeface="Microsoft YaHei"/>
              </a:rPr>
              <a:t>openGauss 6.0.0 · 源码讲解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92240"/>
            <a:ext cx="1298448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r"/>
            <a:r>
              <a:rPr sz="900">
                <a:solidFill>
                  <a:srgbClr val="9AA6B2"/>
                </a:solidFill>
                <a:latin typeface="Microsoft YaHei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WAL/Xlog 写入入口 XLogInsertRecord 与 XLogRecord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调用链 XLogInsert -&gt; XLogInsertRecord -&gt; XLogInsertRecordSingle/Group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入口按架构与 GUC 分流：ARM 下普通记录走 group 模式聚合提交，LogSwitch/x86 走 single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真正的"占位+分配 LSN"在 ReserveXLogInsertLocation：CurrBytePos += size，产出 StartPos/EndPos，再 CopyXLogRecordToWAL 拷入 WAL 缓冲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记录头 XLogRecord 含 xl_tot_len / xl_xid / xl_prev(链上一条) / xl_info / xl_rmid / xl_crc，校验回放靠 xl_crc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WAL 段文件落在 pg_xlog 目录，单段默认 16MB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34056"/>
            <a:ext cx="10789920" cy="274320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txBody>
          <a:bodyPr wrap="none" anchor="ctr" tIns="12700" bIns="12700" lIns="101600" rIns="76200">
            <a:spAutoFit/>
          </a:bodyPr>
          <a:lstStyle/>
          <a:p>
            <a:pPr algn="l"/>
            <a:r>
              <a:rPr sz="1100" b="0" i="1">
                <a:solidFill>
                  <a:srgbClr val="2563A8"/>
                </a:solidFill>
                <a:latin typeface="Microsoft YaHei"/>
                <a:ea typeface="Microsoft YaHei"/>
                <a:cs typeface="Microsoft YaHei"/>
              </a:rPr>
              <a:t>src/gausskernel/storage/access/transam/xlog.cpp:1368 XLogInsertRecord()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08376"/>
            <a:ext cx="10789920" cy="3392424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XLogRecPtr XLogInsertRecord(XLogRecData *rdata, XLogRecPtr fpw_lsn)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#ifdef __aarch64__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XLogRecord *rechdr = (XLogRecord *)rdata-&gt;data;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bool isLogSwitch = (rechdr-&gt;xl_rmid == RM_XLOG_ID &amp;&amp; rechdr-&gt;xl_info == XLOG_SWITCH);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if (isLogSwitch || !u_sess-&gt;attr.attr_storage.enable_xlog_insert_record_group)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return XLogInsertRecordSingle(rdata, fpw_lsn);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} else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return XLogInsertRecordGroup(rdata, fpw_lsn);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#else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return XLogInsertRecordSingle(rdata, fpw_lsn);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#endif /* __aarch64__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2734056"/>
            <a:ext cx="768096" cy="274320"/>
          </a:xfrm>
          <a:prstGeom prst="rect">
            <a:avLst/>
          </a:prstGeom>
          <a:noFill/>
        </p:spPr>
        <p:txBody>
          <a:bodyPr wrap="none" anchor="ctr" tIns="12700" bIns="12700" lIns="0" rIns="101600">
            <a:spAutoFit/>
          </a:bodyPr>
          <a:lstStyle/>
          <a:p>
            <a:pPr algn="r"/>
            <a:r>
              <a:rPr sz="1000">
                <a:solidFill>
                  <a:srgbClr val="8C99A6"/>
                </a:solidFill>
                <a:latin typeface="Consolas"/>
              </a:rPr>
              <a:t>C++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92240"/>
            <a:ext cx="4572000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l"/>
            <a:r>
              <a:rPr sz="900">
                <a:solidFill>
                  <a:srgbClr val="9AA6B2"/>
                </a:solidFill>
                <a:latin typeface="Microsoft YaHei"/>
              </a:rPr>
              <a:t>第三部分 · 持久化存储管理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492240"/>
            <a:ext cx="4873752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ctr"/>
            <a:r>
              <a:rPr sz="900">
                <a:solidFill>
                  <a:srgbClr val="9AA6B2"/>
                </a:solidFill>
                <a:latin typeface="Microsoft YaHei"/>
              </a:rPr>
              <a:t>openGauss 6.0.0 · 源码讲解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92240"/>
            <a:ext cx="1298448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r"/>
            <a:r>
              <a:rPr sz="900">
                <a:solidFill>
                  <a:srgbClr val="9AA6B2"/>
                </a:solidFill>
                <a:latin typeface="Microsoft YaHei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WAL 刷盘 XLogFlushCore 与无锁刷盘 self-flush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调用链 XLogFlush -&gt; XLogFlushCore -&gt; XLogWrite(2640, 持 WALWriteLock) -&gt; 落盘并 fsync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XLogFlushCore 在临界区内调 XLogWrite，把 Write/Flush 推进到 writeRqstPtr，再唤醒 walsender 与等待提交的代理线程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无锁刷盘路径 XLogSelfFlushWithoutStatus(341 声明 / 3844 实现)：仅在一次 WAL 拷贝内第二次命中起始页时，自旋等待 lastLRCFlushed 追平 prevLRC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LRC(Log Record Counter) 来自 Combined128.LRC(xlog_internal.h:239)，与 CurrBytePos 一起做 128 位原子 CAS，串接记录顺序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34056"/>
            <a:ext cx="10789920" cy="274320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txBody>
          <a:bodyPr wrap="none" anchor="ctr" tIns="12700" bIns="12700" lIns="101600" rIns="76200">
            <a:spAutoFit/>
          </a:bodyPr>
          <a:lstStyle/>
          <a:p>
            <a:pPr algn="l"/>
            <a:r>
              <a:rPr sz="1100" b="0" i="1">
                <a:solidFill>
                  <a:srgbClr val="2563A8"/>
                </a:solidFill>
                <a:latin typeface="Microsoft YaHei"/>
                <a:ea typeface="Microsoft YaHei"/>
                <a:cs typeface="Microsoft YaHei"/>
              </a:rPr>
              <a:t>src/gausskernel/storage/access/transam/xlog.cpp:3526 XLogFlushCore()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08376"/>
            <a:ext cx="10789920" cy="3392424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static void XLogFlushCore(XLogRecPtr writeRqstPtr)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START_CRIT_SECTION();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XLogwrtRqst WriteRqst;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WriteRqst.Write = writeRqstPtr;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WriteRqst.Flush = writeRqstPtr;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XLogWrite(WriteRqst, false);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END_CRIT_SECTION();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pg_memory_barrier();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/* wake up walsenders now that we've released heavily contended locks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WalSndWakeupProcessRequests();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/* ... SendShareStorageXLogCopyBackendWakeupRequest()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(void)pg_atomic_exchange_u64((uint64 *)&amp;g_instance.wal_cxt.flushResult,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                             t_thrd.shemem_ptr_cxt.XLogCtl-&gt;LogwrtResult.Flush);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WakeupWalSemaphore(&amp;g_instance.wal_cxt.walFlushWaitLock-&gt;l.sem);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2734056"/>
            <a:ext cx="768096" cy="274320"/>
          </a:xfrm>
          <a:prstGeom prst="rect">
            <a:avLst/>
          </a:prstGeom>
          <a:noFill/>
        </p:spPr>
        <p:txBody>
          <a:bodyPr wrap="none" anchor="ctr" tIns="12700" bIns="12700" lIns="0" rIns="101600">
            <a:spAutoFit/>
          </a:bodyPr>
          <a:lstStyle/>
          <a:p>
            <a:pPr algn="r"/>
            <a:r>
              <a:rPr sz="1000">
                <a:solidFill>
                  <a:srgbClr val="8C99A6"/>
                </a:solidFill>
                <a:latin typeface="Consolas"/>
              </a:rPr>
              <a:t>C++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92240"/>
            <a:ext cx="4572000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l"/>
            <a:r>
              <a:rPr sz="900">
                <a:solidFill>
                  <a:srgbClr val="9AA6B2"/>
                </a:solidFill>
                <a:latin typeface="Microsoft YaHei"/>
              </a:rPr>
              <a:t>第三部分 · 持久化存储管理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492240"/>
            <a:ext cx="4873752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ctr"/>
            <a:r>
              <a:rPr sz="900">
                <a:solidFill>
                  <a:srgbClr val="9AA6B2"/>
                </a:solidFill>
                <a:latin typeface="Microsoft YaHei"/>
              </a:rPr>
              <a:t>openGauss 6.0.0 · 源码讲解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92240"/>
            <a:ext cx="1298448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r"/>
            <a:r>
              <a:rPr sz="900">
                <a:solidFill>
                  <a:srgbClr val="9AA6B2"/>
                </a:solidFill>
                <a:latin typeface="Microsoft YaHei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检查点链 CreateCheckPoint 到落盘 redo point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98064" y="1491517"/>
            <a:ext cx="6583680" cy="465560"/>
          </a:xfrm>
          <a:prstGeom prst="roundRect">
            <a:avLst/>
          </a:prstGeom>
          <a:solidFill>
            <a:srgbClr val="3B82C4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CreateCheckPoint(xlog.cpp:12069) 计算 redo 点、写 checkpoint 记录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80176" y="1957077"/>
            <a:ext cx="219456" cy="239834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98064" y="2196911"/>
            <a:ext cx="6583680" cy="465560"/>
          </a:xfrm>
          <a:prstGeom prst="roundRect">
            <a:avLst/>
          </a:prstGeom>
          <a:solidFill>
            <a:srgbClr val="3B82C4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CheckPointGuts(xlog.cpp:12726) 依次刷 CLOG/CSNLOG/MultiXact 等子系统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80176" y="2662471"/>
            <a:ext cx="219456" cy="239834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98064" y="2902305"/>
            <a:ext cx="6583680" cy="465560"/>
          </a:xfrm>
          <a:prstGeom prst="roundRect">
            <a:avLst/>
          </a:prstGeom>
          <a:solidFill>
            <a:srgbClr val="3B82C4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CheckPointBuffers(bufmgr.cpp:4978) 刷脏共享缓冲并 fsync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80176" y="3367865"/>
            <a:ext cx="219456" cy="239834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98064" y="3607699"/>
            <a:ext cx="6583680" cy="465560"/>
          </a:xfrm>
          <a:prstGeom prst="roundRect">
            <a:avLst/>
          </a:prstGeom>
          <a:solidFill>
            <a:srgbClr val="0E7A72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BufferSync(bufmgr.cpp:4036) 扫描标记 BM_CHECKPOINT_NEEDED 的脏页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80176" y="4073259"/>
            <a:ext cx="219456" cy="239834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98064" y="4313093"/>
            <a:ext cx="6583680" cy="465560"/>
          </a:xfrm>
          <a:prstGeom prst="roundRect">
            <a:avLst/>
          </a:prstGeom>
          <a:solidFill>
            <a:srgbClr val="0E7A72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FlushBuffer 逐个写出脏页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80176" y="4778653"/>
            <a:ext cx="219456" cy="239834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98064" y="5018487"/>
            <a:ext cx="6583680" cy="465560"/>
          </a:xfrm>
          <a:prstGeom prst="roundRect">
            <a:avLst/>
          </a:prstGeom>
          <a:solidFill>
            <a:srgbClr val="3B82C4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smgrwrite -&gt; mdwrite(堆表) 或 seg_write(段页式表)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80176" y="5484047"/>
            <a:ext cx="219456" cy="239834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98064" y="5723881"/>
            <a:ext cx="6583680" cy="465560"/>
          </a:xfrm>
          <a:prstGeom prst="roundRect">
            <a:avLst/>
          </a:prstGeom>
          <a:solidFill>
            <a:srgbClr val="3B82C4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推进并写入 redo point(控制文件记录回放起点)</a:t>
            </a:r>
          </a:p>
        </p:txBody>
      </p:sp>
      <p:sp>
        <p:nvSpPr>
          <p:cNvPr id="17" name="Oval 16"/>
          <p:cNvSpPr/>
          <p:nvPr/>
        </p:nvSpPr>
        <p:spPr>
          <a:xfrm>
            <a:off x="2241064" y="1491517"/>
            <a:ext cx="465560" cy="465560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2241064" y="2196911"/>
            <a:ext cx="465560" cy="465560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241064" y="2902305"/>
            <a:ext cx="465560" cy="465560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2241064" y="3607699"/>
            <a:ext cx="465560" cy="465560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2241064" y="4313093"/>
            <a:ext cx="465560" cy="465560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2" name="Oval 21"/>
          <p:cNvSpPr/>
          <p:nvPr/>
        </p:nvSpPr>
        <p:spPr>
          <a:xfrm>
            <a:off x="2241064" y="5018487"/>
            <a:ext cx="465560" cy="465560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23" name="Oval 22"/>
          <p:cNvSpPr/>
          <p:nvPr/>
        </p:nvSpPr>
        <p:spPr>
          <a:xfrm>
            <a:off x="2241064" y="5723881"/>
            <a:ext cx="465560" cy="465560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6492240"/>
            <a:ext cx="4572000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l"/>
            <a:r>
              <a:rPr sz="900">
                <a:solidFill>
                  <a:srgbClr val="9AA6B2"/>
                </a:solidFill>
                <a:latin typeface="Microsoft YaHei"/>
              </a:rPr>
              <a:t>第三部分 · 持久化存储管理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6492240"/>
            <a:ext cx="4873752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ctr"/>
            <a:r>
              <a:rPr sz="900">
                <a:solidFill>
                  <a:srgbClr val="9AA6B2"/>
                </a:solidFill>
                <a:latin typeface="Microsoft YaHei"/>
              </a:rPr>
              <a:t>openGauss 6.0.0 · 源码讲解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2895" y="6492240"/>
            <a:ext cx="1298448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r"/>
            <a:r>
              <a:rPr sz="900">
                <a:solidFill>
                  <a:srgbClr val="9AA6B2"/>
                </a:solidFill>
                <a:latin typeface="Microsoft YaHei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Astore 追加存储引擎 heap_insert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调用链 heap_insert -&gt; RelationGetBufferForTuple -&gt; RelationPutHeapTuple -&gt; MarkBufferDirty -&gt; XLogInsert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原地不改旧版本：UPDATE/DELETE 只标记旧元组，新版本另写新位置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heap_update (heapam.cpp:5025) 走 HOT 链；heap_delete (heapam.cpp:4485) 只置删除标志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41448"/>
            <a:ext cx="10789920" cy="274320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txBody>
          <a:bodyPr wrap="none" anchor="ctr" tIns="12700" bIns="12700" lIns="101600" rIns="76200">
            <a:spAutoFit/>
          </a:bodyPr>
          <a:lstStyle/>
          <a:p>
            <a:pPr algn="l"/>
            <a:r>
              <a:rPr sz="1100" b="0" i="1">
                <a:solidFill>
                  <a:srgbClr val="2563A8"/>
                </a:solidFill>
                <a:latin typeface="Microsoft YaHei"/>
                <a:ea typeface="Microsoft YaHei"/>
                <a:cs typeface="Microsoft YaHei"/>
              </a:rPr>
              <a:t>src/gausskernel/storage/access/heap/heapam.cpp:2972 heap_insert()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15768"/>
            <a:ext cx="10789920" cy="3685032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buffer = RelationGetBufferForTuple(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relation, heaptup-&gt;t_len, InvalidBuffer, options, bistate, &amp;vmbuffer, NULL, rel_end_block);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/* NO EREPORT(ERROR) from here till changes are logged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START_CRIT_SECTION();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RelationPutHeapTuple(relation, buffer, heaptup, xid);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MarkBufferDirty(buffer);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/* XLOG stuff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if (!(options &amp; HEAP_INSERT_SKIP_WAL) &amp;&amp; RelationNeedsWAL(relation)) {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xl_heap_insert xlrec;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XLogBeginInsert();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2441448"/>
            <a:ext cx="768096" cy="274320"/>
          </a:xfrm>
          <a:prstGeom prst="rect">
            <a:avLst/>
          </a:prstGeom>
          <a:noFill/>
        </p:spPr>
        <p:txBody>
          <a:bodyPr wrap="none" anchor="ctr" tIns="12700" bIns="12700" lIns="0" rIns="101600">
            <a:spAutoFit/>
          </a:bodyPr>
          <a:lstStyle/>
          <a:p>
            <a:pPr algn="r"/>
            <a:r>
              <a:rPr sz="1000">
                <a:solidFill>
                  <a:srgbClr val="8C99A6"/>
                </a:solidFill>
                <a:latin typeface="Consolas"/>
              </a:rPr>
              <a:t>C++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92240"/>
            <a:ext cx="4572000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l"/>
            <a:r>
              <a:rPr sz="900">
                <a:solidFill>
                  <a:srgbClr val="9AA6B2"/>
                </a:solidFill>
                <a:latin typeface="Microsoft YaHei"/>
              </a:rPr>
              <a:t>第三部分 · 持久化存储管理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492240"/>
            <a:ext cx="4873752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ctr"/>
            <a:r>
              <a:rPr sz="900">
                <a:solidFill>
                  <a:srgbClr val="9AA6B2"/>
                </a:solidFill>
                <a:latin typeface="Microsoft YaHei"/>
              </a:rPr>
              <a:t>openGauss 6.0.0 · 源码讲解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92240"/>
            <a:ext cx="1298448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r"/>
            <a:r>
              <a:rPr sz="900">
                <a:solidFill>
                  <a:srgbClr val="9AA6B2"/>
                </a:solidFill>
                <a:latin typeface="Microsoft YaHei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Ustore 原位更新引擎 UHeapInsert（默认）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调用链 UHeapInsert -&gt; UHeapPageReserveTransactionSlot -&gt; UHeapPrepareUndoInsert -&gt; RelationPutUTuple -&gt; MarkBufferDirty -&gt; LogUHeapInsert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关键结构 UHeapPageHeaderData（knl_upage.h:260，td_count 个 TD 事务目录槽）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关键结构 UHeapTupleData（knl_utuple.h:168，磁盘元组用 TD 槽定位事务，而非头部 XID）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41448"/>
            <a:ext cx="10789920" cy="274320"/>
          </a:xfrm>
          <a:prstGeom prst="rect">
            <a:avLst/>
          </a:prstGeom>
          <a:solidFill>
            <a:srgbClr val="EAEEF4"/>
          </a:solidFill>
          <a:ln>
            <a:noFill/>
          </a:ln>
        </p:spPr>
        <p:txBody>
          <a:bodyPr wrap="none" anchor="ctr" tIns="12700" bIns="12700" lIns="101600" rIns="76200">
            <a:spAutoFit/>
          </a:bodyPr>
          <a:lstStyle/>
          <a:p>
            <a:pPr algn="l"/>
            <a:r>
              <a:rPr sz="1100" b="0" i="1">
                <a:solidFill>
                  <a:srgbClr val="2563A8"/>
                </a:solidFill>
                <a:latin typeface="Microsoft YaHei"/>
                <a:ea typeface="Microsoft YaHei"/>
                <a:cs typeface="Microsoft YaHei"/>
              </a:rPr>
              <a:t>src/gausskernel/storage/access/ustore/knl_uheap.cpp:563 UHeapInsert()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15768"/>
            <a:ext cx="10789920" cy="3685032"/>
          </a:xfrm>
          <a:prstGeom prst="roundRect">
            <a:avLst/>
          </a:prstGeom>
          <a:solidFill>
            <a:srgbClr val="F6F8FB"/>
          </a:solidFill>
          <a:ln w="9525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tIns="73152" rIns="73152" bIns="73152"/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tdSlot = UHeapPageReserveTransactionSlot(rel, buffer, fxid, &amp;prevUrecptr,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&amp;lockReacquired, InvalidBuffer, &amp;minXidInTDSlots, false);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urecPtr = UHeapPrepareUndoInsert(relOid, partitionOid, RelationGetRelFileNode(rel),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RelationGetRnodeSpace(rel), persistence, fxid, cid,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   prevUrecptr, INVALID_UNDO_REC_PTR, BufferGetBlockNumber(buffer), NULL, &amp;xlum);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UHeapTupleHeaderSetTDSlot(tuple-&gt;disk_tuple, tdSlot);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UHeapTupleSetModifiedXid(rel, buffer, tuple, fxid);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/* Put utuple into buffer page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RelationPutUTuple(rel, buffer, tuple);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/* ... */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UHeapPageSetUndo(buffer, tdSlot, fxid, urecPtr);</a:t>
            </a:r>
          </a:p>
          <a:p>
            <a:pPr>
              <a:lnSpc>
                <a:spcPct val="100000"/>
              </a:lnSpc>
            </a:pPr>
            <a:r>
              <a:rPr sz="1050" b="0" i="0">
                <a:solidFill>
                  <a:srgbClr val="1F2A37"/>
                </a:solidFill>
                <a:latin typeface="Consolas"/>
                <a:ea typeface="Consolas"/>
                <a:cs typeface="Consolas"/>
              </a:rPr>
              <a:t>MarkBufferDirty(buffer);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2441448"/>
            <a:ext cx="768096" cy="274320"/>
          </a:xfrm>
          <a:prstGeom prst="rect">
            <a:avLst/>
          </a:prstGeom>
          <a:noFill/>
        </p:spPr>
        <p:txBody>
          <a:bodyPr wrap="none" anchor="ctr" tIns="12700" bIns="12700" lIns="0" rIns="101600">
            <a:spAutoFit/>
          </a:bodyPr>
          <a:lstStyle/>
          <a:p>
            <a:pPr algn="r"/>
            <a:r>
              <a:rPr sz="1000">
                <a:solidFill>
                  <a:srgbClr val="8C99A6"/>
                </a:solidFill>
                <a:latin typeface="Consolas"/>
              </a:rPr>
              <a:t>C++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6492240"/>
            <a:ext cx="4572000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l"/>
            <a:r>
              <a:rPr sz="900">
                <a:solidFill>
                  <a:srgbClr val="9AA6B2"/>
                </a:solidFill>
                <a:latin typeface="Microsoft YaHei"/>
              </a:rPr>
              <a:t>第三部分 · 持久化存储管理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492240"/>
            <a:ext cx="4873752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ctr"/>
            <a:r>
              <a:rPr sz="900">
                <a:solidFill>
                  <a:srgbClr val="9AA6B2"/>
                </a:solidFill>
                <a:latin typeface="Microsoft YaHei"/>
              </a:rPr>
              <a:t>openGauss 6.0.0 · 源码讲解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492240"/>
            <a:ext cx="1298448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r"/>
            <a:r>
              <a:rPr sz="900">
                <a:solidFill>
                  <a:srgbClr val="9AA6B2"/>
                </a:solidFill>
                <a:latin typeface="Microsoft YaHei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Undo 多版本与版本重建（Ustore）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98064" y="1491517"/>
            <a:ext cx="6583680" cy="465560"/>
          </a:xfrm>
          <a:prstGeom prst="roundRect">
            <a:avLst/>
          </a:prstGeom>
          <a:solidFill>
            <a:srgbClr val="3B82C4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UHeapUpdate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80176" y="1957077"/>
            <a:ext cx="219456" cy="239834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98064" y="2196911"/>
            <a:ext cx="6583680" cy="465560"/>
          </a:xfrm>
          <a:prstGeom prst="roundRect">
            <a:avLst/>
          </a:prstGeom>
          <a:solidFill>
            <a:srgbClr val="3B82C4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UHeapPrepareUndoUpdate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80176" y="2662471"/>
            <a:ext cx="219456" cy="239834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98064" y="2902305"/>
            <a:ext cx="6583680" cy="465560"/>
          </a:xfrm>
          <a:prstGeom prst="roundRect">
            <a:avLst/>
          </a:prstGeom>
          <a:solidFill>
            <a:srgbClr val="3B82C4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UndoRecord::Prepare（knl_uundorecord.cpp:264 预留 undo 空间）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80176" y="3367865"/>
            <a:ext cx="219456" cy="239834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98064" y="3607699"/>
            <a:ext cx="6583680" cy="465560"/>
          </a:xfrm>
          <a:prstGeom prst="roundRect">
            <a:avLst/>
          </a:prstGeom>
          <a:solidFill>
            <a:srgbClr val="3B82C4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PrepareUndoMeta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80176" y="4073259"/>
            <a:ext cx="219456" cy="239834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98064" y="4313093"/>
            <a:ext cx="6583680" cy="465560"/>
          </a:xfrm>
          <a:prstGeom prst="roundRect">
            <a:avLst/>
          </a:prstGeom>
          <a:solidFill>
            <a:srgbClr val="3B82C4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RelationPutUTuple（原地覆盖新值）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980176" y="4778653"/>
            <a:ext cx="219456" cy="239834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98064" y="5018487"/>
            <a:ext cx="6583680" cy="465560"/>
          </a:xfrm>
          <a:prstGeom prst="roundRect">
            <a:avLst/>
          </a:prstGeom>
          <a:solidFill>
            <a:srgbClr val="3B82C4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MarkBufferDirty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80176" y="5484047"/>
            <a:ext cx="219456" cy="239834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98064" y="5723881"/>
            <a:ext cx="6583680" cy="465560"/>
          </a:xfrm>
          <a:prstGeom prst="roundRect">
            <a:avLst/>
          </a:prstGeom>
          <a:solidFill>
            <a:srgbClr val="3B82C4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XLogInsert</a:t>
            </a:r>
          </a:p>
        </p:txBody>
      </p:sp>
      <p:sp>
        <p:nvSpPr>
          <p:cNvPr id="17" name="Oval 16"/>
          <p:cNvSpPr/>
          <p:nvPr/>
        </p:nvSpPr>
        <p:spPr>
          <a:xfrm>
            <a:off x="2241064" y="1491517"/>
            <a:ext cx="465560" cy="465560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2241064" y="2196911"/>
            <a:ext cx="465560" cy="465560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Oval 18"/>
          <p:cNvSpPr/>
          <p:nvPr/>
        </p:nvSpPr>
        <p:spPr>
          <a:xfrm>
            <a:off x="2241064" y="2902305"/>
            <a:ext cx="465560" cy="465560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2241064" y="3607699"/>
            <a:ext cx="465560" cy="465560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2241064" y="4313093"/>
            <a:ext cx="465560" cy="465560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2" name="Oval 21"/>
          <p:cNvSpPr/>
          <p:nvPr/>
        </p:nvSpPr>
        <p:spPr>
          <a:xfrm>
            <a:off x="2241064" y="5018487"/>
            <a:ext cx="465560" cy="465560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23" name="Oval 22"/>
          <p:cNvSpPr/>
          <p:nvPr/>
        </p:nvSpPr>
        <p:spPr>
          <a:xfrm>
            <a:off x="2241064" y="5723881"/>
            <a:ext cx="465560" cy="465560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455664"/>
            <a:ext cx="11185855" cy="10972"/>
          </a:xfrm>
          <a:prstGeom prst="rect">
            <a:avLst/>
          </a:prstGeom>
          <a:solidFill>
            <a:srgbClr val="E5E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6492240"/>
            <a:ext cx="4572000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l"/>
            <a:r>
              <a:rPr sz="900">
                <a:solidFill>
                  <a:srgbClr val="9AA6B2"/>
                </a:solidFill>
                <a:latin typeface="Microsoft YaHei"/>
              </a:rPr>
              <a:t>第三部分 · 持久化存储管理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6492240"/>
            <a:ext cx="4873752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ctr"/>
            <a:r>
              <a:rPr sz="900">
                <a:solidFill>
                  <a:srgbClr val="9AA6B2"/>
                </a:solidFill>
                <a:latin typeface="Microsoft YaHei"/>
              </a:rPr>
              <a:t>openGauss 6.0.0 · 源码讲解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62895" y="6492240"/>
            <a:ext cx="1298448" cy="274320"/>
          </a:xfrm>
          <a:prstGeom prst="rect">
            <a:avLst/>
          </a:prstGeom>
          <a:noFill/>
        </p:spPr>
        <p:txBody>
          <a:bodyPr wrap="none" tIns="0" bIns="0" lIns="25400" rIns="25400">
            <a:spAutoFit/>
          </a:bodyPr>
          <a:lstStyle/>
          <a:p>
            <a:pPr algn="r"/>
            <a:r>
              <a:rPr sz="900">
                <a:solidFill>
                  <a:srgbClr val="9AA6B2"/>
                </a:solidFill>
                <a:latin typeface="Microsoft YaHei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端到端贯通 一次 UPDATE 从缓存到落盘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893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上半段是访问方法在共享缓冲区里原地修改, 下半段是检查点把脏页刷回磁盘</a:t>
            </a:r>
          </a:p>
          <a:p>
            <a:pPr>
              <a:spcAft>
                <a:spcPts val="600"/>
              </a:spcAft>
            </a:pPr>
            <a:r>
              <a:rPr sz="13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WAL 先行(WAL-before-data): 改页前先写 redo 日志, 提交时 XLogFlush 把 WAL 落盘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98064" y="1466812"/>
            <a:ext cx="6583680" cy="369646"/>
          </a:xfrm>
          <a:prstGeom prst="roundRect">
            <a:avLst/>
          </a:prstGeom>
          <a:solidFill>
            <a:srgbClr val="3B82C4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UHeapUpdate 访问方法</a:t>
            </a:r>
          </a:p>
        </p:txBody>
      </p:sp>
      <p:sp>
        <p:nvSpPr>
          <p:cNvPr id="6" name="Down Arrow 5"/>
          <p:cNvSpPr/>
          <p:nvPr/>
        </p:nvSpPr>
        <p:spPr>
          <a:xfrm>
            <a:off x="5980176" y="1836458"/>
            <a:ext cx="219456" cy="190424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98064" y="2026882"/>
            <a:ext cx="6583680" cy="369646"/>
          </a:xfrm>
          <a:prstGeom prst="roundRect">
            <a:avLst/>
          </a:prstGeom>
          <a:solidFill>
            <a:srgbClr val="3B82C4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UndoRecord::Prepare 准备 undo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80176" y="2396528"/>
            <a:ext cx="219456" cy="190424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98064" y="2586952"/>
            <a:ext cx="6583680" cy="369646"/>
          </a:xfrm>
          <a:prstGeom prst="roundRect">
            <a:avLst/>
          </a:prstGeom>
          <a:solidFill>
            <a:srgbClr val="3B82C4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RelationPutUTuple 缓冲页原地改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80176" y="2956598"/>
            <a:ext cx="219456" cy="190424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98064" y="3147022"/>
            <a:ext cx="6583680" cy="369646"/>
          </a:xfrm>
          <a:prstGeom prst="roundRect">
            <a:avLst/>
          </a:prstGeom>
          <a:solidFill>
            <a:srgbClr val="3B82C4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MarkBufferDirty 置 BM_DIRTY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80176" y="3516668"/>
            <a:ext cx="219456" cy="190424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98064" y="3707092"/>
            <a:ext cx="6583680" cy="369646"/>
          </a:xfrm>
          <a:prstGeom prst="roundRect">
            <a:avLst/>
          </a:prstGeom>
          <a:solidFill>
            <a:srgbClr val="3B82C4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XLogInsert/XLogFlush WAL 先行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80176" y="4076738"/>
            <a:ext cx="219456" cy="190424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98064" y="4267162"/>
            <a:ext cx="6583680" cy="369646"/>
          </a:xfrm>
          <a:prstGeom prst="roundRect">
            <a:avLst/>
          </a:prstGeom>
          <a:solidFill>
            <a:srgbClr val="3B82C4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事务提交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980176" y="4636808"/>
            <a:ext cx="219456" cy="190424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98064" y="4827232"/>
            <a:ext cx="6583680" cy="369646"/>
          </a:xfrm>
          <a:prstGeom prst="roundRect">
            <a:avLst/>
          </a:prstGeom>
          <a:solidFill>
            <a:srgbClr val="0E7A72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CreateCheckPoint -&gt; BufferSync -&gt; FlushBuffer 脏页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980176" y="5196878"/>
            <a:ext cx="219456" cy="190424"/>
          </a:xfrm>
          <a:prstGeom prst="downArrow">
            <a:avLst/>
          </a:prstGeom>
          <a:solidFill>
            <a:srgbClr val="B0BC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98064" y="5387302"/>
            <a:ext cx="6583680" cy="369646"/>
          </a:xfrm>
          <a:prstGeom prst="roundRect">
            <a:avLst/>
          </a:prstGeom>
          <a:solidFill>
            <a:srgbClr val="3B82C4"/>
          </a:solidFill>
          <a:ln w="1587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 bIns="27432"/>
          <a:lstStyle/>
          <a:p>
            <a:pPr algn="ctr"/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smgrwrite -&gt; mdwrite 或 seg_write -&gt; FilePWrite 落盘</a:t>
            </a:r>
          </a:p>
        </p:txBody>
      </p:sp>
      <p:sp>
        <p:nvSpPr>
          <p:cNvPr id="20" name="Oval 19"/>
          <p:cNvSpPr/>
          <p:nvPr/>
        </p:nvSpPr>
        <p:spPr>
          <a:xfrm>
            <a:off x="2336978" y="1466812"/>
            <a:ext cx="369646" cy="369646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1" name="Oval 20"/>
          <p:cNvSpPr/>
          <p:nvPr/>
        </p:nvSpPr>
        <p:spPr>
          <a:xfrm>
            <a:off x="2336978" y="2026882"/>
            <a:ext cx="369646" cy="369646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2" name="Oval 21"/>
          <p:cNvSpPr/>
          <p:nvPr/>
        </p:nvSpPr>
        <p:spPr>
          <a:xfrm>
            <a:off x="2336978" y="2586952"/>
            <a:ext cx="369646" cy="369646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3" name="Oval 22"/>
          <p:cNvSpPr/>
          <p:nvPr/>
        </p:nvSpPr>
        <p:spPr>
          <a:xfrm>
            <a:off x="2336978" y="3147022"/>
            <a:ext cx="369646" cy="369646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2336978" y="3707092"/>
            <a:ext cx="369646" cy="369646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5" name="Oval 24"/>
          <p:cNvSpPr/>
          <p:nvPr/>
        </p:nvSpPr>
        <p:spPr>
          <a:xfrm>
            <a:off x="2336978" y="4267162"/>
            <a:ext cx="369646" cy="369646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26" name="Oval 25"/>
          <p:cNvSpPr/>
          <p:nvPr/>
        </p:nvSpPr>
        <p:spPr>
          <a:xfrm>
            <a:off x="2336978" y="4827232"/>
            <a:ext cx="369646" cy="369646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  <p:sp>
        <p:nvSpPr>
          <p:cNvPr id="27" name="Oval 26"/>
          <p:cNvSpPr/>
          <p:nvPr/>
        </p:nvSpPr>
        <p:spPr>
          <a:xfrm>
            <a:off x="2336978" y="5387302"/>
            <a:ext cx="369646" cy="369646"/>
          </a:xfrm>
          <a:prstGeom prst="ellipse">
            <a:avLst/>
          </a:prstGeom>
          <a:solidFill>
            <a:srgbClr val="162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b="1" sz="1300">
                <a:solidFill>
                  <a:srgbClr val="FFFFFF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文档 vs 开源 保真度对照表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24128"/>
            <a:ext cx="10881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凡商业增强项需明确区分: openGauss 6.0.0 开源 != GaussDB 商业版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2014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52"/>
                <a:gridCol w="2352294"/>
                <a:gridCol w="4144518"/>
                <a:gridCol w="2688336"/>
              </a:tblGrid>
              <a:tr h="372291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特性</a:t>
                      </a:r>
                    </a:p>
                  </a:txBody>
                  <a:tcPr marL="54864" marR="54864" marT="13716" marB="13716"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GaussDB 文档</a:t>
                      </a:r>
                    </a:p>
                  </a:txBody>
                  <a:tcPr marL="54864" marR="54864" marT="13716" marB="13716"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openGauss 6.0.0 开源</a:t>
                      </a:r>
                    </a:p>
                  </a:txBody>
                  <a:tcPr marL="54864" marR="54864" marT="13716" marB="13716">
                    <a:solidFill>
                      <a:srgbClr val="1620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备注</a:t>
                      </a:r>
                    </a:p>
                  </a:txBody>
                  <a:tcPr marL="54864" marR="54864" marT="13716" marB="13716">
                    <a:solidFill>
                      <a:srgbClr val="16202E"/>
                    </a:solidFill>
                  </a:tcPr>
                </a:tc>
              </a:tr>
              <a:tr h="372291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Ustore (In-place)</a:t>
                      </a:r>
                    </a:p>
                  </a:txBody>
                  <a:tcPr marL="54864" marR="54864" marT="13716" marB="13716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完整支持</a:t>
                      </a:r>
                    </a:p>
                  </a:txBody>
                  <a:tcPr marL="54864" marR="54864" marT="13716" marB="13716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存在, src/gausskernel/storage/access/ustore/knl_uheap.cpp</a:t>
                      </a:r>
                    </a:p>
                  </a:txBody>
                  <a:tcPr marL="54864" marR="54864" marT="13716" marB="13716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开源主线已实现</a:t>
                      </a:r>
                    </a:p>
                  </a:txBody>
                  <a:tcPr marL="54864" marR="54864" marT="13716" marB="13716">
                    <a:solidFill>
                      <a:srgbClr val="F4F6F8"/>
                    </a:solidFill>
                  </a:tcPr>
                </a:tc>
              </a:tr>
              <a:tr h="372291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UBTree (RCR+PCR)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RCR/PCR 多版本索引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 RCR, UBTREE_OPAQUE_VERSION_RCR (include/access/ubtree.h)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RCR 术语主要落在 ubtree 层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Undo 子系统</a:t>
                      </a:r>
                    </a:p>
                  </a:txBody>
                  <a:tcPr marL="54864" marR="54864" marT="13716" marB="13716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</a:t>
                      </a:r>
                    </a:p>
                  </a:txBody>
                  <a:tcPr marL="54864" marR="54864" marT="13716" marB="13716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存在, ustore/undo/knl_uundoapi.cpp 等 6 文件</a:t>
                      </a:r>
                    </a:p>
                  </a:txBody>
                  <a:tcPr marL="54864" marR="54864" marT="13716" marB="13716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文件齐备</a:t>
                      </a:r>
                    </a:p>
                  </a:txBody>
                  <a:tcPr marL="54864" marR="54864" marT="13716" marB="13716">
                    <a:solidFill>
                      <a:srgbClr val="F4F6F8"/>
                    </a:solidFill>
                  </a:tcPr>
                </a:tc>
              </a:tr>
              <a:tr h="372291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Global SysCache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全局系统缓存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存在, include/utils/knl_globalsys*.h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knl_globalsystupcache 等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Global Plan Cache</a:t>
                      </a:r>
                    </a:p>
                  </a:txBody>
                  <a:tcPr marL="54864" marR="54864" marT="13716" marB="13716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全局计划缓存</a:t>
                      </a:r>
                    </a:p>
                  </a:txBody>
                  <a:tcPr marL="54864" marR="54864" marT="13716" marB="13716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存在, process/globalplancache/globalplancache.cpp</a:t>
                      </a:r>
                    </a:p>
                  </a:txBody>
                  <a:tcPr marL="54864" marR="54864" marT="13716" marB="13716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开源实现完整</a:t>
                      </a:r>
                    </a:p>
                  </a:txBody>
                  <a:tcPr marL="54864" marR="54864" marT="13716" marB="13716">
                    <a:solidFill>
                      <a:srgbClr val="F4F6F8"/>
                    </a:solidFill>
                  </a:tcPr>
                </a:tc>
              </a:tr>
              <a:tr h="372291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ADIO 异步直接 IO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默认能力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 GUC enable_adio_function (guc_storage.cpp)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默认关闭, 是适配开关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段页式存储</a:t>
                      </a:r>
                    </a:p>
                  </a:txBody>
                  <a:tcPr marL="54864" marR="54864" marT="13716" marB="13716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</a:t>
                      </a:r>
                    </a:p>
                  </a:txBody>
                  <a:tcPr marL="54864" marR="54864" marT="13716" marB="13716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存在, storage/smgr/segment/*</a:t>
                      </a:r>
                    </a:p>
                  </a:txBody>
                  <a:tcPr marL="54864" marR="54864" marT="13716" marB="13716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seg_write/space.cpp</a:t>
                      </a:r>
                    </a:p>
                  </a:txBody>
                  <a:tcPr marL="54864" marR="54864" marT="13716" marB="13716">
                    <a:solidFill>
                      <a:srgbClr val="F4F6F8"/>
                    </a:solidFill>
                  </a:tcPr>
                </a:tc>
              </a:tr>
              <a:tr h="372291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NUMA 感知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 GUC numa_distribute_mode (guc.cpp); MOT mm_numa.cpp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多处 NUMA 支持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cstore_buffers 列存缓冲</a:t>
                      </a:r>
                    </a:p>
                  </a:txBody>
                  <a:tcPr marL="54864" marR="54864" marT="13716" marB="13716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</a:t>
                      </a:r>
                    </a:p>
                  </a:txBody>
                  <a:tcPr marL="54864" marR="54864" marT="13716" marB="13716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 GUC cstore_buffers (guc_storage.cpp)</a:t>
                      </a:r>
                    </a:p>
                  </a:txBody>
                  <a:tcPr marL="54864" marR="54864" marT="13716" marB="13716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列存独立缓冲池</a:t>
                      </a:r>
                    </a:p>
                  </a:txBody>
                  <a:tcPr marL="54864" marR="54864" marT="13716" marB="13716">
                    <a:solidFill>
                      <a:srgbClr val="F4F6F8"/>
                    </a:solidFill>
                  </a:tcPr>
                </a:tc>
              </a:tr>
              <a:tr h="372291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MOT 内存表引擎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开源可选, storage/mot/core/*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需编译期开启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Enhanced Toast</a:t>
                      </a:r>
                    </a:p>
                  </a:txBody>
                  <a:tcPr marL="54864" marR="54864" marT="13716" marB="13716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增强大对象存储</a:t>
                      </a:r>
                    </a:p>
                  </a:txBody>
                  <a:tcPr marL="54864" marR="54864" marT="13716" marB="13716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开源缺失, 仅标准 PostgreSQL TOAST</a:t>
                      </a:r>
                    </a:p>
                  </a:txBody>
                  <a:tcPr marL="54864" marR="54864" marT="13716" marB="13716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GaussDB 专有, 勿等同</a:t>
                      </a:r>
                    </a:p>
                  </a:txBody>
                  <a:tcPr marL="54864" marR="54864" marT="13716" marB="13716">
                    <a:solidFill>
                      <a:srgbClr val="F4F6F8"/>
                    </a:solidFill>
                  </a:tcPr>
                </a:tc>
              </a:tr>
              <a:tr h="372291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去双写 (double-write)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宣称去双写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未真正移除: dw_enabled() (double_write.h:280), 段页式仍 seg_dw_single_flush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被夸大, 实为受 GUC 控制</a:t>
                      </a:r>
                    </a:p>
                  </a:txBody>
                  <a:tcPr marL="54864" marR="54864" marT="13716" marB="13716">
                    <a:solidFill>
                      <a:srgbClr val="FFFFFF"/>
                    </a:solidFill>
                  </a:tcPr>
                </a:tc>
              </a:tr>
              <a:tr h="372297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Global PL/SQL Cache</a:t>
                      </a:r>
                    </a:p>
                  </a:txBody>
                  <a:tcPr marL="54864" marR="54864" marT="13716" marB="13716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 PL/SQL 缓存</a:t>
                      </a:r>
                    </a:p>
                  </a:txBody>
                  <a:tcPr marL="54864" marR="54864" marT="13716" marB="13716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开源更窄: 仅 package 运行时缓存 pl_global_package_runtime_cache.cpp</a:t>
                      </a:r>
                    </a:p>
                  </a:txBody>
                  <a:tcPr marL="54864" marR="54864" marT="13716" marB="13716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942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不等于文档完整能力</a:t>
                      </a:r>
                    </a:p>
                  </a:txBody>
                  <a:tcPr marL="54864" marR="54864" marT="13716" marB="13716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57200"/>
            <a:ext cx="109728" cy="502920"/>
          </a:xfrm>
          <a:prstGeom prst="rect">
            <a:avLst/>
          </a:prstGeom>
          <a:solidFill>
            <a:srgbClr val="3B8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8404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16202E"/>
                </a:solidFill>
                <a:latin typeface="Microsoft YaHei"/>
                <a:ea typeface="Microsoft YaHei"/>
                <a:cs typeface="Microsoft YaHei"/>
              </a:rPr>
              <a:t>总结与参考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缓冲管理主线: ReadBuffer -&gt; BufferAlloc 查哈希表命中/淘汰 -&gt; 时钟扫描选 victim -&gt; FlushBuffer/MarkBufferDirty, BM_DIRTY 与 pin/refcount 是核心状态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持久化主线: WAL 先行(XLogInsert/XLogFlush) + 检查点(CreateCheckPoint -&gt; BufferSync -&gt; FlushBuffer) + smgr 分派(mdwrite / seg_write -&gt; FilePWrite), double-write 防 torn page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端到端: 一次 UPDATE 先改内存页并写 WAL, 提交只刷日志, 数据页由检查点异步落盘, 崩溃后重放 WAL 追平——这就是两大主题的交汇点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保真度提醒: 开源 openGauss 6.0.0 != GaussDB 商业版; Enhanced Toast 缺失、"去双写"未真正移除、Global PL/SQL Cache 更窄, 讲解时务必区分文档与源码</a:t>
            </a:r>
          </a:p>
          <a:p>
            <a:pPr>
              <a:spcAft>
                <a:spcPts val="600"/>
              </a:spcAft>
            </a:pPr>
            <a:r>
              <a:rPr sz="1800" b="0" i="0">
                <a:solidFill>
                  <a:srgbClr val="39424E"/>
                </a:solidFill>
                <a:latin typeface="Microsoft YaHei"/>
                <a:ea typeface="Microsoft YaHei"/>
                <a:cs typeface="Microsoft YaHei"/>
              </a:rPr>
              <a:t>• 参考: openGauss 6.0.0 (commit 00b0818b); 关键源码 src/gausskernel/storage/{buffer,smgr,access}; 概念以 GaussDB V2.0-25.860.1 文档对应章节补充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