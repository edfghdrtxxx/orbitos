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4.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handoutMasterIdLst>
    <p:handoutMasterId r:id="rId29"/>
  </p:handoutMasterIdLst>
  <p:sldIdLst>
    <p:sldId id="386" r:id="rId4"/>
    <p:sldId id="457" r:id="rId6"/>
    <p:sldId id="426" r:id="rId7"/>
    <p:sldId id="431" r:id="rId8"/>
    <p:sldId id="461" r:id="rId9"/>
    <p:sldId id="458" r:id="rId10"/>
    <p:sldId id="462" r:id="rId11"/>
    <p:sldId id="434" r:id="rId12"/>
    <p:sldId id="460" r:id="rId13"/>
    <p:sldId id="421" r:id="rId14"/>
    <p:sldId id="423" r:id="rId15"/>
    <p:sldId id="428" r:id="rId16"/>
    <p:sldId id="429" r:id="rId17"/>
    <p:sldId id="437" r:id="rId18"/>
    <p:sldId id="409" r:id="rId19"/>
    <p:sldId id="399" r:id="rId20"/>
    <p:sldId id="443" r:id="rId21"/>
    <p:sldId id="444" r:id="rId22"/>
    <p:sldId id="418" r:id="rId23"/>
    <p:sldId id="445" r:id="rId24"/>
    <p:sldId id="448" r:id="rId25"/>
    <p:sldId id="449" r:id="rId26"/>
    <p:sldId id="394" r:id="rId27"/>
    <p:sldId id="395" r:id="rId28"/>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6" userDrawn="1">
          <p15:clr>
            <a:srgbClr val="A4A3A4"/>
          </p15:clr>
        </p15:guide>
        <p15:guide id="2" pos="36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4A1"/>
    <a:srgbClr val="FFFFFF"/>
    <a:srgbClr val="174994"/>
    <a:srgbClr val="26808E"/>
    <a:srgbClr val="440154"/>
    <a:srgbClr val="37588C"/>
    <a:srgbClr val="FDE724"/>
    <a:srgbClr val="E2F0D9"/>
    <a:srgbClr val="E5EAE7"/>
    <a:srgbClr val="C2C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326"/>
        <p:guide pos="36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gs" Target="tags/tag14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latin typeface="Microsoft YaHei" panose="020B0503020204020204" charset="-122"/>
                <a:ea typeface="Microsoft YaHei" panose="020B0503020204020204" charset="-122"/>
                <a:cs typeface="Times New Roman" panose="02020603050405020304" charset="0"/>
                <a:sym typeface="+mn-ea"/>
              </a:rPr>
              <a:t>Among the detection technologies, the Active Target TPC (AT-TPC) has become a game-changer. By using the detector gas as the reaction target, it achieves high luminosity and full 4-pi coverage, making it ideal for experiments with weak radioactive beams.</a:t>
            </a:r>
            <a:endParaRPr lang="en-US" altLang="zh-CN">
              <a:latin typeface="Microsoft YaHei" panose="020B0503020204020204" charset="-122"/>
              <a:ea typeface="Microsoft YaHei" panose="020B0503020204020204" charset="-122"/>
              <a:cs typeface="Times New Roman" panose="02020603050405020304" charset="0"/>
              <a:sym typeface="+mn-ea"/>
            </a:endParaRPr>
          </a:p>
          <a:p>
            <a:r>
              <a:rPr lang="en-US" altLang="zh-CN">
                <a:latin typeface="Microsoft YaHei" panose="020B0503020204020204" charset="-122"/>
                <a:ea typeface="Microsoft YaHei" panose="020B0503020204020204" charset="-122"/>
                <a:cs typeface="Times New Roman" panose="02020603050405020304" charset="0"/>
                <a:sym typeface="+mn-ea"/>
              </a:rPr>
              <a:t>Specifically, the MATE detector at IMP is designed for this exact purpose—to study nuclear astrophysics and exotic beams.</a:t>
            </a:r>
            <a:endParaRPr lang="en-US" altLang="zh-CN">
              <a:latin typeface="Microsoft YaHei" panose="020B0503020204020204" charset="-122"/>
              <a:ea typeface="Microsoft YaHei" panose="020B0503020204020204" charset="-122"/>
              <a:cs typeface="Times New Roman" panose="02020603050405020304" charset="0"/>
              <a:sym typeface="+mn-ea"/>
            </a:endParaRPr>
          </a:p>
          <a:p>
            <a:r>
              <a:rPr lang="en-US" altLang="zh-CN">
                <a:latin typeface="Microsoft YaHei" panose="020B0503020204020204" charset="-122"/>
                <a:ea typeface="Microsoft YaHei" panose="020B0503020204020204" charset="-122"/>
                <a:cs typeface="Times New Roman" panose="02020603050405020304" charset="0"/>
                <a:sym typeface="+mn-ea"/>
              </a:rPr>
              <a:t>However, this powerful capability comes with a challenge:</a:t>
            </a:r>
            <a:br>
              <a:rPr lang="en-US" altLang="zh-CN">
                <a:latin typeface="Microsoft YaHei" panose="020B0503020204020204" charset="-122"/>
                <a:ea typeface="Microsoft YaHei" panose="020B0503020204020204" charset="-122"/>
                <a:cs typeface="Times New Roman" panose="02020603050405020304" charset="0"/>
                <a:sym typeface="+mn-ea"/>
              </a:rPr>
            </a:br>
            <a:endParaRPr lang="en-US" altLang="zh-CN">
              <a:latin typeface="Microsoft YaHei" panose="020B0503020204020204" charset="-122"/>
              <a:ea typeface="Microsoft YaHei" panose="020B0503020204020204" charset="-122"/>
              <a:cs typeface="Times New Roman" panose="02020603050405020304" charset="0"/>
              <a:sym typeface="+mn-ea"/>
            </a:endParaRPr>
          </a:p>
          <a:p>
            <a:r>
              <a:rPr lang="en-US" altLang="zh-CN">
                <a:latin typeface="Microsoft YaHei" panose="020B0503020204020204" charset="-122"/>
                <a:ea typeface="Microsoft YaHei" panose="020B0503020204020204" charset="-122"/>
                <a:cs typeface="Times New Roman" panose="02020603050405020304" charset="0"/>
                <a:sym typeface="+mn-ea"/>
              </a:rPr>
              <a:t>Therefore, we need to develop a new data processing paradigm—machine learning.</a:t>
            </a:r>
            <a:endParaRPr lang="en-US" altLang="zh-CN">
              <a:latin typeface="Microsoft YaHei" panose="020B0503020204020204" charset="-122"/>
              <a:ea typeface="Microsoft YaHei" panose="020B0503020204020204" charset="-122"/>
              <a:cs typeface="Times New Roman" panose="02020603050405020304" charset="0"/>
            </a:endParaRPr>
          </a:p>
          <a:p>
            <a:r>
              <a:rPr lang="en-US" altLang="zh-CN">
                <a:latin typeface="Microsoft YaHei" panose="020B0503020204020204" charset="-122"/>
                <a:ea typeface="Microsoft YaHei" panose="020B0503020204020204" charset="-122"/>
                <a:cs typeface="Times New Roman" panose="02020603050405020304" charset="0"/>
                <a:sym typeface="+mn-ea"/>
              </a:rPr>
              <a:t>Machine learning is penetrating fundamental nuclear physics research , yielding many successful applications both </a:t>
            </a:r>
            <a:r>
              <a:rPr lang="en-US" altLang="zh-CN" b="1">
                <a:solidFill>
                  <a:srgbClr val="174994"/>
                </a:solidFill>
                <a:latin typeface="Microsoft YaHei" panose="020B0503020204020204" charset="-122"/>
                <a:ea typeface="Microsoft YaHei" panose="020B0503020204020204" charset="-122"/>
                <a:cs typeface="Times New Roman" panose="02020603050405020304" charset="0"/>
                <a:sym typeface="+mn-ea"/>
              </a:rPr>
              <a:t>experimentally</a:t>
            </a:r>
            <a:r>
              <a:rPr lang="en-US" altLang="zh-CN">
                <a:latin typeface="Microsoft YaHei" panose="020B0503020204020204" charset="-122"/>
                <a:ea typeface="Microsoft YaHei" panose="020B0503020204020204" charset="-122"/>
                <a:cs typeface="Times New Roman" panose="02020603050405020304" charset="0"/>
                <a:sym typeface="+mn-ea"/>
              </a:rPr>
              <a:t> and </a:t>
            </a:r>
            <a:r>
              <a:rPr lang="en-US" altLang="zh-CN" b="1">
                <a:solidFill>
                  <a:srgbClr val="174994"/>
                </a:solidFill>
                <a:latin typeface="Microsoft YaHei" panose="020B0503020204020204" charset="-122"/>
                <a:ea typeface="Microsoft YaHei" panose="020B0503020204020204" charset="-122"/>
                <a:cs typeface="Times New Roman" panose="02020603050405020304" charset="0"/>
                <a:sym typeface="+mn-ea"/>
              </a:rPr>
              <a:t>theoretically</a:t>
            </a:r>
            <a:r>
              <a:rPr lang="en-US" altLang="zh-CN">
                <a:latin typeface="Microsoft YaHei" panose="020B0503020204020204" charset="-122"/>
                <a:ea typeface="Microsoft YaHei" panose="020B0503020204020204" charset="-122"/>
                <a:cs typeface="Times New Roman" panose="02020603050405020304" charset="0"/>
                <a:sym typeface="+mn-ea"/>
              </a:rPr>
              <a:t>.</a:t>
            </a:r>
            <a:br>
              <a:rPr lang="zh-CN" altLang="en-US">
                <a:latin typeface="Microsoft YaHei" panose="020B0503020204020204" charset="-122"/>
                <a:ea typeface="Microsoft YaHei" panose="020B0503020204020204" charset="-122"/>
                <a:cs typeface="Times New Roman" panose="02020603050405020304" charset="0"/>
                <a:sym typeface="+mn-ea"/>
              </a:rPr>
            </a:b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In our case, we use the simulation data generated from the MATESIM toolkit. And it comprises two part: 15k proton events (</a:t>
            </a:r>
            <a:r>
              <a:rPr lang="en-US" altLang="zh-CN" baseline="30000">
                <a:latin typeface="Times New Roman" panose="02020603050405020304" charset="0"/>
                <a:cs typeface="Times New Roman" panose="02020603050405020304" charset="0"/>
                <a:sym typeface="+mn-ea"/>
              </a:rPr>
              <a:t>12</a:t>
            </a:r>
            <a:r>
              <a:rPr lang="en-US" altLang="zh-CN">
                <a:latin typeface="Times New Roman" panose="02020603050405020304" charset="0"/>
                <a:cs typeface="Times New Roman" panose="02020603050405020304" charset="0"/>
                <a:sym typeface="+mn-ea"/>
              </a:rPr>
              <a:t>C(p, p) </a:t>
            </a:r>
            <a:r>
              <a:rPr lang="en-US" altLang="zh-CN" baseline="30000">
                <a:latin typeface="Times New Roman" panose="02020603050405020304" charset="0"/>
                <a:cs typeface="Times New Roman" panose="02020603050405020304" charset="0"/>
                <a:sym typeface="+mn-ea"/>
              </a:rPr>
              <a:t>12</a:t>
            </a:r>
            <a:r>
              <a:rPr lang="en-US" altLang="zh-CN">
                <a:latin typeface="Times New Roman" panose="02020603050405020304" charset="0"/>
                <a:cs typeface="Times New Roman" panose="02020603050405020304" charset="0"/>
                <a:sym typeface="+mn-ea"/>
              </a:rPr>
              <a:t>C) and 15k non-proton events(</a:t>
            </a:r>
            <a:r>
              <a:rPr lang="en-US" altLang="zh-CN" baseline="30000">
                <a:latin typeface="Times New Roman" panose="02020603050405020304" charset="0"/>
                <a:ea typeface="Microsoft YaHei" panose="020B0503020204020204" charset="-122"/>
                <a:cs typeface="Times New Roman" panose="02020603050405020304" charset="0"/>
                <a:sym typeface="+mn-ea"/>
              </a:rPr>
              <a:t>12</a:t>
            </a:r>
            <a:r>
              <a:rPr lang="en-US" altLang="zh-CN">
                <a:latin typeface="Times New Roman" panose="02020603050405020304" charset="0"/>
                <a:ea typeface="Microsoft YaHei" panose="020B0503020204020204" charset="-122"/>
                <a:cs typeface="Times New Roman" panose="02020603050405020304" charset="0"/>
                <a:sym typeface="+mn-ea"/>
              </a:rPr>
              <a:t>C(p, α)</a:t>
            </a:r>
            <a:r>
              <a:rPr lang="en-US" altLang="zh-CN" baseline="30000">
                <a:latin typeface="Times New Roman" panose="02020603050405020304" charset="0"/>
                <a:ea typeface="Microsoft YaHei" panose="020B0503020204020204" charset="-122"/>
                <a:cs typeface="Times New Roman" panose="02020603050405020304" charset="0"/>
                <a:sym typeface="+mn-ea"/>
              </a:rPr>
              <a:t>9</a:t>
            </a:r>
            <a:r>
              <a:rPr lang="en-US" altLang="zh-CN">
                <a:latin typeface="Times New Roman" panose="02020603050405020304" charset="0"/>
                <a:ea typeface="Microsoft YaHei" panose="020B0503020204020204" charset="-122"/>
                <a:cs typeface="Times New Roman" panose="02020603050405020304" charset="0"/>
                <a:sym typeface="+mn-ea"/>
              </a:rPr>
              <a:t>B</a:t>
            </a:r>
            <a:r>
              <a:rPr lang="en-US" altLang="zh-CN">
                <a:latin typeface="Times New Roman" panose="02020603050405020304" charset="0"/>
                <a:cs typeface="Times New Roman" panose="02020603050405020304" charset="0"/>
                <a:sym typeface="+mn-ea"/>
              </a:rPr>
              <a:t>). </a:t>
            </a:r>
            <a:endParaRPr lang="en-US" altLang="zh-CN">
              <a:latin typeface="Times New Roman" panose="02020603050405020304" charset="0"/>
              <a:cs typeface="Times New Roman" panose="02020603050405020304" charset="0"/>
              <a:sym typeface="+mn-ea"/>
            </a:endParaRPr>
          </a:p>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The data format generated by the simulation is different from the data format that the model can process. The former is point cloud 3D, and the latter is RGB 2D.</a:t>
            </a:r>
            <a:endParaRPr lang="en-US" altLang="zh-CN">
              <a:latin typeface="Times New Roman" panose="02020603050405020304" charset="0"/>
              <a:cs typeface="Times New Roman" panose="02020603050405020304" charset="0"/>
              <a:sym typeface="+mn-ea"/>
            </a:endParaRPr>
          </a:p>
          <a:p>
            <a:pPr marL="285750" indent="-285750" fontAlgn="auto">
              <a:lnSpc>
                <a:spcPts val="2700"/>
              </a:lnSpc>
              <a:buFont typeface="Wingdings" panose="05000000000000000000" charset="0"/>
              <a:buChar char="n"/>
            </a:pPr>
            <a:r>
              <a:rPr lang="en-US" altLang="zh-CN">
                <a:latin typeface="Times New Roman" panose="02020603050405020304" charset="0"/>
                <a:cs typeface="Times New Roman" panose="02020603050405020304" charset="0"/>
                <a:sym typeface="+mn-ea"/>
              </a:rPr>
              <a:t>We project the complex 3D track (point cloud) into a 2D information-rich image which represents its </a:t>
            </a:r>
            <a:r>
              <a:rPr lang="en-US" altLang="zh-CN" b="1">
                <a:solidFill>
                  <a:srgbClr val="174994"/>
                </a:solidFill>
                <a:latin typeface="Times New Roman" panose="02020603050405020304" charset="0"/>
                <a:cs typeface="Times New Roman" panose="02020603050405020304" charset="0"/>
                <a:sym typeface="+mn-ea"/>
              </a:rPr>
              <a:t>charge deposition</a:t>
            </a:r>
            <a:r>
              <a:rPr lang="en-US" altLang="zh-CN">
                <a:latin typeface="Times New Roman" panose="02020603050405020304" charset="0"/>
                <a:cs typeface="Times New Roman" panose="02020603050405020304" charset="0"/>
                <a:sym typeface="+mn-ea"/>
              </a:rPr>
              <a:t> and </a:t>
            </a:r>
            <a:r>
              <a:rPr lang="en-US" altLang="zh-CN" b="1">
                <a:solidFill>
                  <a:srgbClr val="174994"/>
                </a:solidFill>
                <a:latin typeface="Times New Roman" panose="02020603050405020304" charset="0"/>
                <a:cs typeface="Times New Roman" panose="02020603050405020304" charset="0"/>
                <a:sym typeface="+mn-ea"/>
              </a:rPr>
              <a:t>drift time</a:t>
            </a:r>
            <a:r>
              <a:rPr lang="en-US" altLang="zh-CN">
                <a:latin typeface="Times New Roman" panose="02020603050405020304" charset="0"/>
                <a:cs typeface="Times New Roman" panose="02020603050405020304" charset="0"/>
                <a:sym typeface="+mn-ea"/>
              </a:rPr>
              <a:t>. </a:t>
            </a:r>
            <a:endParaRPr lang="en-US" altLang="zh-CN">
              <a:latin typeface="Times New Roman" panose="02020603050405020304" charset="0"/>
              <a:cs typeface="Times New Roman" panose="02020603050405020304" charset="0"/>
            </a:endParaRPr>
          </a:p>
          <a:p>
            <a:r>
              <a:rPr lang="en-US" altLang="zh-CN"/>
              <a:t>The information extracted by these layers is also used as the input of FCNN</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Use physical knowledge to cross-validate the features learned by the model</a:t>
            </a:r>
            <a:endParaRPr lang="en-US" altLang="zh-CN">
              <a:latin typeface="Times New Roman" panose="02020603050405020304" charset="0"/>
              <a:ea typeface="Microsoft YaHei" panose="020B0503020204020204" charset="-122"/>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ea typeface="Microsoft YaHei" panose="020B0503020204020204" charset="-122"/>
                <a:cs typeface="Times New Roman" panose="02020603050405020304" charset="0"/>
                <a:sym typeface="+mn-ea"/>
              </a:rPr>
              <a:t>Compared to Gated Fusion, this approach not only fuses physical information but also inherently provides </a:t>
            </a:r>
            <a:r>
              <a:rPr lang="en-US" altLang="zh-CN" b="1">
                <a:solidFill>
                  <a:srgbClr val="FF0000"/>
                </a:solidFill>
                <a:latin typeface="Times New Roman" panose="02020603050405020304" charset="0"/>
                <a:ea typeface="Microsoft YaHei" panose="020B0503020204020204" charset="-122"/>
                <a:cs typeface="Times New Roman" panose="02020603050405020304" charset="0"/>
                <a:sym typeface="+mn-ea"/>
              </a:rPr>
              <a:t>interpretability</a:t>
            </a:r>
            <a:r>
              <a:rPr lang="en-US" altLang="zh-CN">
                <a:latin typeface="Times New Roman" panose="02020603050405020304" charset="0"/>
                <a:ea typeface="Microsoft YaHei" panose="020B0503020204020204" charset="-122"/>
                <a:cs typeface="Times New Roman" panose="02020603050405020304" charset="0"/>
                <a:sym typeface="+mn-ea"/>
              </a:rPr>
              <a:t>.</a:t>
            </a:r>
            <a:endParaRPr lang="en-US" altLang="zh-CN">
              <a:latin typeface="Times New Roman" panose="02020603050405020304" charset="0"/>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This interpretability comes from the fact that w</a:t>
            </a:r>
            <a:r>
              <a:rPr lang="en-US" altLang="zh-CN">
                <a:latin typeface="Times New Roman" panose="02020603050405020304" charset="0"/>
                <a:cs typeface="Times New Roman" panose="02020603050405020304" charset="0"/>
                <a:sym typeface="+mn-ea"/>
              </a:rPr>
              <a:t>e can directly see where the model's gaze is</a:t>
            </a:r>
            <a:r>
              <a:rPr lang="en-US" altLang="zh-CN">
                <a:latin typeface="Times New Roman" panose="02020603050405020304" charset="0"/>
                <a:cs typeface="Times New Roman" panose="02020603050405020304" charset="0"/>
                <a:sym typeface="+mn-ea"/>
              </a:rPr>
              <a:t>. </a:t>
            </a:r>
            <a:endParaRPr lang="en-US" altLang="zh-CN">
              <a:latin typeface="Times New Roman" panose="02020603050405020304" charset="0"/>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sym typeface="+mn-ea"/>
              </a:rPr>
              <a:t>To gain insight into the decision-making process, we can investigate the attention weights of the last attention layer, just before the final classification.</a:t>
            </a:r>
            <a:endParaRPr lang="en-US" altLang="zh-CN">
              <a:latin typeface="Times New Roman" panose="02020603050405020304" charset="0"/>
              <a:cs typeface="Times New Roman" panose="02020603050405020304" charset="0"/>
              <a:sym typeface="+mn-ea"/>
            </a:endParaRPr>
          </a:p>
          <a:p>
            <a:pPr indent="0">
              <a:lnSpc>
                <a:spcPct val="110000"/>
              </a:lnSpc>
              <a:buFont typeface="Wingdings" panose="05000000000000000000" charset="0"/>
              <a:buNone/>
            </a:pPr>
            <a:r>
              <a:rPr lang="en-US" altLang="zh-CN">
                <a:latin typeface="Times New Roman" panose="02020603050405020304" charset="0"/>
                <a:cs typeface="Times New Roman" panose="02020603050405020304" charset="0"/>
              </a:rPr>
              <a:t>In terms of specific values, the higher the weight the model assigns to a certain area, the stronger its attention is on the corresponding area. </a:t>
            </a:r>
            <a:endParaRPr lang="en-US" altLang="zh-CN">
              <a:latin typeface="Times New Roman" panose="02020603050405020304" charset="0"/>
              <a:cs typeface="Times New Roman" panose="02020603050405020304" charset="0"/>
            </a:endParaRPr>
          </a:p>
          <a:p>
            <a:pPr marL="252095" indent="0" algn="ctr" fontAlgn="auto">
              <a:lnSpc>
                <a:spcPct val="110000"/>
              </a:lnSpc>
              <a:buFont typeface="Wingdings" panose="05000000000000000000" charset="0"/>
              <a:buNone/>
            </a:pPr>
            <a:endParaRPr lang="en-US" altLang="zh-CN" i="1">
              <a:latin typeface="Times New Roman" panose="02020603050405020304" charset="0"/>
              <a:cs typeface="Times New Roman" panose="02020603050405020304" charset="0"/>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62.xml"/><Relationship Id="rId4" Type="http://schemas.openxmlformats.org/officeDocument/2006/relationships/image" Target="../media/image3.jpeg"/><Relationship Id="rId3" Type="http://schemas.openxmlformats.org/officeDocument/2006/relationships/tags" Target="../tags/tag6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2">
              <a:rPr lang="en-US"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2">
              <a:rPr lang="en-US"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2">
              <a:rPr lang="en-US"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2">
              <a:rPr lang="en-US"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2">
              <a:rPr lang="en-US"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2">
              <a:rPr lang="en-US"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2">
              <a:rPr lang="en-US"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2">
              <a:rPr lang="en-US"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2">
              <a:rPr lang="en-US"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2">
              <a:rPr lang="en-US"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2">
              <a:rPr lang="en-US"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矩形 9"/>
          <p:cNvSpPr/>
          <p:nvPr userDrawn="1"/>
        </p:nvSpPr>
        <p:spPr>
          <a:xfrm>
            <a:off x="6350" y="0"/>
            <a:ext cx="12185650" cy="1803400"/>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Title 1"/>
          <p:cNvSpPr>
            <a:spLocks noGrp="1"/>
          </p:cNvSpPr>
          <p:nvPr>
            <p:ph type="title"/>
          </p:nvPr>
        </p:nvSpPr>
        <p:spPr>
          <a:xfrm>
            <a:off x="713985" y="841620"/>
            <a:ext cx="8161071" cy="648000"/>
          </a:xfrm>
        </p:spPr>
        <p:txBody>
          <a:bodyPr>
            <a:noAutofit/>
          </a:bodyPr>
          <a:lstStyle>
            <a:lvl1pPr>
              <a:defRPr sz="3600" b="1">
                <a:solidFill>
                  <a:schemeClr val="bg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282045" y="6480175"/>
            <a:ext cx="90995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fld>
            <a:endParaRPr lang="zh-CN" altLang="en-US" dirty="0"/>
          </a:p>
        </p:txBody>
      </p:sp>
      <p:sp>
        <p:nvSpPr>
          <p:cNvPr id="6" name="日期占位符 5"/>
          <p:cNvSpPr>
            <a:spLocks noGrp="1"/>
          </p:cNvSpPr>
          <p:nvPr>
            <p:ph type="dt" sz="half" idx="10"/>
            <p:custDataLst>
              <p:tags r:id="rId2"/>
            </p:custDataLst>
          </p:nvPr>
        </p:nvSpPr>
        <p:spPr>
          <a:xfrm>
            <a:off x="25895" y="6541095"/>
            <a:ext cx="2700000" cy="316800"/>
          </a:xfrm>
        </p:spPr>
        <p:txBody>
          <a:bodyPr/>
          <a:lstStyle>
            <a:lvl1pPr>
              <a:defRPr b="1">
                <a:solidFill>
                  <a:schemeClr val="tx1"/>
                </a:solidFill>
              </a:defRPr>
            </a:lvl1pPr>
          </a:lstStyle>
          <a:p>
            <a:fld id="{760FBDFE-C587-4B4C-A407-44438C67B59E}" type="datetime2">
              <a:rPr lang="en-US" altLang="en-US" smtClean="0"/>
            </a:fld>
            <a:endParaRPr lang="zh-CN" altLang="en-US"/>
          </a:p>
        </p:txBody>
      </p:sp>
      <p:sp>
        <p:nvSpPr>
          <p:cNvPr id="9" name="页脚占位符 8"/>
          <p:cNvSpPr>
            <a:spLocks noGrp="1"/>
          </p:cNvSpPr>
          <p:nvPr>
            <p:ph type="ftr" sz="quarter" idx="11"/>
            <p:custDataLst>
              <p:tags r:id="rId3"/>
            </p:custDataLst>
          </p:nvPr>
        </p:nvSpPr>
        <p:spPr>
          <a:xfrm>
            <a:off x="4116000" y="6541095"/>
            <a:ext cx="3960000" cy="316800"/>
          </a:xfrm>
        </p:spPr>
        <p:txBody>
          <a:bodyPr/>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版2">
    <p:spTree>
      <p:nvGrpSpPr>
        <p:cNvPr id="1" name=""/>
        <p:cNvGrpSpPr/>
        <p:nvPr/>
      </p:nvGrpSpPr>
      <p:grpSpPr>
        <a:xfrm>
          <a:off x="0" y="0"/>
          <a:ext cx="0" cy="0"/>
          <a:chOff x="0" y="0"/>
          <a:chExt cx="0" cy="0"/>
        </a:xfrm>
      </p:grpSpPr>
      <p:pic>
        <p:nvPicPr>
          <p:cNvPr id="7" name="图片 6"/>
          <p:cNvPicPr/>
          <p:nvPr userDrawn="1"/>
        </p:nvPicPr>
        <p:blipFill rotWithShape="1">
          <a:blip r:embed="rId2" cstate="print">
            <a:extLst>
              <a:ext uri="{28A0092B-C50C-407E-A947-70E740481C1C}">
                <a14:useLocalDpi xmlns:a14="http://schemas.microsoft.com/office/drawing/2010/main" val="0"/>
              </a:ext>
            </a:extLst>
          </a:blip>
          <a:srcRect l="1333" t="2665" r="80417" b="30422"/>
          <a:stretch>
            <a:fillRect/>
          </a:stretch>
        </p:blipFill>
        <p:spPr>
          <a:xfrm>
            <a:off x="0" y="0"/>
            <a:ext cx="720000" cy="720000"/>
          </a:xfrm>
          <a:prstGeom prst="rect">
            <a:avLst/>
          </a:prstGeom>
        </p:spPr>
      </p:pic>
      <p:sp>
        <p:nvSpPr>
          <p:cNvPr id="8" name="Rectangle 14"/>
          <p:cNvSpPr>
            <a:spLocks noChangeArrowheads="1"/>
          </p:cNvSpPr>
          <p:nvPr userDrawn="1"/>
        </p:nvSpPr>
        <p:spPr bwMode="auto">
          <a:xfrm>
            <a:off x="0" y="720000"/>
            <a:ext cx="10080000" cy="72000"/>
          </a:xfrm>
          <a:prstGeom prst="rect">
            <a:avLst/>
          </a:prstGeom>
          <a:gradFill flip="none" rotWithShape="1">
            <a:gsLst>
              <a:gs pos="0">
                <a:schemeClr val="tx1">
                  <a:lumMod val="75000"/>
                  <a:lumOff val="25000"/>
                </a:schemeClr>
              </a:gs>
              <a:gs pos="100000">
                <a:srgbClr val="FFFFFF"/>
              </a:gs>
            </a:gsLst>
            <a:lin ang="0" scaled="0"/>
            <a:tileRect/>
          </a:gradFill>
          <a:ln w="9525">
            <a:noFill/>
            <a:miter lim="800000"/>
          </a:ln>
        </p:spPr>
        <p:txBody>
          <a:bodyPr wrap="none" anchor="ctr"/>
          <a:lstStyle/>
          <a:p>
            <a:pPr>
              <a:defRPr/>
            </a:pPr>
            <a:endParaRPr lang="fr-FR"/>
          </a:p>
        </p:txBody>
      </p:sp>
      <p:sp>
        <p:nvSpPr>
          <p:cNvPr id="11" name="Title 1"/>
          <p:cNvSpPr>
            <a:spLocks noGrp="1"/>
          </p:cNvSpPr>
          <p:nvPr>
            <p:ph type="title"/>
          </p:nvPr>
        </p:nvSpPr>
        <p:spPr>
          <a:xfrm>
            <a:off x="846065" y="72000"/>
            <a:ext cx="8161071" cy="648000"/>
          </a:xfrm>
        </p:spPr>
        <p:txBody>
          <a:bodyPr>
            <a:noAutofit/>
          </a:bodyPr>
          <a:lstStyle>
            <a:lvl1pPr>
              <a:defRPr sz="3600" b="1">
                <a:solidFill>
                  <a:schemeClr val="tx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282045" y="6480175"/>
            <a:ext cx="90995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fld>
            <a:endParaRPr lang="zh-CN" altLang="en-US" dirty="0"/>
          </a:p>
        </p:txBody>
      </p:sp>
      <p:sp>
        <p:nvSpPr>
          <p:cNvPr id="3" name="日期占位符 2"/>
          <p:cNvSpPr>
            <a:spLocks noGrp="1"/>
          </p:cNvSpPr>
          <p:nvPr>
            <p:ph type="dt" sz="half" idx="10"/>
            <p:custDataLst>
              <p:tags r:id="rId3"/>
            </p:custDataLst>
          </p:nvPr>
        </p:nvSpPr>
        <p:spPr>
          <a:xfrm>
            <a:off x="25895" y="6541095"/>
            <a:ext cx="2700000" cy="316800"/>
          </a:xfrm>
        </p:spPr>
        <p:txBody>
          <a:bodyPr/>
          <a:lstStyle>
            <a:lvl1pPr>
              <a:defRPr b="1">
                <a:solidFill>
                  <a:schemeClr val="tx1"/>
                </a:solidFill>
              </a:defRPr>
            </a:lvl1pPr>
          </a:lstStyle>
          <a:p>
            <a:fld id="{760FBDFE-C587-4B4C-A407-44438C67B59E}" type="datetime2">
              <a:rPr lang="en-US" altLang="en-US" smtClean="0"/>
            </a:fld>
            <a:endParaRPr lang="zh-CN" altLang="en-US"/>
          </a:p>
        </p:txBody>
      </p:sp>
      <p:sp>
        <p:nvSpPr>
          <p:cNvPr id="4" name="页脚占位符 3"/>
          <p:cNvSpPr>
            <a:spLocks noGrp="1"/>
          </p:cNvSpPr>
          <p:nvPr>
            <p:ph type="ftr" sz="quarter" idx="11"/>
            <p:custDataLst>
              <p:tags r:id="rId4"/>
            </p:custDataLst>
          </p:nvPr>
        </p:nvSpPr>
        <p:spPr>
          <a:xfrm>
            <a:off x="4116000" y="6541095"/>
            <a:ext cx="3960000" cy="316800"/>
          </a:xfrm>
        </p:spPr>
        <p:txBody>
          <a:bodyPr/>
          <a:p>
            <a:endParaRPr lang="zh-CN" altLang="en-US"/>
          </a:p>
        </p:txBody>
      </p:sp>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a:off x="0" y="0"/>
            <a:ext cx="12191365" cy="1120140"/>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hasCustomPrompt="1"/>
          </p:nvPr>
        </p:nvSpPr>
        <p:spPr>
          <a:xfrm>
            <a:off x="316230" y="219710"/>
            <a:ext cx="10486390" cy="705485"/>
          </a:xfrm>
        </p:spPr>
        <p:txBody>
          <a:bodyPr/>
          <a:lstStyle>
            <a:lvl1pPr>
              <a:defRPr sz="3600" b="1">
                <a:solidFill>
                  <a:schemeClr val="bg1"/>
                </a:solidFill>
                <a:latin typeface="Microsoft YaHei" panose="020B0503020204020204" charset="-122"/>
                <a:ea typeface="Microsoft YaHei" panose="020B0503020204020204" charset="-122"/>
              </a:defRPr>
            </a:lvl1pPr>
          </a:lstStyle>
          <a:p>
            <a:r>
              <a:rPr lang="en-US" altLang="zh-CN"/>
              <a:t>Edit the layout</a:t>
            </a:r>
            <a:endParaRPr lang="en-US" altLang="zh-CN"/>
          </a:p>
        </p:txBody>
      </p:sp>
      <p:pic>
        <p:nvPicPr>
          <p:cNvPr id="7" name="图片 6" descr="ucas_logo_white_huge"/>
          <p:cNvPicPr>
            <a:picLocks noChangeAspect="1"/>
          </p:cNvPicPr>
          <p:nvPr userDrawn="1"/>
        </p:nvPicPr>
        <p:blipFill>
          <a:blip r:embed="rId2"/>
          <a:stretch>
            <a:fillRect/>
          </a:stretch>
        </p:blipFill>
        <p:spPr>
          <a:xfrm>
            <a:off x="11134725" y="100965"/>
            <a:ext cx="942340" cy="942340"/>
          </a:xfrm>
          <a:prstGeom prst="rect">
            <a:avLst/>
          </a:prstGeom>
        </p:spPr>
      </p:pic>
      <p:pic>
        <p:nvPicPr>
          <p:cNvPr id="8" name="图片 7"/>
          <p:cNvPicPr>
            <a:picLocks noChangeAspect="1"/>
          </p:cNvPicPr>
          <p:nvPr userDrawn="1">
            <p:custDataLst>
              <p:tags r:id="rId3"/>
            </p:custDataLst>
          </p:nvPr>
        </p:nvPicPr>
        <p:blipFill>
          <a:blip r:embed="rId4"/>
          <a:stretch>
            <a:fillRect/>
          </a:stretch>
        </p:blipFill>
        <p:spPr>
          <a:xfrm>
            <a:off x="4559935" y="6448425"/>
            <a:ext cx="2285365" cy="403225"/>
          </a:xfrm>
          <a:prstGeom prst="rect">
            <a:avLst/>
          </a:prstGeom>
        </p:spPr>
      </p:pic>
      <p:sp>
        <p:nvSpPr>
          <p:cNvPr id="14" name="灯片编号占位符 13"/>
          <p:cNvSpPr>
            <a:spLocks noGrp="1"/>
          </p:cNvSpPr>
          <p:nvPr>
            <p:ph type="sldNum" sz="quarter" idx="12"/>
          </p:nvPr>
        </p:nvSpPr>
        <p:spPr>
          <a:xfrm>
            <a:off x="11491595" y="6448425"/>
            <a:ext cx="719455" cy="358775"/>
          </a:xfrm>
        </p:spPr>
        <p:txBody>
          <a:bodyPr/>
          <a:lstStyle>
            <a:lvl1pPr>
              <a:defRPr sz="14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fld>
            <a:endParaRPr lang="zh-CN" altLang="en-US" dirty="0"/>
          </a:p>
        </p:txBody>
      </p:sp>
      <p:sp>
        <p:nvSpPr>
          <p:cNvPr id="9" name="日期占位符 8"/>
          <p:cNvSpPr>
            <a:spLocks noGrp="1"/>
          </p:cNvSpPr>
          <p:nvPr>
            <p:ph type="dt" sz="half" idx="10"/>
            <p:custDataLst>
              <p:tags r:id="rId5"/>
            </p:custDataLst>
          </p:nvPr>
        </p:nvSpPr>
        <p:spPr>
          <a:xfrm>
            <a:off x="25895" y="6547445"/>
            <a:ext cx="2700000" cy="316800"/>
          </a:xfrm>
        </p:spPr>
        <p:txBody>
          <a:bodyPr/>
          <a:lstStyle>
            <a:lvl1pPr>
              <a:defRPr b="1">
                <a:solidFill>
                  <a:schemeClr val="tx1"/>
                </a:solidFill>
              </a:defRPr>
            </a:lvl1pPr>
          </a:lstStyle>
          <a:p>
            <a:fld id="{760FBDFE-C587-4B4C-A407-44438C67B59E}" type="datetime2">
              <a:rPr lang="en-US" altLang="en-US" smtClean="0"/>
            </a:fld>
            <a:endParaRPr lang="zh-CN" altLang="en-US"/>
          </a:p>
        </p:txBody>
      </p:sp>
      <p:cxnSp>
        <p:nvCxnSpPr>
          <p:cNvPr id="3" name="直接连接符 2"/>
          <p:cNvCxnSpPr/>
          <p:nvPr/>
        </p:nvCxnSpPr>
        <p:spPr>
          <a:xfrm flipV="1">
            <a:off x="-12065" y="6453505"/>
            <a:ext cx="12228195" cy="6350"/>
          </a:xfrm>
          <a:prstGeom prst="line">
            <a:avLst/>
          </a:prstGeom>
          <a:ln w="12700" cmpd="sng">
            <a:solidFill>
              <a:srgbClr val="174994"/>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图片 6" descr="C:/Users/kingsoft/AppData/Local/Temp/fig2wpp/@svg_UnionUnion_#color-2113&amp;620.svg"/>
          <p:cNvSpPr/>
          <p:nvPr userDrawn="1">
            <p:custDataLst>
              <p:tags r:id="rId2"/>
            </p:custDataLst>
          </p:nvPr>
        </p:nvSpPr>
        <p:spPr>
          <a:xfrm>
            <a:off x="0" y="137848"/>
            <a:ext cx="12188825" cy="3278495"/>
          </a:xfrm>
          <a:custGeom>
            <a:avLst/>
            <a:gdLst>
              <a:gd name="connsiteX0" fmla="*/ 12188825 w 12188825"/>
              <a:gd name="connsiteY0" fmla="*/ 1891953 h 3278495"/>
              <a:gd name="connsiteX1" fmla="*/ 10818928 w 12188825"/>
              <a:gd name="connsiteY1" fmla="*/ 1279161 h 3278495"/>
              <a:gd name="connsiteX2" fmla="*/ 9295528 w 12188825"/>
              <a:gd name="connsiteY2" fmla="*/ 641041 h 3278495"/>
              <a:gd name="connsiteX3" fmla="*/ 7621799 w 12188825"/>
              <a:gd name="connsiteY3" fmla="*/ 1043813 h 3278495"/>
              <a:gd name="connsiteX4" fmla="*/ 7181110 w 12188825"/>
              <a:gd name="connsiteY4" fmla="*/ 1271164 h 3278495"/>
              <a:gd name="connsiteX5" fmla="*/ 7181097 w 12188825"/>
              <a:gd name="connsiteY5" fmla="*/ 1271164 h 3278495"/>
              <a:gd name="connsiteX6" fmla="*/ 7181084 w 12188825"/>
              <a:gd name="connsiteY6" fmla="*/ 1271177 h 3278495"/>
              <a:gd name="connsiteX7" fmla="*/ 6171037 w 12188825"/>
              <a:gd name="connsiteY7" fmla="*/ 1731588 h 3278495"/>
              <a:gd name="connsiteX8" fmla="*/ 4925403 w 12188825"/>
              <a:gd name="connsiteY8" fmla="*/ 1911089 h 3278495"/>
              <a:gd name="connsiteX9" fmla="*/ 3459214 w 12188825"/>
              <a:gd name="connsiteY9" fmla="*/ 1835304 h 3278495"/>
              <a:gd name="connsiteX10" fmla="*/ 2089495 w 12188825"/>
              <a:gd name="connsiteY10" fmla="*/ 1569424 h 3278495"/>
              <a:gd name="connsiteX11" fmla="*/ 921600 w 12188825"/>
              <a:gd name="connsiteY11" fmla="*/ 1088916 h 3278495"/>
              <a:gd name="connsiteX12" fmla="*/ 135739 w 12188825"/>
              <a:gd name="connsiteY12" fmla="*/ 288056 h 3278495"/>
              <a:gd name="connsiteX13" fmla="*/ 0 w 12188825"/>
              <a:gd name="connsiteY13" fmla="*/ 35969 h 3278495"/>
              <a:gd name="connsiteX14" fmla="*/ 0 w 12188825"/>
              <a:gd name="connsiteY14" fmla="*/ 0 h 3278495"/>
              <a:gd name="connsiteX15" fmla="*/ 303276 w 12188825"/>
              <a:gd name="connsiteY15" fmla="*/ 510703 h 3278495"/>
              <a:gd name="connsiteX16" fmla="*/ 1284207 w 12188825"/>
              <a:gd name="connsiteY16" fmla="*/ 1260803 h 3278495"/>
              <a:gd name="connsiteX17" fmla="*/ 2458296 w 12188825"/>
              <a:gd name="connsiteY17" fmla="*/ 1642852 h 3278495"/>
              <a:gd name="connsiteX18" fmla="*/ 3888807 w 12188825"/>
              <a:gd name="connsiteY18" fmla="*/ 1861373 h 3278495"/>
              <a:gd name="connsiteX19" fmla="*/ 5307637 w 12188825"/>
              <a:gd name="connsiteY19" fmla="*/ 1870535 h 3278495"/>
              <a:gd name="connsiteX20" fmla="*/ 6532626 w 12188825"/>
              <a:gd name="connsiteY20" fmla="*/ 1568778 h 3278495"/>
              <a:gd name="connsiteX21" fmla="*/ 7168959 w 12188825"/>
              <a:gd name="connsiteY21" fmla="*/ 1253005 h 3278495"/>
              <a:gd name="connsiteX22" fmla="*/ 7168972 w 12188825"/>
              <a:gd name="connsiteY22" fmla="*/ 1253000 h 3278495"/>
              <a:gd name="connsiteX23" fmla="*/ 8087907 w 12188825"/>
              <a:gd name="connsiteY23" fmla="*/ 818125 h 3278495"/>
              <a:gd name="connsiteX24" fmla="*/ 9706660 w 12188825"/>
              <a:gd name="connsiteY24" fmla="*/ 709477 h 3278495"/>
              <a:gd name="connsiteX25" fmla="*/ 10796214 w 12188825"/>
              <a:gd name="connsiteY25" fmla="*/ 1246740 h 3278495"/>
              <a:gd name="connsiteX26" fmla="*/ 10796214 w 12188825"/>
              <a:gd name="connsiteY26" fmla="*/ 1246746 h 3278495"/>
              <a:gd name="connsiteX27" fmla="*/ 11332916 w 12188825"/>
              <a:gd name="connsiteY27" fmla="*/ 1551238 h 3278495"/>
              <a:gd name="connsiteX28" fmla="*/ 12188825 w 12188825"/>
              <a:gd name="connsiteY28" fmla="*/ 1866911 h 3278495"/>
              <a:gd name="connsiteX29" fmla="*/ 12188825 w 12188825"/>
              <a:gd name="connsiteY29" fmla="*/ 2019532 h 3278495"/>
              <a:gd name="connsiteX30" fmla="*/ 11006585 w 12188825"/>
              <a:gd name="connsiteY30" fmla="*/ 1600562 h 3278495"/>
              <a:gd name="connsiteX31" fmla="*/ 10868864 w 12188825"/>
              <a:gd name="connsiteY31" fmla="*/ 1536005 h 3278495"/>
              <a:gd name="connsiteX32" fmla="*/ 10868852 w 12188825"/>
              <a:gd name="connsiteY32" fmla="*/ 1535993 h 3278495"/>
              <a:gd name="connsiteX33" fmla="*/ 10122349 w 12188825"/>
              <a:gd name="connsiteY33" fmla="*/ 1212187 h 3278495"/>
              <a:gd name="connsiteX34" fmla="*/ 9192457 w 12188825"/>
              <a:gd name="connsiteY34" fmla="*/ 1013092 h 3278495"/>
              <a:gd name="connsiteX35" fmla="*/ 7401995 w 12188825"/>
              <a:gd name="connsiteY35" fmla="*/ 1263747 h 3278495"/>
              <a:gd name="connsiteX36" fmla="*/ 6521707 w 12188825"/>
              <a:gd name="connsiteY36" fmla="*/ 1638327 h 3278495"/>
              <a:gd name="connsiteX37" fmla="*/ 5871611 w 12188825"/>
              <a:gd name="connsiteY37" fmla="*/ 1906616 h 3278495"/>
              <a:gd name="connsiteX38" fmla="*/ 4636401 w 12188825"/>
              <a:gd name="connsiteY38" fmla="*/ 2069198 h 3278495"/>
              <a:gd name="connsiteX39" fmla="*/ 3246392 w 12188825"/>
              <a:gd name="connsiteY39" fmla="*/ 1979574 h 3278495"/>
              <a:gd name="connsiteX40" fmla="*/ 849919 w 12188825"/>
              <a:gd name="connsiteY40" fmla="*/ 1167195 h 3278495"/>
              <a:gd name="connsiteX41" fmla="*/ 84269 w 12188825"/>
              <a:gd name="connsiteY41" fmla="*/ 333407 h 3278495"/>
              <a:gd name="connsiteX42" fmla="*/ 0 w 12188825"/>
              <a:gd name="connsiteY42" fmla="*/ 182406 h 3278495"/>
              <a:gd name="connsiteX43" fmla="*/ 0 w 12188825"/>
              <a:gd name="connsiteY43" fmla="*/ 145534 h 3278495"/>
              <a:gd name="connsiteX44" fmla="*/ 248048 w 12188825"/>
              <a:gd name="connsiteY44" fmla="*/ 552745 h 3278495"/>
              <a:gd name="connsiteX45" fmla="*/ 1166708 w 12188825"/>
              <a:gd name="connsiteY45" fmla="*/ 1340777 h 3278495"/>
              <a:gd name="connsiteX46" fmla="*/ 2311674 w 12188825"/>
              <a:gd name="connsiteY46" fmla="*/ 1776172 h 3278495"/>
              <a:gd name="connsiteX47" fmla="*/ 3658933 w 12188825"/>
              <a:gd name="connsiteY47" fmla="*/ 2009749 h 3278495"/>
              <a:gd name="connsiteX48" fmla="*/ 5020996 w 12188825"/>
              <a:gd name="connsiteY48" fmla="*/ 2031901 h 3278495"/>
              <a:gd name="connsiteX49" fmla="*/ 6197434 w 12188825"/>
              <a:gd name="connsiteY49" fmla="*/ 1768467 h 3278495"/>
              <a:gd name="connsiteX50" fmla="*/ 6569523 w 12188825"/>
              <a:gd name="connsiteY50" fmla="*/ 1595493 h 3278495"/>
              <a:gd name="connsiteX51" fmla="*/ 7062319 w 12188825"/>
              <a:gd name="connsiteY51" fmla="*/ 1371281 h 3278495"/>
              <a:gd name="connsiteX52" fmla="*/ 7883529 w 12188825"/>
              <a:gd name="connsiteY52" fmla="*/ 1108957 h 3278495"/>
              <a:gd name="connsiteX53" fmla="*/ 9631406 w 12188825"/>
              <a:gd name="connsiteY53" fmla="*/ 1053664 h 3278495"/>
              <a:gd name="connsiteX54" fmla="*/ 10858250 w 12188825"/>
              <a:gd name="connsiteY54" fmla="*/ 1512839 h 3278495"/>
              <a:gd name="connsiteX55" fmla="*/ 10858250 w 12188825"/>
              <a:gd name="connsiteY55" fmla="*/ 1512839 h 3278495"/>
              <a:gd name="connsiteX56" fmla="*/ 11326224 w 12188825"/>
              <a:gd name="connsiteY56" fmla="*/ 1724137 h 3278495"/>
              <a:gd name="connsiteX57" fmla="*/ 12188825 w 12188825"/>
              <a:gd name="connsiteY57" fmla="*/ 2000472 h 3278495"/>
              <a:gd name="connsiteX58" fmla="*/ 12188825 w 12188825"/>
              <a:gd name="connsiteY58" fmla="*/ 2151725 h 3278495"/>
              <a:gd name="connsiteX59" fmla="*/ 10959062 w 12188825"/>
              <a:gd name="connsiteY59" fmla="*/ 1771369 h 3278495"/>
              <a:gd name="connsiteX60" fmla="*/ 10074293 w 12188825"/>
              <a:gd name="connsiteY60" fmla="*/ 1480802 h 3278495"/>
              <a:gd name="connsiteX61" fmla="*/ 9166339 w 12188825"/>
              <a:gd name="connsiteY61" fmla="*/ 1378809 h 3278495"/>
              <a:gd name="connsiteX62" fmla="*/ 8625117 w 12188825"/>
              <a:gd name="connsiteY62" fmla="*/ 1385805 h 3278495"/>
              <a:gd name="connsiteX63" fmla="*/ 8268137 w 12188825"/>
              <a:gd name="connsiteY63" fmla="*/ 1392901 h 3278495"/>
              <a:gd name="connsiteX64" fmla="*/ 8222087 w 12188825"/>
              <a:gd name="connsiteY64" fmla="*/ 1393345 h 3278495"/>
              <a:gd name="connsiteX65" fmla="*/ 7414526 w 12188825"/>
              <a:gd name="connsiteY65" fmla="*/ 1434520 h 3278495"/>
              <a:gd name="connsiteX66" fmla="*/ 6553119 w 12188825"/>
              <a:gd name="connsiteY66" fmla="*/ 1671100 h 3278495"/>
              <a:gd name="connsiteX67" fmla="*/ 6261349 w 12188825"/>
              <a:gd name="connsiteY67" fmla="*/ 1806334 h 3278495"/>
              <a:gd name="connsiteX68" fmla="*/ 5822716 w 12188825"/>
              <a:gd name="connsiteY68" fmla="*/ 2000713 h 3278495"/>
              <a:gd name="connsiteX69" fmla="*/ 4621406 w 12188825"/>
              <a:gd name="connsiteY69" fmla="*/ 2218626 h 3278495"/>
              <a:gd name="connsiteX70" fmla="*/ 3226433 w 12188825"/>
              <a:gd name="connsiteY70" fmla="*/ 2149304 h 3278495"/>
              <a:gd name="connsiteX71" fmla="*/ 843323 w 12188825"/>
              <a:gd name="connsiteY71" fmla="*/ 1284332 h 3278495"/>
              <a:gd name="connsiteX72" fmla="*/ 37916 w 12188825"/>
              <a:gd name="connsiteY72" fmla="*/ 388990 h 3278495"/>
              <a:gd name="connsiteX73" fmla="*/ 0 w 12188825"/>
              <a:gd name="connsiteY73" fmla="*/ 323744 h 3278495"/>
              <a:gd name="connsiteX74" fmla="*/ 0 w 12188825"/>
              <a:gd name="connsiteY74" fmla="*/ 287455 h 3278495"/>
              <a:gd name="connsiteX75" fmla="*/ 231067 w 12188825"/>
              <a:gd name="connsiteY75" fmla="*/ 648157 h 3278495"/>
              <a:gd name="connsiteX76" fmla="*/ 1172736 w 12188825"/>
              <a:gd name="connsiteY76" fmla="*/ 1479750 h 3278495"/>
              <a:gd name="connsiteX77" fmla="*/ 3675375 w 12188825"/>
              <a:gd name="connsiteY77" fmla="*/ 2180721 h 3278495"/>
              <a:gd name="connsiteX78" fmla="*/ 5032119 w 12188825"/>
              <a:gd name="connsiteY78" fmla="*/ 2164588 h 3278495"/>
              <a:gd name="connsiteX79" fmla="*/ 5621131 w 12188825"/>
              <a:gd name="connsiteY79" fmla="*/ 2047400 h 3278495"/>
              <a:gd name="connsiteX80" fmla="*/ 6248474 w 12188825"/>
              <a:gd name="connsiteY80" fmla="*/ 1790581 h 3278495"/>
              <a:gd name="connsiteX81" fmla="*/ 6248487 w 12188825"/>
              <a:gd name="connsiteY81" fmla="*/ 1790581 h 3278495"/>
              <a:gd name="connsiteX82" fmla="*/ 6248500 w 12188825"/>
              <a:gd name="connsiteY82" fmla="*/ 1790581 h 3278495"/>
              <a:gd name="connsiteX83" fmla="*/ 6260028 w 12188825"/>
              <a:gd name="connsiteY83" fmla="*/ 1785119 h 3278495"/>
              <a:gd name="connsiteX84" fmla="*/ 6273766 w 12188825"/>
              <a:gd name="connsiteY84" fmla="*/ 1778605 h 3278495"/>
              <a:gd name="connsiteX85" fmla="*/ 7079092 w 12188825"/>
              <a:gd name="connsiteY85" fmla="*/ 1475897 h 3278495"/>
              <a:gd name="connsiteX86" fmla="*/ 7872318 w 12188825"/>
              <a:gd name="connsiteY86" fmla="*/ 1381331 h 3278495"/>
              <a:gd name="connsiteX87" fmla="*/ 8331646 w 12188825"/>
              <a:gd name="connsiteY87" fmla="*/ 1372992 h 3278495"/>
              <a:gd name="connsiteX88" fmla="*/ 8331659 w 12188825"/>
              <a:gd name="connsiteY88" fmla="*/ 1372992 h 3278495"/>
              <a:gd name="connsiteX89" fmla="*/ 8331672 w 12188825"/>
              <a:gd name="connsiteY89" fmla="*/ 1372992 h 3278495"/>
              <a:gd name="connsiteX90" fmla="*/ 8723974 w 12188825"/>
              <a:gd name="connsiteY90" fmla="*/ 1366719 h 3278495"/>
              <a:gd name="connsiteX91" fmla="*/ 9630594 w 12188825"/>
              <a:gd name="connsiteY91" fmla="*/ 1385462 h 3278495"/>
              <a:gd name="connsiteX92" fmla="*/ 10987641 w 12188825"/>
              <a:gd name="connsiteY92" fmla="*/ 1762599 h 3278495"/>
              <a:gd name="connsiteX93" fmla="*/ 11298762 w 12188825"/>
              <a:gd name="connsiteY93" fmla="*/ 1876035 h 3278495"/>
              <a:gd name="connsiteX94" fmla="*/ 12188825 w 12188825"/>
              <a:gd name="connsiteY94" fmla="*/ 2134147 h 3278495"/>
              <a:gd name="connsiteX95" fmla="*/ 12188825 w 12188825"/>
              <a:gd name="connsiteY95" fmla="*/ 2288023 h 3278495"/>
              <a:gd name="connsiteX96" fmla="*/ 11204476 w 12188825"/>
              <a:gd name="connsiteY96" fmla="*/ 2021180 h 3278495"/>
              <a:gd name="connsiteX97" fmla="*/ 11204438 w 12188825"/>
              <a:gd name="connsiteY97" fmla="*/ 2021167 h 3278495"/>
              <a:gd name="connsiteX98" fmla="*/ 11204425 w 12188825"/>
              <a:gd name="connsiteY98" fmla="*/ 2021167 h 3278495"/>
              <a:gd name="connsiteX99" fmla="*/ 10924209 w 12188825"/>
              <a:gd name="connsiteY99" fmla="*/ 1936904 h 3278495"/>
              <a:gd name="connsiteX100" fmla="*/ 10031289 w 12188825"/>
              <a:gd name="connsiteY100" fmla="*/ 1728179 h 3278495"/>
              <a:gd name="connsiteX101" fmla="*/ 9183835 w 12188825"/>
              <a:gd name="connsiteY101" fmla="*/ 1720880 h 3278495"/>
              <a:gd name="connsiteX102" fmla="*/ 9018182 w 12188825"/>
              <a:gd name="connsiteY102" fmla="*/ 1734009 h 3278495"/>
              <a:gd name="connsiteX103" fmla="*/ 9018182 w 12188825"/>
              <a:gd name="connsiteY103" fmla="*/ 1734009 h 3278495"/>
              <a:gd name="connsiteX104" fmla="*/ 8286675 w 12188825"/>
              <a:gd name="connsiteY104" fmla="*/ 1763689 h 3278495"/>
              <a:gd name="connsiteX105" fmla="*/ 7764511 w 12188825"/>
              <a:gd name="connsiteY105" fmla="*/ 1715265 h 3278495"/>
              <a:gd name="connsiteX106" fmla="*/ 7458215 w 12188825"/>
              <a:gd name="connsiteY106" fmla="*/ 1681657 h 3278495"/>
              <a:gd name="connsiteX107" fmla="*/ 6622354 w 12188825"/>
              <a:gd name="connsiteY107" fmla="*/ 1727305 h 3278495"/>
              <a:gd name="connsiteX108" fmla="*/ 5957301 w 12188825"/>
              <a:gd name="connsiteY108" fmla="*/ 1992779 h 3278495"/>
              <a:gd name="connsiteX109" fmla="*/ 5957289 w 12188825"/>
              <a:gd name="connsiteY109" fmla="*/ 1992779 h 3278495"/>
              <a:gd name="connsiteX110" fmla="*/ 5957276 w 12188825"/>
              <a:gd name="connsiteY110" fmla="*/ 1992792 h 3278495"/>
              <a:gd name="connsiteX111" fmla="*/ 5957250 w 12188825"/>
              <a:gd name="connsiteY111" fmla="*/ 1992792 h 3278495"/>
              <a:gd name="connsiteX112" fmla="*/ 5957238 w 12188825"/>
              <a:gd name="connsiteY112" fmla="*/ 1992805 h 3278495"/>
              <a:gd name="connsiteX113" fmla="*/ 5957187 w 12188825"/>
              <a:gd name="connsiteY113" fmla="*/ 1992830 h 3278495"/>
              <a:gd name="connsiteX114" fmla="*/ 5814920 w 12188825"/>
              <a:gd name="connsiteY114" fmla="*/ 2060124 h 3278495"/>
              <a:gd name="connsiteX115" fmla="*/ 3247700 w 12188825"/>
              <a:gd name="connsiteY115" fmla="*/ 2325180 h 3278495"/>
              <a:gd name="connsiteX116" fmla="*/ 847649 w 12188825"/>
              <a:gd name="connsiteY116" fmla="*/ 1407932 h 3278495"/>
              <a:gd name="connsiteX117" fmla="*/ 3196 w 12188825"/>
              <a:gd name="connsiteY117" fmla="*/ 464475 h 3278495"/>
              <a:gd name="connsiteX118" fmla="*/ 0 w 12188825"/>
              <a:gd name="connsiteY118" fmla="*/ 459212 h 3278495"/>
              <a:gd name="connsiteX119" fmla="*/ 0 w 12188825"/>
              <a:gd name="connsiteY119" fmla="*/ 424654 h 3278495"/>
              <a:gd name="connsiteX120" fmla="*/ 208331 w 12188825"/>
              <a:gd name="connsiteY120" fmla="*/ 736099 h 3278495"/>
              <a:gd name="connsiteX121" fmla="*/ 1193818 w 12188825"/>
              <a:gd name="connsiteY121" fmla="*/ 1626643 h 3278495"/>
              <a:gd name="connsiteX122" fmla="*/ 3705644 w 12188825"/>
              <a:gd name="connsiteY122" fmla="*/ 2350831 h 3278495"/>
              <a:gd name="connsiteX123" fmla="*/ 5054389 w 12188825"/>
              <a:gd name="connsiteY123" fmla="*/ 2282878 h 3278495"/>
              <a:gd name="connsiteX124" fmla="*/ 5618833 w 12188825"/>
              <a:gd name="connsiteY124" fmla="*/ 2125162 h 3278495"/>
              <a:gd name="connsiteX125" fmla="*/ 5986808 w 12188825"/>
              <a:gd name="connsiteY125" fmla="*/ 1959855 h 3278495"/>
              <a:gd name="connsiteX126" fmla="*/ 6348309 w 12188825"/>
              <a:gd name="connsiteY126" fmla="*/ 1797070 h 3278495"/>
              <a:gd name="connsiteX127" fmla="*/ 7131504 w 12188825"/>
              <a:gd name="connsiteY127" fmla="*/ 1646527 h 3278495"/>
              <a:gd name="connsiteX128" fmla="*/ 7753782 w 12188825"/>
              <a:gd name="connsiteY128" fmla="*/ 1695242 h 3278495"/>
              <a:gd name="connsiteX129" fmla="*/ 7753833 w 12188825"/>
              <a:gd name="connsiteY129" fmla="*/ 1695255 h 3278495"/>
              <a:gd name="connsiteX130" fmla="*/ 7753871 w 12188825"/>
              <a:gd name="connsiteY130" fmla="*/ 1695255 h 3278495"/>
              <a:gd name="connsiteX131" fmla="*/ 7930037 w 12188825"/>
              <a:gd name="connsiteY131" fmla="*/ 1715810 h 3278495"/>
              <a:gd name="connsiteX132" fmla="*/ 8795266 w 12188825"/>
              <a:gd name="connsiteY132" fmla="*/ 1731804 h 3278495"/>
              <a:gd name="connsiteX133" fmla="*/ 9030141 w 12188825"/>
              <a:gd name="connsiteY133" fmla="*/ 1713517 h 3278495"/>
              <a:gd name="connsiteX134" fmla="*/ 9030155 w 12188825"/>
              <a:gd name="connsiteY134" fmla="*/ 1713517 h 3278495"/>
              <a:gd name="connsiteX135" fmla="*/ 9646859 w 12188825"/>
              <a:gd name="connsiteY135" fmla="*/ 1680427 h 3278495"/>
              <a:gd name="connsiteX136" fmla="*/ 11141208 w 12188825"/>
              <a:gd name="connsiteY136" fmla="*/ 1981754 h 3278495"/>
              <a:gd name="connsiteX137" fmla="*/ 11141259 w 12188825"/>
              <a:gd name="connsiteY137" fmla="*/ 1981767 h 3278495"/>
              <a:gd name="connsiteX138" fmla="*/ 11141525 w 12188825"/>
              <a:gd name="connsiteY138" fmla="*/ 1981843 h 3278495"/>
              <a:gd name="connsiteX139" fmla="*/ 11293225 w 12188825"/>
              <a:gd name="connsiteY139" fmla="*/ 2027795 h 3278495"/>
              <a:gd name="connsiteX140" fmla="*/ 11310239 w 12188825"/>
              <a:gd name="connsiteY140" fmla="*/ 2032915 h 3278495"/>
              <a:gd name="connsiteX141" fmla="*/ 12188825 w 12188825"/>
              <a:gd name="connsiteY141" fmla="*/ 2270027 h 3278495"/>
              <a:gd name="connsiteX142" fmla="*/ 12188825 w 12188825"/>
              <a:gd name="connsiteY142" fmla="*/ 2427528 h 3278495"/>
              <a:gd name="connsiteX143" fmla="*/ 11574826 w 12188825"/>
              <a:gd name="connsiteY143" fmla="*/ 2268164 h 3278495"/>
              <a:gd name="connsiteX144" fmla="*/ 11574813 w 12188825"/>
              <a:gd name="connsiteY144" fmla="*/ 2268164 h 3278495"/>
              <a:gd name="connsiteX145" fmla="*/ 10890664 w 12188825"/>
              <a:gd name="connsiteY145" fmla="*/ 2092225 h 3278495"/>
              <a:gd name="connsiteX146" fmla="*/ 10014554 w 12188825"/>
              <a:gd name="connsiteY146" fmla="*/ 1954773 h 3278495"/>
              <a:gd name="connsiteX147" fmla="*/ 9157655 w 12188825"/>
              <a:gd name="connsiteY147" fmla="*/ 2032991 h 3278495"/>
              <a:gd name="connsiteX148" fmla="*/ 9135080 w 12188825"/>
              <a:gd name="connsiteY148" fmla="*/ 2037300 h 3278495"/>
              <a:gd name="connsiteX149" fmla="*/ 9117089 w 12188825"/>
              <a:gd name="connsiteY149" fmla="*/ 2040734 h 3278495"/>
              <a:gd name="connsiteX150" fmla="*/ 8335544 w 12188825"/>
              <a:gd name="connsiteY150" fmla="*/ 2143842 h 3278495"/>
              <a:gd name="connsiteX151" fmla="*/ 7563890 w 12188825"/>
              <a:gd name="connsiteY151" fmla="*/ 2026705 h 3278495"/>
              <a:gd name="connsiteX152" fmla="*/ 7458838 w 12188825"/>
              <a:gd name="connsiteY152" fmla="*/ 1998318 h 3278495"/>
              <a:gd name="connsiteX153" fmla="*/ 7458812 w 12188825"/>
              <a:gd name="connsiteY153" fmla="*/ 1998305 h 3278495"/>
              <a:gd name="connsiteX154" fmla="*/ 6800120 w 12188825"/>
              <a:gd name="connsiteY154" fmla="*/ 1865099 h 3278495"/>
              <a:gd name="connsiteX155" fmla="*/ 5963193 w 12188825"/>
              <a:gd name="connsiteY155" fmla="*/ 2035006 h 3278495"/>
              <a:gd name="connsiteX156" fmla="*/ 5726666 w 12188825"/>
              <a:gd name="connsiteY156" fmla="*/ 2145464 h 3278495"/>
              <a:gd name="connsiteX157" fmla="*/ 5291258 w 12188825"/>
              <a:gd name="connsiteY157" fmla="*/ 2335205 h 3278495"/>
              <a:gd name="connsiteX158" fmla="*/ 4670504 w 12188825"/>
              <a:gd name="connsiteY158" fmla="*/ 2485976 h 3278495"/>
              <a:gd name="connsiteX159" fmla="*/ 3315576 w 12188825"/>
              <a:gd name="connsiteY159" fmla="*/ 2505011 h 3278495"/>
              <a:gd name="connsiteX160" fmla="*/ 2003703 w 12188825"/>
              <a:gd name="connsiteY160" fmla="*/ 2200034 h 3278495"/>
              <a:gd name="connsiteX161" fmla="*/ 869769 w 12188825"/>
              <a:gd name="connsiteY161" fmla="*/ 1544598 h 3278495"/>
              <a:gd name="connsiteX162" fmla="*/ 0 w 12188825"/>
              <a:gd name="connsiteY162" fmla="*/ 581612 h 3278495"/>
              <a:gd name="connsiteX163" fmla="*/ 0 w 12188825"/>
              <a:gd name="connsiteY163" fmla="*/ 556480 h 3278495"/>
              <a:gd name="connsiteX164" fmla="*/ 1216794 w 12188825"/>
              <a:gd name="connsiteY164" fmla="*/ 1773954 h 3278495"/>
              <a:gd name="connsiteX165" fmla="*/ 3782015 w 12188825"/>
              <a:gd name="connsiteY165" fmla="*/ 2518330 h 3278495"/>
              <a:gd name="connsiteX166" fmla="*/ 5113200 w 12188825"/>
              <a:gd name="connsiteY166" fmla="*/ 2371576 h 3278495"/>
              <a:gd name="connsiteX167" fmla="*/ 5684589 w 12188825"/>
              <a:gd name="connsiteY167" fmla="*/ 2138266 h 3278495"/>
              <a:gd name="connsiteX168" fmla="*/ 6509836 w 12188825"/>
              <a:gd name="connsiteY168" fmla="*/ 1852704 h 3278495"/>
              <a:gd name="connsiteX169" fmla="*/ 7470328 w 12188825"/>
              <a:gd name="connsiteY169" fmla="*/ 1982552 h 3278495"/>
              <a:gd name="connsiteX170" fmla="*/ 7470328 w 12188825"/>
              <a:gd name="connsiteY170" fmla="*/ 1982552 h 3278495"/>
              <a:gd name="connsiteX171" fmla="*/ 7984036 w 12188825"/>
              <a:gd name="connsiteY171" fmla="*/ 2099955 h 3278495"/>
              <a:gd name="connsiteX172" fmla="*/ 8840021 w 12188825"/>
              <a:gd name="connsiteY172" fmla="*/ 2072176 h 3278495"/>
              <a:gd name="connsiteX173" fmla="*/ 9102246 w 12188825"/>
              <a:gd name="connsiteY173" fmla="*/ 2023309 h 3278495"/>
              <a:gd name="connsiteX174" fmla="*/ 9632651 w 12188825"/>
              <a:gd name="connsiteY174" fmla="*/ 1939870 h 3278495"/>
              <a:gd name="connsiteX175" fmla="*/ 11265051 w 12188825"/>
              <a:gd name="connsiteY175" fmla="*/ 2165944 h 3278495"/>
              <a:gd name="connsiteX176" fmla="*/ 11604294 w 12188825"/>
              <a:gd name="connsiteY176" fmla="*/ 2256733 h 3278495"/>
              <a:gd name="connsiteX177" fmla="*/ 11604333 w 12188825"/>
              <a:gd name="connsiteY177" fmla="*/ 2256746 h 3278495"/>
              <a:gd name="connsiteX178" fmla="*/ 12188825 w 12188825"/>
              <a:gd name="connsiteY178" fmla="*/ 2409279 h 3278495"/>
              <a:gd name="connsiteX179" fmla="*/ 12188825 w 12188825"/>
              <a:gd name="connsiteY179" fmla="*/ 2573280 h 3278495"/>
              <a:gd name="connsiteX180" fmla="*/ 12184648 w 12188825"/>
              <a:gd name="connsiteY180" fmla="*/ 2572089 h 3278495"/>
              <a:gd name="connsiteX181" fmla="*/ 12184115 w 12188825"/>
              <a:gd name="connsiteY181" fmla="*/ 2571937 h 3278495"/>
              <a:gd name="connsiteX182" fmla="*/ 12183899 w 12188825"/>
              <a:gd name="connsiteY182" fmla="*/ 2571874 h 3278495"/>
              <a:gd name="connsiteX183" fmla="*/ 10779975 w 12188825"/>
              <a:gd name="connsiteY183" fmla="*/ 2226762 h 3278495"/>
              <a:gd name="connsiteX184" fmla="*/ 9934933 w 12188825"/>
              <a:gd name="connsiteY184" fmla="*/ 2161635 h 3278495"/>
              <a:gd name="connsiteX185" fmla="*/ 9119425 w 12188825"/>
              <a:gd name="connsiteY185" fmla="*/ 2318628 h 3278495"/>
              <a:gd name="connsiteX186" fmla="*/ 9085512 w 12188825"/>
              <a:gd name="connsiteY186" fmla="*/ 2329299 h 3278495"/>
              <a:gd name="connsiteX187" fmla="*/ 8324142 w 12188825"/>
              <a:gd name="connsiteY187" fmla="*/ 2513413 h 3278495"/>
              <a:gd name="connsiteX188" fmla="*/ 7578199 w 12188825"/>
              <a:gd name="connsiteY188" fmla="*/ 2414424 h 3278495"/>
              <a:gd name="connsiteX189" fmla="*/ 7230970 w 12188825"/>
              <a:gd name="connsiteY189" fmla="*/ 2276503 h 3278495"/>
              <a:gd name="connsiteX190" fmla="*/ 6177741 w 12188825"/>
              <a:gd name="connsiteY190" fmla="*/ 2048186 h 3278495"/>
              <a:gd name="connsiteX191" fmla="*/ 5471297 w 12188825"/>
              <a:gd name="connsiteY191" fmla="*/ 2310416 h 3278495"/>
              <a:gd name="connsiteX192" fmla="*/ 5471259 w 12188825"/>
              <a:gd name="connsiteY192" fmla="*/ 2310429 h 3278495"/>
              <a:gd name="connsiteX193" fmla="*/ 5401072 w 12188825"/>
              <a:gd name="connsiteY193" fmla="*/ 2344583 h 3278495"/>
              <a:gd name="connsiteX194" fmla="*/ 4778654 w 12188825"/>
              <a:gd name="connsiteY194" fmla="*/ 2576588 h 3278495"/>
              <a:gd name="connsiteX195" fmla="*/ 3421124 w 12188825"/>
              <a:gd name="connsiteY195" fmla="*/ 2684600 h 3278495"/>
              <a:gd name="connsiteX196" fmla="*/ 2070513 w 12188825"/>
              <a:gd name="connsiteY196" fmla="*/ 2390725 h 3278495"/>
              <a:gd name="connsiteX197" fmla="*/ 899978 w 12188825"/>
              <a:gd name="connsiteY197" fmla="*/ 1688855 h 3278495"/>
              <a:gd name="connsiteX198" fmla="*/ 0 w 12188825"/>
              <a:gd name="connsiteY198" fmla="*/ 719120 h 3278495"/>
              <a:gd name="connsiteX199" fmla="*/ 0 w 12188825"/>
              <a:gd name="connsiteY199" fmla="*/ 692852 h 3278495"/>
              <a:gd name="connsiteX200" fmla="*/ 1275307 w 12188825"/>
              <a:gd name="connsiteY200" fmla="*/ 1946143 h 3278495"/>
              <a:gd name="connsiteX201" fmla="*/ 3907484 w 12188825"/>
              <a:gd name="connsiteY201" fmla="*/ 2675881 h 3278495"/>
              <a:gd name="connsiteX202" fmla="*/ 5239710 w 12188825"/>
              <a:gd name="connsiteY202" fmla="*/ 2399875 h 3278495"/>
              <a:gd name="connsiteX203" fmla="*/ 5486076 w 12188825"/>
              <a:gd name="connsiteY203" fmla="*/ 2283968 h 3278495"/>
              <a:gd name="connsiteX204" fmla="*/ 5486076 w 12188825"/>
              <a:gd name="connsiteY204" fmla="*/ 2283968 h 3278495"/>
              <a:gd name="connsiteX205" fmla="*/ 5486089 w 12188825"/>
              <a:gd name="connsiteY205" fmla="*/ 2283968 h 3278495"/>
              <a:gd name="connsiteX206" fmla="*/ 5486089 w 12188825"/>
              <a:gd name="connsiteY206" fmla="*/ 2283968 h 3278495"/>
              <a:gd name="connsiteX207" fmla="*/ 5954317 w 12188825"/>
              <a:gd name="connsiteY207" fmla="*/ 2082847 h 3278495"/>
              <a:gd name="connsiteX208" fmla="*/ 6640498 w 12188825"/>
              <a:gd name="connsiteY208" fmla="*/ 2045740 h 3278495"/>
              <a:gd name="connsiteX209" fmla="*/ 7247451 w 12188825"/>
              <a:gd name="connsiteY209" fmla="*/ 2259116 h 3278495"/>
              <a:gd name="connsiteX210" fmla="*/ 8001583 w 12188825"/>
              <a:gd name="connsiteY210" fmla="*/ 2495633 h 3278495"/>
              <a:gd name="connsiteX211" fmla="*/ 9013992 w 12188825"/>
              <a:gd name="connsiteY211" fmla="*/ 2327905 h 3278495"/>
              <a:gd name="connsiteX212" fmla="*/ 9014004 w 12188825"/>
              <a:gd name="connsiteY212" fmla="*/ 2327892 h 3278495"/>
              <a:gd name="connsiteX213" fmla="*/ 9631750 w 12188825"/>
              <a:gd name="connsiteY213" fmla="*/ 2170709 h 3278495"/>
              <a:gd name="connsiteX214" fmla="*/ 11220448 w 12188825"/>
              <a:gd name="connsiteY214" fmla="*/ 2297325 h 3278495"/>
              <a:gd name="connsiteX215" fmla="*/ 12175277 w 12188825"/>
              <a:gd name="connsiteY215" fmla="*/ 2550621 h 3278495"/>
              <a:gd name="connsiteX216" fmla="*/ 12188825 w 12188825"/>
              <a:gd name="connsiteY216" fmla="*/ 2554461 h 3278495"/>
              <a:gd name="connsiteX217" fmla="*/ 12188825 w 12188825"/>
              <a:gd name="connsiteY217" fmla="*/ 2725091 h 3278495"/>
              <a:gd name="connsiteX218" fmla="*/ 10689295 w 12188825"/>
              <a:gd name="connsiteY218" fmla="*/ 2364517 h 3278495"/>
              <a:gd name="connsiteX219" fmla="*/ 9819660 w 12188825"/>
              <a:gd name="connsiteY219" fmla="*/ 2362933 h 3278495"/>
              <a:gd name="connsiteX220" fmla="*/ 9017508 w 12188825"/>
              <a:gd name="connsiteY220" fmla="*/ 2604114 h 3278495"/>
              <a:gd name="connsiteX221" fmla="*/ 9007122 w 12188825"/>
              <a:gd name="connsiteY221" fmla="*/ 2608689 h 3278495"/>
              <a:gd name="connsiteX222" fmla="*/ 8987938 w 12188825"/>
              <a:gd name="connsiteY222" fmla="*/ 2617167 h 3278495"/>
              <a:gd name="connsiteX223" fmla="*/ 8987938 w 12188825"/>
              <a:gd name="connsiteY223" fmla="*/ 2617167 h 3278495"/>
              <a:gd name="connsiteX224" fmla="*/ 8246807 w 12188825"/>
              <a:gd name="connsiteY224" fmla="*/ 2877129 h 3278495"/>
              <a:gd name="connsiteX225" fmla="*/ 7537062 w 12188825"/>
              <a:gd name="connsiteY225" fmla="*/ 2810836 h 3278495"/>
              <a:gd name="connsiteX226" fmla="*/ 7023214 w 12188825"/>
              <a:gd name="connsiteY226" fmla="*/ 2545526 h 3278495"/>
              <a:gd name="connsiteX227" fmla="*/ 6315538 w 12188825"/>
              <a:gd name="connsiteY227" fmla="*/ 2221959 h 3278495"/>
              <a:gd name="connsiteX228" fmla="*/ 5234415 w 12188825"/>
              <a:gd name="connsiteY228" fmla="*/ 2467714 h 3278495"/>
              <a:gd name="connsiteX229" fmla="*/ 5234415 w 12188825"/>
              <a:gd name="connsiteY229" fmla="*/ 2467714 h 3278495"/>
              <a:gd name="connsiteX230" fmla="*/ 5234402 w 12188825"/>
              <a:gd name="connsiteY230" fmla="*/ 2467714 h 3278495"/>
              <a:gd name="connsiteX231" fmla="*/ 4835815 w 12188825"/>
              <a:gd name="connsiteY231" fmla="*/ 2643704 h 3278495"/>
              <a:gd name="connsiteX232" fmla="*/ 3428044 w 12188825"/>
              <a:gd name="connsiteY232" fmla="*/ 2850110 h 3278495"/>
              <a:gd name="connsiteX233" fmla="*/ 2024869 w 12188825"/>
              <a:gd name="connsiteY233" fmla="*/ 2536706 h 3278495"/>
              <a:gd name="connsiteX234" fmla="*/ 846330 w 12188825"/>
              <a:gd name="connsiteY234" fmla="*/ 1761205 h 3278495"/>
              <a:gd name="connsiteX235" fmla="*/ 0 w 12188825"/>
              <a:gd name="connsiteY235" fmla="*/ 851425 h 3278495"/>
              <a:gd name="connsiteX236" fmla="*/ 0 w 12188825"/>
              <a:gd name="connsiteY236" fmla="*/ 812242 h 3278495"/>
              <a:gd name="connsiteX237" fmla="*/ 148963 w 12188825"/>
              <a:gd name="connsiteY237" fmla="*/ 1012552 h 3278495"/>
              <a:gd name="connsiteX238" fmla="*/ 1243881 w 12188825"/>
              <a:gd name="connsiteY238" fmla="*/ 2055460 h 3278495"/>
              <a:gd name="connsiteX239" fmla="*/ 2498113 w 12188825"/>
              <a:gd name="connsiteY239" fmla="*/ 2684664 h 3278495"/>
              <a:gd name="connsiteX240" fmla="*/ 3965533 w 12188825"/>
              <a:gd name="connsiteY240" fmla="*/ 2818453 h 3278495"/>
              <a:gd name="connsiteX241" fmla="*/ 4675481 w 12188825"/>
              <a:gd name="connsiteY241" fmla="*/ 2679113 h 3278495"/>
              <a:gd name="connsiteX242" fmla="*/ 5270753 w 12188825"/>
              <a:gd name="connsiteY242" fmla="*/ 2427933 h 3278495"/>
              <a:gd name="connsiteX243" fmla="*/ 5270854 w 12188825"/>
              <a:gd name="connsiteY243" fmla="*/ 2427883 h 3278495"/>
              <a:gd name="connsiteX244" fmla="*/ 5368632 w 12188825"/>
              <a:gd name="connsiteY244" fmla="*/ 2380929 h 3278495"/>
              <a:gd name="connsiteX245" fmla="*/ 6083545 w 12188825"/>
              <a:gd name="connsiteY245" fmla="*/ 2177970 h 3278495"/>
              <a:gd name="connsiteX246" fmla="*/ 6703245 w 12188825"/>
              <a:gd name="connsiteY246" fmla="*/ 2347764 h 3278495"/>
              <a:gd name="connsiteX247" fmla="*/ 7022948 w 12188825"/>
              <a:gd name="connsiteY247" fmla="*/ 2525275 h 3278495"/>
              <a:gd name="connsiteX248" fmla="*/ 7950910 w 12188825"/>
              <a:gd name="connsiteY248" fmla="*/ 2880969 h 3278495"/>
              <a:gd name="connsiteX249" fmla="*/ 8940046 w 12188825"/>
              <a:gd name="connsiteY249" fmla="*/ 2617598 h 3278495"/>
              <a:gd name="connsiteX250" fmla="*/ 9555836 w 12188825"/>
              <a:gd name="connsiteY250" fmla="*/ 2392411 h 3278495"/>
              <a:gd name="connsiteX251" fmla="*/ 11145461 w 12188825"/>
              <a:gd name="connsiteY251" fmla="*/ 2419050 h 3278495"/>
              <a:gd name="connsiteX252" fmla="*/ 12188825 w 12188825"/>
              <a:gd name="connsiteY252" fmla="*/ 2705790 h 3278495"/>
              <a:gd name="connsiteX253" fmla="*/ 12188825 w 12188825"/>
              <a:gd name="connsiteY253" fmla="*/ 2884327 h 3278495"/>
              <a:gd name="connsiteX254" fmla="*/ 10797204 w 12188825"/>
              <a:gd name="connsiteY254" fmla="*/ 2518976 h 3278495"/>
              <a:gd name="connsiteX255" fmla="*/ 9257057 w 12188825"/>
              <a:gd name="connsiteY255" fmla="*/ 2702697 h 3278495"/>
              <a:gd name="connsiteX256" fmla="*/ 8816393 w 12188825"/>
              <a:gd name="connsiteY256" fmla="*/ 2929633 h 3278495"/>
              <a:gd name="connsiteX257" fmla="*/ 7778489 w 12188825"/>
              <a:gd name="connsiteY257" fmla="*/ 3276570 h 3278495"/>
              <a:gd name="connsiteX258" fmla="*/ 6812842 w 12188825"/>
              <a:gd name="connsiteY258" fmla="*/ 2808302 h 3278495"/>
              <a:gd name="connsiteX259" fmla="*/ 6812830 w 12188825"/>
              <a:gd name="connsiteY259" fmla="*/ 2808289 h 3278495"/>
              <a:gd name="connsiteX260" fmla="*/ 6602687 w 12188825"/>
              <a:gd name="connsiteY260" fmla="*/ 2655135 h 3278495"/>
              <a:gd name="connsiteX261" fmla="*/ 5969312 w 12188825"/>
              <a:gd name="connsiteY261" fmla="*/ 2364049 h 3278495"/>
              <a:gd name="connsiteX262" fmla="*/ 5138111 w 12188825"/>
              <a:gd name="connsiteY262" fmla="*/ 2553574 h 3278495"/>
              <a:gd name="connsiteX263" fmla="*/ 5125579 w 12188825"/>
              <a:gd name="connsiteY263" fmla="*/ 2559644 h 3278495"/>
              <a:gd name="connsiteX264" fmla="*/ 5086562 w 12188825"/>
              <a:gd name="connsiteY264" fmla="*/ 2578590 h 3278495"/>
              <a:gd name="connsiteX265" fmla="*/ 5086562 w 12188825"/>
              <a:gd name="connsiteY265" fmla="*/ 2578590 h 3278495"/>
              <a:gd name="connsiteX266" fmla="*/ 4389996 w 12188825"/>
              <a:gd name="connsiteY266" fmla="*/ 2872934 h 3278495"/>
              <a:gd name="connsiteX267" fmla="*/ 3616653 w 12188825"/>
              <a:gd name="connsiteY267" fmla="*/ 3006533 h 3278495"/>
              <a:gd name="connsiteX268" fmla="*/ 2066196 w 12188825"/>
              <a:gd name="connsiteY268" fmla="*/ 2720161 h 3278495"/>
              <a:gd name="connsiteX269" fmla="*/ 839263 w 12188825"/>
              <a:gd name="connsiteY269" fmla="*/ 1871144 h 3278495"/>
              <a:gd name="connsiteX270" fmla="*/ 0 w 12188825"/>
              <a:gd name="connsiteY270" fmla="*/ 964742 h 3278495"/>
              <a:gd name="connsiteX271" fmla="*/ 0 w 12188825"/>
              <a:gd name="connsiteY271" fmla="*/ 934550 h 3278495"/>
              <a:gd name="connsiteX272" fmla="*/ 119118 w 12188825"/>
              <a:gd name="connsiteY272" fmla="*/ 1090789 h 3278495"/>
              <a:gd name="connsiteX273" fmla="*/ 1231889 w 12188825"/>
              <a:gd name="connsiteY273" fmla="*/ 2173877 h 3278495"/>
              <a:gd name="connsiteX274" fmla="*/ 2592703 w 12188825"/>
              <a:gd name="connsiteY274" fmla="*/ 2885493 h 3278495"/>
              <a:gd name="connsiteX275" fmla="*/ 4205196 w 12188825"/>
              <a:gd name="connsiteY275" fmla="*/ 2903958 h 3278495"/>
              <a:gd name="connsiteX276" fmla="*/ 4979948 w 12188825"/>
              <a:gd name="connsiteY276" fmla="*/ 2612149 h 3278495"/>
              <a:gd name="connsiteX277" fmla="*/ 5002396 w 12188825"/>
              <a:gd name="connsiteY277" fmla="*/ 2600907 h 3278495"/>
              <a:gd name="connsiteX278" fmla="*/ 5733801 w 12188825"/>
              <a:gd name="connsiteY278" fmla="*/ 2339209 h 3278495"/>
              <a:gd name="connsiteX279" fmla="*/ 6841549 w 12188825"/>
              <a:gd name="connsiteY279" fmla="*/ 2807224 h 3278495"/>
              <a:gd name="connsiteX280" fmla="*/ 6841600 w 12188825"/>
              <a:gd name="connsiteY280" fmla="*/ 2807250 h 3278495"/>
              <a:gd name="connsiteX281" fmla="*/ 6921742 w 12188825"/>
              <a:gd name="connsiteY281" fmla="*/ 2866534 h 3278495"/>
              <a:gd name="connsiteX282" fmla="*/ 7520251 w 12188825"/>
              <a:gd name="connsiteY282" fmla="*/ 3208174 h 3278495"/>
              <a:gd name="connsiteX283" fmla="*/ 8302279 w 12188825"/>
              <a:gd name="connsiteY283" fmla="*/ 3167569 h 3278495"/>
              <a:gd name="connsiteX284" fmla="*/ 8848604 w 12188825"/>
              <a:gd name="connsiteY284" fmla="*/ 2894580 h 3278495"/>
              <a:gd name="connsiteX285" fmla="*/ 8848617 w 12188825"/>
              <a:gd name="connsiteY285" fmla="*/ 2894567 h 3278495"/>
              <a:gd name="connsiteX286" fmla="*/ 8848668 w 12188825"/>
              <a:gd name="connsiteY286" fmla="*/ 2894542 h 3278495"/>
              <a:gd name="connsiteX287" fmla="*/ 9062811 w 12188825"/>
              <a:gd name="connsiteY287" fmla="*/ 2775631 h 3278495"/>
              <a:gd name="connsiteX288" fmla="*/ 9743480 w 12188825"/>
              <a:gd name="connsiteY288" fmla="*/ 2534767 h 3278495"/>
              <a:gd name="connsiteX289" fmla="*/ 12188825 w 12188825"/>
              <a:gd name="connsiteY289" fmla="*/ 2863011 h 327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88825" h="3278495">
                <a:moveTo>
                  <a:pt x="12188825" y="1891953"/>
                </a:moveTo>
                <a:cubicBezTo>
                  <a:pt x="11702681" y="1803026"/>
                  <a:pt x="11261281" y="1541379"/>
                  <a:pt x="10818928" y="1279161"/>
                </a:cubicBezTo>
                <a:cubicBezTo>
                  <a:pt x="10332530" y="990838"/>
                  <a:pt x="9844977" y="701832"/>
                  <a:pt x="9295528" y="641041"/>
                </a:cubicBezTo>
                <a:cubicBezTo>
                  <a:pt x="8714172" y="576656"/>
                  <a:pt x="8149525" y="787322"/>
                  <a:pt x="7621799" y="1043813"/>
                </a:cubicBezTo>
                <a:cubicBezTo>
                  <a:pt x="7474302" y="1115439"/>
                  <a:pt x="7327884" y="1193211"/>
                  <a:pt x="7181110" y="1271164"/>
                </a:cubicBezTo>
                <a:lnTo>
                  <a:pt x="7181097" y="1271164"/>
                </a:lnTo>
                <a:lnTo>
                  <a:pt x="7181084" y="1271177"/>
                </a:lnTo>
                <a:cubicBezTo>
                  <a:pt x="6851427" y="1446268"/>
                  <a:pt x="6520057" y="1622271"/>
                  <a:pt x="6171037" y="1731588"/>
                </a:cubicBezTo>
                <a:cubicBezTo>
                  <a:pt x="5767270" y="1857951"/>
                  <a:pt x="5342388" y="1898492"/>
                  <a:pt x="4925403" y="1911089"/>
                </a:cubicBezTo>
                <a:cubicBezTo>
                  <a:pt x="4435653" y="1925866"/>
                  <a:pt x="3945116" y="1895729"/>
                  <a:pt x="3459214" y="1835304"/>
                </a:cubicBezTo>
                <a:cubicBezTo>
                  <a:pt x="2998426" y="1777718"/>
                  <a:pt x="2539301" y="1693430"/>
                  <a:pt x="2089495" y="1569424"/>
                </a:cubicBezTo>
                <a:cubicBezTo>
                  <a:pt x="1686172" y="1458383"/>
                  <a:pt x="1286353" y="1311705"/>
                  <a:pt x="921600" y="1088916"/>
                </a:cubicBezTo>
                <a:cubicBezTo>
                  <a:pt x="601453" y="893344"/>
                  <a:pt x="335103" y="628244"/>
                  <a:pt x="135739" y="288056"/>
                </a:cubicBezTo>
                <a:cubicBezTo>
                  <a:pt x="87651" y="205988"/>
                  <a:pt x="42683" y="121748"/>
                  <a:pt x="0" y="35969"/>
                </a:cubicBezTo>
                <a:lnTo>
                  <a:pt x="0" y="0"/>
                </a:lnTo>
                <a:cubicBezTo>
                  <a:pt x="85137" y="176147"/>
                  <a:pt x="181886" y="347629"/>
                  <a:pt x="303276" y="510703"/>
                </a:cubicBezTo>
                <a:cubicBezTo>
                  <a:pt x="562015" y="858295"/>
                  <a:pt x="912940" y="1088161"/>
                  <a:pt x="1284207" y="1260803"/>
                </a:cubicBezTo>
                <a:cubicBezTo>
                  <a:pt x="1660956" y="1435901"/>
                  <a:pt x="2057855" y="1551910"/>
                  <a:pt x="2458296" y="1642852"/>
                </a:cubicBezTo>
                <a:cubicBezTo>
                  <a:pt x="2929737" y="1749584"/>
                  <a:pt x="3417543" y="1821947"/>
                  <a:pt x="3888807" y="1861373"/>
                </a:cubicBezTo>
                <a:cubicBezTo>
                  <a:pt x="4360070" y="1900799"/>
                  <a:pt x="4835320" y="1911761"/>
                  <a:pt x="5307637" y="1870535"/>
                </a:cubicBezTo>
                <a:cubicBezTo>
                  <a:pt x="5730081" y="1833619"/>
                  <a:pt x="6138508" y="1747683"/>
                  <a:pt x="6532626" y="1568778"/>
                </a:cubicBezTo>
                <a:cubicBezTo>
                  <a:pt x="6746997" y="1471487"/>
                  <a:pt x="6958080" y="1362195"/>
                  <a:pt x="7168959" y="1253005"/>
                </a:cubicBezTo>
                <a:lnTo>
                  <a:pt x="7168972" y="1253000"/>
                </a:lnTo>
                <a:cubicBezTo>
                  <a:pt x="7472639" y="1095768"/>
                  <a:pt x="7775887" y="938761"/>
                  <a:pt x="8087907" y="818125"/>
                </a:cubicBezTo>
                <a:cubicBezTo>
                  <a:pt x="8616598" y="613718"/>
                  <a:pt x="9164600" y="541166"/>
                  <a:pt x="9706660" y="709477"/>
                </a:cubicBezTo>
                <a:cubicBezTo>
                  <a:pt x="10093300" y="829511"/>
                  <a:pt x="10444782" y="1038142"/>
                  <a:pt x="10796214" y="1246740"/>
                </a:cubicBezTo>
                <a:lnTo>
                  <a:pt x="10796214" y="1246746"/>
                </a:lnTo>
                <a:cubicBezTo>
                  <a:pt x="10973624" y="1352056"/>
                  <a:pt x="11151023" y="1457344"/>
                  <a:pt x="11332916" y="1551238"/>
                </a:cubicBezTo>
                <a:cubicBezTo>
                  <a:pt x="11601539" y="1689894"/>
                  <a:pt x="11892078" y="1809603"/>
                  <a:pt x="12188825" y="1866911"/>
                </a:cubicBezTo>
                <a:close/>
                <a:moveTo>
                  <a:pt x="12188825" y="2019532"/>
                </a:moveTo>
                <a:cubicBezTo>
                  <a:pt x="11780055" y="1945458"/>
                  <a:pt x="11383868" y="1776704"/>
                  <a:pt x="11006585" y="1600562"/>
                </a:cubicBezTo>
                <a:cubicBezTo>
                  <a:pt x="10960674" y="1579157"/>
                  <a:pt x="10914776" y="1557588"/>
                  <a:pt x="10868864" y="1536005"/>
                </a:cubicBezTo>
                <a:lnTo>
                  <a:pt x="10868852" y="1535993"/>
                </a:lnTo>
                <a:cubicBezTo>
                  <a:pt x="10622663" y="1420263"/>
                  <a:pt x="10375813" y="1304228"/>
                  <a:pt x="10122349" y="1212187"/>
                </a:cubicBezTo>
                <a:cubicBezTo>
                  <a:pt x="9821603" y="1102984"/>
                  <a:pt x="9509252" y="1034004"/>
                  <a:pt x="9192457" y="1013092"/>
                </a:cubicBezTo>
                <a:cubicBezTo>
                  <a:pt x="8593528" y="973979"/>
                  <a:pt x="7977282" y="1069829"/>
                  <a:pt x="7401995" y="1263747"/>
                </a:cubicBezTo>
                <a:cubicBezTo>
                  <a:pt x="7100499" y="1365452"/>
                  <a:pt x="6811064" y="1499862"/>
                  <a:pt x="6521707" y="1638327"/>
                </a:cubicBezTo>
                <a:cubicBezTo>
                  <a:pt x="6308860" y="1740219"/>
                  <a:pt x="6096025" y="1841780"/>
                  <a:pt x="5871611" y="1906616"/>
                </a:cubicBezTo>
                <a:cubicBezTo>
                  <a:pt x="5469482" y="2023106"/>
                  <a:pt x="5049792" y="2061100"/>
                  <a:pt x="4636401" y="2069198"/>
                </a:cubicBezTo>
                <a:cubicBezTo>
                  <a:pt x="4171613" y="2078411"/>
                  <a:pt x="3706508" y="2044904"/>
                  <a:pt x="3246392" y="1979574"/>
                </a:cubicBezTo>
                <a:cubicBezTo>
                  <a:pt x="2422542" y="1862564"/>
                  <a:pt x="1559484" y="1662533"/>
                  <a:pt x="849919" y="1167195"/>
                </a:cubicBezTo>
                <a:cubicBezTo>
                  <a:pt x="541989" y="952307"/>
                  <a:pt x="283185" y="671390"/>
                  <a:pt x="84269" y="333407"/>
                </a:cubicBezTo>
                <a:cubicBezTo>
                  <a:pt x="55052" y="283822"/>
                  <a:pt x="27011" y="233451"/>
                  <a:pt x="0" y="182406"/>
                </a:cubicBezTo>
                <a:lnTo>
                  <a:pt x="0" y="145534"/>
                </a:lnTo>
                <a:cubicBezTo>
                  <a:pt x="73108" y="286600"/>
                  <a:pt x="154462" y="423096"/>
                  <a:pt x="248048" y="552745"/>
                </a:cubicBezTo>
                <a:cubicBezTo>
                  <a:pt x="494220" y="893774"/>
                  <a:pt x="803239" y="1142055"/>
                  <a:pt x="1166708" y="1340777"/>
                </a:cubicBezTo>
                <a:cubicBezTo>
                  <a:pt x="1530180" y="1539503"/>
                  <a:pt x="1917125" y="1674636"/>
                  <a:pt x="2311674" y="1776172"/>
                </a:cubicBezTo>
                <a:cubicBezTo>
                  <a:pt x="2754421" y="1890166"/>
                  <a:pt x="3205585" y="1965634"/>
                  <a:pt x="3658933" y="2009749"/>
                </a:cubicBezTo>
                <a:cubicBezTo>
                  <a:pt x="4110885" y="2053800"/>
                  <a:pt x="4567191" y="2067525"/>
                  <a:pt x="5020996" y="2031901"/>
                </a:cubicBezTo>
                <a:cubicBezTo>
                  <a:pt x="5420142" y="2000637"/>
                  <a:pt x="5822577" y="1932773"/>
                  <a:pt x="6197434" y="1768467"/>
                </a:cubicBezTo>
                <a:cubicBezTo>
                  <a:pt x="6322496" y="1713643"/>
                  <a:pt x="6446009" y="1654562"/>
                  <a:pt x="6569523" y="1595493"/>
                </a:cubicBezTo>
                <a:cubicBezTo>
                  <a:pt x="6732599" y="1517503"/>
                  <a:pt x="6895663" y="1439500"/>
                  <a:pt x="7062319" y="1371281"/>
                </a:cubicBezTo>
                <a:cubicBezTo>
                  <a:pt x="7330004" y="1261615"/>
                  <a:pt x="7604215" y="1172225"/>
                  <a:pt x="7883529" y="1108957"/>
                </a:cubicBezTo>
                <a:cubicBezTo>
                  <a:pt x="8453814" y="979592"/>
                  <a:pt x="9058925" y="936764"/>
                  <a:pt x="9631406" y="1053664"/>
                </a:cubicBezTo>
                <a:cubicBezTo>
                  <a:pt x="10061049" y="1141624"/>
                  <a:pt x="10459358" y="1327103"/>
                  <a:pt x="10858250" y="1512839"/>
                </a:cubicBezTo>
                <a:lnTo>
                  <a:pt x="10858250" y="1512839"/>
                </a:lnTo>
                <a:cubicBezTo>
                  <a:pt x="11013530" y="1585151"/>
                  <a:pt x="11168899" y="1657489"/>
                  <a:pt x="11326224" y="1724137"/>
                </a:cubicBezTo>
                <a:cubicBezTo>
                  <a:pt x="11601374" y="1840602"/>
                  <a:pt x="11892497" y="1945674"/>
                  <a:pt x="12188825" y="2000472"/>
                </a:cubicBezTo>
                <a:close/>
                <a:moveTo>
                  <a:pt x="12188825" y="2151725"/>
                </a:moveTo>
                <a:cubicBezTo>
                  <a:pt x="11769021" y="2073139"/>
                  <a:pt x="11359680" y="1920873"/>
                  <a:pt x="10959062" y="1771369"/>
                </a:cubicBezTo>
                <a:cubicBezTo>
                  <a:pt x="10667837" y="1662660"/>
                  <a:pt x="10372424" y="1553418"/>
                  <a:pt x="10074293" y="1480802"/>
                </a:cubicBezTo>
                <a:cubicBezTo>
                  <a:pt x="9776149" y="1408198"/>
                  <a:pt x="9465790" y="1382307"/>
                  <a:pt x="9166339" y="1378809"/>
                </a:cubicBezTo>
                <a:cubicBezTo>
                  <a:pt x="8985945" y="1376693"/>
                  <a:pt x="8805499" y="1381242"/>
                  <a:pt x="8625117" y="1385805"/>
                </a:cubicBezTo>
                <a:cubicBezTo>
                  <a:pt x="8506086" y="1388808"/>
                  <a:pt x="8387080" y="1391812"/>
                  <a:pt x="8268137" y="1392901"/>
                </a:cubicBezTo>
                <a:cubicBezTo>
                  <a:pt x="8252761" y="1393054"/>
                  <a:pt x="8237411" y="1393206"/>
                  <a:pt x="8222087" y="1393345"/>
                </a:cubicBezTo>
                <a:cubicBezTo>
                  <a:pt x="7953882" y="1395930"/>
                  <a:pt x="7693980" y="1398440"/>
                  <a:pt x="7414526" y="1434520"/>
                </a:cubicBezTo>
                <a:cubicBezTo>
                  <a:pt x="7119100" y="1472653"/>
                  <a:pt x="6831139" y="1551365"/>
                  <a:pt x="6553119" y="1671100"/>
                </a:cubicBezTo>
                <a:cubicBezTo>
                  <a:pt x="6454923" y="1713403"/>
                  <a:pt x="6358123" y="1759874"/>
                  <a:pt x="6261349" y="1806334"/>
                </a:cubicBezTo>
                <a:cubicBezTo>
                  <a:pt x="6116658" y="1875807"/>
                  <a:pt x="5971991" y="1945256"/>
                  <a:pt x="5822716" y="2000713"/>
                </a:cubicBezTo>
                <a:cubicBezTo>
                  <a:pt x="5436597" y="2144184"/>
                  <a:pt x="5025592" y="2198526"/>
                  <a:pt x="4621406" y="2218626"/>
                </a:cubicBezTo>
                <a:cubicBezTo>
                  <a:pt x="4155640" y="2241488"/>
                  <a:pt x="3687970" y="2214089"/>
                  <a:pt x="3226433" y="2149304"/>
                </a:cubicBezTo>
                <a:cubicBezTo>
                  <a:pt x="2395257" y="2032852"/>
                  <a:pt x="1545365" y="1805763"/>
                  <a:pt x="843323" y="1284332"/>
                </a:cubicBezTo>
                <a:cubicBezTo>
                  <a:pt x="523641" y="1047027"/>
                  <a:pt x="249927" y="745092"/>
                  <a:pt x="37916" y="388990"/>
                </a:cubicBezTo>
                <a:cubicBezTo>
                  <a:pt x="25050" y="367386"/>
                  <a:pt x="12414" y="345635"/>
                  <a:pt x="0" y="323744"/>
                </a:cubicBezTo>
                <a:lnTo>
                  <a:pt x="0" y="287455"/>
                </a:lnTo>
                <a:cubicBezTo>
                  <a:pt x="69713" y="413037"/>
                  <a:pt x="146282" y="533839"/>
                  <a:pt x="231067" y="648157"/>
                </a:cubicBezTo>
                <a:cubicBezTo>
                  <a:pt x="488936" y="996328"/>
                  <a:pt x="814927" y="1269162"/>
                  <a:pt x="1172736" y="1479750"/>
                </a:cubicBezTo>
                <a:cubicBezTo>
                  <a:pt x="1934392" y="1927589"/>
                  <a:pt x="2819745" y="2108826"/>
                  <a:pt x="3675375" y="2180721"/>
                </a:cubicBezTo>
                <a:cubicBezTo>
                  <a:pt x="4125968" y="2218461"/>
                  <a:pt x="4581716" y="2221261"/>
                  <a:pt x="5032119" y="2164588"/>
                </a:cubicBezTo>
                <a:cubicBezTo>
                  <a:pt x="5230047" y="2139825"/>
                  <a:pt x="5427773" y="2102921"/>
                  <a:pt x="5621131" y="2047400"/>
                </a:cubicBezTo>
                <a:cubicBezTo>
                  <a:pt x="5838079" y="1984884"/>
                  <a:pt x="6042547" y="1888075"/>
                  <a:pt x="6248474" y="1790581"/>
                </a:cubicBezTo>
                <a:lnTo>
                  <a:pt x="6248487" y="1790581"/>
                </a:lnTo>
                <a:lnTo>
                  <a:pt x="6248500" y="1790581"/>
                </a:lnTo>
                <a:lnTo>
                  <a:pt x="6260028" y="1785119"/>
                </a:lnTo>
                <a:lnTo>
                  <a:pt x="6273766" y="1778605"/>
                </a:lnTo>
                <a:cubicBezTo>
                  <a:pt x="6536016" y="1654650"/>
                  <a:pt x="6799942" y="1541353"/>
                  <a:pt x="7079092" y="1475897"/>
                </a:cubicBezTo>
                <a:cubicBezTo>
                  <a:pt x="7340352" y="1414826"/>
                  <a:pt x="7606437" y="1390456"/>
                  <a:pt x="7872318" y="1381331"/>
                </a:cubicBezTo>
                <a:cubicBezTo>
                  <a:pt x="8025390" y="1376072"/>
                  <a:pt x="8178524" y="1374526"/>
                  <a:pt x="8331646" y="1372992"/>
                </a:cubicBezTo>
                <a:lnTo>
                  <a:pt x="8331659" y="1372992"/>
                </a:lnTo>
                <a:lnTo>
                  <a:pt x="8331672" y="1372992"/>
                </a:lnTo>
                <a:cubicBezTo>
                  <a:pt x="8462473" y="1371674"/>
                  <a:pt x="8593249" y="1370356"/>
                  <a:pt x="8723974" y="1366719"/>
                </a:cubicBezTo>
                <a:cubicBezTo>
                  <a:pt x="9026561" y="1358241"/>
                  <a:pt x="9329213" y="1354122"/>
                  <a:pt x="9630594" y="1385462"/>
                </a:cubicBezTo>
                <a:cubicBezTo>
                  <a:pt x="10100219" y="1434545"/>
                  <a:pt x="10544019" y="1598610"/>
                  <a:pt x="10987641" y="1762599"/>
                </a:cubicBezTo>
                <a:cubicBezTo>
                  <a:pt x="11091247" y="1800910"/>
                  <a:pt x="11194852" y="1839208"/>
                  <a:pt x="11298762" y="1876035"/>
                </a:cubicBezTo>
                <a:cubicBezTo>
                  <a:pt x="11587065" y="1978155"/>
                  <a:pt x="11885679" y="2076181"/>
                  <a:pt x="12188825" y="2134147"/>
                </a:cubicBezTo>
                <a:close/>
                <a:moveTo>
                  <a:pt x="12188825" y="2288023"/>
                </a:moveTo>
                <a:cubicBezTo>
                  <a:pt x="11856921" y="2219120"/>
                  <a:pt x="11530210" y="2120004"/>
                  <a:pt x="11204476" y="2021180"/>
                </a:cubicBezTo>
                <a:lnTo>
                  <a:pt x="11204438" y="2021167"/>
                </a:lnTo>
                <a:lnTo>
                  <a:pt x="11204425" y="2021167"/>
                </a:lnTo>
                <a:cubicBezTo>
                  <a:pt x="11110965" y="1992817"/>
                  <a:pt x="11017593" y="1964481"/>
                  <a:pt x="10924209" y="1936904"/>
                </a:cubicBezTo>
                <a:cubicBezTo>
                  <a:pt x="10630433" y="1850183"/>
                  <a:pt x="10333825" y="1769848"/>
                  <a:pt x="10031289" y="1728179"/>
                </a:cubicBezTo>
                <a:cubicBezTo>
                  <a:pt x="9749079" y="1689400"/>
                  <a:pt x="9467467" y="1699272"/>
                  <a:pt x="9183835" y="1720880"/>
                </a:cubicBezTo>
                <a:cubicBezTo>
                  <a:pt x="9128643" y="1725024"/>
                  <a:pt x="9073425" y="1729510"/>
                  <a:pt x="9018182" y="1734009"/>
                </a:cubicBezTo>
                <a:lnTo>
                  <a:pt x="9018182" y="1734009"/>
                </a:lnTo>
                <a:cubicBezTo>
                  <a:pt x="8774608" y="1753817"/>
                  <a:pt x="8530628" y="1773663"/>
                  <a:pt x="8286675" y="1763689"/>
                </a:cubicBezTo>
                <a:cubicBezTo>
                  <a:pt x="8111727" y="1756491"/>
                  <a:pt x="7938138" y="1735885"/>
                  <a:pt x="7764511" y="1715265"/>
                </a:cubicBezTo>
                <a:cubicBezTo>
                  <a:pt x="7662518" y="1703163"/>
                  <a:pt x="7560513" y="1691047"/>
                  <a:pt x="7458215" y="1681657"/>
                </a:cubicBezTo>
                <a:cubicBezTo>
                  <a:pt x="7178990" y="1656120"/>
                  <a:pt x="6903192" y="1656323"/>
                  <a:pt x="6622354" y="1727305"/>
                </a:cubicBezTo>
                <a:cubicBezTo>
                  <a:pt x="6391922" y="1785537"/>
                  <a:pt x="6174249" y="1889329"/>
                  <a:pt x="5957301" y="1992779"/>
                </a:cubicBezTo>
                <a:lnTo>
                  <a:pt x="5957289" y="1992779"/>
                </a:lnTo>
                <a:lnTo>
                  <a:pt x="5957276" y="1992792"/>
                </a:lnTo>
                <a:lnTo>
                  <a:pt x="5957250" y="1992792"/>
                </a:lnTo>
                <a:lnTo>
                  <a:pt x="5957238" y="1992805"/>
                </a:lnTo>
                <a:lnTo>
                  <a:pt x="5957187" y="1992830"/>
                </a:lnTo>
                <a:cubicBezTo>
                  <a:pt x="5909778" y="2015439"/>
                  <a:pt x="5862394" y="2038035"/>
                  <a:pt x="5814920" y="2060124"/>
                </a:cubicBezTo>
                <a:cubicBezTo>
                  <a:pt x="5013861" y="2432534"/>
                  <a:pt x="4093198" y="2435829"/>
                  <a:pt x="3247700" y="2325180"/>
                </a:cubicBezTo>
                <a:cubicBezTo>
                  <a:pt x="2397199" y="2213658"/>
                  <a:pt x="1553631" y="1956357"/>
                  <a:pt x="847649" y="1407932"/>
                </a:cubicBezTo>
                <a:cubicBezTo>
                  <a:pt x="517997" y="1151734"/>
                  <a:pt x="238591" y="851378"/>
                  <a:pt x="3196" y="464475"/>
                </a:cubicBezTo>
                <a:cubicBezTo>
                  <a:pt x="2129" y="462723"/>
                  <a:pt x="1064" y="460969"/>
                  <a:pt x="0" y="459212"/>
                </a:cubicBezTo>
                <a:lnTo>
                  <a:pt x="0" y="424654"/>
                </a:lnTo>
                <a:cubicBezTo>
                  <a:pt x="64113" y="532576"/>
                  <a:pt x="133513" y="636643"/>
                  <a:pt x="208331" y="736099"/>
                </a:cubicBezTo>
                <a:cubicBezTo>
                  <a:pt x="482220" y="1100047"/>
                  <a:pt x="821955" y="1394777"/>
                  <a:pt x="1193818" y="1626643"/>
                </a:cubicBezTo>
                <a:cubicBezTo>
                  <a:pt x="1952485" y="2099879"/>
                  <a:pt x="2840174" y="2295880"/>
                  <a:pt x="3705644" y="2350831"/>
                </a:cubicBezTo>
                <a:cubicBezTo>
                  <a:pt x="4154460" y="2379446"/>
                  <a:pt x="4609319" y="2366938"/>
                  <a:pt x="5054389" y="2282878"/>
                </a:cubicBezTo>
                <a:cubicBezTo>
                  <a:pt x="5245626" y="2246557"/>
                  <a:pt x="5435315" y="2196777"/>
                  <a:pt x="5618833" y="2125162"/>
                </a:cubicBezTo>
                <a:cubicBezTo>
                  <a:pt x="5743730" y="2076409"/>
                  <a:pt x="5865276" y="2018126"/>
                  <a:pt x="5986808" y="1959855"/>
                </a:cubicBezTo>
                <a:cubicBezTo>
                  <a:pt x="6106246" y="1902573"/>
                  <a:pt x="6225684" y="1845303"/>
                  <a:pt x="6348309" y="1797070"/>
                </a:cubicBezTo>
                <a:cubicBezTo>
                  <a:pt x="6601722" y="1697574"/>
                  <a:pt x="6863794" y="1647756"/>
                  <a:pt x="7131504" y="1646527"/>
                </a:cubicBezTo>
                <a:cubicBezTo>
                  <a:pt x="7339984" y="1645564"/>
                  <a:pt x="7546965" y="1670416"/>
                  <a:pt x="7753782" y="1695242"/>
                </a:cubicBezTo>
                <a:lnTo>
                  <a:pt x="7753833" y="1695255"/>
                </a:lnTo>
                <a:lnTo>
                  <a:pt x="7753871" y="1695255"/>
                </a:lnTo>
                <a:cubicBezTo>
                  <a:pt x="7812593" y="1702301"/>
                  <a:pt x="7871302" y="1709360"/>
                  <a:pt x="7930037" y="1715810"/>
                </a:cubicBezTo>
                <a:cubicBezTo>
                  <a:pt x="8219039" y="1747759"/>
                  <a:pt x="8511736" y="1751548"/>
                  <a:pt x="8795266" y="1731804"/>
                </a:cubicBezTo>
                <a:cubicBezTo>
                  <a:pt x="8873541" y="1726354"/>
                  <a:pt x="8951829" y="1719942"/>
                  <a:pt x="9030141" y="1713517"/>
                </a:cubicBezTo>
                <a:lnTo>
                  <a:pt x="9030155" y="1713517"/>
                </a:lnTo>
                <a:cubicBezTo>
                  <a:pt x="9235561" y="1696661"/>
                  <a:pt x="9441146" y="1679806"/>
                  <a:pt x="9646859" y="1680427"/>
                </a:cubicBezTo>
                <a:cubicBezTo>
                  <a:pt x="10156376" y="1682303"/>
                  <a:pt x="10658581" y="1835000"/>
                  <a:pt x="11141208" y="1981754"/>
                </a:cubicBezTo>
                <a:lnTo>
                  <a:pt x="11141259" y="1981767"/>
                </a:lnTo>
                <a:lnTo>
                  <a:pt x="11141525" y="1981843"/>
                </a:lnTo>
                <a:cubicBezTo>
                  <a:pt x="11192312" y="1997291"/>
                  <a:pt x="11242883" y="2012663"/>
                  <a:pt x="11293225" y="2027795"/>
                </a:cubicBezTo>
                <a:lnTo>
                  <a:pt x="11310239" y="2032915"/>
                </a:lnTo>
                <a:cubicBezTo>
                  <a:pt x="11599343" y="2119801"/>
                  <a:pt x="11892294" y="2207841"/>
                  <a:pt x="12188825" y="2270027"/>
                </a:cubicBezTo>
                <a:close/>
                <a:moveTo>
                  <a:pt x="12188825" y="2427528"/>
                </a:moveTo>
                <a:cubicBezTo>
                  <a:pt x="11983379" y="2378255"/>
                  <a:pt x="11779102" y="2323216"/>
                  <a:pt x="11574826" y="2268164"/>
                </a:cubicBezTo>
                <a:lnTo>
                  <a:pt x="11574813" y="2268164"/>
                </a:lnTo>
                <a:cubicBezTo>
                  <a:pt x="11347313" y="2206865"/>
                  <a:pt x="11119801" y="2145566"/>
                  <a:pt x="10890664" y="2092225"/>
                </a:cubicBezTo>
                <a:cubicBezTo>
                  <a:pt x="10602056" y="2025083"/>
                  <a:pt x="10310007" y="1970538"/>
                  <a:pt x="10014554" y="1954773"/>
                </a:cubicBezTo>
                <a:cubicBezTo>
                  <a:pt x="9724689" y="1939603"/>
                  <a:pt x="9443254" y="1978459"/>
                  <a:pt x="9157655" y="2032991"/>
                </a:cubicBezTo>
                <a:cubicBezTo>
                  <a:pt x="9150125" y="2034423"/>
                  <a:pt x="9142609" y="2035855"/>
                  <a:pt x="9135080" y="2037300"/>
                </a:cubicBezTo>
                <a:lnTo>
                  <a:pt x="9117089" y="2040734"/>
                </a:lnTo>
                <a:cubicBezTo>
                  <a:pt x="8858445" y="2090121"/>
                  <a:pt x="8598099" y="2139825"/>
                  <a:pt x="8335544" y="2143842"/>
                </a:cubicBezTo>
                <a:cubicBezTo>
                  <a:pt x="8073307" y="2147847"/>
                  <a:pt x="7815729" y="2093821"/>
                  <a:pt x="7563890" y="2026705"/>
                </a:cubicBezTo>
                <a:cubicBezTo>
                  <a:pt x="7528872" y="2017365"/>
                  <a:pt x="7493867" y="2007848"/>
                  <a:pt x="7458838" y="1998318"/>
                </a:cubicBezTo>
                <a:lnTo>
                  <a:pt x="7458812" y="1998305"/>
                </a:lnTo>
                <a:cubicBezTo>
                  <a:pt x="7241889" y="1939286"/>
                  <a:pt x="7024229" y="1880066"/>
                  <a:pt x="6800120" y="1865099"/>
                </a:cubicBezTo>
                <a:cubicBezTo>
                  <a:pt x="6509341" y="1845836"/>
                  <a:pt x="6233594" y="1916133"/>
                  <a:pt x="5963193" y="2035006"/>
                </a:cubicBezTo>
                <a:cubicBezTo>
                  <a:pt x="5883698" y="2069996"/>
                  <a:pt x="5805182" y="2107737"/>
                  <a:pt x="5726666" y="2145464"/>
                </a:cubicBezTo>
                <a:cubicBezTo>
                  <a:pt x="5583498" y="2214279"/>
                  <a:pt x="5440342" y="2283081"/>
                  <a:pt x="5291258" y="2335205"/>
                </a:cubicBezTo>
                <a:cubicBezTo>
                  <a:pt x="5088720" y="2405844"/>
                  <a:pt x="4880329" y="2453736"/>
                  <a:pt x="4670504" y="2485976"/>
                </a:cubicBezTo>
                <a:cubicBezTo>
                  <a:pt x="4221714" y="2554892"/>
                  <a:pt x="3760837" y="2553701"/>
                  <a:pt x="3315576" y="2505011"/>
                </a:cubicBezTo>
                <a:cubicBezTo>
                  <a:pt x="2870329" y="2456334"/>
                  <a:pt x="2409071" y="2353238"/>
                  <a:pt x="2003703" y="2200034"/>
                </a:cubicBezTo>
                <a:cubicBezTo>
                  <a:pt x="1598336" y="2046830"/>
                  <a:pt x="1216571" y="1821922"/>
                  <a:pt x="869769" y="1544598"/>
                </a:cubicBezTo>
                <a:cubicBezTo>
                  <a:pt x="533285" y="1275524"/>
                  <a:pt x="236320" y="951448"/>
                  <a:pt x="0" y="581612"/>
                </a:cubicBezTo>
                <a:lnTo>
                  <a:pt x="0" y="556480"/>
                </a:lnTo>
                <a:cubicBezTo>
                  <a:pt x="312749" y="1049618"/>
                  <a:pt x="735446" y="1457344"/>
                  <a:pt x="1216794" y="1773954"/>
                </a:cubicBezTo>
                <a:cubicBezTo>
                  <a:pt x="1985852" y="2279824"/>
                  <a:pt x="2890326" y="2492883"/>
                  <a:pt x="3782015" y="2518330"/>
                </a:cubicBezTo>
                <a:cubicBezTo>
                  <a:pt x="4227440" y="2530876"/>
                  <a:pt x="4679315" y="2494530"/>
                  <a:pt x="5113200" y="2371576"/>
                </a:cubicBezTo>
                <a:cubicBezTo>
                  <a:pt x="5310849" y="2315638"/>
                  <a:pt x="5497529" y="2227041"/>
                  <a:pt x="5684589" y="2138266"/>
                </a:cubicBezTo>
                <a:cubicBezTo>
                  <a:pt x="5948299" y="2013120"/>
                  <a:pt x="6212771" y="1887606"/>
                  <a:pt x="6509836" y="1852704"/>
                </a:cubicBezTo>
                <a:cubicBezTo>
                  <a:pt x="6839683" y="1813950"/>
                  <a:pt x="7154701" y="1898163"/>
                  <a:pt x="7470328" y="1982552"/>
                </a:cubicBezTo>
                <a:lnTo>
                  <a:pt x="7470328" y="1982552"/>
                </a:lnTo>
                <a:cubicBezTo>
                  <a:pt x="7640578" y="2028061"/>
                  <a:pt x="7810993" y="2073621"/>
                  <a:pt x="7984036" y="2099955"/>
                </a:cubicBezTo>
                <a:cubicBezTo>
                  <a:pt x="8269927" y="2143284"/>
                  <a:pt x="8555045" y="2119877"/>
                  <a:pt x="8840021" y="2072176"/>
                </a:cubicBezTo>
                <a:cubicBezTo>
                  <a:pt x="8927489" y="2057539"/>
                  <a:pt x="9014842" y="2040430"/>
                  <a:pt x="9102246" y="2023309"/>
                </a:cubicBezTo>
                <a:cubicBezTo>
                  <a:pt x="9278375" y="1988813"/>
                  <a:pt x="9454719" y="1954279"/>
                  <a:pt x="9632651" y="1939870"/>
                </a:cubicBezTo>
                <a:cubicBezTo>
                  <a:pt x="10184551" y="1895248"/>
                  <a:pt x="10737124" y="2028264"/>
                  <a:pt x="11265051" y="2165944"/>
                </a:cubicBezTo>
                <a:cubicBezTo>
                  <a:pt x="11378179" y="2195434"/>
                  <a:pt x="11491205" y="2226077"/>
                  <a:pt x="11604294" y="2256733"/>
                </a:cubicBezTo>
                <a:lnTo>
                  <a:pt x="11604333" y="2256746"/>
                </a:lnTo>
                <a:cubicBezTo>
                  <a:pt x="11798719" y="2309441"/>
                  <a:pt x="11993283" y="2362186"/>
                  <a:pt x="12188825" y="2409279"/>
                </a:cubicBezTo>
                <a:close/>
                <a:moveTo>
                  <a:pt x="12188825" y="2573280"/>
                </a:moveTo>
                <a:cubicBezTo>
                  <a:pt x="12187429" y="2572875"/>
                  <a:pt x="12186044" y="2572482"/>
                  <a:pt x="12184648" y="2572089"/>
                </a:cubicBezTo>
                <a:lnTo>
                  <a:pt x="12184115" y="2571937"/>
                </a:lnTo>
                <a:lnTo>
                  <a:pt x="12183899" y="2571874"/>
                </a:lnTo>
                <a:cubicBezTo>
                  <a:pt x="11719467" y="2440011"/>
                  <a:pt x="11254425" y="2307983"/>
                  <a:pt x="10779975" y="2226762"/>
                </a:cubicBezTo>
                <a:cubicBezTo>
                  <a:pt x="10500749" y="2179111"/>
                  <a:pt x="10217981" y="2151218"/>
                  <a:pt x="9934933" y="2161635"/>
                </a:cubicBezTo>
                <a:cubicBezTo>
                  <a:pt x="9654972" y="2171900"/>
                  <a:pt x="9380926" y="2236368"/>
                  <a:pt x="9119425" y="2318628"/>
                </a:cubicBezTo>
                <a:cubicBezTo>
                  <a:pt x="9108125" y="2322177"/>
                  <a:pt x="9096825" y="2325738"/>
                  <a:pt x="9085512" y="2329299"/>
                </a:cubicBezTo>
                <a:cubicBezTo>
                  <a:pt x="8835222" y="2408151"/>
                  <a:pt x="8583714" y="2487370"/>
                  <a:pt x="8324142" y="2513413"/>
                </a:cubicBezTo>
                <a:cubicBezTo>
                  <a:pt x="8068926" y="2538974"/>
                  <a:pt x="7820731" y="2499143"/>
                  <a:pt x="7578199" y="2414424"/>
                </a:cubicBezTo>
                <a:cubicBezTo>
                  <a:pt x="7461517" y="2373680"/>
                  <a:pt x="7346230" y="2325092"/>
                  <a:pt x="7230970" y="2276503"/>
                </a:cubicBezTo>
                <a:cubicBezTo>
                  <a:pt x="6891536" y="2133425"/>
                  <a:pt x="6552230" y="1990397"/>
                  <a:pt x="6177741" y="2048186"/>
                </a:cubicBezTo>
                <a:cubicBezTo>
                  <a:pt x="5930016" y="2086636"/>
                  <a:pt x="5699228" y="2199211"/>
                  <a:pt x="5471297" y="2310416"/>
                </a:cubicBezTo>
                <a:lnTo>
                  <a:pt x="5471259" y="2310429"/>
                </a:lnTo>
                <a:cubicBezTo>
                  <a:pt x="5447846" y="2321847"/>
                  <a:pt x="5424446" y="2333266"/>
                  <a:pt x="5401072" y="2344583"/>
                </a:cubicBezTo>
                <a:cubicBezTo>
                  <a:pt x="5198814" y="2442330"/>
                  <a:pt x="4993292" y="2521840"/>
                  <a:pt x="4778654" y="2576588"/>
                </a:cubicBezTo>
                <a:cubicBezTo>
                  <a:pt x="4334880" y="2689999"/>
                  <a:pt x="3880097" y="2717474"/>
                  <a:pt x="3421124" y="2684600"/>
                </a:cubicBezTo>
                <a:cubicBezTo>
                  <a:pt x="2962151" y="2651726"/>
                  <a:pt x="2504347" y="2557845"/>
                  <a:pt x="2070513" y="2390725"/>
                </a:cubicBezTo>
                <a:cubicBezTo>
                  <a:pt x="1648793" y="2228270"/>
                  <a:pt x="1258340" y="1981424"/>
                  <a:pt x="899978" y="1688855"/>
                </a:cubicBezTo>
                <a:cubicBezTo>
                  <a:pt x="567820" y="1417563"/>
                  <a:pt x="252640" y="1091950"/>
                  <a:pt x="0" y="719120"/>
                </a:cubicBezTo>
                <a:lnTo>
                  <a:pt x="0" y="692852"/>
                </a:lnTo>
                <a:cubicBezTo>
                  <a:pt x="340082" y="1201786"/>
                  <a:pt x="799930" y="1622562"/>
                  <a:pt x="1275307" y="1946143"/>
                </a:cubicBezTo>
                <a:cubicBezTo>
                  <a:pt x="2058947" y="2479247"/>
                  <a:pt x="2987786" y="2704142"/>
                  <a:pt x="3907484" y="2675881"/>
                </a:cubicBezTo>
                <a:cubicBezTo>
                  <a:pt x="4358483" y="2661928"/>
                  <a:pt x="4816922" y="2585408"/>
                  <a:pt x="5239710" y="2399875"/>
                </a:cubicBezTo>
                <a:cubicBezTo>
                  <a:pt x="5322670" y="2363529"/>
                  <a:pt x="5404386" y="2323748"/>
                  <a:pt x="5486076" y="2283968"/>
                </a:cubicBezTo>
                <a:lnTo>
                  <a:pt x="5486076" y="2283968"/>
                </a:lnTo>
                <a:lnTo>
                  <a:pt x="5486089" y="2283968"/>
                </a:lnTo>
                <a:lnTo>
                  <a:pt x="5486089" y="2283968"/>
                </a:lnTo>
                <a:cubicBezTo>
                  <a:pt x="5639554" y="2209247"/>
                  <a:pt x="5792930" y="2134565"/>
                  <a:pt x="5954317" y="2082847"/>
                </a:cubicBezTo>
                <a:cubicBezTo>
                  <a:pt x="6179950" y="2010598"/>
                  <a:pt x="6410954" y="1997519"/>
                  <a:pt x="6640498" y="2045740"/>
                </a:cubicBezTo>
                <a:cubicBezTo>
                  <a:pt x="6850323" y="2089842"/>
                  <a:pt x="7048963" y="2174511"/>
                  <a:pt x="7247451" y="2259116"/>
                </a:cubicBezTo>
                <a:cubicBezTo>
                  <a:pt x="7492141" y="2363402"/>
                  <a:pt x="7736603" y="2467600"/>
                  <a:pt x="8001583" y="2495633"/>
                </a:cubicBezTo>
                <a:cubicBezTo>
                  <a:pt x="8351745" y="2532689"/>
                  <a:pt x="8682418" y="2430430"/>
                  <a:pt x="9013992" y="2327905"/>
                </a:cubicBezTo>
                <a:lnTo>
                  <a:pt x="9014004" y="2327892"/>
                </a:lnTo>
                <a:cubicBezTo>
                  <a:pt x="9217990" y="2264819"/>
                  <a:pt x="9422317" y="2201631"/>
                  <a:pt x="9631750" y="2170709"/>
                </a:cubicBezTo>
                <a:cubicBezTo>
                  <a:pt x="10163233" y="2092009"/>
                  <a:pt x="10701407" y="2177869"/>
                  <a:pt x="11220448" y="2297325"/>
                </a:cubicBezTo>
                <a:cubicBezTo>
                  <a:pt x="11541167" y="2371082"/>
                  <a:pt x="11858203" y="2460845"/>
                  <a:pt x="12175277" y="2550621"/>
                </a:cubicBezTo>
                <a:cubicBezTo>
                  <a:pt x="12179798" y="2551901"/>
                  <a:pt x="12184305" y="2553181"/>
                  <a:pt x="12188825" y="2554461"/>
                </a:cubicBezTo>
                <a:close/>
                <a:moveTo>
                  <a:pt x="12188825" y="2725091"/>
                </a:moveTo>
                <a:cubicBezTo>
                  <a:pt x="11699609" y="2559201"/>
                  <a:pt x="11199245" y="2423244"/>
                  <a:pt x="10689295" y="2364517"/>
                </a:cubicBezTo>
                <a:cubicBezTo>
                  <a:pt x="10400902" y="2331352"/>
                  <a:pt x="10099305" y="2326169"/>
                  <a:pt x="9819660" y="2362933"/>
                </a:cubicBezTo>
                <a:cubicBezTo>
                  <a:pt x="9540029" y="2399698"/>
                  <a:pt x="9268116" y="2493567"/>
                  <a:pt x="9017508" y="2604114"/>
                </a:cubicBezTo>
                <a:lnTo>
                  <a:pt x="9007122" y="2608689"/>
                </a:lnTo>
                <a:lnTo>
                  <a:pt x="8987938" y="2617167"/>
                </a:lnTo>
                <a:lnTo>
                  <a:pt x="8987938" y="2617167"/>
                </a:lnTo>
                <a:cubicBezTo>
                  <a:pt x="8746993" y="2723557"/>
                  <a:pt x="8503610" y="2831024"/>
                  <a:pt x="8246807" y="2877129"/>
                </a:cubicBezTo>
                <a:cubicBezTo>
                  <a:pt x="8005836" y="2920242"/>
                  <a:pt x="7766846" y="2897710"/>
                  <a:pt x="7537062" y="2810836"/>
                </a:cubicBezTo>
                <a:cubicBezTo>
                  <a:pt x="7358127" y="2743036"/>
                  <a:pt x="7190607" y="2644249"/>
                  <a:pt x="7023214" y="2545526"/>
                </a:cubicBezTo>
                <a:cubicBezTo>
                  <a:pt x="6796451" y="2411788"/>
                  <a:pt x="6569916" y="2278189"/>
                  <a:pt x="6315538" y="2221959"/>
                </a:cubicBezTo>
                <a:cubicBezTo>
                  <a:pt x="5926639" y="2136099"/>
                  <a:pt x="5581200" y="2301583"/>
                  <a:pt x="5234415" y="2467714"/>
                </a:cubicBezTo>
                <a:lnTo>
                  <a:pt x="5234415" y="2467714"/>
                </a:lnTo>
                <a:lnTo>
                  <a:pt x="5234402" y="2467714"/>
                </a:lnTo>
                <a:cubicBezTo>
                  <a:pt x="5102560" y="2530876"/>
                  <a:pt x="4970514" y="2594140"/>
                  <a:pt x="4835815" y="2643704"/>
                </a:cubicBezTo>
                <a:cubicBezTo>
                  <a:pt x="4383406" y="2810279"/>
                  <a:pt x="3901453" y="2869690"/>
                  <a:pt x="3428044" y="2850110"/>
                </a:cubicBezTo>
                <a:cubicBezTo>
                  <a:pt x="2949328" y="2830239"/>
                  <a:pt x="2451960" y="2720300"/>
                  <a:pt x="2024869" y="2536706"/>
                </a:cubicBezTo>
                <a:cubicBezTo>
                  <a:pt x="1597777" y="2353099"/>
                  <a:pt x="1205987" y="2072214"/>
                  <a:pt x="846330" y="1761205"/>
                </a:cubicBezTo>
                <a:cubicBezTo>
                  <a:pt x="548708" y="1503790"/>
                  <a:pt x="247946" y="1198377"/>
                  <a:pt x="0" y="851425"/>
                </a:cubicBezTo>
                <a:lnTo>
                  <a:pt x="0" y="812242"/>
                </a:lnTo>
                <a:cubicBezTo>
                  <a:pt x="48075" y="880859"/>
                  <a:pt x="97913" y="947647"/>
                  <a:pt x="148963" y="1012552"/>
                </a:cubicBezTo>
                <a:cubicBezTo>
                  <a:pt x="466576" y="1415510"/>
                  <a:pt x="855628" y="1771344"/>
                  <a:pt x="1243881" y="2055460"/>
                </a:cubicBezTo>
                <a:cubicBezTo>
                  <a:pt x="1632135" y="2339590"/>
                  <a:pt x="2021606" y="2550862"/>
                  <a:pt x="2498113" y="2684664"/>
                </a:cubicBezTo>
                <a:cubicBezTo>
                  <a:pt x="2974619" y="2818453"/>
                  <a:pt x="3473879" y="2864608"/>
                  <a:pt x="3965533" y="2818453"/>
                </a:cubicBezTo>
                <a:cubicBezTo>
                  <a:pt x="4204866" y="2796136"/>
                  <a:pt x="4434879" y="2753402"/>
                  <a:pt x="4675481" y="2679113"/>
                </a:cubicBezTo>
                <a:cubicBezTo>
                  <a:pt x="4881510" y="2615494"/>
                  <a:pt x="5076341" y="2521612"/>
                  <a:pt x="5270753" y="2427933"/>
                </a:cubicBezTo>
                <a:lnTo>
                  <a:pt x="5270854" y="2427883"/>
                </a:lnTo>
                <a:cubicBezTo>
                  <a:pt x="5303447" y="2412181"/>
                  <a:pt x="5336014" y="2396479"/>
                  <a:pt x="5368632" y="2380929"/>
                </a:cubicBezTo>
                <a:cubicBezTo>
                  <a:pt x="5595839" y="2272625"/>
                  <a:pt x="5833877" y="2177324"/>
                  <a:pt x="6083545" y="2177970"/>
                </a:cubicBezTo>
                <a:cubicBezTo>
                  <a:pt x="6300391" y="2178186"/>
                  <a:pt x="6507957" y="2249890"/>
                  <a:pt x="6703245" y="2347764"/>
                </a:cubicBezTo>
                <a:cubicBezTo>
                  <a:pt x="6811154" y="2401916"/>
                  <a:pt x="6917006" y="2463570"/>
                  <a:pt x="7022948" y="2525275"/>
                </a:cubicBezTo>
                <a:cubicBezTo>
                  <a:pt x="7316266" y="2696133"/>
                  <a:pt x="7610297" y="2867396"/>
                  <a:pt x="7950910" y="2880969"/>
                </a:cubicBezTo>
                <a:cubicBezTo>
                  <a:pt x="8300641" y="2894884"/>
                  <a:pt x="8620000" y="2756393"/>
                  <a:pt x="8940046" y="2617598"/>
                </a:cubicBezTo>
                <a:cubicBezTo>
                  <a:pt x="9142418" y="2529837"/>
                  <a:pt x="9345058" y="2441950"/>
                  <a:pt x="9555836" y="2392411"/>
                </a:cubicBezTo>
                <a:cubicBezTo>
                  <a:pt x="10080070" y="2269102"/>
                  <a:pt x="10624275" y="2314129"/>
                  <a:pt x="11145461" y="2419050"/>
                </a:cubicBezTo>
                <a:cubicBezTo>
                  <a:pt x="11498582" y="2490044"/>
                  <a:pt x="11845963" y="2589895"/>
                  <a:pt x="12188825" y="2705790"/>
                </a:cubicBezTo>
                <a:close/>
                <a:moveTo>
                  <a:pt x="12188825" y="2884327"/>
                </a:moveTo>
                <a:cubicBezTo>
                  <a:pt x="11740670" y="2702887"/>
                  <a:pt x="11272962" y="2572228"/>
                  <a:pt x="10797204" y="2518976"/>
                </a:cubicBezTo>
                <a:cubicBezTo>
                  <a:pt x="10282277" y="2461124"/>
                  <a:pt x="9746641" y="2495050"/>
                  <a:pt x="9257057" y="2702697"/>
                </a:cubicBezTo>
                <a:cubicBezTo>
                  <a:pt x="9107490" y="2766240"/>
                  <a:pt x="8962011" y="2847905"/>
                  <a:pt x="8816393" y="2929633"/>
                </a:cubicBezTo>
                <a:cubicBezTo>
                  <a:pt x="8487295" y="3114355"/>
                  <a:pt x="8157549" y="3299458"/>
                  <a:pt x="7778489" y="3276570"/>
                </a:cubicBezTo>
                <a:cubicBezTo>
                  <a:pt x="7411999" y="3254506"/>
                  <a:pt x="7108955" y="3028825"/>
                  <a:pt x="6812842" y="2808302"/>
                </a:cubicBezTo>
                <a:lnTo>
                  <a:pt x="6812830" y="2808289"/>
                </a:lnTo>
                <a:cubicBezTo>
                  <a:pt x="6742642" y="2756025"/>
                  <a:pt x="6672848" y="2704041"/>
                  <a:pt x="6602687" y="2655135"/>
                </a:cubicBezTo>
                <a:cubicBezTo>
                  <a:pt x="6408770" y="2519940"/>
                  <a:pt x="6199795" y="2399229"/>
                  <a:pt x="5969312" y="2364049"/>
                </a:cubicBezTo>
                <a:cubicBezTo>
                  <a:pt x="5679523" y="2319909"/>
                  <a:pt x="5401097" y="2425906"/>
                  <a:pt x="5138111" y="2553574"/>
                </a:cubicBezTo>
                <a:cubicBezTo>
                  <a:pt x="5133933" y="2555601"/>
                  <a:pt x="5129756" y="2557616"/>
                  <a:pt x="5125579" y="2559644"/>
                </a:cubicBezTo>
                <a:cubicBezTo>
                  <a:pt x="5112590" y="2565955"/>
                  <a:pt x="5099576" y="2572267"/>
                  <a:pt x="5086562" y="2578590"/>
                </a:cubicBezTo>
                <a:lnTo>
                  <a:pt x="5086562" y="2578590"/>
                </a:lnTo>
                <a:cubicBezTo>
                  <a:pt x="4856853" y="2690126"/>
                  <a:pt x="4625126" y="2802650"/>
                  <a:pt x="4389996" y="2872934"/>
                </a:cubicBezTo>
                <a:cubicBezTo>
                  <a:pt x="4137268" y="2948465"/>
                  <a:pt x="3877456" y="2992479"/>
                  <a:pt x="3616653" y="3006533"/>
                </a:cubicBezTo>
                <a:cubicBezTo>
                  <a:pt x="3088623" y="3034617"/>
                  <a:pt x="2554600" y="2938999"/>
                  <a:pt x="2066196" y="2720161"/>
                </a:cubicBezTo>
                <a:cubicBezTo>
                  <a:pt x="1618930" y="2519635"/>
                  <a:pt x="1219929" y="2210033"/>
                  <a:pt x="839263" y="1871144"/>
                </a:cubicBezTo>
                <a:cubicBezTo>
                  <a:pt x="535375" y="1600613"/>
                  <a:pt x="246180" y="1301630"/>
                  <a:pt x="0" y="964742"/>
                </a:cubicBezTo>
                <a:lnTo>
                  <a:pt x="0" y="934550"/>
                </a:lnTo>
                <a:cubicBezTo>
                  <a:pt x="38954" y="987806"/>
                  <a:pt x="78779" y="1039892"/>
                  <a:pt x="119118" y="1090789"/>
                </a:cubicBezTo>
                <a:cubicBezTo>
                  <a:pt x="445533" y="1502612"/>
                  <a:pt x="813984" y="1849904"/>
                  <a:pt x="1231889" y="2173877"/>
                </a:cubicBezTo>
                <a:cubicBezTo>
                  <a:pt x="1649796" y="2497851"/>
                  <a:pt x="2092161" y="2755455"/>
                  <a:pt x="2592703" y="2885493"/>
                </a:cubicBezTo>
                <a:cubicBezTo>
                  <a:pt x="3118714" y="3022134"/>
                  <a:pt x="3674385" y="3029737"/>
                  <a:pt x="4205196" y="2903958"/>
                </a:cubicBezTo>
                <a:cubicBezTo>
                  <a:pt x="4473883" y="2840149"/>
                  <a:pt x="4738914" y="2732834"/>
                  <a:pt x="4979948" y="2612149"/>
                </a:cubicBezTo>
                <a:cubicBezTo>
                  <a:pt x="4987426" y="2608410"/>
                  <a:pt x="4994905" y="2604659"/>
                  <a:pt x="5002396" y="2600907"/>
                </a:cubicBezTo>
                <a:cubicBezTo>
                  <a:pt x="5236281" y="2483682"/>
                  <a:pt x="5475640" y="2363719"/>
                  <a:pt x="5733801" y="2339209"/>
                </a:cubicBezTo>
                <a:cubicBezTo>
                  <a:pt x="6156881" y="2299163"/>
                  <a:pt x="6507055" y="2559010"/>
                  <a:pt x="6841549" y="2807224"/>
                </a:cubicBezTo>
                <a:lnTo>
                  <a:pt x="6841600" y="2807250"/>
                </a:lnTo>
                <a:cubicBezTo>
                  <a:pt x="6868403" y="2827146"/>
                  <a:pt x="6895104" y="2846954"/>
                  <a:pt x="6921742" y="2866534"/>
                </a:cubicBezTo>
                <a:cubicBezTo>
                  <a:pt x="7108802" y="3004189"/>
                  <a:pt x="7303100" y="3137534"/>
                  <a:pt x="7520251" y="3208174"/>
                </a:cubicBezTo>
                <a:cubicBezTo>
                  <a:pt x="7779352" y="3292500"/>
                  <a:pt x="8036804" y="3267066"/>
                  <a:pt x="8302279" y="3167569"/>
                </a:cubicBezTo>
                <a:cubicBezTo>
                  <a:pt x="8491993" y="3096461"/>
                  <a:pt x="8670343" y="2995495"/>
                  <a:pt x="8848604" y="2894580"/>
                </a:cubicBezTo>
                <a:lnTo>
                  <a:pt x="8848617" y="2894567"/>
                </a:lnTo>
                <a:lnTo>
                  <a:pt x="8848668" y="2894542"/>
                </a:lnTo>
                <a:cubicBezTo>
                  <a:pt x="8919833" y="2854267"/>
                  <a:pt x="8990973" y="2813992"/>
                  <a:pt x="9062811" y="2775631"/>
                </a:cubicBezTo>
                <a:cubicBezTo>
                  <a:pt x="9278591" y="2660496"/>
                  <a:pt x="9508757" y="2581936"/>
                  <a:pt x="9743480" y="2534767"/>
                </a:cubicBezTo>
                <a:cubicBezTo>
                  <a:pt x="10558684" y="2370512"/>
                  <a:pt x="11412537" y="2545057"/>
                  <a:pt x="12188825" y="2863011"/>
                </a:cubicBezTo>
                <a:close/>
              </a:path>
            </a:pathLst>
          </a:custGeom>
          <a:solidFill>
            <a:schemeClr val="accent1">
              <a:alpha val="50000"/>
            </a:schemeClr>
          </a:solidFill>
          <a:ln w="12690" cap="flat">
            <a:noFill/>
            <a:prstDash val="solid"/>
            <a:miter/>
          </a:ln>
        </p:spPr>
        <p:txBody>
          <a:bodyPr rtlCol="0" anchor="ctr"/>
          <a:lstStyle/>
          <a:p>
            <a:endParaRPr lang="zh-CN" altLang="en-US"/>
          </a:p>
        </p:txBody>
      </p:sp>
      <p:sp>
        <p:nvSpPr>
          <p:cNvPr id="2" name="标题 1"/>
          <p:cNvSpPr>
            <a:spLocks noGrp="1"/>
          </p:cNvSpPr>
          <p:nvPr>
            <p:ph type="ctrTitle"/>
            <p:custDataLst>
              <p:tags r:id="rId3"/>
            </p:custDataLst>
          </p:nvPr>
        </p:nvSpPr>
        <p:spPr>
          <a:xfrm>
            <a:off x="1112972" y="3477870"/>
            <a:ext cx="9844775" cy="1800000"/>
          </a:xfrm>
        </p:spPr>
        <p:txBody>
          <a:bodyPr wrap="square" anchor="b">
            <a:normAutofit/>
          </a:bodyPr>
          <a:lstStyle>
            <a:lvl1pPr algn="l">
              <a:lnSpc>
                <a:spcPct val="100000"/>
              </a:lnSpc>
              <a:defRPr sz="5400">
                <a:solidFill>
                  <a:schemeClr val="accent1"/>
                </a:solidFill>
                <a:latin typeface="+mj-ea"/>
                <a:ea typeface="+mj-ea"/>
                <a:cs typeface="+mj-ea"/>
                <a:sym typeface="+mj-ea"/>
              </a:defRPr>
            </a:lvl1pPr>
          </a:lstStyle>
          <a:p>
            <a:r>
              <a:rPr lang="zh-CN" altLang="en-US"/>
              <a:t>单击此处编辑母版标题样式</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7"/>
            </p:custDataLst>
          </p:nvPr>
        </p:nvSpPr>
        <p:spPr>
          <a:xfrm>
            <a:off x="1093850" y="5527799"/>
            <a:ext cx="10043122" cy="579632"/>
          </a:xfrm>
        </p:spPr>
        <p:txBody>
          <a:bodyPr wrap="square" anchor="t">
            <a:normAutofit/>
          </a:bodyPr>
          <a:lstStyle>
            <a:lvl1pPr marL="0" indent="0" algn="l">
              <a:lnSpc>
                <a:spcPct val="100000"/>
              </a:lnSpc>
              <a:buNone/>
              <a:defRPr sz="2400">
                <a:solidFill>
                  <a:schemeClr val="accent1"/>
                </a:solidFill>
                <a:latin typeface="+mn-ea"/>
                <a:ea typeface="+mn-ea"/>
                <a:cs typeface="+mn-ea"/>
                <a:sym typeface="+mn-ea"/>
              </a:defRPr>
            </a:lvl1pPr>
          </a:lstStyle>
          <a:p>
            <a:pPr lvl="0"/>
            <a:r>
              <a:rPr lang="zh-CN" altLang="en-US"/>
              <a:t>署名</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版2">
    <p:bg>
      <p:bgPr>
        <a:solidFill>
          <a:schemeClr val="bg1"/>
        </a:solidFill>
        <a:effectLst/>
      </p:bgPr>
    </p:bg>
    <p:spTree>
      <p:nvGrpSpPr>
        <p:cNvPr id="1" name=""/>
        <p:cNvGrpSpPr/>
        <p:nvPr/>
      </p:nvGrpSpPr>
      <p:grpSpPr>
        <a:xfrm>
          <a:off x="0" y="0"/>
          <a:ext cx="0" cy="0"/>
          <a:chOff x="0" y="0"/>
          <a:chExt cx="0" cy="0"/>
        </a:xfrm>
      </p:grpSpPr>
      <p:pic>
        <p:nvPicPr>
          <p:cNvPr id="7" name="图片 6"/>
          <p:cNvPicPr/>
          <p:nvPr userDrawn="1"/>
        </p:nvPicPr>
        <p:blipFill rotWithShape="1">
          <a:blip r:embed="rId2" cstate="print">
            <a:extLst>
              <a:ext uri="{28A0092B-C50C-407E-A947-70E740481C1C}">
                <a14:useLocalDpi xmlns:a14="http://schemas.microsoft.com/office/drawing/2010/main" val="0"/>
              </a:ext>
            </a:extLst>
          </a:blip>
          <a:srcRect l="1333" t="2665" r="80417" b="30422"/>
          <a:stretch>
            <a:fillRect/>
          </a:stretch>
        </p:blipFill>
        <p:spPr>
          <a:xfrm>
            <a:off x="0" y="0"/>
            <a:ext cx="720000" cy="720000"/>
          </a:xfrm>
          <a:prstGeom prst="rect">
            <a:avLst/>
          </a:prstGeom>
        </p:spPr>
      </p:pic>
      <p:sp>
        <p:nvSpPr>
          <p:cNvPr id="8" name="Rectangle 14"/>
          <p:cNvSpPr>
            <a:spLocks noChangeArrowheads="1"/>
          </p:cNvSpPr>
          <p:nvPr userDrawn="1"/>
        </p:nvSpPr>
        <p:spPr bwMode="auto">
          <a:xfrm>
            <a:off x="0" y="720000"/>
            <a:ext cx="10080000" cy="72000"/>
          </a:xfrm>
          <a:prstGeom prst="rect">
            <a:avLst/>
          </a:prstGeom>
          <a:gradFill flip="none" rotWithShape="1">
            <a:gsLst>
              <a:gs pos="0">
                <a:schemeClr val="tx1">
                  <a:lumMod val="75000"/>
                  <a:lumOff val="25000"/>
                </a:schemeClr>
              </a:gs>
              <a:gs pos="100000">
                <a:srgbClr val="FFFFFF"/>
              </a:gs>
            </a:gsLst>
            <a:lin ang="0" scaled="0"/>
            <a:tileRect/>
          </a:gradFill>
          <a:ln w="9525">
            <a:noFill/>
            <a:miter lim="800000"/>
          </a:ln>
        </p:spPr>
        <p:txBody>
          <a:bodyPr wrap="none" anchor="ctr"/>
          <a:lstStyle/>
          <a:p>
            <a:pPr>
              <a:defRPr/>
            </a:pPr>
            <a:endParaRPr lang="fr-FR"/>
          </a:p>
        </p:txBody>
      </p:sp>
      <p:sp>
        <p:nvSpPr>
          <p:cNvPr id="11" name="Title 1"/>
          <p:cNvSpPr>
            <a:spLocks noGrp="1"/>
          </p:cNvSpPr>
          <p:nvPr>
            <p:ph type="title"/>
          </p:nvPr>
        </p:nvSpPr>
        <p:spPr>
          <a:xfrm>
            <a:off x="846065" y="72000"/>
            <a:ext cx="8161071" cy="648000"/>
          </a:xfrm>
        </p:spPr>
        <p:txBody>
          <a:bodyPr>
            <a:noAutofit/>
          </a:bodyPr>
          <a:lstStyle>
            <a:lvl1pPr>
              <a:defRPr sz="3600" b="1">
                <a:solidFill>
                  <a:schemeClr val="tx1"/>
                </a:solidFill>
                <a:latin typeface="Microsoft YaHei" panose="020B0503020204020204" charset="-122"/>
                <a:ea typeface="Microsoft YaHei" panose="020B0503020204020204" charset="-122"/>
              </a:defRPr>
            </a:lvl1pPr>
          </a:lstStyle>
          <a:p>
            <a:r>
              <a:rPr lang="zh-CN" altLang="en-US" dirty="0"/>
              <a:t>单击此处编辑母版标题样式</a:t>
            </a:r>
            <a:endParaRPr lang="en-US" dirty="0"/>
          </a:p>
        </p:txBody>
      </p:sp>
      <p:sp>
        <p:nvSpPr>
          <p:cNvPr id="14" name="灯片编号占位符 13"/>
          <p:cNvSpPr>
            <a:spLocks noGrp="1"/>
          </p:cNvSpPr>
          <p:nvPr>
            <p:ph type="sldNum" sz="quarter" idx="12"/>
          </p:nvPr>
        </p:nvSpPr>
        <p:spPr>
          <a:xfrm>
            <a:off x="11442065" y="6530975"/>
            <a:ext cx="749935" cy="377825"/>
          </a:xfrm>
        </p:spPr>
        <p:txBody>
          <a:bodyPr/>
          <a:lstStyle>
            <a:lvl1pPr>
              <a:defRPr sz="1600" b="1">
                <a:solidFill>
                  <a:schemeClr val="tx1"/>
                </a:solidFill>
                <a:latin typeface="Microsoft YaHei" panose="020B0503020204020204" charset="-122"/>
                <a:ea typeface="Microsoft YaHei" panose="020B0503020204020204" charset="-122"/>
              </a:defRPr>
            </a:lvl1pPr>
          </a:lstStyle>
          <a:p>
            <a:fld id="{8141257D-CBAA-4317-A108-DEE4BE529EBA}" type="slidenum">
              <a:rPr lang="zh-CN" altLang="en-US" smtClean="0"/>
            </a:fld>
            <a:endParaRPr lang="zh-CN" altLang="en-US" dirty="0"/>
          </a:p>
        </p:txBody>
      </p:sp>
      <p:sp>
        <p:nvSpPr>
          <p:cNvPr id="2" name="日期占位符 1"/>
          <p:cNvSpPr>
            <a:spLocks noGrp="1"/>
          </p:cNvSpPr>
          <p:nvPr>
            <p:ph type="dt" sz="half" idx="10"/>
            <p:custDataLst>
              <p:tags r:id="rId3"/>
            </p:custDataLst>
          </p:nvPr>
        </p:nvSpPr>
        <p:spPr>
          <a:xfrm>
            <a:off x="70345" y="6591895"/>
            <a:ext cx="2700000" cy="316800"/>
          </a:xfrm>
        </p:spPr>
        <p:txBody>
          <a:bodyPr/>
          <a:lstStyle>
            <a:lvl1pPr>
              <a:defRPr b="1">
                <a:solidFill>
                  <a:schemeClr val="tx1"/>
                </a:solidFill>
                <a:latin typeface="+mj-ea"/>
                <a:ea typeface="+mj-ea"/>
                <a:cs typeface="Times New Roman" panose="02020603050405020304" charset="0"/>
              </a:defRPr>
            </a:lvl1pPr>
          </a:lstStyle>
          <a:p>
            <a:fld id="{760FBDFE-C587-4B4C-A407-44438C67B59E}" type="datetime2">
              <a:rPr lang="en-US" altLang="en-US" smtClean="0"/>
            </a:fld>
            <a:endParaRPr lang="zh-CN" altLang="en-US"/>
          </a:p>
        </p:txBody>
      </p:sp>
      <p:sp>
        <p:nvSpPr>
          <p:cNvPr id="3" name="页脚占位符 2"/>
          <p:cNvSpPr>
            <a:spLocks noGrp="1"/>
          </p:cNvSpPr>
          <p:nvPr>
            <p:ph type="ftr" sz="quarter" idx="11"/>
            <p:custDataLst>
              <p:tags r:id="rId4"/>
            </p:custDataLst>
          </p:nvPr>
        </p:nvSpPr>
        <p:spPr>
          <a:xfrm>
            <a:off x="4116000" y="6591895"/>
            <a:ext cx="3960000" cy="316800"/>
          </a:xfrm>
        </p:spPr>
        <p:txBody>
          <a:bodyPr/>
          <a:lstStyle>
            <a:lvl1pPr>
              <a:defRPr>
                <a:solidFill>
                  <a:schemeClr val="tx1"/>
                </a:solidFill>
              </a:defRPr>
            </a:lvl1pPr>
          </a:lstStyle>
          <a:p>
            <a:endParaRPr lang="zh-CN" altLang="en-US"/>
          </a:p>
        </p:txBody>
      </p:sp>
    </p:spTree>
  </p:cSld>
  <p:clrMapOvr>
    <a:masterClrMapping/>
  </p:clrMapOvr>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68.xml"/><Relationship Id="rId2" Type="http://schemas.openxmlformats.org/officeDocument/2006/relationships/slideLayout" Target="../slideLayouts/slideLayout2.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slideLayout" Target="../slideLayouts/slideLayout16.xml"/><Relationship Id="rId11" Type="http://schemas.openxmlformats.org/officeDocument/2006/relationships/theme" Target="../theme/theme2.xml"/><Relationship Id="rId10" Type="http://schemas.openxmlformats.org/officeDocument/2006/relationships/tags" Target="../tags/tag8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2">
              <a:rPr lang="en-US" altLang="en-US" smtClean="0"/>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图片 7" descr="C:/Users/kingsoft/AppData/Local/Temp/fig2wpp/@svg_UnionUnion_#color-2113&amp;617.svg"/>
          <p:cNvSpPr/>
          <p:nvPr userDrawn="1">
            <p:custDataLst>
              <p:tags r:id="rId3"/>
            </p:custDataLst>
          </p:nvPr>
        </p:nvSpPr>
        <p:spPr>
          <a:xfrm>
            <a:off x="0" y="0"/>
            <a:ext cx="1450687" cy="703135"/>
          </a:xfrm>
          <a:custGeom>
            <a:avLst/>
            <a:gdLst>
              <a:gd name="connsiteX0" fmla="*/ 0 w 1450687"/>
              <a:gd name="connsiteY0" fmla="*/ 397131 h 703135"/>
              <a:gd name="connsiteX1" fmla="*/ 73149 w 1450687"/>
              <a:gd name="connsiteY1" fmla="*/ 375585 h 703135"/>
              <a:gd name="connsiteX2" fmla="*/ 219214 w 1450687"/>
              <a:gd name="connsiteY2" fmla="*/ 334969 h 703135"/>
              <a:gd name="connsiteX3" fmla="*/ 791957 w 1450687"/>
              <a:gd name="connsiteY3" fmla="*/ 129145 h 703135"/>
              <a:gd name="connsiteX4" fmla="*/ 962788 w 1450687"/>
              <a:gd name="connsiteY4" fmla="*/ 0 h 703135"/>
              <a:gd name="connsiteX5" fmla="*/ 990538 w 1450687"/>
              <a:gd name="connsiteY5" fmla="*/ 0 h 703135"/>
              <a:gd name="connsiteX6" fmla="*/ 543929 w 1450687"/>
              <a:gd name="connsiteY6" fmla="*/ 255902 h 703135"/>
              <a:gd name="connsiteX7" fmla="*/ 208127 w 1450687"/>
              <a:gd name="connsiteY7" fmla="*/ 354366 h 703135"/>
              <a:gd name="connsiteX8" fmla="*/ 208122 w 1450687"/>
              <a:gd name="connsiteY8" fmla="*/ 354368 h 703135"/>
              <a:gd name="connsiteX9" fmla="*/ 208117 w 1450687"/>
              <a:gd name="connsiteY9" fmla="*/ 354369 h 703135"/>
              <a:gd name="connsiteX10" fmla="*/ 208111 w 1450687"/>
              <a:gd name="connsiteY10" fmla="*/ 354372 h 703135"/>
              <a:gd name="connsiteX11" fmla="*/ 208105 w 1450687"/>
              <a:gd name="connsiteY11" fmla="*/ 354373 h 703135"/>
              <a:gd name="connsiteX12" fmla="*/ 208099 w 1450687"/>
              <a:gd name="connsiteY12" fmla="*/ 354376 h 703135"/>
              <a:gd name="connsiteX13" fmla="*/ 0 w 1450687"/>
              <a:gd name="connsiteY13" fmla="*/ 412802 h 703135"/>
              <a:gd name="connsiteX14" fmla="*/ 1300845 w 1450687"/>
              <a:gd name="connsiteY14" fmla="*/ 0 h 703135"/>
              <a:gd name="connsiteX15" fmla="*/ 1314837 w 1450687"/>
              <a:gd name="connsiteY15" fmla="*/ 21936 h 703135"/>
              <a:gd name="connsiteX16" fmla="*/ 1435934 w 1450687"/>
              <a:gd name="connsiteY16" fmla="*/ 454046 h 703135"/>
              <a:gd name="connsiteX17" fmla="*/ 494630 w 1450687"/>
              <a:gd name="connsiteY17" fmla="*/ 675967 h 703135"/>
              <a:gd name="connsiteX18" fmla="*/ 291135 w 1450687"/>
              <a:gd name="connsiteY18" fmla="*/ 681279 h 703135"/>
              <a:gd name="connsiteX19" fmla="*/ 0 w 1450687"/>
              <a:gd name="connsiteY19" fmla="*/ 703135 h 703135"/>
              <a:gd name="connsiteX20" fmla="*/ 0 w 1450687"/>
              <a:gd name="connsiteY20" fmla="*/ 692666 h 703135"/>
              <a:gd name="connsiteX21" fmla="*/ 474990 w 1450687"/>
              <a:gd name="connsiteY21" fmla="*/ 663858 h 703135"/>
              <a:gd name="connsiteX22" fmla="*/ 538755 w 1450687"/>
              <a:gd name="connsiteY22" fmla="*/ 662058 h 703135"/>
              <a:gd name="connsiteX23" fmla="*/ 538759 w 1450687"/>
              <a:gd name="connsiteY23" fmla="*/ 662058 h 703135"/>
              <a:gd name="connsiteX24" fmla="*/ 1226189 w 1450687"/>
              <a:gd name="connsiteY24" fmla="*/ 590592 h 703135"/>
              <a:gd name="connsiteX25" fmla="*/ 1396095 w 1450687"/>
              <a:gd name="connsiteY25" fmla="*/ 216959 h 703135"/>
              <a:gd name="connsiteX26" fmla="*/ 1282797 w 1450687"/>
              <a:gd name="connsiteY26" fmla="*/ 0 h 703135"/>
              <a:gd name="connsiteX27" fmla="*/ 1249573 w 1450687"/>
              <a:gd name="connsiteY27" fmla="*/ 412796 h 703135"/>
              <a:gd name="connsiteX28" fmla="*/ 633987 w 1450687"/>
              <a:gd name="connsiteY28" fmla="*/ 590888 h 703135"/>
              <a:gd name="connsiteX29" fmla="*/ 426770 w 1450687"/>
              <a:gd name="connsiteY29" fmla="*/ 610661 h 703135"/>
              <a:gd name="connsiteX30" fmla="*/ 426739 w 1450687"/>
              <a:gd name="connsiteY30" fmla="*/ 610664 h 703135"/>
              <a:gd name="connsiteX31" fmla="*/ 426709 w 1450687"/>
              <a:gd name="connsiteY31" fmla="*/ 610667 h 703135"/>
              <a:gd name="connsiteX32" fmla="*/ 0 w 1450687"/>
              <a:gd name="connsiteY32" fmla="*/ 657413 h 703135"/>
              <a:gd name="connsiteX33" fmla="*/ 0 w 1450687"/>
              <a:gd name="connsiteY33" fmla="*/ 641958 h 703135"/>
              <a:gd name="connsiteX34" fmla="*/ 395179 w 1450687"/>
              <a:gd name="connsiteY34" fmla="*/ 600952 h 703135"/>
              <a:gd name="connsiteX35" fmla="*/ 395184 w 1450687"/>
              <a:gd name="connsiteY35" fmla="*/ 600952 h 703135"/>
              <a:gd name="connsiteX36" fmla="*/ 395198 w 1450687"/>
              <a:gd name="connsiteY36" fmla="*/ 600951 h 703135"/>
              <a:gd name="connsiteX37" fmla="*/ 395208 w 1450687"/>
              <a:gd name="connsiteY37" fmla="*/ 600950 h 703135"/>
              <a:gd name="connsiteX38" fmla="*/ 886314 w 1450687"/>
              <a:gd name="connsiteY38" fmla="*/ 544384 h 703135"/>
              <a:gd name="connsiteX39" fmla="*/ 1214964 w 1450687"/>
              <a:gd name="connsiteY39" fmla="*/ 420228 h 703135"/>
              <a:gd name="connsiteX40" fmla="*/ 1301844 w 1450687"/>
              <a:gd name="connsiteY40" fmla="*/ 188351 h 703135"/>
              <a:gd name="connsiteX41" fmla="*/ 1258427 w 1450687"/>
              <a:gd name="connsiteY41" fmla="*/ 0 h 703135"/>
              <a:gd name="connsiteX42" fmla="*/ 1276060 w 1450687"/>
              <a:gd name="connsiteY42" fmla="*/ 0 h 703135"/>
              <a:gd name="connsiteX43" fmla="*/ 1249573 w 1450687"/>
              <a:gd name="connsiteY43" fmla="*/ 412796 h 703135"/>
              <a:gd name="connsiteX44" fmla="*/ 0 w 1450687"/>
              <a:gd name="connsiteY44" fmla="*/ 582514 h 703135"/>
              <a:gd name="connsiteX45" fmla="*/ 362572 w 1450687"/>
              <a:gd name="connsiteY45" fmla="*/ 521332 h 703135"/>
              <a:gd name="connsiteX46" fmla="*/ 372455 w 1450687"/>
              <a:gd name="connsiteY46" fmla="*/ 519852 h 703135"/>
              <a:gd name="connsiteX47" fmla="*/ 384834 w 1450687"/>
              <a:gd name="connsiteY47" fmla="*/ 517999 h 703135"/>
              <a:gd name="connsiteX48" fmla="*/ 384838 w 1450687"/>
              <a:gd name="connsiteY48" fmla="*/ 517998 h 703135"/>
              <a:gd name="connsiteX49" fmla="*/ 384840 w 1450687"/>
              <a:gd name="connsiteY49" fmla="*/ 517998 h 703135"/>
              <a:gd name="connsiteX50" fmla="*/ 1085968 w 1450687"/>
              <a:gd name="connsiteY50" fmla="*/ 305683 h 703135"/>
              <a:gd name="connsiteX51" fmla="*/ 1203652 w 1450687"/>
              <a:gd name="connsiteY51" fmla="*/ 0 h 703135"/>
              <a:gd name="connsiteX52" fmla="*/ 1221763 w 1450687"/>
              <a:gd name="connsiteY52" fmla="*/ 0 h 703135"/>
              <a:gd name="connsiteX53" fmla="*/ 884398 w 1450687"/>
              <a:gd name="connsiteY53" fmla="*/ 430811 h 703135"/>
              <a:gd name="connsiteX54" fmla="*/ 328764 w 1450687"/>
              <a:gd name="connsiteY54" fmla="*/ 540074 h 703135"/>
              <a:gd name="connsiteX55" fmla="*/ 328752 w 1450687"/>
              <a:gd name="connsiteY55" fmla="*/ 540076 h 703135"/>
              <a:gd name="connsiteX56" fmla="*/ 328601 w 1450687"/>
              <a:gd name="connsiteY56" fmla="*/ 540097 h 703135"/>
              <a:gd name="connsiteX57" fmla="*/ 328577 w 1450687"/>
              <a:gd name="connsiteY57" fmla="*/ 540101 h 703135"/>
              <a:gd name="connsiteX58" fmla="*/ 87028 w 1450687"/>
              <a:gd name="connsiteY58" fmla="*/ 577141 h 703135"/>
              <a:gd name="connsiteX59" fmla="*/ 0 w 1450687"/>
              <a:gd name="connsiteY59" fmla="*/ 593337 h 703135"/>
              <a:gd name="connsiteX60" fmla="*/ 0 w 1450687"/>
              <a:gd name="connsiteY60" fmla="*/ 499760 h 703135"/>
              <a:gd name="connsiteX61" fmla="*/ 243873 w 1450687"/>
              <a:gd name="connsiteY61" fmla="*/ 445614 h 703135"/>
              <a:gd name="connsiteX62" fmla="*/ 243875 w 1450687"/>
              <a:gd name="connsiteY62" fmla="*/ 445613 h 703135"/>
              <a:gd name="connsiteX63" fmla="*/ 579572 w 1450687"/>
              <a:gd name="connsiteY63" fmla="*/ 368430 h 703135"/>
              <a:gd name="connsiteX64" fmla="*/ 1105416 w 1450687"/>
              <a:gd name="connsiteY64" fmla="*/ 13585 h 703135"/>
              <a:gd name="connsiteX65" fmla="*/ 1111088 w 1450687"/>
              <a:gd name="connsiteY65" fmla="*/ 0 h 703135"/>
              <a:gd name="connsiteX66" fmla="*/ 1133274 w 1450687"/>
              <a:gd name="connsiteY66" fmla="*/ 0 h 703135"/>
              <a:gd name="connsiteX67" fmla="*/ 966977 w 1450687"/>
              <a:gd name="connsiteY67" fmla="*/ 216864 h 703135"/>
              <a:gd name="connsiteX68" fmla="*/ 345839 w 1450687"/>
              <a:gd name="connsiteY68" fmla="*/ 436144 h 703135"/>
              <a:gd name="connsiteX69" fmla="*/ 0 w 1450687"/>
              <a:gd name="connsiteY69" fmla="*/ 514228 h 70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0687" h="703135">
                <a:moveTo>
                  <a:pt x="0" y="397131"/>
                </a:moveTo>
                <a:cubicBezTo>
                  <a:pt x="23971" y="389870"/>
                  <a:pt x="48352" y="382695"/>
                  <a:pt x="73149" y="375585"/>
                </a:cubicBezTo>
                <a:cubicBezTo>
                  <a:pt x="121420" y="361743"/>
                  <a:pt x="170333" y="348352"/>
                  <a:pt x="219214" y="334969"/>
                </a:cubicBezTo>
                <a:cubicBezTo>
                  <a:pt x="428352" y="277712"/>
                  <a:pt x="636887" y="220620"/>
                  <a:pt x="791957" y="129145"/>
                </a:cubicBezTo>
                <a:cubicBezTo>
                  <a:pt x="857875" y="90315"/>
                  <a:pt x="915109" y="47065"/>
                  <a:pt x="962788" y="0"/>
                </a:cubicBezTo>
                <a:lnTo>
                  <a:pt x="990538" y="0"/>
                </a:lnTo>
                <a:cubicBezTo>
                  <a:pt x="887166" y="105527"/>
                  <a:pt x="739124" y="190460"/>
                  <a:pt x="543929" y="255902"/>
                </a:cubicBezTo>
                <a:cubicBezTo>
                  <a:pt x="436595" y="291888"/>
                  <a:pt x="322368" y="323125"/>
                  <a:pt x="208127" y="354366"/>
                </a:cubicBezTo>
                <a:lnTo>
                  <a:pt x="208122" y="354368"/>
                </a:lnTo>
                <a:lnTo>
                  <a:pt x="208117" y="354369"/>
                </a:lnTo>
                <a:lnTo>
                  <a:pt x="208111" y="354372"/>
                </a:lnTo>
                <a:lnTo>
                  <a:pt x="208105" y="354373"/>
                </a:lnTo>
                <a:lnTo>
                  <a:pt x="208099" y="354376"/>
                </a:lnTo>
                <a:cubicBezTo>
                  <a:pt x="138212" y="373487"/>
                  <a:pt x="68320" y="392599"/>
                  <a:pt x="0" y="412802"/>
                </a:cubicBezTo>
                <a:close/>
                <a:moveTo>
                  <a:pt x="1300845" y="0"/>
                </a:moveTo>
                <a:cubicBezTo>
                  <a:pt x="1305572" y="7311"/>
                  <a:pt x="1310236" y="14624"/>
                  <a:pt x="1314837" y="21936"/>
                </a:cubicBezTo>
                <a:cubicBezTo>
                  <a:pt x="1406939" y="168290"/>
                  <a:pt x="1484014" y="326736"/>
                  <a:pt x="1435934" y="454046"/>
                </a:cubicBezTo>
                <a:cubicBezTo>
                  <a:pt x="1358367" y="658411"/>
                  <a:pt x="890169" y="667928"/>
                  <a:pt x="494630" y="675967"/>
                </a:cubicBezTo>
                <a:cubicBezTo>
                  <a:pt x="423557" y="677411"/>
                  <a:pt x="354830" y="678808"/>
                  <a:pt x="291135" y="681279"/>
                </a:cubicBezTo>
                <a:cubicBezTo>
                  <a:pt x="191221" y="685156"/>
                  <a:pt x="94128" y="692566"/>
                  <a:pt x="0" y="703135"/>
                </a:cubicBezTo>
                <a:lnTo>
                  <a:pt x="0" y="692666"/>
                </a:lnTo>
                <a:cubicBezTo>
                  <a:pt x="150612" y="676670"/>
                  <a:pt x="307657" y="668772"/>
                  <a:pt x="474990" y="663858"/>
                </a:cubicBezTo>
                <a:cubicBezTo>
                  <a:pt x="496114" y="663239"/>
                  <a:pt x="517387" y="662650"/>
                  <a:pt x="538755" y="662058"/>
                </a:cubicBezTo>
                <a:lnTo>
                  <a:pt x="538759" y="662058"/>
                </a:lnTo>
                <a:cubicBezTo>
                  <a:pt x="782283" y="655315"/>
                  <a:pt x="1038113" y="648231"/>
                  <a:pt x="1226189" y="590592"/>
                </a:cubicBezTo>
                <a:cubicBezTo>
                  <a:pt x="1446108" y="523159"/>
                  <a:pt x="1454653" y="372401"/>
                  <a:pt x="1396095" y="216959"/>
                </a:cubicBezTo>
                <a:cubicBezTo>
                  <a:pt x="1368933" y="145101"/>
                  <a:pt x="1329840" y="72775"/>
                  <a:pt x="1282797" y="0"/>
                </a:cubicBezTo>
                <a:close/>
                <a:moveTo>
                  <a:pt x="1249573" y="412796"/>
                </a:moveTo>
                <a:cubicBezTo>
                  <a:pt x="1140664" y="528536"/>
                  <a:pt x="880414" y="565566"/>
                  <a:pt x="633987" y="590888"/>
                </a:cubicBezTo>
                <a:cubicBezTo>
                  <a:pt x="565248" y="598010"/>
                  <a:pt x="495936" y="604342"/>
                  <a:pt x="426770" y="610661"/>
                </a:cubicBezTo>
                <a:lnTo>
                  <a:pt x="426739" y="610664"/>
                </a:lnTo>
                <a:lnTo>
                  <a:pt x="426709" y="610667"/>
                </a:lnTo>
                <a:cubicBezTo>
                  <a:pt x="281618" y="623922"/>
                  <a:pt x="137171" y="637118"/>
                  <a:pt x="0" y="657413"/>
                </a:cubicBezTo>
                <a:lnTo>
                  <a:pt x="0" y="641958"/>
                </a:lnTo>
                <a:cubicBezTo>
                  <a:pt x="126934" y="623663"/>
                  <a:pt x="261074" y="612307"/>
                  <a:pt x="395179" y="600952"/>
                </a:cubicBezTo>
                <a:lnTo>
                  <a:pt x="395184" y="600952"/>
                </a:lnTo>
                <a:lnTo>
                  <a:pt x="395198" y="600951"/>
                </a:lnTo>
                <a:lnTo>
                  <a:pt x="395208" y="600950"/>
                </a:lnTo>
                <a:cubicBezTo>
                  <a:pt x="563759" y="586679"/>
                  <a:pt x="732254" y="572413"/>
                  <a:pt x="886314" y="544384"/>
                </a:cubicBezTo>
                <a:cubicBezTo>
                  <a:pt x="1021135" y="519969"/>
                  <a:pt x="1144068" y="484200"/>
                  <a:pt x="1214964" y="420228"/>
                </a:cubicBezTo>
                <a:cubicBezTo>
                  <a:pt x="1285855" y="356257"/>
                  <a:pt x="1307001" y="273847"/>
                  <a:pt x="1301844" y="188351"/>
                </a:cubicBezTo>
                <a:cubicBezTo>
                  <a:pt x="1298191" y="126625"/>
                  <a:pt x="1282607" y="63816"/>
                  <a:pt x="1258427" y="0"/>
                </a:cubicBezTo>
                <a:lnTo>
                  <a:pt x="1276060" y="0"/>
                </a:lnTo>
                <a:cubicBezTo>
                  <a:pt x="1333025" y="148123"/>
                  <a:pt x="1353437" y="302415"/>
                  <a:pt x="1249573" y="412796"/>
                </a:cubicBezTo>
                <a:close/>
                <a:moveTo>
                  <a:pt x="0" y="582514"/>
                </a:moveTo>
                <a:cubicBezTo>
                  <a:pt x="116369" y="559395"/>
                  <a:pt x="237947" y="540024"/>
                  <a:pt x="362572" y="521332"/>
                </a:cubicBezTo>
                <a:lnTo>
                  <a:pt x="372455" y="519852"/>
                </a:lnTo>
                <a:lnTo>
                  <a:pt x="384834" y="517999"/>
                </a:lnTo>
                <a:lnTo>
                  <a:pt x="384838" y="517998"/>
                </a:lnTo>
                <a:lnTo>
                  <a:pt x="384840" y="517998"/>
                </a:lnTo>
                <a:cubicBezTo>
                  <a:pt x="658468" y="477051"/>
                  <a:pt x="946976" y="433877"/>
                  <a:pt x="1085968" y="305683"/>
                </a:cubicBezTo>
                <a:cubicBezTo>
                  <a:pt x="1178275" y="220546"/>
                  <a:pt x="1208913" y="113631"/>
                  <a:pt x="1203652" y="0"/>
                </a:cubicBezTo>
                <a:lnTo>
                  <a:pt x="1221763" y="0"/>
                </a:lnTo>
                <a:cubicBezTo>
                  <a:pt x="1232123" y="183279"/>
                  <a:pt x="1151882" y="344829"/>
                  <a:pt x="884398" y="430811"/>
                </a:cubicBezTo>
                <a:cubicBezTo>
                  <a:pt x="720825" y="483351"/>
                  <a:pt x="524346" y="511778"/>
                  <a:pt x="328764" y="540074"/>
                </a:cubicBezTo>
                <a:lnTo>
                  <a:pt x="328752" y="540076"/>
                </a:lnTo>
                <a:lnTo>
                  <a:pt x="328601" y="540097"/>
                </a:lnTo>
                <a:lnTo>
                  <a:pt x="328577" y="540101"/>
                </a:lnTo>
                <a:cubicBezTo>
                  <a:pt x="247089" y="551891"/>
                  <a:pt x="165758" y="563659"/>
                  <a:pt x="87028" y="577141"/>
                </a:cubicBezTo>
                <a:cubicBezTo>
                  <a:pt x="57495" y="582193"/>
                  <a:pt x="28493" y="587596"/>
                  <a:pt x="0" y="593337"/>
                </a:cubicBezTo>
                <a:close/>
                <a:moveTo>
                  <a:pt x="0" y="499760"/>
                </a:moveTo>
                <a:cubicBezTo>
                  <a:pt x="79877" y="480649"/>
                  <a:pt x="161872" y="463132"/>
                  <a:pt x="243873" y="445614"/>
                </a:cubicBezTo>
                <a:lnTo>
                  <a:pt x="243875" y="445613"/>
                </a:lnTo>
                <a:cubicBezTo>
                  <a:pt x="357643" y="421309"/>
                  <a:pt x="471422" y="397002"/>
                  <a:pt x="579572" y="368430"/>
                </a:cubicBezTo>
                <a:cubicBezTo>
                  <a:pt x="852234" y="296642"/>
                  <a:pt x="1034505" y="175760"/>
                  <a:pt x="1105416" y="13585"/>
                </a:cubicBezTo>
                <a:cubicBezTo>
                  <a:pt x="1107388" y="9075"/>
                  <a:pt x="1109279" y="4546"/>
                  <a:pt x="1111088" y="0"/>
                </a:cubicBezTo>
                <a:lnTo>
                  <a:pt x="1133274" y="0"/>
                </a:lnTo>
                <a:cubicBezTo>
                  <a:pt x="1102011" y="80679"/>
                  <a:pt x="1047860" y="154632"/>
                  <a:pt x="966977" y="216864"/>
                </a:cubicBezTo>
                <a:cubicBezTo>
                  <a:pt x="822514" y="328015"/>
                  <a:pt x="587233" y="384593"/>
                  <a:pt x="345839" y="436144"/>
                </a:cubicBezTo>
                <a:cubicBezTo>
                  <a:pt x="228714" y="461125"/>
                  <a:pt x="112000" y="486086"/>
                  <a:pt x="0" y="514228"/>
                </a:cubicBezTo>
                <a:close/>
              </a:path>
            </a:pathLst>
          </a:custGeom>
          <a:solidFill>
            <a:schemeClr val="accent1">
              <a:alpha val="20000"/>
            </a:schemeClr>
          </a:solidFill>
          <a:ln w="12590" cap="flat">
            <a:noFill/>
            <a:prstDash val="solid"/>
            <a:miter/>
          </a:ln>
        </p:spPr>
        <p:txBody>
          <a:bodyPr rtlCol="0" anchor="ctr"/>
          <a:lstStyle/>
          <a:p>
            <a:endParaRPr lang="zh-CN" altLang="en-US"/>
          </a:p>
        </p:txBody>
      </p:sp>
      <p:sp>
        <p:nvSpPr>
          <p:cNvPr id="11" name="图片 8" descr="C:/Users/kingsoft/AppData/Local/Temp/fig2wpp/@svg_UnionUnion_#color-2113&amp;643.svg"/>
          <p:cNvSpPr/>
          <p:nvPr userDrawn="1">
            <p:custDataLst>
              <p:tags r:id="rId4"/>
            </p:custDataLst>
          </p:nvPr>
        </p:nvSpPr>
        <p:spPr>
          <a:xfrm>
            <a:off x="9937905" y="2289018"/>
            <a:ext cx="2254095" cy="4568981"/>
          </a:xfrm>
          <a:custGeom>
            <a:avLst/>
            <a:gdLst>
              <a:gd name="connsiteX0" fmla="*/ 2254096 w 2254095"/>
              <a:gd name="connsiteY0" fmla="*/ 1324093 h 4568981"/>
              <a:gd name="connsiteX1" fmla="*/ 2146978 w 2254095"/>
              <a:gd name="connsiteY1" fmla="*/ 1706858 h 4568981"/>
              <a:gd name="connsiteX2" fmla="*/ 2254096 w 2254095"/>
              <a:gd name="connsiteY2" fmla="*/ 2708622 h 4568981"/>
              <a:gd name="connsiteX3" fmla="*/ 2254096 w 2254095"/>
              <a:gd name="connsiteY3" fmla="*/ 2777837 h 4568981"/>
              <a:gd name="connsiteX4" fmla="*/ 2190782 w 2254095"/>
              <a:gd name="connsiteY4" fmla="*/ 2498259 h 4568981"/>
              <a:gd name="connsiteX5" fmla="*/ 2220682 w 2254095"/>
              <a:gd name="connsiteY5" fmla="*/ 1350420 h 4568981"/>
              <a:gd name="connsiteX6" fmla="*/ 2254096 w 2254095"/>
              <a:gd name="connsiteY6" fmla="*/ 1274830 h 4568981"/>
              <a:gd name="connsiteX7" fmla="*/ 2254096 w 2254095"/>
              <a:gd name="connsiteY7" fmla="*/ 810923 h 4568981"/>
              <a:gd name="connsiteX8" fmla="*/ 2254096 w 2254095"/>
              <a:gd name="connsiteY8" fmla="*/ 848534 h 4568981"/>
              <a:gd name="connsiteX9" fmla="*/ 2004593 w 2254095"/>
              <a:gd name="connsiteY9" fmla="*/ 1416016 h 4568981"/>
              <a:gd name="connsiteX10" fmla="*/ 2105990 w 2254095"/>
              <a:gd name="connsiteY10" fmla="*/ 2653237 h 4568981"/>
              <a:gd name="connsiteX11" fmla="*/ 2207413 w 2254095"/>
              <a:gd name="connsiteY11" fmla="*/ 3022502 h 4568981"/>
              <a:gd name="connsiteX12" fmla="*/ 2207413 w 2254095"/>
              <a:gd name="connsiteY12" fmla="*/ 3022515 h 4568981"/>
              <a:gd name="connsiteX13" fmla="*/ 2254096 w 2254095"/>
              <a:gd name="connsiteY13" fmla="*/ 3188987 h 4568981"/>
              <a:gd name="connsiteX14" fmla="*/ 2254096 w 2254095"/>
              <a:gd name="connsiteY14" fmla="*/ 3247496 h 4568981"/>
              <a:gd name="connsiteX15" fmla="*/ 2190173 w 2254095"/>
              <a:gd name="connsiteY15" fmla="*/ 3018553 h 4568981"/>
              <a:gd name="connsiteX16" fmla="*/ 2190173 w 2254095"/>
              <a:gd name="connsiteY16" fmla="*/ 3018540 h 4568981"/>
              <a:gd name="connsiteX17" fmla="*/ 2190160 w 2254095"/>
              <a:gd name="connsiteY17" fmla="*/ 3018527 h 4568981"/>
              <a:gd name="connsiteX18" fmla="*/ 1984194 w 2254095"/>
              <a:gd name="connsiteY18" fmla="*/ 2177762 h 4568981"/>
              <a:gd name="connsiteX19" fmla="*/ 2254096 w 2254095"/>
              <a:gd name="connsiteY19" fmla="*/ 810923 h 4568981"/>
              <a:gd name="connsiteX20" fmla="*/ 2254096 w 2254095"/>
              <a:gd name="connsiteY20" fmla="*/ 385257 h 4568981"/>
              <a:gd name="connsiteX21" fmla="*/ 2254096 w 2254095"/>
              <a:gd name="connsiteY21" fmla="*/ 414618 h 4568981"/>
              <a:gd name="connsiteX22" fmla="*/ 1834008 w 2254095"/>
              <a:gd name="connsiteY22" fmla="*/ 1170113 h 4568981"/>
              <a:gd name="connsiteX23" fmla="*/ 1897335 w 2254095"/>
              <a:gd name="connsiteY23" fmla="*/ 2387121 h 4568981"/>
              <a:gd name="connsiteX24" fmla="*/ 2156416 w 2254095"/>
              <a:gd name="connsiteY24" fmla="*/ 3237463 h 4568981"/>
              <a:gd name="connsiteX25" fmla="*/ 2254096 w 2254095"/>
              <a:gd name="connsiteY25" fmla="*/ 3536014 h 4568981"/>
              <a:gd name="connsiteX26" fmla="*/ 2254096 w 2254095"/>
              <a:gd name="connsiteY26" fmla="*/ 3585315 h 4568981"/>
              <a:gd name="connsiteX27" fmla="*/ 2162340 w 2254095"/>
              <a:gd name="connsiteY27" fmla="*/ 3304290 h 4568981"/>
              <a:gd name="connsiteX28" fmla="*/ 2152255 w 2254095"/>
              <a:gd name="connsiteY28" fmla="*/ 3273823 h 4568981"/>
              <a:gd name="connsiteX29" fmla="*/ 2145354 w 2254095"/>
              <a:gd name="connsiteY29" fmla="*/ 3252969 h 4568981"/>
              <a:gd name="connsiteX30" fmla="*/ 1790230 w 2254095"/>
              <a:gd name="connsiteY30" fmla="*/ 1934760 h 4568981"/>
              <a:gd name="connsiteX31" fmla="*/ 2254096 w 2254095"/>
              <a:gd name="connsiteY31" fmla="*/ 385257 h 4568981"/>
              <a:gd name="connsiteX32" fmla="*/ 2254096 w 2254095"/>
              <a:gd name="connsiteY32" fmla="*/ 0 h 4568981"/>
              <a:gd name="connsiteX33" fmla="*/ 2254096 w 2254095"/>
              <a:gd name="connsiteY33" fmla="*/ 24812 h 4568981"/>
              <a:gd name="connsiteX34" fmla="*/ 1999887 w 2254095"/>
              <a:gd name="connsiteY34" fmla="*/ 245928 h 4568981"/>
              <a:gd name="connsiteX35" fmla="*/ 1594045 w 2254095"/>
              <a:gd name="connsiteY35" fmla="*/ 1186940 h 4568981"/>
              <a:gd name="connsiteX36" fmla="*/ 1779028 w 2254095"/>
              <a:gd name="connsiteY36" fmla="*/ 2471665 h 4568981"/>
              <a:gd name="connsiteX37" fmla="*/ 2254096 w 2254095"/>
              <a:gd name="connsiteY37" fmla="*/ 3766964 h 4568981"/>
              <a:gd name="connsiteX38" fmla="*/ 2254096 w 2254095"/>
              <a:gd name="connsiteY38" fmla="*/ 3804429 h 4568981"/>
              <a:gd name="connsiteX39" fmla="*/ 2205256 w 2254095"/>
              <a:gd name="connsiteY39" fmla="*/ 3683309 h 4568981"/>
              <a:gd name="connsiteX40" fmla="*/ 2205243 w 2254095"/>
              <a:gd name="connsiteY40" fmla="*/ 3683283 h 4568981"/>
              <a:gd name="connsiteX41" fmla="*/ 2094040 w 2254095"/>
              <a:gd name="connsiteY41" fmla="*/ 3405230 h 4568981"/>
              <a:gd name="connsiteX42" fmla="*/ 1640474 w 2254095"/>
              <a:gd name="connsiteY42" fmla="*/ 1999517 h 4568981"/>
              <a:gd name="connsiteX43" fmla="*/ 1640690 w 2254095"/>
              <a:gd name="connsiteY43" fmla="*/ 825134 h 4568981"/>
              <a:gd name="connsiteX44" fmla="*/ 2207679 w 2254095"/>
              <a:gd name="connsiteY44" fmla="*/ 33010 h 4568981"/>
              <a:gd name="connsiteX45" fmla="*/ 2254096 w 2254095"/>
              <a:gd name="connsiteY45" fmla="*/ 0 h 4568981"/>
              <a:gd name="connsiteX46" fmla="*/ 2254096 w 2254095"/>
              <a:gd name="connsiteY46" fmla="*/ 4002688 h 4568981"/>
              <a:gd name="connsiteX47" fmla="*/ 1539356 w 2254095"/>
              <a:gd name="connsiteY47" fmla="*/ 4027492 h 4568981"/>
              <a:gd name="connsiteX48" fmla="*/ 1539318 w 2254095"/>
              <a:gd name="connsiteY48" fmla="*/ 4027492 h 4568981"/>
              <a:gd name="connsiteX49" fmla="*/ 1539306 w 2254095"/>
              <a:gd name="connsiteY49" fmla="*/ 4027492 h 4568981"/>
              <a:gd name="connsiteX50" fmla="*/ 1000203 w 2254095"/>
              <a:gd name="connsiteY50" fmla="*/ 4029777 h 4568981"/>
              <a:gd name="connsiteX51" fmla="*/ 48583 w 2254095"/>
              <a:gd name="connsiteY51" fmla="*/ 4534806 h 4568981"/>
              <a:gd name="connsiteX52" fmla="*/ 25657 w 2254095"/>
              <a:gd name="connsiteY52" fmla="*/ 4568981 h 4568981"/>
              <a:gd name="connsiteX53" fmla="*/ 0 w 2254095"/>
              <a:gd name="connsiteY53" fmla="*/ 4568981 h 4568981"/>
              <a:gd name="connsiteX54" fmla="*/ 187831 w 2254095"/>
              <a:gd name="connsiteY54" fmla="*/ 4344788 h 4568981"/>
              <a:gd name="connsiteX55" fmla="*/ 646509 w 2254095"/>
              <a:gd name="connsiteY55" fmla="*/ 4084210 h 4568981"/>
              <a:gd name="connsiteX56" fmla="*/ 1257622 w 2254095"/>
              <a:gd name="connsiteY56" fmla="*/ 4007235 h 4568981"/>
              <a:gd name="connsiteX57" fmla="*/ 1524134 w 2254095"/>
              <a:gd name="connsiteY57" fmla="*/ 4012289 h 4568981"/>
              <a:gd name="connsiteX58" fmla="*/ 1524146 w 2254095"/>
              <a:gd name="connsiteY58" fmla="*/ 4012289 h 4568981"/>
              <a:gd name="connsiteX59" fmla="*/ 1524210 w 2254095"/>
              <a:gd name="connsiteY59" fmla="*/ 4012302 h 4568981"/>
              <a:gd name="connsiteX60" fmla="*/ 2254096 w 2254095"/>
              <a:gd name="connsiteY60" fmla="*/ 3982483 h 4568981"/>
              <a:gd name="connsiteX61" fmla="*/ 2254096 w 2254095"/>
              <a:gd name="connsiteY61" fmla="*/ 4083625 h 4568981"/>
              <a:gd name="connsiteX62" fmla="*/ 2209988 w 2254095"/>
              <a:gd name="connsiteY62" fmla="*/ 4096364 h 4568981"/>
              <a:gd name="connsiteX63" fmla="*/ 1481890 w 2254095"/>
              <a:gd name="connsiteY63" fmla="*/ 4160168 h 4568981"/>
              <a:gd name="connsiteX64" fmla="*/ 737074 w 2254095"/>
              <a:gd name="connsiteY64" fmla="*/ 4213940 h 4568981"/>
              <a:gd name="connsiteX65" fmla="*/ 210134 w 2254095"/>
              <a:gd name="connsiteY65" fmla="*/ 4458453 h 4568981"/>
              <a:gd name="connsiteX66" fmla="*/ 89150 w 2254095"/>
              <a:gd name="connsiteY66" fmla="*/ 4568981 h 4568981"/>
              <a:gd name="connsiteX67" fmla="*/ 60260 w 2254095"/>
              <a:gd name="connsiteY67" fmla="*/ 4568981 h 4568981"/>
              <a:gd name="connsiteX68" fmla="*/ 396428 w 2254095"/>
              <a:gd name="connsiteY68" fmla="*/ 4315972 h 4568981"/>
              <a:gd name="connsiteX69" fmla="*/ 1012068 w 2254095"/>
              <a:gd name="connsiteY69" fmla="*/ 4154923 h 4568981"/>
              <a:gd name="connsiteX70" fmla="*/ 1433113 w 2254095"/>
              <a:gd name="connsiteY70" fmla="*/ 4144128 h 4568981"/>
              <a:gd name="connsiteX71" fmla="*/ 1433139 w 2254095"/>
              <a:gd name="connsiteY71" fmla="*/ 4144128 h 4568981"/>
              <a:gd name="connsiteX72" fmla="*/ 1810197 w 2254095"/>
              <a:gd name="connsiteY72" fmla="*/ 4136331 h 4568981"/>
              <a:gd name="connsiteX73" fmla="*/ 2254096 w 2254095"/>
              <a:gd name="connsiteY73" fmla="*/ 4065718 h 4568981"/>
              <a:gd name="connsiteX74" fmla="*/ 2254096 w 2254095"/>
              <a:gd name="connsiteY74" fmla="*/ 4179028 h 4568981"/>
              <a:gd name="connsiteX75" fmla="*/ 1937054 w 2254095"/>
              <a:gd name="connsiteY75" fmla="*/ 4270468 h 4568981"/>
              <a:gd name="connsiteX76" fmla="*/ 1350973 w 2254095"/>
              <a:gd name="connsiteY76" fmla="*/ 4295754 h 4568981"/>
              <a:gd name="connsiteX77" fmla="*/ 1350973 w 2254095"/>
              <a:gd name="connsiteY77" fmla="*/ 4295754 h 4568981"/>
              <a:gd name="connsiteX78" fmla="*/ 1198311 w 2254095"/>
              <a:gd name="connsiteY78" fmla="*/ 4294916 h 4568981"/>
              <a:gd name="connsiteX79" fmla="*/ 508022 w 2254095"/>
              <a:gd name="connsiteY79" fmla="*/ 4389315 h 4568981"/>
              <a:gd name="connsiteX80" fmla="*/ 158919 w 2254095"/>
              <a:gd name="connsiteY80" fmla="*/ 4568981 h 4568981"/>
              <a:gd name="connsiteX81" fmla="*/ 120320 w 2254095"/>
              <a:gd name="connsiteY81" fmla="*/ 4568981 h 4568981"/>
              <a:gd name="connsiteX82" fmla="*/ 757148 w 2254095"/>
              <a:gd name="connsiteY82" fmla="*/ 4310498 h 4568981"/>
              <a:gd name="connsiteX83" fmla="*/ 1389842 w 2254095"/>
              <a:gd name="connsiteY83" fmla="*/ 4283054 h 4568981"/>
              <a:gd name="connsiteX84" fmla="*/ 1389855 w 2254095"/>
              <a:gd name="connsiteY84" fmla="*/ 4283054 h 4568981"/>
              <a:gd name="connsiteX85" fmla="*/ 1390045 w 2254095"/>
              <a:gd name="connsiteY85" fmla="*/ 4283054 h 4568981"/>
              <a:gd name="connsiteX86" fmla="*/ 1508175 w 2254095"/>
              <a:gd name="connsiteY86" fmla="*/ 4283663 h 4568981"/>
              <a:gd name="connsiteX87" fmla="*/ 2212195 w 2254095"/>
              <a:gd name="connsiteY87" fmla="*/ 4176678 h 4568981"/>
              <a:gd name="connsiteX88" fmla="*/ 2254096 w 2254095"/>
              <a:gd name="connsiteY88" fmla="*/ 4156981 h 4568981"/>
              <a:gd name="connsiteX89" fmla="*/ 2254096 w 2254095"/>
              <a:gd name="connsiteY89" fmla="*/ 4299005 h 4568981"/>
              <a:gd name="connsiteX90" fmla="*/ 1689898 w 2254095"/>
              <a:gd name="connsiteY90" fmla="*/ 4436571 h 4568981"/>
              <a:gd name="connsiteX91" fmla="*/ 1338579 w 2254095"/>
              <a:gd name="connsiteY91" fmla="*/ 4424646 h 4568981"/>
              <a:gd name="connsiteX92" fmla="*/ 1338567 w 2254095"/>
              <a:gd name="connsiteY92" fmla="*/ 4424646 h 4568981"/>
              <a:gd name="connsiteX93" fmla="*/ 930255 w 2254095"/>
              <a:gd name="connsiteY93" fmla="*/ 4413597 h 4568981"/>
              <a:gd name="connsiteX94" fmla="*/ 233574 w 2254095"/>
              <a:gd name="connsiteY94" fmla="*/ 4568981 h 4568981"/>
              <a:gd name="connsiteX95" fmla="*/ 196218 w 2254095"/>
              <a:gd name="connsiteY95" fmla="*/ 4568981 h 4568981"/>
              <a:gd name="connsiteX96" fmla="*/ 509654 w 2254095"/>
              <a:gd name="connsiteY96" fmla="*/ 4453856 h 4568981"/>
              <a:gd name="connsiteX97" fmla="*/ 1203260 w 2254095"/>
              <a:gd name="connsiteY97" fmla="*/ 4402180 h 4568981"/>
              <a:gd name="connsiteX98" fmla="*/ 1355325 w 2254095"/>
              <a:gd name="connsiteY98" fmla="*/ 4409495 h 4568981"/>
              <a:gd name="connsiteX99" fmla="*/ 1355363 w 2254095"/>
              <a:gd name="connsiteY99" fmla="*/ 4409495 h 4568981"/>
              <a:gd name="connsiteX100" fmla="*/ 1966713 w 2254095"/>
              <a:gd name="connsiteY100" fmla="*/ 4393341 h 4568981"/>
              <a:gd name="connsiteX101" fmla="*/ 2254096 w 2254095"/>
              <a:gd name="connsiteY101" fmla="*/ 4274011 h 4568981"/>
              <a:gd name="connsiteX102" fmla="*/ 2254096 w 2254095"/>
              <a:gd name="connsiteY102" fmla="*/ 4453869 h 4568981"/>
              <a:gd name="connsiteX103" fmla="*/ 2105216 w 2254095"/>
              <a:gd name="connsiteY103" fmla="*/ 4533447 h 4568981"/>
              <a:gd name="connsiteX104" fmla="*/ 1926829 w 2254095"/>
              <a:gd name="connsiteY104" fmla="*/ 4568981 h 4568981"/>
              <a:gd name="connsiteX105" fmla="*/ 1681906 w 2254095"/>
              <a:gd name="connsiteY105" fmla="*/ 4568981 h 4568981"/>
              <a:gd name="connsiteX106" fmla="*/ 1443465 w 2254095"/>
              <a:gd name="connsiteY106" fmla="*/ 4547175 h 4568981"/>
              <a:gd name="connsiteX107" fmla="*/ 649399 w 2254095"/>
              <a:gd name="connsiteY107" fmla="*/ 4513648 h 4568981"/>
              <a:gd name="connsiteX108" fmla="*/ 350960 w 2254095"/>
              <a:gd name="connsiteY108" fmla="*/ 4568981 h 4568981"/>
              <a:gd name="connsiteX109" fmla="*/ 286576 w 2254095"/>
              <a:gd name="connsiteY109" fmla="*/ 4568981 h 4568981"/>
              <a:gd name="connsiteX110" fmla="*/ 891907 w 2254095"/>
              <a:gd name="connsiteY110" fmla="*/ 4486914 h 4568981"/>
              <a:gd name="connsiteX111" fmla="*/ 1343349 w 2254095"/>
              <a:gd name="connsiteY111" fmla="*/ 4523884 h 4568981"/>
              <a:gd name="connsiteX112" fmla="*/ 1343387 w 2254095"/>
              <a:gd name="connsiteY112" fmla="*/ 4523884 h 4568981"/>
              <a:gd name="connsiteX113" fmla="*/ 1687729 w 2254095"/>
              <a:gd name="connsiteY113" fmla="*/ 4556256 h 4568981"/>
              <a:gd name="connsiteX114" fmla="*/ 2254096 w 2254095"/>
              <a:gd name="connsiteY114" fmla="*/ 4427478 h 4568981"/>
              <a:gd name="connsiteX115" fmla="*/ 794103 w 2254095"/>
              <a:gd name="connsiteY115" fmla="*/ 4568981 h 4568981"/>
              <a:gd name="connsiteX116" fmla="*/ 680318 w 2254095"/>
              <a:gd name="connsiteY116" fmla="*/ 4568981 h 4568981"/>
              <a:gd name="connsiteX117" fmla="*/ 449567 w 2254095"/>
              <a:gd name="connsiteY117" fmla="*/ 4568981 h 4568981"/>
              <a:gd name="connsiteX118" fmla="*/ 643391 w 2254095"/>
              <a:gd name="connsiteY118" fmla="*/ 4554796 h 4568981"/>
              <a:gd name="connsiteX119" fmla="*/ 986916 w 2254095"/>
              <a:gd name="connsiteY119" fmla="*/ 4568981 h 456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254095" h="4568981">
                <a:moveTo>
                  <a:pt x="2254096" y="1324093"/>
                </a:moveTo>
                <a:cubicBezTo>
                  <a:pt x="2201843" y="1442305"/>
                  <a:pt x="2165194" y="1569749"/>
                  <a:pt x="2146978" y="1706858"/>
                </a:cubicBezTo>
                <a:cubicBezTo>
                  <a:pt x="2106903" y="2008090"/>
                  <a:pt x="2172324" y="2355638"/>
                  <a:pt x="2254096" y="2708622"/>
                </a:cubicBezTo>
                <a:lnTo>
                  <a:pt x="2254096" y="2777837"/>
                </a:lnTo>
                <a:cubicBezTo>
                  <a:pt x="2231668" y="2684073"/>
                  <a:pt x="2209962" y="2590626"/>
                  <a:pt x="2190782" y="2498259"/>
                </a:cubicBezTo>
                <a:cubicBezTo>
                  <a:pt x="2101372" y="2067716"/>
                  <a:pt x="2087722" y="1675540"/>
                  <a:pt x="2220682" y="1350420"/>
                </a:cubicBezTo>
                <a:cubicBezTo>
                  <a:pt x="2231135" y="1324842"/>
                  <a:pt x="2242286" y="1299646"/>
                  <a:pt x="2254096" y="1274830"/>
                </a:cubicBezTo>
                <a:close/>
                <a:moveTo>
                  <a:pt x="2254096" y="810923"/>
                </a:moveTo>
                <a:lnTo>
                  <a:pt x="2254096" y="848534"/>
                </a:lnTo>
                <a:cubicBezTo>
                  <a:pt x="2135662" y="1016123"/>
                  <a:pt x="2050744" y="1206092"/>
                  <a:pt x="2004593" y="1416016"/>
                </a:cubicBezTo>
                <a:cubicBezTo>
                  <a:pt x="1924483" y="1779045"/>
                  <a:pt x="1989218" y="2204546"/>
                  <a:pt x="2105990" y="2653237"/>
                </a:cubicBezTo>
                <a:cubicBezTo>
                  <a:pt x="2137831" y="2775576"/>
                  <a:pt x="2172615" y="2899033"/>
                  <a:pt x="2207413" y="3022502"/>
                </a:cubicBezTo>
                <a:lnTo>
                  <a:pt x="2207413" y="3022515"/>
                </a:lnTo>
                <a:cubicBezTo>
                  <a:pt x="2223067" y="3078027"/>
                  <a:pt x="2238708" y="3133551"/>
                  <a:pt x="2254096" y="3188987"/>
                </a:cubicBezTo>
                <a:lnTo>
                  <a:pt x="2254096" y="3247496"/>
                </a:lnTo>
                <a:cubicBezTo>
                  <a:pt x="2233228" y="3171346"/>
                  <a:pt x="2211700" y="3094943"/>
                  <a:pt x="2190173" y="3018553"/>
                </a:cubicBezTo>
                <a:lnTo>
                  <a:pt x="2190173" y="3018540"/>
                </a:lnTo>
                <a:lnTo>
                  <a:pt x="2190160" y="3018527"/>
                </a:lnTo>
                <a:cubicBezTo>
                  <a:pt x="2110011" y="2734136"/>
                  <a:pt x="2029850" y="2449720"/>
                  <a:pt x="1984194" y="2177762"/>
                </a:cubicBezTo>
                <a:cubicBezTo>
                  <a:pt x="1892553" y="1632551"/>
                  <a:pt x="1992592" y="1168469"/>
                  <a:pt x="2254096" y="810923"/>
                </a:cubicBezTo>
                <a:close/>
                <a:moveTo>
                  <a:pt x="2254096" y="385257"/>
                </a:moveTo>
                <a:lnTo>
                  <a:pt x="2254096" y="414618"/>
                </a:lnTo>
                <a:cubicBezTo>
                  <a:pt x="2045517" y="621282"/>
                  <a:pt x="1903399" y="876172"/>
                  <a:pt x="1834008" y="1170113"/>
                </a:cubicBezTo>
                <a:cubicBezTo>
                  <a:pt x="1749559" y="1527903"/>
                  <a:pt x="1785130" y="1941999"/>
                  <a:pt x="1897335" y="2387121"/>
                </a:cubicBezTo>
                <a:cubicBezTo>
                  <a:pt x="1967449" y="2665200"/>
                  <a:pt x="2061933" y="2951319"/>
                  <a:pt x="2156416" y="3237463"/>
                </a:cubicBezTo>
                <a:cubicBezTo>
                  <a:pt x="2189323" y="3337094"/>
                  <a:pt x="2222217" y="3436713"/>
                  <a:pt x="2254096" y="3536014"/>
                </a:cubicBezTo>
                <a:lnTo>
                  <a:pt x="2254096" y="3585315"/>
                </a:lnTo>
                <a:cubicBezTo>
                  <a:pt x="2224284" y="3491869"/>
                  <a:pt x="2193357" y="3398080"/>
                  <a:pt x="2162340" y="3304290"/>
                </a:cubicBezTo>
                <a:cubicBezTo>
                  <a:pt x="2158991" y="3294142"/>
                  <a:pt x="2155617" y="3283983"/>
                  <a:pt x="2152255" y="3273823"/>
                </a:cubicBezTo>
                <a:lnTo>
                  <a:pt x="2145354" y="3252969"/>
                </a:lnTo>
                <a:cubicBezTo>
                  <a:pt x="1996474" y="2803478"/>
                  <a:pt x="1846821" y="2351650"/>
                  <a:pt x="1790230" y="1934760"/>
                </a:cubicBezTo>
                <a:cubicBezTo>
                  <a:pt x="1703599" y="1294820"/>
                  <a:pt x="1865748" y="758802"/>
                  <a:pt x="2254096" y="385257"/>
                </a:cubicBezTo>
                <a:close/>
                <a:moveTo>
                  <a:pt x="2254096" y="0"/>
                </a:moveTo>
                <a:lnTo>
                  <a:pt x="2254096" y="24812"/>
                </a:lnTo>
                <a:cubicBezTo>
                  <a:pt x="2159460" y="91656"/>
                  <a:pt x="2074656" y="165752"/>
                  <a:pt x="1999887" y="245928"/>
                </a:cubicBezTo>
                <a:cubicBezTo>
                  <a:pt x="1765074" y="497300"/>
                  <a:pt x="1625619" y="814550"/>
                  <a:pt x="1594045" y="1186940"/>
                </a:cubicBezTo>
                <a:cubicBezTo>
                  <a:pt x="1561125" y="1574690"/>
                  <a:pt x="1643329" y="2019012"/>
                  <a:pt x="1779028" y="2471665"/>
                </a:cubicBezTo>
                <a:cubicBezTo>
                  <a:pt x="1905555" y="2893712"/>
                  <a:pt x="2078120" y="3330084"/>
                  <a:pt x="2254096" y="3766964"/>
                </a:cubicBezTo>
                <a:lnTo>
                  <a:pt x="2254096" y="3804429"/>
                </a:lnTo>
                <a:cubicBezTo>
                  <a:pt x="2237884" y="3764081"/>
                  <a:pt x="2221570" y="3723695"/>
                  <a:pt x="2205256" y="3683309"/>
                </a:cubicBezTo>
                <a:lnTo>
                  <a:pt x="2205243" y="3683283"/>
                </a:lnTo>
                <a:cubicBezTo>
                  <a:pt x="2167757" y="3590497"/>
                  <a:pt x="2130271" y="3497698"/>
                  <a:pt x="2094040" y="3405230"/>
                </a:cubicBezTo>
                <a:cubicBezTo>
                  <a:pt x="1905835" y="2925436"/>
                  <a:pt x="1734082" y="2448805"/>
                  <a:pt x="1640474" y="1999517"/>
                </a:cubicBezTo>
                <a:cubicBezTo>
                  <a:pt x="1550761" y="1568784"/>
                  <a:pt x="1537986" y="1166621"/>
                  <a:pt x="1640690" y="825134"/>
                </a:cubicBezTo>
                <a:cubicBezTo>
                  <a:pt x="1737723" y="503704"/>
                  <a:pt x="1931980" y="235970"/>
                  <a:pt x="2207679" y="33010"/>
                </a:cubicBezTo>
                <a:cubicBezTo>
                  <a:pt x="2222876" y="21814"/>
                  <a:pt x="2238353" y="10809"/>
                  <a:pt x="2254096" y="0"/>
                </a:cubicBezTo>
                <a:close/>
                <a:moveTo>
                  <a:pt x="2254096" y="4002688"/>
                </a:moveTo>
                <a:cubicBezTo>
                  <a:pt x="2043538" y="4042465"/>
                  <a:pt x="1791384" y="4034972"/>
                  <a:pt x="1539356" y="4027492"/>
                </a:cubicBezTo>
                <a:lnTo>
                  <a:pt x="1539318" y="4027492"/>
                </a:lnTo>
                <a:lnTo>
                  <a:pt x="1539306" y="4027492"/>
                </a:lnTo>
                <a:cubicBezTo>
                  <a:pt x="1354018" y="4021992"/>
                  <a:pt x="1168790" y="4016481"/>
                  <a:pt x="1000203" y="4029777"/>
                </a:cubicBezTo>
                <a:cubicBezTo>
                  <a:pt x="546217" y="4065833"/>
                  <a:pt x="233340" y="4270443"/>
                  <a:pt x="48583" y="4534806"/>
                </a:cubicBezTo>
                <a:cubicBezTo>
                  <a:pt x="40721" y="4546045"/>
                  <a:pt x="33079" y="4557437"/>
                  <a:pt x="25657" y="4568981"/>
                </a:cubicBezTo>
                <a:lnTo>
                  <a:pt x="0" y="4568981"/>
                </a:lnTo>
                <a:cubicBezTo>
                  <a:pt x="51487" y="4486724"/>
                  <a:pt x="114156" y="4411692"/>
                  <a:pt x="187831" y="4344788"/>
                </a:cubicBezTo>
                <a:cubicBezTo>
                  <a:pt x="310358" y="4233778"/>
                  <a:pt x="471018" y="4142223"/>
                  <a:pt x="646509" y="4084210"/>
                </a:cubicBezTo>
                <a:cubicBezTo>
                  <a:pt x="822001" y="4026196"/>
                  <a:pt x="1028144" y="4006511"/>
                  <a:pt x="1257622" y="4007235"/>
                </a:cubicBezTo>
                <a:cubicBezTo>
                  <a:pt x="1344554" y="4007476"/>
                  <a:pt x="1434154" y="4009877"/>
                  <a:pt x="1524134" y="4012289"/>
                </a:cubicBezTo>
                <a:lnTo>
                  <a:pt x="1524146" y="4012289"/>
                </a:lnTo>
                <a:lnTo>
                  <a:pt x="1524210" y="4012302"/>
                </a:lnTo>
                <a:cubicBezTo>
                  <a:pt x="1782390" y="4019224"/>
                  <a:pt x="2043703" y="4026247"/>
                  <a:pt x="2254096" y="3982483"/>
                </a:cubicBezTo>
                <a:close/>
                <a:moveTo>
                  <a:pt x="2254096" y="4083625"/>
                </a:moveTo>
                <a:cubicBezTo>
                  <a:pt x="2239875" y="4088134"/>
                  <a:pt x="2225173" y="4092376"/>
                  <a:pt x="2209988" y="4096364"/>
                </a:cubicBezTo>
                <a:cubicBezTo>
                  <a:pt x="1998808" y="4151723"/>
                  <a:pt x="1746476" y="4159102"/>
                  <a:pt x="1481890" y="4160168"/>
                </a:cubicBezTo>
                <a:cubicBezTo>
                  <a:pt x="1217305" y="4161223"/>
                  <a:pt x="958348" y="4162899"/>
                  <a:pt x="737074" y="4213940"/>
                </a:cubicBezTo>
                <a:cubicBezTo>
                  <a:pt x="524950" y="4262797"/>
                  <a:pt x="350648" y="4347544"/>
                  <a:pt x="210134" y="4458453"/>
                </a:cubicBezTo>
                <a:cubicBezTo>
                  <a:pt x="166549" y="4492832"/>
                  <a:pt x="126194" y="4529713"/>
                  <a:pt x="89150" y="4568981"/>
                </a:cubicBezTo>
                <a:lnTo>
                  <a:pt x="60260" y="4568981"/>
                </a:lnTo>
                <a:cubicBezTo>
                  <a:pt x="151529" y="4469058"/>
                  <a:pt x="263861" y="4383981"/>
                  <a:pt x="396428" y="4315972"/>
                </a:cubicBezTo>
                <a:cubicBezTo>
                  <a:pt x="565356" y="4229574"/>
                  <a:pt x="773736" y="4173211"/>
                  <a:pt x="1012068" y="4154923"/>
                </a:cubicBezTo>
                <a:cubicBezTo>
                  <a:pt x="1146876" y="4144649"/>
                  <a:pt x="1289980" y="4144382"/>
                  <a:pt x="1433113" y="4144128"/>
                </a:cubicBezTo>
                <a:lnTo>
                  <a:pt x="1433139" y="4144128"/>
                </a:lnTo>
                <a:cubicBezTo>
                  <a:pt x="1560745" y="4143900"/>
                  <a:pt x="1688376" y="4143658"/>
                  <a:pt x="1810197" y="4136331"/>
                </a:cubicBezTo>
                <a:cubicBezTo>
                  <a:pt x="1969466" y="4126589"/>
                  <a:pt x="2125006" y="4108149"/>
                  <a:pt x="2254096" y="4065718"/>
                </a:cubicBezTo>
                <a:close/>
                <a:moveTo>
                  <a:pt x="2254096" y="4179028"/>
                </a:moveTo>
                <a:cubicBezTo>
                  <a:pt x="2162391" y="4222310"/>
                  <a:pt x="2054169" y="4251596"/>
                  <a:pt x="1937054" y="4270468"/>
                </a:cubicBezTo>
                <a:cubicBezTo>
                  <a:pt x="1757856" y="4299208"/>
                  <a:pt x="1554909" y="4297481"/>
                  <a:pt x="1350973" y="4295754"/>
                </a:cubicBezTo>
                <a:lnTo>
                  <a:pt x="1350973" y="4295754"/>
                </a:lnTo>
                <a:cubicBezTo>
                  <a:pt x="1300027" y="4295309"/>
                  <a:pt x="1249021" y="4294877"/>
                  <a:pt x="1198311" y="4294916"/>
                </a:cubicBezTo>
                <a:cubicBezTo>
                  <a:pt x="941161" y="4295119"/>
                  <a:pt x="701949" y="4320747"/>
                  <a:pt x="508022" y="4389315"/>
                </a:cubicBezTo>
                <a:cubicBezTo>
                  <a:pt x="376500" y="4435987"/>
                  <a:pt x="259801" y="4496299"/>
                  <a:pt x="158919" y="4568981"/>
                </a:cubicBezTo>
                <a:lnTo>
                  <a:pt x="120320" y="4568981"/>
                </a:lnTo>
                <a:cubicBezTo>
                  <a:pt x="286085" y="4442312"/>
                  <a:pt x="498368" y="4350935"/>
                  <a:pt x="757148" y="4310498"/>
                </a:cubicBezTo>
                <a:cubicBezTo>
                  <a:pt x="951394" y="4280094"/>
                  <a:pt x="1169838" y="4281568"/>
                  <a:pt x="1389842" y="4283054"/>
                </a:cubicBezTo>
                <a:lnTo>
                  <a:pt x="1389855" y="4283054"/>
                </a:lnTo>
                <a:lnTo>
                  <a:pt x="1390045" y="4283054"/>
                </a:lnTo>
                <a:cubicBezTo>
                  <a:pt x="1429422" y="4283320"/>
                  <a:pt x="1468836" y="4283574"/>
                  <a:pt x="1508175" y="4283663"/>
                </a:cubicBezTo>
                <a:cubicBezTo>
                  <a:pt x="1774689" y="4284260"/>
                  <a:pt x="2022518" y="4257946"/>
                  <a:pt x="2212195" y="4176678"/>
                </a:cubicBezTo>
                <a:cubicBezTo>
                  <a:pt x="2226669" y="4170468"/>
                  <a:pt x="2240636" y="4163902"/>
                  <a:pt x="2254096" y="4156981"/>
                </a:cubicBezTo>
                <a:close/>
                <a:moveTo>
                  <a:pt x="2254096" y="4299005"/>
                </a:moveTo>
                <a:cubicBezTo>
                  <a:pt x="2114325" y="4389733"/>
                  <a:pt x="1927641" y="4435454"/>
                  <a:pt x="1689898" y="4436571"/>
                </a:cubicBezTo>
                <a:cubicBezTo>
                  <a:pt x="1576158" y="4437105"/>
                  <a:pt x="1457381" y="4430869"/>
                  <a:pt x="1338579" y="4424646"/>
                </a:cubicBezTo>
                <a:lnTo>
                  <a:pt x="1338567" y="4424646"/>
                </a:lnTo>
                <a:cubicBezTo>
                  <a:pt x="1199809" y="4417369"/>
                  <a:pt x="1061030" y="4410092"/>
                  <a:pt x="930255" y="4413597"/>
                </a:cubicBezTo>
                <a:cubicBezTo>
                  <a:pt x="658368" y="4420988"/>
                  <a:pt x="425638" y="4477440"/>
                  <a:pt x="233574" y="4568981"/>
                </a:cubicBezTo>
                <a:lnTo>
                  <a:pt x="196218" y="4568981"/>
                </a:lnTo>
                <a:cubicBezTo>
                  <a:pt x="291221" y="4522131"/>
                  <a:pt x="395965" y="4483587"/>
                  <a:pt x="509654" y="4453856"/>
                </a:cubicBezTo>
                <a:cubicBezTo>
                  <a:pt x="710821" y="4401341"/>
                  <a:pt x="937216" y="4391537"/>
                  <a:pt x="1203260" y="4402180"/>
                </a:cubicBezTo>
                <a:cubicBezTo>
                  <a:pt x="1253648" y="4404186"/>
                  <a:pt x="1304506" y="4406841"/>
                  <a:pt x="1355325" y="4409495"/>
                </a:cubicBezTo>
                <a:lnTo>
                  <a:pt x="1355363" y="4409495"/>
                </a:lnTo>
                <a:cubicBezTo>
                  <a:pt x="1572860" y="4420836"/>
                  <a:pt x="1789722" y="4432139"/>
                  <a:pt x="1966713" y="4393341"/>
                </a:cubicBezTo>
                <a:cubicBezTo>
                  <a:pt x="2078868" y="4368829"/>
                  <a:pt x="2175787" y="4328710"/>
                  <a:pt x="2254096" y="4274011"/>
                </a:cubicBezTo>
                <a:close/>
                <a:moveTo>
                  <a:pt x="2254096" y="4453869"/>
                </a:moveTo>
                <a:cubicBezTo>
                  <a:pt x="2211675" y="4486406"/>
                  <a:pt x="2162188" y="4513343"/>
                  <a:pt x="2105216" y="4533447"/>
                </a:cubicBezTo>
                <a:cubicBezTo>
                  <a:pt x="2051695" y="4552332"/>
                  <a:pt x="1991603" y="4563444"/>
                  <a:pt x="1926829" y="4568981"/>
                </a:cubicBezTo>
                <a:lnTo>
                  <a:pt x="1681906" y="4568981"/>
                </a:lnTo>
                <a:cubicBezTo>
                  <a:pt x="1604396" y="4564193"/>
                  <a:pt x="1524159" y="4556040"/>
                  <a:pt x="1443465" y="4547175"/>
                </a:cubicBezTo>
                <a:cubicBezTo>
                  <a:pt x="1163434" y="4516315"/>
                  <a:pt x="885583" y="4486050"/>
                  <a:pt x="649399" y="4513648"/>
                </a:cubicBezTo>
                <a:cubicBezTo>
                  <a:pt x="544141" y="4525903"/>
                  <a:pt x="444498" y="4544445"/>
                  <a:pt x="350960" y="4568981"/>
                </a:cubicBezTo>
                <a:lnTo>
                  <a:pt x="286576" y="4568981"/>
                </a:lnTo>
                <a:cubicBezTo>
                  <a:pt x="463727" y="4517013"/>
                  <a:pt x="663223" y="4481821"/>
                  <a:pt x="891907" y="4486914"/>
                </a:cubicBezTo>
                <a:cubicBezTo>
                  <a:pt x="1036188" y="4490127"/>
                  <a:pt x="1189757" y="4507005"/>
                  <a:pt x="1343349" y="4523884"/>
                </a:cubicBezTo>
                <a:lnTo>
                  <a:pt x="1343387" y="4523884"/>
                </a:lnTo>
                <a:cubicBezTo>
                  <a:pt x="1459487" y="4536647"/>
                  <a:pt x="1575612" y="4549398"/>
                  <a:pt x="1687729" y="4556256"/>
                </a:cubicBezTo>
                <a:cubicBezTo>
                  <a:pt x="1935697" y="4571648"/>
                  <a:pt x="2129548" y="4528532"/>
                  <a:pt x="2254096" y="4427478"/>
                </a:cubicBezTo>
                <a:close/>
                <a:moveTo>
                  <a:pt x="794103" y="4568981"/>
                </a:moveTo>
                <a:cubicBezTo>
                  <a:pt x="755523" y="4568131"/>
                  <a:pt x="717612" y="4568143"/>
                  <a:pt x="680318" y="4568981"/>
                </a:cubicBezTo>
                <a:lnTo>
                  <a:pt x="449567" y="4568981"/>
                </a:lnTo>
                <a:cubicBezTo>
                  <a:pt x="512293" y="4562085"/>
                  <a:pt x="576936" y="4557336"/>
                  <a:pt x="643391" y="4554796"/>
                </a:cubicBezTo>
                <a:cubicBezTo>
                  <a:pt x="752953" y="4550554"/>
                  <a:pt x="867842" y="4556574"/>
                  <a:pt x="986916" y="4568981"/>
                </a:cubicBezTo>
                <a:close/>
              </a:path>
            </a:pathLst>
          </a:custGeom>
          <a:solidFill>
            <a:schemeClr val="accent1">
              <a:alpha val="20000"/>
            </a:schemeClr>
          </a:solidFill>
          <a:ln w="12682" cap="flat">
            <a:noFill/>
            <a:prstDash val="solid"/>
            <a:miter/>
          </a:ln>
        </p:spPr>
        <p:txBody>
          <a:bodyPr rtlCol="0" anchor="ctr"/>
          <a:lstStyle/>
          <a:p>
            <a:endParaRPr lang="zh-CN" altLang="en-US"/>
          </a:p>
        </p:txBody>
      </p:sp>
      <p:sp>
        <p:nvSpPr>
          <p:cNvPr id="2" name="标题占位符 1"/>
          <p:cNvSpPr>
            <a:spLocks noGrp="1"/>
          </p:cNvSpPr>
          <p:nvPr>
            <p:ph type="title"/>
            <p:custDataLst>
              <p:tags r:id="rId5"/>
            </p:custDataLst>
          </p:nvPr>
        </p:nvSpPr>
        <p:spPr>
          <a:xfrm>
            <a:off x="695960" y="360000"/>
            <a:ext cx="10800000" cy="720000"/>
          </a:xfrm>
          <a:prstGeom prst="rect">
            <a:avLst/>
          </a:prstGeom>
        </p:spPr>
        <p:txBody>
          <a:bodyPr vert="horz" wrap="square" lIns="0" tIns="0" rIns="0" bIns="0" rtlCol="0" anchor="b">
            <a:normAutofit/>
          </a:bodyPr>
          <a:lstStyle/>
          <a:p>
            <a:r>
              <a:rPr lang="zh-CN" altLang="en-US"/>
              <a:t>单击此处编辑母版标题样式</a:t>
            </a:r>
            <a:endParaRPr lang="zh-CN" altLang="en-US" dirty="0"/>
          </a:p>
        </p:txBody>
      </p:sp>
      <p:sp>
        <p:nvSpPr>
          <p:cNvPr id="3" name="文本占位符 2"/>
          <p:cNvSpPr>
            <a:spLocks noGrp="1"/>
          </p:cNvSpPr>
          <p:nvPr>
            <p:ph type="body" idx="1"/>
            <p:custDataLst>
              <p:tags r:id="rId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100000"/>
        </a:lnSpc>
        <a:spcBef>
          <a:spcPct val="0"/>
        </a:spcBef>
        <a:buNone/>
        <a:defRPr sz="3200" b="1" kern="1200">
          <a:solidFill>
            <a:schemeClr val="accent1"/>
          </a:solidFill>
          <a:latin typeface="+mn-ea"/>
          <a:ea typeface="+mn-ea"/>
          <a:cs typeface="+mn-ea"/>
          <a:sym typeface="+mn-ea"/>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sym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86.xml"/><Relationship Id="rId3" Type="http://schemas.openxmlformats.org/officeDocument/2006/relationships/image" Target="../media/image3.jpeg"/><Relationship Id="rId2" Type="http://schemas.openxmlformats.org/officeDocument/2006/relationships/tags" Target="../tags/tag85.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4.xml"/><Relationship Id="rId2" Type="http://schemas.openxmlformats.org/officeDocument/2006/relationships/tags" Target="../tags/tag88.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4.xml"/><Relationship Id="rId3" Type="http://schemas.openxmlformats.org/officeDocument/2006/relationships/tags" Target="../tags/tag89.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image" Target="../media/image9.png"/><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4" Type="http://schemas.openxmlformats.org/officeDocument/2006/relationships/slideLayout" Target="../slideLayouts/slideLayout14.xml"/><Relationship Id="rId23" Type="http://schemas.openxmlformats.org/officeDocument/2006/relationships/tags" Target="../tags/tag106.xml"/><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image" Target="../media/image8.png"/><Relationship Id="rId19" Type="http://schemas.openxmlformats.org/officeDocument/2006/relationships/tags" Target="../tags/tag102.xml"/><Relationship Id="rId18" Type="http://schemas.openxmlformats.org/officeDocument/2006/relationships/image" Target="../media/image13.png"/><Relationship Id="rId17" Type="http://schemas.openxmlformats.org/officeDocument/2006/relationships/image" Target="../media/image12.png"/><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image" Target="../media/image11.png"/><Relationship Id="rId11" Type="http://schemas.openxmlformats.org/officeDocument/2006/relationships/tags" Target="../tags/tag97.xml"/><Relationship Id="rId10" Type="http://schemas.openxmlformats.org/officeDocument/2006/relationships/image" Target="../media/image10.png"/><Relationship Id="rId1" Type="http://schemas.openxmlformats.org/officeDocument/2006/relationships/tags" Target="../tags/tag9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07.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08.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tags" Target="../tags/tag109.xml"/><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10.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4.xml"/><Relationship Id="rId2" Type="http://schemas.openxmlformats.org/officeDocument/2006/relationships/tags" Target="../tags/tag11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13.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16.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117.xml"/><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8" Type="http://schemas.openxmlformats.org/officeDocument/2006/relationships/slideLayout" Target="../slideLayouts/slideLayout14.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4.xml"/><Relationship Id="rId6" Type="http://schemas.openxmlformats.org/officeDocument/2006/relationships/tags" Target="../tags/tag135.xml"/><Relationship Id="rId5" Type="http://schemas.openxmlformats.org/officeDocument/2006/relationships/image" Target="../media/image29.png"/><Relationship Id="rId4" Type="http://schemas.openxmlformats.org/officeDocument/2006/relationships/image" Target="../media/image28.wmf"/><Relationship Id="rId3" Type="http://schemas.openxmlformats.org/officeDocument/2006/relationships/oleObject" Target="../embeddings/oleObject2.bin"/><Relationship Id="rId2" Type="http://schemas.openxmlformats.org/officeDocument/2006/relationships/image" Target="../media/image27.w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136.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37.xml"/><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38.xml"/><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139.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40.xml"/><Relationship Id="rId3" Type="http://schemas.openxmlformats.org/officeDocument/2006/relationships/image" Target="../media/image39.png"/><Relationship Id="rId2" Type="http://schemas.microsoft.com/office/2007/relationships/media" Target="../media/media1.mp4"/><Relationship Id="rId1" Type="http://schemas.openxmlformats.org/officeDocument/2006/relationships/video" Target="../media/media1.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638935"/>
            <a:ext cx="12209780" cy="4462145"/>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ucas_logo_name"/>
          <p:cNvPicPr>
            <a:picLocks noChangeAspect="1"/>
          </p:cNvPicPr>
          <p:nvPr/>
        </p:nvPicPr>
        <p:blipFill>
          <a:blip r:embed="rId1"/>
          <a:stretch>
            <a:fillRect/>
          </a:stretch>
        </p:blipFill>
        <p:spPr>
          <a:xfrm>
            <a:off x="132715" y="290195"/>
            <a:ext cx="4354830" cy="913130"/>
          </a:xfrm>
          <a:prstGeom prst="rect">
            <a:avLst/>
          </a:prstGeom>
        </p:spPr>
      </p:pic>
      <p:pic>
        <p:nvPicPr>
          <p:cNvPr id="9" name="图片 8"/>
          <p:cNvPicPr>
            <a:picLocks noChangeAspect="1"/>
          </p:cNvPicPr>
          <p:nvPr>
            <p:custDataLst>
              <p:tags r:id="rId2"/>
            </p:custDataLst>
          </p:nvPr>
        </p:nvPicPr>
        <p:blipFill>
          <a:blip r:embed="rId3"/>
          <a:stretch>
            <a:fillRect/>
          </a:stretch>
        </p:blipFill>
        <p:spPr>
          <a:xfrm>
            <a:off x="6561455" y="191770"/>
            <a:ext cx="5518785" cy="974090"/>
          </a:xfrm>
          <a:prstGeom prst="rect">
            <a:avLst/>
          </a:prstGeom>
        </p:spPr>
      </p:pic>
      <p:sp>
        <p:nvSpPr>
          <p:cNvPr id="6" name="文本框 5"/>
          <p:cNvSpPr txBox="1"/>
          <p:nvPr/>
        </p:nvSpPr>
        <p:spPr>
          <a:xfrm>
            <a:off x="-108585" y="1652905"/>
            <a:ext cx="12504420" cy="1445260"/>
          </a:xfrm>
          <a:prstGeom prst="rect">
            <a:avLst/>
          </a:prstGeom>
          <a:noFill/>
        </p:spPr>
        <p:txBody>
          <a:bodyPr wrap="square" rtlCol="0">
            <a:spAutoFit/>
          </a:bodyPr>
          <a:p>
            <a:pPr algn="ctr"/>
            <a:r>
              <a:rPr lang="en-US" altLang="zh-CN" sz="4400" b="1">
                <a:solidFill>
                  <a:schemeClr val="bg1"/>
                </a:solidFill>
                <a:latin typeface="Microsoft YaHei" panose="020B0503020204020204" charset="-122"/>
                <a:ea typeface="Microsoft YaHei" panose="020B0503020204020204" charset="-122"/>
                <a:cs typeface="Times New Roman" panose="02020603050405020304" charset="0"/>
              </a:rPr>
              <a:t> A Physical-Informed Deep Learning Approach for Data Analysis in MATE</a:t>
            </a:r>
            <a:endParaRPr lang="en-US" altLang="zh-CN" sz="4400" b="1">
              <a:solidFill>
                <a:schemeClr val="bg1"/>
              </a:solidFill>
              <a:latin typeface="Microsoft YaHei" panose="020B0503020204020204" charset="-122"/>
              <a:ea typeface="Microsoft YaHei" panose="020B0503020204020204" charset="-122"/>
              <a:cs typeface="Times New Roman" panose="02020603050405020304" charset="0"/>
            </a:endParaRPr>
          </a:p>
        </p:txBody>
      </p:sp>
      <p:sp>
        <p:nvSpPr>
          <p:cNvPr id="8" name="文本框 7"/>
          <p:cNvSpPr txBox="1"/>
          <p:nvPr/>
        </p:nvSpPr>
        <p:spPr>
          <a:xfrm>
            <a:off x="1979930" y="3927475"/>
            <a:ext cx="3035300" cy="645160"/>
          </a:xfrm>
          <a:prstGeom prst="rect">
            <a:avLst/>
          </a:prstGeom>
          <a:noFill/>
        </p:spPr>
        <p:txBody>
          <a:bodyPr wrap="square" rtlCol="0" anchor="ctr" anchorCtr="0">
            <a:spAutoFit/>
          </a:bodyPr>
          <a:p>
            <a:r>
              <a:rPr lang="en-US" altLang="zh-CN" sz="3600" b="1">
                <a:solidFill>
                  <a:schemeClr val="bg1"/>
                </a:solidFill>
                <a:latin typeface="Microsoft YaHei" panose="020B0503020204020204" charset="-122"/>
                <a:ea typeface="Microsoft YaHei" panose="020B0503020204020204" charset="-122"/>
                <a:cs typeface="Times New Roman" panose="02020603050405020304" charset="0"/>
              </a:rPr>
              <a:t>Zhiheng Hu</a:t>
            </a:r>
            <a:endParaRPr lang="en-US" altLang="zh-CN" sz="3600" b="1">
              <a:solidFill>
                <a:schemeClr val="bg1"/>
              </a:solidFill>
              <a:latin typeface="Microsoft YaHei" panose="020B0503020204020204" charset="-122"/>
              <a:ea typeface="Microsoft YaHei" panose="020B0503020204020204" charset="-122"/>
              <a:cs typeface="Times New Roman" panose="02020603050405020304" charset="0"/>
            </a:endParaRPr>
          </a:p>
        </p:txBody>
      </p:sp>
      <p:sp>
        <p:nvSpPr>
          <p:cNvPr id="10" name="文本框 9"/>
          <p:cNvSpPr txBox="1"/>
          <p:nvPr/>
        </p:nvSpPr>
        <p:spPr>
          <a:xfrm>
            <a:off x="1264285" y="4619625"/>
            <a:ext cx="4410075" cy="398780"/>
          </a:xfrm>
          <a:prstGeom prst="rect">
            <a:avLst/>
          </a:prstGeom>
          <a:noFill/>
        </p:spPr>
        <p:txBody>
          <a:bodyPr wrap="square" rtlCol="0" anchor="ctr" anchorCtr="0">
            <a:spAutoFit/>
          </a:bodyPr>
          <a:p>
            <a:r>
              <a:rPr lang="en-US" altLang="zh-CN" sz="2000">
                <a:solidFill>
                  <a:schemeClr val="bg1"/>
                </a:solidFill>
                <a:latin typeface="Microsoft YaHei" panose="020B0503020204020204" charset="-122"/>
                <a:ea typeface="Microsoft YaHei" panose="020B0503020204020204" charset="-122"/>
                <a:cs typeface="Microsoft YaHei" panose="020B0503020204020204" charset="-122"/>
              </a:rPr>
              <a:t>Institute of Modern Physics</a:t>
            </a:r>
            <a:r>
              <a:rPr lang="zh-CN" altLang="en-US" sz="2000">
                <a:solidFill>
                  <a:schemeClr val="bg1"/>
                </a:solidFill>
                <a:latin typeface="Microsoft YaHei" panose="020B0503020204020204" charset="-122"/>
                <a:ea typeface="Microsoft YaHei" panose="020B0503020204020204" charset="-122"/>
                <a:cs typeface="Microsoft YaHei" panose="020B0503020204020204" charset="-122"/>
              </a:rPr>
              <a:t>，</a:t>
            </a:r>
            <a:r>
              <a:rPr lang="en-US" altLang="zh-CN" sz="2000">
                <a:solidFill>
                  <a:schemeClr val="bg1"/>
                </a:solidFill>
                <a:latin typeface="Microsoft YaHei" panose="020B0503020204020204" charset="-122"/>
                <a:ea typeface="Microsoft YaHei" panose="020B0503020204020204" charset="-122"/>
                <a:cs typeface="Microsoft YaHei" panose="020B0503020204020204" charset="-122"/>
              </a:rPr>
              <a:t>CAS</a:t>
            </a:r>
            <a:endParaRPr lang="en-US" altLang="zh-CN" sz="2000">
              <a:solidFill>
                <a:schemeClr val="bg1"/>
              </a:solidFill>
              <a:latin typeface="Microsoft YaHei" panose="020B0503020204020204" charset="-122"/>
              <a:ea typeface="Microsoft YaHei" panose="020B0503020204020204" charset="-122"/>
              <a:cs typeface="Microsoft YaHei" panose="020B0503020204020204" charset="-122"/>
            </a:endParaRPr>
          </a:p>
        </p:txBody>
      </p:sp>
      <p:sp>
        <p:nvSpPr>
          <p:cNvPr id="12" name="日期占位符 11"/>
          <p:cNvSpPr>
            <a:spLocks noGrp="1"/>
          </p:cNvSpPr>
          <p:nvPr>
            <p:ph type="dt" sz="half" idx="10"/>
          </p:nvPr>
        </p:nvSpPr>
        <p:spPr>
          <a:xfrm>
            <a:off x="1263650" y="5027930"/>
            <a:ext cx="4286885" cy="316865"/>
          </a:xfrm>
        </p:spPr>
        <p:txBody>
          <a:bodyPr anchor="ctr" anchorCtr="0">
            <a:noAutofit/>
          </a:bodyPr>
          <a:p>
            <a:fld id="{760FBDFE-C587-4B4C-A407-44438C67B59E}" type="datetime2">
              <a:rPr lang="en-US" altLang="en-US" sz="2000" smtClean="0">
                <a:solidFill>
                  <a:schemeClr val="bg1"/>
                </a:solidFill>
                <a:latin typeface="Microsoft YaHei" panose="020B0503020204020204" charset="-122"/>
                <a:ea typeface="Microsoft YaHei" panose="020B0503020204020204" charset="-122"/>
                <a:cs typeface="Times New Roman" panose="02020603050405020304" charset="0"/>
              </a:rPr>
            </a:fld>
            <a:endParaRPr lang="en-US" altLang="en-US" sz="2000" smtClean="0">
              <a:solidFill>
                <a:schemeClr val="bg1"/>
              </a:solidFill>
              <a:latin typeface="Microsoft YaHei" panose="020B0503020204020204" charset="-122"/>
              <a:ea typeface="Microsoft YaHei" panose="020B0503020204020204" charset="-122"/>
              <a:cs typeface="Times New Roman" panose="02020603050405020304" charset="0"/>
            </a:endParaRPr>
          </a:p>
        </p:txBody>
      </p:sp>
      <p:cxnSp>
        <p:nvCxnSpPr>
          <p:cNvPr id="3" name="直接连接符 2"/>
          <p:cNvCxnSpPr/>
          <p:nvPr/>
        </p:nvCxnSpPr>
        <p:spPr>
          <a:xfrm>
            <a:off x="5679440" y="3811270"/>
            <a:ext cx="4445" cy="1749425"/>
          </a:xfrm>
          <a:prstGeom prst="line">
            <a:avLst/>
          </a:prstGeom>
          <a:ln>
            <a:solidFill>
              <a:srgbClr val="F8F9FA"/>
            </a:solidFill>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5927090" y="3691255"/>
            <a:ext cx="5949950" cy="2430145"/>
          </a:xfrm>
          <a:prstGeom prst="rect">
            <a:avLst/>
          </a:prstGeom>
          <a:noFill/>
        </p:spPr>
        <p:txBody>
          <a:bodyPr wrap="square" rtlCol="0">
            <a:spAutoFit/>
          </a:bodyPr>
          <a:p>
            <a:pPr indent="0" algn="l">
              <a:buClrTx/>
              <a:buSzTx/>
              <a:buFont typeface="Wingdings" panose="05000000000000000000" charset="0"/>
              <a:buNone/>
            </a:pPr>
            <a:r>
              <a:rPr lang="en-US" altLang="zh-CN" sz="2000">
                <a:solidFill>
                  <a:schemeClr val="bg1"/>
                </a:solidFill>
                <a:latin typeface="Microsoft YaHei" panose="020B0503020204020204" charset="-122"/>
                <a:ea typeface="Microsoft YaHei" panose="020B0503020204020204" charset="-122"/>
                <a:cs typeface="Times New Roman" panose="02020603050405020304" charset="0"/>
              </a:rPr>
              <a:t>Collaborators:</a:t>
            </a:r>
            <a:endParaRPr lang="en-US" altLang="zh-CN" sz="2000">
              <a:solidFill>
                <a:schemeClr val="bg1"/>
              </a:solidFill>
              <a:latin typeface="Microsoft YaHei" panose="020B0503020204020204" charset="-122"/>
              <a:ea typeface="Microsoft YaHei" panose="020B0503020204020204" charset="-122"/>
              <a:cs typeface="Times New Roman" panose="02020603050405020304" charset="0"/>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Hooi Jin Ong </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Ningtao Zhang </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Zhichao Zhang </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Lu Li </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Taisen Huang </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endParaRPr>
          </a:p>
          <a:p>
            <a:pPr marL="285750" indent="-285750" algn="l">
              <a:buClrTx/>
              <a:buSzTx/>
              <a:buFont typeface="Wingdings" panose="05000000000000000000" charset="0"/>
              <a:buChar char="p"/>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sym typeface="+mn-ea"/>
              </a:rPr>
              <a:t>Enqiang Liu</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algn="l">
              <a:buClrTx/>
              <a:buSzTx/>
              <a:buFontTx/>
            </a:pPr>
            <a:r>
              <a:rPr lang="en-US" altLang="zh-CN" sz="1600">
                <a:solidFill>
                  <a:schemeClr val="bg1"/>
                </a:solidFill>
                <a:latin typeface="Microsoft YaHei" panose="020B0503020204020204" charset="-122"/>
                <a:ea typeface="Microsoft YaHei" panose="020B0503020204020204" charset="-122"/>
                <a:cs typeface="Times New Roman" panose="02020603050405020304" charset="0"/>
              </a:rPr>
              <a:t>Institute of Modern Physics, Chinese Academy of Sciences</a:t>
            </a:r>
            <a:endParaRPr lang="en-US" altLang="zh-CN" sz="1600">
              <a:solidFill>
                <a:schemeClr val="bg1"/>
              </a:solidFill>
              <a:latin typeface="Microsoft YaHei" panose="020B0503020204020204" charset="-122"/>
              <a:ea typeface="Microsoft YaHei" panose="020B0503020204020204" charset="-122"/>
              <a:cs typeface="Times New Roman" panose="02020603050405020304" charset="0"/>
            </a:endParaRPr>
          </a:p>
          <a:p>
            <a:pPr algn="l">
              <a:buClrTx/>
              <a:buSzTx/>
              <a:buFontTx/>
            </a:pPr>
            <a:endParaRPr lang="zh-CN" altLang="en-US" sz="2000">
              <a:solidFill>
                <a:schemeClr val="bg1"/>
              </a:solidFill>
              <a:latin typeface="Microsoft YaHei" panose="020B0503020204020204" charset="-122"/>
              <a:ea typeface="Microsoft YaHei" panose="020B0503020204020204" charset="-122"/>
              <a:cs typeface="Times New Roman" panose="02020603050405020304"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635"/>
            <a:ext cx="3060700" cy="6858000"/>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35" y="1993900"/>
            <a:ext cx="3060700" cy="768350"/>
          </a:xfrm>
          <a:prstGeom prst="rect">
            <a:avLst/>
          </a:prstGeom>
          <a:noFill/>
        </p:spPr>
        <p:txBody>
          <a:bodyPr wrap="square" rtlCol="0">
            <a:spAutoFit/>
          </a:bodyPr>
          <a:p>
            <a:pPr algn="ctr"/>
            <a:r>
              <a:rPr lang="en-US" altLang="zh-CN" sz="4400" b="1">
                <a:solidFill>
                  <a:schemeClr val="bg1"/>
                </a:solidFill>
                <a:latin typeface="Microsoft YaHei" panose="020B0503020204020204" charset="-122"/>
                <a:ea typeface="Microsoft YaHei" panose="020B0503020204020204" charset="-122"/>
              </a:rPr>
              <a:t>Outline</a:t>
            </a:r>
            <a:endParaRPr lang="en-US" altLang="zh-CN" sz="4400" b="1">
              <a:solidFill>
                <a:schemeClr val="bg1"/>
              </a:solidFill>
              <a:latin typeface="Microsoft YaHei" panose="020B0503020204020204" charset="-122"/>
              <a:ea typeface="Microsoft YaHei" panose="020B0503020204020204" charset="-122"/>
            </a:endParaRPr>
          </a:p>
        </p:txBody>
      </p:sp>
      <p:sp>
        <p:nvSpPr>
          <p:cNvPr id="11" name="文本框 10"/>
          <p:cNvSpPr txBox="1"/>
          <p:nvPr/>
        </p:nvSpPr>
        <p:spPr>
          <a:xfrm>
            <a:off x="3117215" y="719455"/>
            <a:ext cx="9942830" cy="4829810"/>
          </a:xfrm>
          <a:prstGeom prst="rect">
            <a:avLst/>
          </a:prstGeom>
          <a:noFill/>
        </p:spPr>
        <p:txBody>
          <a:bodyPr wrap="square" rtlCol="0" anchor="t" anchorCtr="0">
            <a:spAutoFit/>
          </a:bodyPr>
          <a:p>
            <a:pPr marL="571500" indent="-571500">
              <a:lnSpc>
                <a:spcPct val="220000"/>
              </a:lnSpc>
              <a:buFont typeface="Wingdings" panose="05000000000000000000" charset="0"/>
              <a:buChar char="n"/>
            </a:pPr>
            <a:r>
              <a:rPr lang="en-US" altLang="zh-CN" sz="2800" b="1">
                <a:solidFill>
                  <a:schemeClr val="accent1">
                    <a:lumMod val="75000"/>
                  </a:schemeClr>
                </a:solidFill>
                <a:latin typeface="Microsoft YaHei" panose="020B0503020204020204" charset="-122"/>
                <a:ea typeface="Microsoft YaHei" panose="020B0503020204020204" charset="-122"/>
              </a:rPr>
              <a:t>Introduction and Physics Motivation </a:t>
            </a:r>
            <a:endParaRPr lang="en-US" altLang="zh-CN" sz="2800" b="1">
              <a:solidFill>
                <a:schemeClr val="accent1">
                  <a:lumMod val="75000"/>
                </a:schemeClr>
              </a:solidFill>
              <a:latin typeface="Microsoft YaHei" panose="020B0503020204020204" charset="-122"/>
              <a:ea typeface="Microsoft YaHei" panose="020B0503020204020204" charset="-122"/>
            </a:endParaRPr>
          </a:p>
          <a:p>
            <a:pPr marL="571500" indent="-571500">
              <a:lnSpc>
                <a:spcPct val="220000"/>
              </a:lnSpc>
              <a:buFont typeface="Wingdings" panose="05000000000000000000" charset="0"/>
              <a:buChar char="n"/>
            </a:pPr>
            <a:r>
              <a:rPr lang="en-US" altLang="zh-CN" sz="2800" b="1">
                <a:solidFill>
                  <a:schemeClr val="accent1">
                    <a:lumMod val="75000"/>
                  </a:schemeClr>
                </a:solidFill>
                <a:latin typeface="Microsoft YaHei" panose="020B0503020204020204" charset="-122"/>
                <a:ea typeface="Microsoft YaHei" panose="020B0503020204020204" charset="-122"/>
              </a:rPr>
              <a:t>The Bottleneck in Standard ML Method</a:t>
            </a:r>
            <a:endParaRPr lang="en-US" altLang="zh-CN" sz="2800" b="1">
              <a:solidFill>
                <a:schemeClr val="accent1">
                  <a:lumMod val="75000"/>
                </a:schemeClr>
              </a:solidFill>
              <a:latin typeface="Microsoft YaHei" panose="020B0503020204020204" charset="-122"/>
              <a:ea typeface="Microsoft YaHei" panose="020B0503020204020204" charset="-122"/>
            </a:endParaRPr>
          </a:p>
          <a:p>
            <a:pPr marL="571500" indent="-571500">
              <a:lnSpc>
                <a:spcPct val="220000"/>
              </a:lnSpc>
              <a:buFont typeface="Wingdings" panose="05000000000000000000" charset="0"/>
              <a:buChar char="n"/>
            </a:pPr>
            <a:r>
              <a:rPr lang="en-US" altLang="zh-CN" sz="2800" b="1">
                <a:solidFill>
                  <a:schemeClr val="accent1">
                    <a:lumMod val="75000"/>
                  </a:schemeClr>
                </a:solidFill>
                <a:latin typeface="Microsoft YaHei" panose="020B0503020204020204" charset="-122"/>
                <a:ea typeface="Microsoft YaHei" panose="020B0503020204020204" charset="-122"/>
              </a:rPr>
              <a:t>Physics-Informed Architecture </a:t>
            </a:r>
            <a:endParaRPr lang="en-US" altLang="zh-CN" sz="2800" b="1">
              <a:solidFill>
                <a:schemeClr val="accent1">
                  <a:lumMod val="75000"/>
                </a:schemeClr>
              </a:solidFill>
              <a:latin typeface="Microsoft YaHei" panose="020B0503020204020204" charset="-122"/>
              <a:ea typeface="Microsoft YaHei" panose="020B0503020204020204" charset="-122"/>
            </a:endParaRPr>
          </a:p>
          <a:p>
            <a:pPr marL="571500" indent="-571500">
              <a:lnSpc>
                <a:spcPct val="220000"/>
              </a:lnSpc>
              <a:buFont typeface="Wingdings" panose="05000000000000000000" charset="0"/>
              <a:buChar char="n"/>
            </a:pPr>
            <a:r>
              <a:rPr lang="en-US" altLang="zh-CN" sz="2800" b="1">
                <a:solidFill>
                  <a:schemeClr val="accent1">
                    <a:lumMod val="75000"/>
                  </a:schemeClr>
                </a:solidFill>
                <a:latin typeface="Microsoft YaHei" panose="020B0503020204020204" charset="-122"/>
                <a:ea typeface="Microsoft YaHei" panose="020B0503020204020204" charset="-122"/>
              </a:rPr>
              <a:t>Validation and Results</a:t>
            </a:r>
            <a:endParaRPr lang="en-US" altLang="zh-CN" sz="2800" b="1">
              <a:solidFill>
                <a:schemeClr val="accent1">
                  <a:lumMod val="75000"/>
                </a:schemeClr>
              </a:solidFill>
              <a:latin typeface="Microsoft YaHei" panose="020B0503020204020204" charset="-122"/>
              <a:ea typeface="Microsoft YaHei" panose="020B0503020204020204" charset="-122"/>
            </a:endParaRPr>
          </a:p>
          <a:p>
            <a:pPr marL="571500" indent="-571500">
              <a:lnSpc>
                <a:spcPct val="220000"/>
              </a:lnSpc>
              <a:buFont typeface="Wingdings" panose="05000000000000000000" charset="0"/>
              <a:buChar char="n"/>
            </a:pPr>
            <a:r>
              <a:rPr lang="en-US" altLang="zh-CN" sz="2800" b="1">
                <a:solidFill>
                  <a:schemeClr val="accent1">
                    <a:lumMod val="75000"/>
                  </a:schemeClr>
                </a:solidFill>
                <a:latin typeface="Microsoft YaHei" panose="020B0503020204020204" charset="-122"/>
                <a:ea typeface="Microsoft YaHei" panose="020B0503020204020204" charset="-122"/>
              </a:rPr>
              <a:t>Summary: Research Roadmap and timeline</a:t>
            </a:r>
            <a:endParaRPr lang="en-US" altLang="zh-CN" sz="2800" b="1">
              <a:solidFill>
                <a:schemeClr val="accent1">
                  <a:lumMod val="75000"/>
                </a:schemeClr>
              </a:solidFill>
              <a:latin typeface="Microsoft YaHei" panose="020B0503020204020204" charset="-122"/>
              <a:ea typeface="Microsoft YaHei" panose="020B0503020204020204"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l="45878" t="45487"/>
          <a:stretch>
            <a:fillRect/>
          </a:stretch>
        </p:blipFill>
        <p:spPr>
          <a:xfrm>
            <a:off x="6506845" y="1160145"/>
            <a:ext cx="3816350" cy="1881505"/>
          </a:xfrm>
          <a:prstGeom prst="rect">
            <a:avLst/>
          </a:prstGeom>
        </p:spPr>
      </p:pic>
      <p:sp>
        <p:nvSpPr>
          <p:cNvPr id="4" name="标题 3"/>
          <p:cNvSpPr>
            <a:spLocks noGrp="1"/>
          </p:cNvSpPr>
          <p:nvPr>
            <p:ph type="title"/>
          </p:nvPr>
        </p:nvSpPr>
        <p:spPr/>
        <p:txBody>
          <a:bodyPr>
            <a:normAutofit/>
          </a:bodyPr>
          <a:p>
            <a:r>
              <a:rPr lang="en-US" altLang="zh-CN">
                <a:sym typeface="+mn-ea"/>
              </a:rPr>
              <a:t>Introduction and Physical Motivation</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
        <p:nvSpPr>
          <p:cNvPr id="5" name="文本框 4"/>
          <p:cNvSpPr txBox="1"/>
          <p:nvPr/>
        </p:nvSpPr>
        <p:spPr>
          <a:xfrm>
            <a:off x="10193655" y="1938020"/>
            <a:ext cx="2106930" cy="368300"/>
          </a:xfrm>
          <a:prstGeom prst="rect">
            <a:avLst/>
          </a:prstGeom>
          <a:noFill/>
        </p:spPr>
        <p:txBody>
          <a:bodyPr wrap="square" rtlCol="0">
            <a:spAutoFit/>
          </a:bodyPr>
          <a:p>
            <a:r>
              <a:rPr lang="en-US" altLang="zh-CN" b="1">
                <a:latin typeface="Times New Roman" panose="02020603050405020304" charset="0"/>
                <a:cs typeface="Times New Roman" panose="02020603050405020304" charset="0"/>
              </a:rPr>
              <a:t>RIBLL1@HIRFL</a:t>
            </a:r>
            <a:endParaRPr lang="en-US" altLang="zh-CN" b="1">
              <a:latin typeface="Times New Roman" panose="02020603050405020304" charset="0"/>
              <a:cs typeface="Times New Roman" panose="02020603050405020304" charset="0"/>
            </a:endParaRPr>
          </a:p>
        </p:txBody>
      </p:sp>
      <p:sp>
        <p:nvSpPr>
          <p:cNvPr id="13" name="文本框 12"/>
          <p:cNvSpPr txBox="1"/>
          <p:nvPr/>
        </p:nvSpPr>
        <p:spPr>
          <a:xfrm>
            <a:off x="274320" y="1300480"/>
            <a:ext cx="5519420" cy="1353185"/>
          </a:xfrm>
          <a:prstGeom prst="rect">
            <a:avLst/>
          </a:prstGeom>
          <a:noFill/>
        </p:spPr>
        <p:txBody>
          <a:bodyPr wrap="square">
            <a:spAutoFit/>
          </a:bodyPr>
          <a:p>
            <a:pPr algn="l"/>
            <a:r>
              <a:rPr lang="en-US" altLang="zh-CN" sz="2800" b="1" dirty="0">
                <a:solidFill>
                  <a:srgbClr val="174994"/>
                </a:solidFill>
                <a:latin typeface="Microsoft YaHei" panose="020B0503020204020204" charset="-122"/>
                <a:ea typeface="Microsoft YaHei" panose="020B0503020204020204" charset="-122"/>
                <a:cs typeface="Times New Roman" panose="02020603050405020304" charset="0"/>
              </a:rPr>
              <a:t>MATE:</a:t>
            </a:r>
            <a:r>
              <a:rPr lang="en-US" altLang="zh-CN" sz="2800" b="1" dirty="0">
                <a:solidFill>
                  <a:srgbClr val="FF0000"/>
                </a:solidFill>
                <a:latin typeface="Microsoft YaHei" panose="020B0503020204020204" charset="-122"/>
                <a:ea typeface="Microsoft YaHei" panose="020B0503020204020204" charset="-122"/>
                <a:cs typeface="Times New Roman" panose="02020603050405020304" charset="0"/>
              </a:rPr>
              <a:t> </a:t>
            </a:r>
            <a:endParaRPr lang="en-US" altLang="zh-CN" sz="2800" b="1" dirty="0">
              <a:solidFill>
                <a:srgbClr val="FF0000"/>
              </a:solidFill>
              <a:latin typeface="Microsoft YaHei" panose="020B0503020204020204" charset="-122"/>
              <a:ea typeface="Microsoft YaHei" panose="020B0503020204020204" charset="-122"/>
              <a:cs typeface="Times New Roman" panose="02020603050405020304" charset="0"/>
            </a:endParaRPr>
          </a:p>
          <a:p>
            <a:pPr algn="l"/>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M</a:t>
            </a:r>
            <a:r>
              <a:rPr lang="en-US" altLang="zh-CN" b="1" dirty="0">
                <a:latin typeface="Microsoft YaHei" panose="020B0503020204020204" charset="-122"/>
                <a:ea typeface="Microsoft YaHei" panose="020B0503020204020204" charset="-122"/>
                <a:cs typeface="Times New Roman" panose="02020603050405020304" charset="0"/>
              </a:rPr>
              <a:t>ulti-purpose </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A</a:t>
            </a:r>
            <a:r>
              <a:rPr lang="en-US" altLang="zh-CN" b="1" dirty="0">
                <a:latin typeface="Microsoft YaHei" panose="020B0503020204020204" charset="-122"/>
                <a:ea typeface="Microsoft YaHei" panose="020B0503020204020204" charset="-122"/>
                <a:cs typeface="Times New Roman" panose="02020603050405020304" charset="0"/>
              </a:rPr>
              <a:t>ctive-target </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T</a:t>
            </a:r>
            <a:r>
              <a:rPr lang="en-US" altLang="zh-CN" b="1" dirty="0">
                <a:latin typeface="Microsoft YaHei" panose="020B0503020204020204" charset="-122"/>
                <a:ea typeface="Microsoft YaHei" panose="020B0503020204020204" charset="-122"/>
                <a:cs typeface="Times New Roman" panose="02020603050405020304" charset="0"/>
              </a:rPr>
              <a:t>ime projection chamber for nuclear astrophysical and exotic beam</a:t>
            </a:r>
            <a:r>
              <a:rPr lang="en-US" altLang="zh-CN" b="1" dirty="0">
                <a:solidFill>
                  <a:srgbClr val="174994"/>
                </a:solidFill>
                <a:latin typeface="Microsoft YaHei" panose="020B0503020204020204" charset="-122"/>
                <a:ea typeface="Microsoft YaHei" panose="020B0503020204020204" charset="-122"/>
                <a:cs typeface="Times New Roman" panose="02020603050405020304" charset="0"/>
              </a:rPr>
              <a:t> E</a:t>
            </a:r>
            <a:r>
              <a:rPr lang="en-US" altLang="zh-CN" b="1" dirty="0">
                <a:latin typeface="Microsoft YaHei" panose="020B0503020204020204" charset="-122"/>
                <a:ea typeface="Microsoft YaHei" panose="020B0503020204020204" charset="-122"/>
                <a:cs typeface="Times New Roman" panose="02020603050405020304" charset="0"/>
              </a:rPr>
              <a:t>xperiments </a:t>
            </a:r>
            <a:endParaRPr lang="en-US" altLang="zh-CN" b="1" dirty="0">
              <a:latin typeface="Microsoft YaHei" panose="020B0503020204020204" charset="-122"/>
              <a:ea typeface="Microsoft YaHei" panose="020B0503020204020204" charset="-122"/>
              <a:cs typeface="Times New Roman" panose="02020603050405020304" charset="0"/>
            </a:endParaRPr>
          </a:p>
        </p:txBody>
      </p:sp>
      <p:sp>
        <p:nvSpPr>
          <p:cNvPr id="25" name="文本框 24" descr="7b0a202020202262756c6c6574223a20227b5c2263617465676f727949645c223a5c225c222c5c2274656d706c61746549645c223a32303233313730387d220a7d0a"/>
          <p:cNvSpPr txBox="1"/>
          <p:nvPr/>
        </p:nvSpPr>
        <p:spPr>
          <a:xfrm>
            <a:off x="274320" y="3194050"/>
            <a:ext cx="11624945" cy="3155315"/>
          </a:xfrm>
          <a:prstGeom prst="rect">
            <a:avLst/>
          </a:prstGeom>
          <a:noFill/>
          <a:ln w="28575" cmpd="sng">
            <a:solidFill>
              <a:schemeClr val="tx1"/>
            </a:solidFill>
            <a:prstDash val="solid"/>
          </a:ln>
        </p:spPr>
        <p:txBody>
          <a:bodyPr wrap="square" rtlCol="0">
            <a:noAutofit/>
          </a:bodyPr>
          <a:p>
            <a:pPr marL="285750" indent="-285750">
              <a:buFont typeface="Wingdings" panose="05000000000000000000" charset="0"/>
              <a:buChar char="n"/>
            </a:pPr>
            <a:r>
              <a:rPr lang="en-US" altLang="zh-CN" sz="2800" b="1">
                <a:solidFill>
                  <a:srgbClr val="174994"/>
                </a:solidFill>
                <a:latin typeface="Microsoft YaHei" panose="020B0503020204020204" charset="-122"/>
                <a:ea typeface="Microsoft YaHei" panose="020B0503020204020204" charset="-122"/>
                <a:cs typeface="Microsoft YaHei" panose="020B0503020204020204" charset="-122"/>
              </a:rPr>
              <a:t>Challenges </a:t>
            </a:r>
            <a:r>
              <a:rPr lang="zh-CN" altLang="en-US" sz="2800" b="1">
                <a:solidFill>
                  <a:srgbClr val="174994"/>
                </a:solidFill>
                <a:latin typeface="Microsoft YaHei" panose="020B0503020204020204" charset="-122"/>
                <a:ea typeface="Microsoft YaHei" panose="020B0503020204020204" charset="-122"/>
                <a:cs typeface="Microsoft YaHei" panose="020B0503020204020204" charset="-122"/>
              </a:rPr>
              <a:t>：</a:t>
            </a:r>
            <a:endParaRPr lang="zh-CN" altLang="en-US" sz="2400" b="1">
              <a:latin typeface="Microsoft YaHei" panose="020B0503020204020204" charset="-122"/>
              <a:ea typeface="Microsoft YaHei" panose="020B0503020204020204" charset="-122"/>
              <a:cs typeface="Microsoft YaHei" panose="020B0503020204020204" charset="-122"/>
            </a:endParaRPr>
          </a:p>
          <a:p>
            <a:pPr marL="536575" indent="-285750" fontAlgn="auto">
              <a:buFont typeface="Wingdings" panose="05000000000000000000" charset="0"/>
              <a:buChar char="Ø"/>
            </a:pPr>
            <a:r>
              <a:rPr lang="en-US" altLang="zh-CN" sz="2000" b="1">
                <a:latin typeface="Microsoft YaHei" panose="020B0503020204020204" charset="-122"/>
                <a:ea typeface="Microsoft YaHei" panose="020B0503020204020204" charset="-122"/>
                <a:cs typeface="Microsoft YaHei" panose="020B0503020204020204" charset="-122"/>
              </a:rPr>
              <a:t>Each experiment generates several TBs data, and how to extract useful information from this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rPr>
              <a:t>massive amount of data</a:t>
            </a:r>
            <a:r>
              <a:rPr lang="en-US" altLang="zh-CN" sz="2000" b="1">
                <a:latin typeface="Microsoft YaHei" panose="020B0503020204020204" charset="-122"/>
                <a:ea typeface="Microsoft YaHei" panose="020B0503020204020204" charset="-122"/>
                <a:cs typeface="Microsoft YaHei" panose="020B0503020204020204" charset="-122"/>
              </a:rPr>
              <a:t> becomes a key issue.</a:t>
            </a:r>
            <a:endParaRPr lang="en-US" altLang="zh-CN" sz="2000" b="1">
              <a:latin typeface="Microsoft YaHei" panose="020B0503020204020204" charset="-122"/>
              <a:ea typeface="Microsoft YaHei" panose="020B0503020204020204" charset="-122"/>
              <a:cs typeface="Microsoft YaHei" panose="020B0503020204020204" charset="-122"/>
            </a:endParaRPr>
          </a:p>
          <a:p>
            <a:pPr marL="864235" indent="-285750" algn="l" fontAlgn="auto">
              <a:buClrTx/>
              <a:buSzTx/>
              <a:buFont typeface="Wingdings" panose="05000000000000000000" charset="0"/>
              <a:buChar char="p"/>
            </a:pPr>
            <a:r>
              <a:rPr lang="en-US" altLang="zh-CN" sz="1800" b="1">
                <a:latin typeface="Microsoft YaHei" panose="020B0503020204020204" charset="-122"/>
                <a:ea typeface="Microsoft YaHei" panose="020B0503020204020204" charset="-122"/>
                <a:cs typeface="Microsoft YaHei" panose="020B0503020204020204" charset="-122"/>
              </a:rPr>
              <a:t>High sampling rate</a:t>
            </a:r>
            <a:endParaRPr lang="en-US" altLang="zh-CN" sz="1800" b="1">
              <a:latin typeface="Microsoft YaHei" panose="020B0503020204020204" charset="-122"/>
              <a:ea typeface="Microsoft YaHei" panose="020B0503020204020204" charset="-122"/>
              <a:cs typeface="Microsoft YaHei" panose="020B0503020204020204" charset="-122"/>
            </a:endParaRPr>
          </a:p>
          <a:p>
            <a:pPr marL="536575" indent="-285750" fontAlgn="auto">
              <a:buFont typeface="Wingdings" panose="05000000000000000000" charset="0"/>
              <a:buChar char="Ø"/>
            </a:pPr>
            <a:r>
              <a:rPr lang="en-US" altLang="zh-CN" sz="2000" b="1">
                <a:latin typeface="Microsoft YaHei" panose="020B0503020204020204" charset="-122"/>
                <a:ea typeface="Microsoft YaHei" panose="020B0503020204020204" charset="-122"/>
                <a:cs typeface="Microsoft YaHei" panose="020B0503020204020204" charset="-122"/>
                <a:sym typeface="+mn-ea"/>
              </a:rPr>
              <a:t>The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sym typeface="+mn-ea"/>
              </a:rPr>
              <a:t>subjectivity</a:t>
            </a:r>
            <a:r>
              <a:rPr lang="en-US" altLang="zh-CN" sz="2000" b="1">
                <a:latin typeface="Microsoft YaHei" panose="020B0503020204020204" charset="-122"/>
                <a:ea typeface="Microsoft YaHei" panose="020B0503020204020204" charset="-122"/>
                <a:cs typeface="Microsoft YaHei" panose="020B0503020204020204" charset="-122"/>
                <a:sym typeface="+mn-ea"/>
              </a:rPr>
              <a:t> and potential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sym typeface="+mn-ea"/>
              </a:rPr>
              <a:t>biases</a:t>
            </a:r>
            <a:r>
              <a:rPr lang="en-US" altLang="zh-CN" sz="2000" b="1">
                <a:latin typeface="Microsoft YaHei" panose="020B0503020204020204" charset="-122"/>
                <a:ea typeface="Microsoft YaHei" panose="020B0503020204020204" charset="-122"/>
                <a:cs typeface="Microsoft YaHei" panose="020B0503020204020204" charset="-122"/>
                <a:sym typeface="+mn-ea"/>
              </a:rPr>
              <a:t>.</a:t>
            </a:r>
            <a:r>
              <a:rPr lang="en-US" altLang="zh-CN" sz="2000" b="1">
                <a:latin typeface="Microsoft YaHei" panose="020B0503020204020204" charset="-122"/>
                <a:ea typeface="Microsoft YaHei" panose="020B0503020204020204" charset="-122"/>
                <a:cs typeface="Microsoft YaHei" panose="020B0503020204020204" charset="-122"/>
              </a:rPr>
              <a:t>   </a:t>
            </a:r>
            <a:endParaRPr lang="en-US" altLang="zh-CN" sz="2000" b="1">
              <a:latin typeface="Microsoft YaHei" panose="020B0503020204020204" charset="-122"/>
              <a:ea typeface="Microsoft YaHei" panose="020B0503020204020204" charset="-122"/>
              <a:cs typeface="Microsoft YaHei" panose="020B0503020204020204" charset="-122"/>
            </a:endParaRPr>
          </a:p>
          <a:p>
            <a:pPr marL="864235" indent="-285750" fontAlgn="auto">
              <a:buFont typeface="Wingdings" panose="05000000000000000000" charset="0"/>
              <a:buChar char="p"/>
            </a:pPr>
            <a:r>
              <a:rPr lang="en-US" altLang="zh-CN" b="1">
                <a:latin typeface="Microsoft YaHei" panose="020B0503020204020204" charset="-122"/>
                <a:ea typeface="Microsoft YaHei" panose="020B0503020204020204" charset="-122"/>
                <a:cs typeface="Microsoft YaHei" panose="020B0503020204020204" charset="-122"/>
              </a:rPr>
              <a:t>Limitations of conventional tracking algorithms (e.g., Hough Transform) in low S/N environments. </a:t>
            </a:r>
            <a:endParaRPr lang="en-US" altLang="zh-CN" b="1">
              <a:latin typeface="Microsoft YaHei" panose="020B0503020204020204" charset="-122"/>
              <a:ea typeface="Microsoft YaHei" panose="020B0503020204020204" charset="-122"/>
              <a:cs typeface="Microsoft YaHei" panose="020B0503020204020204" charset="-122"/>
            </a:endParaRPr>
          </a:p>
          <a:p>
            <a:pPr marL="864235" indent="-285750" fontAlgn="auto">
              <a:buFont typeface="Wingdings" panose="05000000000000000000" charset="0"/>
              <a:buChar char="p"/>
            </a:pPr>
            <a:r>
              <a:rPr lang="en-US" altLang="zh-CN" b="1">
                <a:latin typeface="Microsoft YaHei" panose="020B0503020204020204" charset="-122"/>
                <a:ea typeface="Microsoft YaHei" panose="020B0503020204020204" charset="-122"/>
                <a:cs typeface="Microsoft YaHei" panose="020B0503020204020204" charset="-122"/>
              </a:rPr>
              <a:t>Manual tuning of cut parameters leading to non-reproducible results. </a:t>
            </a:r>
            <a:endParaRPr lang="en-US" altLang="zh-CN" b="1">
              <a:latin typeface="Microsoft YaHei" panose="020B0503020204020204" charset="-122"/>
              <a:ea typeface="Microsoft YaHei" panose="020B0503020204020204" charset="-122"/>
              <a:cs typeface="Microsoft YaHei" panose="020B0503020204020204" charset="-122"/>
            </a:endParaRPr>
          </a:p>
          <a:p>
            <a:pPr marL="536575" indent="-285750" algn="l" fontAlgn="auto">
              <a:buClrTx/>
              <a:buSzTx/>
              <a:buFont typeface="Wingdings" panose="05000000000000000000" charset="0"/>
              <a:buChar char="Ø"/>
            </a:pPr>
            <a:r>
              <a:rPr lang="en-US" altLang="zh-CN" sz="2000" b="1">
                <a:latin typeface="Microsoft YaHei" panose="020B0503020204020204" charset="-122"/>
                <a:ea typeface="Microsoft YaHei" panose="020B0503020204020204" charset="-122"/>
                <a:cs typeface="Microsoft YaHei" panose="020B0503020204020204" charset="-122"/>
                <a:sym typeface="+mn-ea"/>
              </a:rPr>
              <a:t>Ambiguity in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sym typeface="+mn-ea"/>
              </a:rPr>
              <a:t>Isotope Identification</a:t>
            </a:r>
            <a:endParaRPr lang="en-US" altLang="zh-CN" sz="2000" b="1">
              <a:latin typeface="Microsoft YaHei" panose="020B0503020204020204" charset="-122"/>
              <a:ea typeface="Microsoft YaHei" panose="020B0503020204020204" charset="-122"/>
              <a:cs typeface="Microsoft YaHei" panose="020B0503020204020204" charset="-122"/>
            </a:endParaRPr>
          </a:p>
          <a:p>
            <a:pPr marL="864235" indent="-285750" algn="l" fontAlgn="auto">
              <a:buClrTx/>
              <a:buSzTx/>
              <a:buFont typeface="Wingdings" panose="05000000000000000000" charset="0"/>
              <a:buChar char="p"/>
            </a:pPr>
            <a:r>
              <a:rPr lang="en-US" altLang="zh-CN" b="1">
                <a:latin typeface="Microsoft YaHei" panose="020B0503020204020204" charset="-122"/>
                <a:ea typeface="Microsoft YaHei" panose="020B0503020204020204" charset="-122"/>
                <a:cs typeface="Microsoft YaHei" panose="020B0503020204020204" charset="-122"/>
                <a:sym typeface="+mn-ea"/>
              </a:rPr>
              <a:t>Intricate event topology</a:t>
            </a:r>
            <a:endParaRPr lang="en-US" altLang="zh-CN" b="1">
              <a:latin typeface="Microsoft YaHei" panose="020B0503020204020204" charset="-122"/>
              <a:ea typeface="Microsoft YaHei" panose="020B0503020204020204" charset="-122"/>
              <a:cs typeface="Microsoft YaHei" panose="020B0503020204020204" charset="-122"/>
            </a:endParaRPr>
          </a:p>
          <a:p>
            <a:pPr marL="578485" indent="0" fontAlgn="auto">
              <a:buFont typeface="Wingdings" panose="05000000000000000000" charset="0"/>
              <a:buNone/>
            </a:pPr>
            <a:endParaRPr lang="en-US" altLang="zh-CN" b="1">
              <a:latin typeface="Microsoft YaHei" panose="020B0503020204020204" charset="-122"/>
              <a:ea typeface="Microsoft YaHei" panose="020B0503020204020204" charset="-122"/>
              <a:cs typeface="Microsoft YaHei" panose="020B0503020204020204"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316230" y="219710"/>
            <a:ext cx="10862310" cy="705485"/>
          </a:xfrm>
        </p:spPr>
        <p:txBody>
          <a:bodyPr>
            <a:normAutofit fontScale="90000"/>
          </a:bodyPr>
          <a:p>
            <a:r>
              <a:rPr lang="en-US" altLang="zh-CN"/>
              <a:t>Methodology: Convolutional Neural Networks (CNN) for MATE data</a:t>
            </a:r>
            <a:endParaRPr lang="en-US" altLang="zh-CN"/>
          </a:p>
        </p:txBody>
      </p:sp>
      <p:sp>
        <p:nvSpPr>
          <p:cNvPr id="6" name="文本框 5"/>
          <p:cNvSpPr txBox="1"/>
          <p:nvPr/>
        </p:nvSpPr>
        <p:spPr>
          <a:xfrm>
            <a:off x="5299710" y="1221740"/>
            <a:ext cx="6127115" cy="1644650"/>
          </a:xfrm>
          <a:prstGeom prst="rect">
            <a:avLst/>
          </a:prstGeom>
          <a:noFill/>
        </p:spPr>
        <p:txBody>
          <a:bodyPr wrap="square" rtlCol="0">
            <a:noAutofit/>
          </a:bodyPr>
          <a:p>
            <a:pPr indent="0" fontAlgn="auto">
              <a:lnSpc>
                <a:spcPct val="100000"/>
              </a:lnSpc>
              <a:buFont typeface="Wingdings" panose="05000000000000000000" charset="0"/>
              <a:buNone/>
            </a:pPr>
            <a:r>
              <a:rPr lang="en-US" altLang="zh-CN" sz="2400" b="1">
                <a:latin typeface="Microsoft YaHei" panose="020B0503020204020204" charset="-122"/>
                <a:ea typeface="Microsoft YaHei" panose="020B0503020204020204" charset="-122"/>
                <a:cs typeface="Microsoft YaHei" panose="020B0503020204020204" charset="-122"/>
                <a:sym typeface="+mn-ea"/>
              </a:rPr>
              <a:t>Simulation Data with MATESIM toolkit</a:t>
            </a:r>
            <a:endParaRPr lang="en-US" altLang="zh-CN" sz="2400" b="1">
              <a:latin typeface="Microsoft YaHei" panose="020B0503020204020204" charset="-122"/>
              <a:ea typeface="Microsoft YaHei" panose="020B0503020204020204" charset="-122"/>
              <a:cs typeface="Microsoft YaHei" panose="020B0503020204020204" charset="-122"/>
              <a:sym typeface="+mn-ea"/>
            </a:endParaRPr>
          </a:p>
          <a:p>
            <a:pPr marL="342900" indent="-342900" fontAlgn="auto">
              <a:lnSpc>
                <a:spcPct val="100000"/>
              </a:lnSpc>
              <a:buFont typeface="Wingdings" panose="05000000000000000000" charset="0"/>
              <a:buChar char="Ø"/>
            </a:pPr>
            <a:r>
              <a:rPr lang="en-US" altLang="zh-CN" sz="2000" b="1">
                <a:latin typeface="Microsoft YaHei" panose="020B0503020204020204" charset="-122"/>
                <a:ea typeface="Microsoft YaHei" panose="020B0503020204020204" charset="-122"/>
                <a:cs typeface="Microsoft YaHei" panose="020B0503020204020204" charset="-122"/>
                <a:sym typeface="+mn-ea"/>
              </a:rPr>
              <a:t>Simulated Data </a:t>
            </a:r>
            <a:endParaRPr lang="en-US" altLang="zh-CN" sz="2000" b="1">
              <a:latin typeface="Microsoft YaHei" panose="020B0503020204020204" charset="-122"/>
              <a:ea typeface="Microsoft YaHei" panose="020B0503020204020204" charset="-122"/>
              <a:cs typeface="Microsoft YaHei" panose="020B0503020204020204" charset="-122"/>
              <a:sym typeface="+mn-ea"/>
            </a:endParaRPr>
          </a:p>
          <a:p>
            <a:pPr marL="800100" lvl="1" indent="-342900" algn="l" fontAlgn="auto">
              <a:lnSpc>
                <a:spcPct val="100000"/>
              </a:lnSpc>
              <a:buClrTx/>
              <a:buSzTx/>
              <a:buFont typeface="Arial" panose="020B0604020202020204" pitchFamily="34" charset="0"/>
              <a:buChar char="•"/>
            </a:pPr>
            <a:r>
              <a:rPr lang="en-US" altLang="zh-CN" sz="2000">
                <a:latin typeface="Microsoft YaHei" panose="020B0503020204020204" charset="-122"/>
                <a:ea typeface="Microsoft YaHei" panose="020B0503020204020204" charset="-122"/>
                <a:cs typeface="Microsoft YaHei" panose="020B0503020204020204" charset="-122"/>
                <a:sym typeface="+mn-ea"/>
              </a:rPr>
              <a:t>64×64 Resolution</a:t>
            </a:r>
            <a:endParaRPr lang="en-US" altLang="zh-CN" sz="2000">
              <a:latin typeface="Microsoft YaHei" panose="020B0503020204020204" charset="-122"/>
              <a:ea typeface="Microsoft YaHei" panose="020B0503020204020204" charset="-122"/>
              <a:cs typeface="Microsoft YaHei" panose="020B0503020204020204" charset="-122"/>
              <a:sym typeface="+mn-ea"/>
            </a:endParaRPr>
          </a:p>
          <a:p>
            <a:pPr marL="800100" lvl="1" indent="-342900" algn="l" fontAlgn="auto">
              <a:lnSpc>
                <a:spcPct val="100000"/>
              </a:lnSpc>
              <a:buClrTx/>
              <a:buSzTx/>
              <a:buFont typeface="Arial" panose="020B0604020202020204" pitchFamily="34" charset="0"/>
              <a:buChar char="•"/>
            </a:pPr>
            <a:r>
              <a:rPr lang="en-US" altLang="zh-CN" sz="2000">
                <a:latin typeface="Microsoft YaHei" panose="020B0503020204020204" charset="-122"/>
                <a:ea typeface="Microsoft YaHei" panose="020B0503020204020204" charset="-122"/>
                <a:cs typeface="Microsoft YaHei" panose="020B0503020204020204" charset="-122"/>
                <a:sym typeface="+mn-ea"/>
              </a:rPr>
              <a:t>Geant4 Framework</a:t>
            </a:r>
            <a:endParaRPr lang="en-US" altLang="zh-CN" sz="2000">
              <a:latin typeface="Microsoft YaHei" panose="020B0503020204020204" charset="-122"/>
              <a:ea typeface="Microsoft YaHei" panose="020B0503020204020204" charset="-122"/>
              <a:cs typeface="Microsoft YaHei" panose="020B0503020204020204" charset="-122"/>
              <a:sym typeface="+mn-ea"/>
            </a:endParaRPr>
          </a:p>
          <a:p>
            <a:pPr marL="342900" indent="-342900" fontAlgn="auto">
              <a:lnSpc>
                <a:spcPct val="100000"/>
              </a:lnSpc>
              <a:buFont typeface="Wingdings" panose="05000000000000000000" charset="0"/>
              <a:buChar char="Ø"/>
            </a:pPr>
            <a:r>
              <a:rPr lang="en-US" altLang="zh-CN" sz="2000" b="1">
                <a:latin typeface="Microsoft YaHei" panose="020B0503020204020204" charset="-122"/>
                <a:ea typeface="Microsoft YaHei" panose="020B0503020204020204" charset="-122"/>
                <a:cs typeface="Microsoft YaHei" panose="020B0503020204020204" charset="-122"/>
              </a:rPr>
              <a:t>3D track → 2D image </a:t>
            </a:r>
            <a:endParaRPr lang="en-US" altLang="zh-CN" sz="2000" b="1">
              <a:latin typeface="Microsoft YaHei" panose="020B0503020204020204" charset="-122"/>
              <a:ea typeface="Microsoft YaHei" panose="020B0503020204020204" charset="-122"/>
              <a:cs typeface="Microsoft YaHei" panose="020B0503020204020204" charset="-122"/>
            </a:endParaRPr>
          </a:p>
          <a:p>
            <a:pPr marL="800100" lvl="1" indent="-342900" fontAlgn="auto">
              <a:lnSpc>
                <a:spcPct val="100000"/>
              </a:lnSpc>
              <a:buFont typeface="Arial" panose="020B0604020202020204" pitchFamily="34" charset="0"/>
              <a:buChar char="•"/>
            </a:pPr>
            <a:r>
              <a:rPr lang="en-US" altLang="zh-CN" sz="2000">
                <a:solidFill>
                  <a:schemeClr val="tx1"/>
                </a:solidFill>
                <a:latin typeface="Microsoft YaHei" panose="020B0503020204020204" charset="-122"/>
                <a:ea typeface="Microsoft YaHei" panose="020B0503020204020204" charset="-122"/>
                <a:cs typeface="Microsoft YaHei" panose="020B0503020204020204" charset="-122"/>
              </a:rPr>
              <a:t>Charge deposition</a:t>
            </a:r>
            <a:endParaRPr lang="en-US" altLang="zh-CN" sz="2000">
              <a:solidFill>
                <a:schemeClr val="tx1"/>
              </a:solidFill>
              <a:latin typeface="Microsoft YaHei" panose="020B0503020204020204" charset="-122"/>
              <a:ea typeface="Microsoft YaHei" panose="020B0503020204020204" charset="-122"/>
              <a:cs typeface="Microsoft YaHei" panose="020B0503020204020204" charset="-122"/>
            </a:endParaRPr>
          </a:p>
          <a:p>
            <a:pPr marL="800100" lvl="1" indent="-342900" fontAlgn="auto">
              <a:lnSpc>
                <a:spcPct val="100000"/>
              </a:lnSpc>
              <a:buFont typeface="Arial" panose="020B0604020202020204" pitchFamily="34" charset="0"/>
              <a:buChar char="•"/>
            </a:pPr>
            <a:r>
              <a:rPr lang="en-US" altLang="zh-CN" sz="2000">
                <a:solidFill>
                  <a:schemeClr val="tx1"/>
                </a:solidFill>
                <a:latin typeface="Microsoft YaHei" panose="020B0503020204020204" charset="-122"/>
                <a:ea typeface="Microsoft YaHei" panose="020B0503020204020204" charset="-122"/>
                <a:cs typeface="Microsoft YaHei" panose="020B0503020204020204" charset="-122"/>
              </a:rPr>
              <a:t>Drift time</a:t>
            </a:r>
            <a:endParaRPr lang="en-US" altLang="zh-CN" sz="2000">
              <a:solidFill>
                <a:schemeClr val="tx1"/>
              </a:solidFill>
              <a:latin typeface="Microsoft YaHei" panose="020B0503020204020204" charset="-122"/>
              <a:ea typeface="Microsoft YaHei" panose="020B0503020204020204" charset="-122"/>
              <a:cs typeface="Microsoft YaHei" panose="020B0503020204020204" charset="-122"/>
            </a:endParaRPr>
          </a:p>
        </p:txBody>
      </p:sp>
      <p:grpSp>
        <p:nvGrpSpPr>
          <p:cNvPr id="18" name="组合 17"/>
          <p:cNvGrpSpPr/>
          <p:nvPr/>
        </p:nvGrpSpPr>
        <p:grpSpPr>
          <a:xfrm>
            <a:off x="105410" y="3471545"/>
            <a:ext cx="5125085" cy="2470785"/>
            <a:chOff x="270" y="5134"/>
            <a:chExt cx="8240" cy="4060"/>
          </a:xfrm>
        </p:grpSpPr>
        <p:grpSp>
          <p:nvGrpSpPr>
            <p:cNvPr id="8" name="组合 7"/>
            <p:cNvGrpSpPr/>
            <p:nvPr/>
          </p:nvGrpSpPr>
          <p:grpSpPr>
            <a:xfrm>
              <a:off x="372" y="5209"/>
              <a:ext cx="8049" cy="3902"/>
              <a:chOff x="7268" y="1874"/>
              <a:chExt cx="9678" cy="5046"/>
            </a:xfrm>
          </p:grpSpPr>
          <p:grpSp>
            <p:nvGrpSpPr>
              <p:cNvPr id="5" name="组合 4"/>
              <p:cNvGrpSpPr/>
              <p:nvPr/>
            </p:nvGrpSpPr>
            <p:grpSpPr>
              <a:xfrm>
                <a:off x="7562" y="1874"/>
                <a:ext cx="9384" cy="5046"/>
                <a:chOff x="6815" y="1955"/>
                <a:chExt cx="9384" cy="5046"/>
              </a:xfrm>
            </p:grpSpPr>
            <p:pic>
              <p:nvPicPr>
                <p:cNvPr id="9" name="图片 8"/>
                <p:cNvPicPr>
                  <a:picLocks noChangeAspect="1"/>
                </p:cNvPicPr>
                <p:nvPr/>
              </p:nvPicPr>
              <p:blipFill>
                <a:blip r:embed="rId1"/>
                <a:stretch>
                  <a:fillRect/>
                </a:stretch>
              </p:blipFill>
              <p:spPr>
                <a:xfrm>
                  <a:off x="6815" y="2504"/>
                  <a:ext cx="9384" cy="4497"/>
                </a:xfrm>
                <a:prstGeom prst="rect">
                  <a:avLst/>
                </a:prstGeom>
              </p:spPr>
            </p:pic>
            <p:sp>
              <p:nvSpPr>
                <p:cNvPr id="14" name="文本框 13"/>
                <p:cNvSpPr txBox="1"/>
                <p:nvPr/>
              </p:nvSpPr>
              <p:spPr>
                <a:xfrm>
                  <a:off x="7458" y="1955"/>
                  <a:ext cx="8207" cy="846"/>
                </a:xfrm>
                <a:prstGeom prst="rect">
                  <a:avLst/>
                </a:prstGeom>
                <a:solidFill>
                  <a:schemeClr val="bg1"/>
                </a:solidFill>
              </p:spPr>
              <p:txBody>
                <a:bodyPr wrap="square" rtlCol="0">
                  <a:noAutofit/>
                </a:bodyPr>
                <a:p>
                  <a:r>
                    <a:rPr lang="en-US" altLang="zh-CN" sz="1600" b="1"/>
                    <a:t>MATE Data (</a:t>
                  </a:r>
                  <a:r>
                    <a:rPr lang="en-US" altLang="zh-CN" sz="1600" b="1">
                      <a:sym typeface="+mn-ea"/>
                    </a:rPr>
                    <a:t>simulation) </a:t>
                  </a:r>
                  <a:r>
                    <a:rPr lang="en-US" altLang="zh-CN" sz="1600" b="1"/>
                    <a:t>Conversion Flow</a:t>
                  </a:r>
                  <a:endParaRPr lang="en-US" altLang="zh-CN" sz="1600" b="1"/>
                </a:p>
              </p:txBody>
            </p:sp>
          </p:grpSp>
          <p:sp>
            <p:nvSpPr>
              <p:cNvPr id="13" name="文本框 12"/>
              <p:cNvSpPr txBox="1"/>
              <p:nvPr/>
            </p:nvSpPr>
            <p:spPr>
              <a:xfrm>
                <a:off x="7268" y="4660"/>
                <a:ext cx="430" cy="586"/>
              </a:xfrm>
              <a:prstGeom prst="rect">
                <a:avLst/>
              </a:prstGeom>
              <a:solidFill>
                <a:schemeClr val="bg1"/>
              </a:solidFill>
            </p:spPr>
            <p:txBody>
              <a:bodyPr wrap="square" rtlCol="0">
                <a:spAutoFit/>
              </a:bodyPr>
              <a:p>
                <a:r>
                  <a:rPr lang="en-US" altLang="zh-CN" sz="1200"/>
                  <a:t>z</a:t>
                </a:r>
                <a:endParaRPr lang="en-US" altLang="zh-CN" sz="1200"/>
              </a:p>
            </p:txBody>
          </p:sp>
        </p:grpSp>
        <p:sp>
          <p:nvSpPr>
            <p:cNvPr id="17" name="矩形 16"/>
            <p:cNvSpPr/>
            <p:nvPr/>
          </p:nvSpPr>
          <p:spPr>
            <a:xfrm>
              <a:off x="270" y="5134"/>
              <a:ext cx="8240" cy="4060"/>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3" name="组合 22"/>
          <p:cNvGrpSpPr/>
          <p:nvPr/>
        </p:nvGrpSpPr>
        <p:grpSpPr>
          <a:xfrm>
            <a:off x="5309235" y="3471545"/>
            <a:ext cx="6656070" cy="2470150"/>
            <a:chOff x="8465" y="5303"/>
            <a:chExt cx="10482" cy="3890"/>
          </a:xfrm>
        </p:grpSpPr>
        <p:grpSp>
          <p:nvGrpSpPr>
            <p:cNvPr id="21" name="组合 20"/>
            <p:cNvGrpSpPr/>
            <p:nvPr/>
          </p:nvGrpSpPr>
          <p:grpSpPr>
            <a:xfrm>
              <a:off x="8465" y="5303"/>
              <a:ext cx="10482" cy="3890"/>
              <a:chOff x="8465" y="5303"/>
              <a:chExt cx="10482" cy="3890"/>
            </a:xfrm>
          </p:grpSpPr>
          <p:pic>
            <p:nvPicPr>
              <p:cNvPr id="11" name="图片 10"/>
              <p:cNvPicPr>
                <a:picLocks noChangeAspect="1"/>
              </p:cNvPicPr>
              <p:nvPr/>
            </p:nvPicPr>
            <p:blipFill>
              <a:blip r:embed="rId2"/>
              <a:srcRect l="20449" b="24839"/>
              <a:stretch>
                <a:fillRect/>
              </a:stretch>
            </p:blipFill>
            <p:spPr>
              <a:xfrm>
                <a:off x="8599" y="5556"/>
                <a:ext cx="10348" cy="3555"/>
              </a:xfrm>
              <a:prstGeom prst="rect">
                <a:avLst/>
              </a:prstGeom>
            </p:spPr>
          </p:pic>
          <p:sp>
            <p:nvSpPr>
              <p:cNvPr id="20" name="矩形 19"/>
              <p:cNvSpPr/>
              <p:nvPr/>
            </p:nvSpPr>
            <p:spPr>
              <a:xfrm>
                <a:off x="8465" y="5303"/>
                <a:ext cx="10310" cy="3891"/>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2" name="文本框 21"/>
            <p:cNvSpPr txBox="1"/>
            <p:nvPr/>
          </p:nvSpPr>
          <p:spPr>
            <a:xfrm>
              <a:off x="10193" y="5392"/>
              <a:ext cx="6686" cy="555"/>
            </a:xfrm>
            <a:prstGeom prst="rect">
              <a:avLst/>
            </a:prstGeom>
            <a:noFill/>
          </p:spPr>
          <p:txBody>
            <a:bodyPr wrap="square" rtlCol="0">
              <a:noAutofit/>
            </a:bodyPr>
            <a:p>
              <a:pPr algn="ctr"/>
              <a:r>
                <a:rPr lang="en-US" altLang="zh-CN" sz="1600" b="1"/>
                <a:t>CNN Work Flow Schematic</a:t>
              </a:r>
              <a:endParaRPr lang="en-US" altLang="zh-CN" sz="1600" b="1"/>
            </a:p>
          </p:txBody>
        </p:sp>
      </p:grpSp>
      <p:sp>
        <p:nvSpPr>
          <p:cNvPr id="10" name="矩形 9"/>
          <p:cNvSpPr/>
          <p:nvPr/>
        </p:nvSpPr>
        <p:spPr>
          <a:xfrm>
            <a:off x="153035" y="3839845"/>
            <a:ext cx="8952230" cy="2513330"/>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4229735" y="5972810"/>
            <a:ext cx="2451100" cy="368300"/>
          </a:xfrm>
          <a:prstGeom prst="rect">
            <a:avLst/>
          </a:prstGeom>
          <a:noFill/>
        </p:spPr>
        <p:txBody>
          <a:bodyPr wrap="square" rtlCol="0">
            <a:spAutoFit/>
          </a:bodyPr>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Feature Extraction</a:t>
            </a:r>
            <a:endParaRPr lang="en-US" altLang="zh-CN" b="1">
              <a:solidFill>
                <a:srgbClr val="FF0000"/>
              </a:solidFill>
              <a:latin typeface="Microsoft YaHei" panose="020B0503020204020204" charset="-122"/>
              <a:ea typeface="Microsoft YaHei" panose="020B0503020204020204" charset="-122"/>
              <a:cs typeface="Times New Roman" panose="02020603050405020304" charset="0"/>
            </a:endParaRPr>
          </a:p>
        </p:txBody>
      </p:sp>
      <p:sp>
        <p:nvSpPr>
          <p:cNvPr id="15" name="矩形 14"/>
          <p:cNvSpPr/>
          <p:nvPr/>
        </p:nvSpPr>
        <p:spPr>
          <a:xfrm>
            <a:off x="9166225" y="3839210"/>
            <a:ext cx="2664460" cy="2514600"/>
          </a:xfrm>
          <a:prstGeom prst="rect">
            <a:avLst/>
          </a:prstGeom>
          <a:noFill/>
          <a:ln w="28575"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9734550" y="5972175"/>
            <a:ext cx="1818005" cy="368300"/>
          </a:xfrm>
          <a:prstGeom prst="rect">
            <a:avLst/>
          </a:prstGeom>
          <a:noFill/>
        </p:spPr>
        <p:txBody>
          <a:bodyPr wrap="square" rtlCol="0">
            <a:spAutoFit/>
          </a:bodyPr>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Classification</a:t>
            </a:r>
            <a:endParaRPr lang="en-US" altLang="zh-CN" b="1">
              <a:solidFill>
                <a:srgbClr val="FF0000"/>
              </a:solidFill>
              <a:latin typeface="Microsoft YaHei" panose="020B0503020204020204" charset="-122"/>
              <a:ea typeface="Microsoft YaHei" panose="020B0503020204020204" charset="-122"/>
              <a:cs typeface="Times New Roman" panose="02020603050405020304" charset="0"/>
            </a:endParaRPr>
          </a:p>
        </p:txBody>
      </p:sp>
      <p:sp>
        <p:nvSpPr>
          <p:cNvPr id="19" name="文本框 18"/>
          <p:cNvSpPr txBox="1"/>
          <p:nvPr/>
        </p:nvSpPr>
        <p:spPr>
          <a:xfrm>
            <a:off x="710565" y="1358265"/>
            <a:ext cx="4508500" cy="2159000"/>
          </a:xfrm>
          <a:prstGeom prst="rect">
            <a:avLst/>
          </a:prstGeom>
          <a:noFill/>
        </p:spPr>
        <p:txBody>
          <a:bodyPr wrap="square" rtlCol="0">
            <a:spAutoFit/>
          </a:bodyPr>
          <a:p>
            <a:pPr>
              <a:lnSpc>
                <a:spcPct val="110000"/>
              </a:lnSpc>
            </a:pPr>
            <a:r>
              <a:rPr lang="en-US" altLang="zh-CN" sz="2400" b="1">
                <a:latin typeface="Microsoft YaHei" panose="020B0503020204020204" charset="-122"/>
                <a:ea typeface="Microsoft YaHei" panose="020B0503020204020204" charset="-122"/>
              </a:rPr>
              <a:t>CNN general architecture</a:t>
            </a:r>
            <a:endParaRPr lang="en-US" altLang="zh-CN" sz="2400" b="1">
              <a:latin typeface="Microsoft YaHei" panose="020B0503020204020204" charset="-122"/>
              <a:ea typeface="Microsoft YaHei" panose="020B0503020204020204" charset="-122"/>
            </a:endParaRPr>
          </a:p>
          <a:p>
            <a:pPr marL="800100" lvl="1" indent="-342900">
              <a:lnSpc>
                <a:spcPct val="110000"/>
              </a:lnSpc>
              <a:buFont typeface="Wingdings" panose="05000000000000000000" charset="0"/>
              <a:buChar char="Ø"/>
            </a:pPr>
            <a:r>
              <a:rPr lang="en-US" altLang="zh-CN" sz="2000" b="1">
                <a:latin typeface="Microsoft YaHei" panose="020B0503020204020204" charset="-122"/>
                <a:ea typeface="Microsoft YaHei" panose="020B0503020204020204" charset="-122"/>
              </a:rPr>
              <a:t>Feature Extraction</a:t>
            </a:r>
            <a:endParaRPr lang="en-US" altLang="zh-CN" sz="2000" b="1">
              <a:latin typeface="Microsoft YaHei" panose="020B0503020204020204" charset="-122"/>
              <a:ea typeface="Microsoft YaHei" panose="020B0503020204020204" charset="-122"/>
            </a:endParaRPr>
          </a:p>
          <a:p>
            <a:pPr marL="1257300" lvl="2" indent="-342900">
              <a:lnSpc>
                <a:spcPct val="110000"/>
              </a:lnSpc>
              <a:buFont typeface="Arial" panose="020B0604020202020204" pitchFamily="34" charset="0"/>
              <a:buChar char="•"/>
            </a:pPr>
            <a:r>
              <a:rPr lang="en-US" altLang="zh-CN" sz="2000">
                <a:latin typeface="Microsoft YaHei" panose="020B0503020204020204" charset="-122"/>
                <a:ea typeface="Microsoft YaHei" panose="020B0503020204020204" charset="-122"/>
              </a:rPr>
              <a:t>input (pre-processing)</a:t>
            </a:r>
            <a:endParaRPr lang="en-US" altLang="zh-CN" sz="2000">
              <a:latin typeface="Microsoft YaHei" panose="020B0503020204020204" charset="-122"/>
              <a:ea typeface="Microsoft YaHei" panose="020B0503020204020204" charset="-122"/>
            </a:endParaRPr>
          </a:p>
          <a:p>
            <a:pPr marL="1257300" lvl="2" indent="-342900">
              <a:lnSpc>
                <a:spcPct val="110000"/>
              </a:lnSpc>
              <a:buFont typeface="Arial" panose="020B0604020202020204" pitchFamily="34" charset="0"/>
              <a:buChar char="•"/>
            </a:pPr>
            <a:r>
              <a:rPr lang="en-US" altLang="zh-CN" sz="2000">
                <a:latin typeface="Microsoft YaHei" panose="020B0503020204020204" charset="-122"/>
                <a:ea typeface="Microsoft YaHei" panose="020B0503020204020204" charset="-122"/>
              </a:rPr>
              <a:t>layers</a:t>
            </a:r>
            <a:endParaRPr lang="en-US" altLang="zh-CN" sz="2000">
              <a:latin typeface="Microsoft YaHei" panose="020B0503020204020204" charset="-122"/>
              <a:ea typeface="Microsoft YaHei" panose="020B0503020204020204" charset="-122"/>
            </a:endParaRPr>
          </a:p>
          <a:p>
            <a:pPr marL="800100" lvl="1" indent="-342900">
              <a:lnSpc>
                <a:spcPct val="110000"/>
              </a:lnSpc>
              <a:buFont typeface="Wingdings" panose="05000000000000000000" charset="0"/>
              <a:buChar char="Ø"/>
            </a:pPr>
            <a:r>
              <a:rPr lang="en-US" altLang="zh-CN" sz="2000" b="1">
                <a:latin typeface="Microsoft YaHei" panose="020B0503020204020204" charset="-122"/>
                <a:ea typeface="Microsoft YaHei" panose="020B0503020204020204" charset="-122"/>
              </a:rPr>
              <a:t>Classification</a:t>
            </a:r>
            <a:endParaRPr lang="en-US" altLang="zh-CN" sz="2000" b="1">
              <a:latin typeface="Microsoft YaHei" panose="020B0503020204020204" charset="-122"/>
              <a:ea typeface="Microsoft YaHei" panose="020B0503020204020204" charset="-122"/>
            </a:endParaRPr>
          </a:p>
          <a:p>
            <a:pPr indent="457200"/>
            <a:endParaRPr lang="en-US" altLang="zh-CN" sz="2000" b="1">
              <a:latin typeface="Microsoft YaHei" panose="020B0503020204020204" charset="-122"/>
              <a:ea typeface="Microsoft YaHei" panose="020B0503020204020204" charset="-122"/>
            </a:endParaRPr>
          </a:p>
        </p:txBody>
      </p:sp>
      <p:sp>
        <p:nvSpPr>
          <p:cNvPr id="24" name="日期占位符 23"/>
          <p:cNvSpPr>
            <a:spLocks noGrp="1"/>
          </p:cNvSpPr>
          <p:nvPr>
            <p:ph type="dt" sz="half" idx="10"/>
          </p:nvPr>
        </p:nvSpPr>
        <p:spPr/>
        <p:txBody>
          <a:bodyPr/>
          <a:p>
            <a:fld id="{760FBDFE-C587-4B4C-A407-44438C67B59E}" type="datetime2">
              <a:rPr lang="en-US" altLang="en-US" smtClean="0"/>
            </a:fld>
            <a:endParaRPr lang="zh-CN" altLang="en-US"/>
          </a:p>
        </p:txBody>
      </p:sp>
      <p:sp>
        <p:nvSpPr>
          <p:cNvPr id="25" name="灯片编号占位符 24"/>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26" name="左大括号 25"/>
          <p:cNvSpPr/>
          <p:nvPr/>
        </p:nvSpPr>
        <p:spPr>
          <a:xfrm>
            <a:off x="4951730" y="1436370"/>
            <a:ext cx="300355" cy="1813560"/>
          </a:xfrm>
          <a:prstGeom prst="leftBrace">
            <a:avLst>
              <a:gd name="adj1" fmla="val 17818"/>
              <a:gd name="adj2" fmla="val 51000"/>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文本框 26"/>
          <p:cNvSpPr txBox="1"/>
          <p:nvPr/>
        </p:nvSpPr>
        <p:spPr>
          <a:xfrm>
            <a:off x="9224010" y="5481955"/>
            <a:ext cx="1082675" cy="327660"/>
          </a:xfrm>
          <a:prstGeom prst="rect">
            <a:avLst/>
          </a:prstGeom>
          <a:solidFill>
            <a:schemeClr val="bg1"/>
          </a:solidFill>
        </p:spPr>
        <p:txBody>
          <a:bodyPr wrap="square" rtlCol="0">
            <a:noAutofit/>
          </a:bodyPr>
          <a:p>
            <a:pPr algn="ctr"/>
            <a:r>
              <a:rPr lang="en-US" altLang="zh-CN" sz="1200" b="1">
                <a:latin typeface="Microsoft YaHei" panose="020B0503020204020204" charset="-122"/>
                <a:ea typeface="Microsoft YaHei" panose="020B0503020204020204" charset="-122"/>
              </a:rPr>
              <a:t>FCNN</a:t>
            </a:r>
            <a:endParaRPr lang="en-US" altLang="zh-CN" sz="1200" b="1">
              <a:latin typeface="Microsoft YaHei" panose="020B0503020204020204" charset="-122"/>
              <a:ea typeface="Microsoft YaHei" panose="020B0503020204020204" charset="-122"/>
            </a:endParaRPr>
          </a:p>
        </p:txBody>
      </p:sp>
      <p:sp>
        <p:nvSpPr>
          <p:cNvPr id="7" name="文本框 6"/>
          <p:cNvSpPr txBox="1"/>
          <p:nvPr/>
        </p:nvSpPr>
        <p:spPr>
          <a:xfrm>
            <a:off x="9495790" y="5711190"/>
            <a:ext cx="2399665" cy="275590"/>
          </a:xfrm>
          <a:prstGeom prst="rect">
            <a:avLst/>
          </a:prstGeom>
          <a:noFill/>
        </p:spPr>
        <p:txBody>
          <a:bodyPr wrap="square" rtlCol="0">
            <a:spAutoFit/>
          </a:bodyPr>
          <a:p>
            <a:pPr algn="r"/>
            <a:r>
              <a:rPr lang="en-US" altLang="zh-CN" sz="1200" i="1">
                <a:latin typeface="Times New Roman" panose="02020603050405020304" charset="0"/>
                <a:cs typeface="Times New Roman" panose="02020603050405020304" charset="0"/>
              </a:rPr>
              <a:t>M.P. Kuchera et al. NIMA(2019)</a:t>
            </a:r>
            <a:endParaRPr lang="en-US" altLang="zh-CN" sz="1200" i="1">
              <a:latin typeface="Times New Roman" panose="02020603050405020304" charset="0"/>
              <a:cs typeface="Times New Roman" panose="02020603050405020304"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750" fill="hold">
                                          <p:stCondLst>
                                            <p:cond delay="0"/>
                                          </p:stCondLst>
                                        </p:cTn>
                                        <p:tgtEl>
                                          <p:spTgt spid="10"/>
                                        </p:tgtEl>
                                        <p:attrNameLst>
                                          <p:attrName>style.visibility</p:attrName>
                                        </p:attrNameLst>
                                      </p:cBhvr>
                                      <p:to>
                                        <p:strVal val="visible"/>
                                      </p:to>
                                    </p:set>
                                    <p:animEffect transition="in" filter="barn(inVertical)">
                                      <p:cBhvr>
                                        <p:cTn id="7" dur="750"/>
                                        <p:tgtEl>
                                          <p:spTgt spid="10"/>
                                        </p:tgtEl>
                                      </p:cBhvr>
                                    </p:animEffect>
                                  </p:childTnLst>
                                </p:cTn>
                              </p:par>
                              <p:par>
                                <p:cTn id="8" presetID="16" presetClass="entr" presetSubtype="21" fill="hold" grpId="0" nodeType="withEffect">
                                  <p:stCondLst>
                                    <p:cond delay="0"/>
                                  </p:stCondLst>
                                  <p:childTnLst>
                                    <p:set>
                                      <p:cBhvr>
                                        <p:cTn id="9" dur="750" fill="hold">
                                          <p:stCondLst>
                                            <p:cond delay="0"/>
                                          </p:stCondLst>
                                        </p:cTn>
                                        <p:tgtEl>
                                          <p:spTgt spid="12"/>
                                        </p:tgtEl>
                                        <p:attrNameLst>
                                          <p:attrName>style.visibility</p:attrName>
                                        </p:attrNameLst>
                                      </p:cBhvr>
                                      <p:to>
                                        <p:strVal val="visible"/>
                                      </p:to>
                                    </p:set>
                                    <p:animEffect transition="in" filter="barn(inVertical)">
                                      <p:cBhvr>
                                        <p:cTn id="10" dur="750"/>
                                        <p:tgtEl>
                                          <p:spTgt spid="12"/>
                                        </p:tgtEl>
                                      </p:cBhvr>
                                    </p:animEffect>
                                  </p:childTnLst>
                                </p:cTn>
                              </p:par>
                              <p:par>
                                <p:cTn id="11" presetID="16" presetClass="entr" presetSubtype="21" fill="hold" grpId="0" nodeType="withEffect">
                                  <p:stCondLst>
                                    <p:cond delay="0"/>
                                  </p:stCondLst>
                                  <p:childTnLst>
                                    <p:set>
                                      <p:cBhvr>
                                        <p:cTn id="12" dur="750" fill="hold">
                                          <p:stCondLst>
                                            <p:cond delay="0"/>
                                          </p:stCondLst>
                                        </p:cTn>
                                        <p:tgtEl>
                                          <p:spTgt spid="16"/>
                                        </p:tgtEl>
                                        <p:attrNameLst>
                                          <p:attrName>style.visibility</p:attrName>
                                        </p:attrNameLst>
                                      </p:cBhvr>
                                      <p:to>
                                        <p:strVal val="visible"/>
                                      </p:to>
                                    </p:set>
                                    <p:animEffect transition="in" filter="barn(inVertical)">
                                      <p:cBhvr>
                                        <p:cTn id="13" dur="750"/>
                                        <p:tgtEl>
                                          <p:spTgt spid="16"/>
                                        </p:tgtEl>
                                      </p:cBhvr>
                                    </p:animEffect>
                                  </p:childTnLst>
                                </p:cTn>
                              </p:par>
                              <p:par>
                                <p:cTn id="14" presetID="16" presetClass="entr" presetSubtype="21" fill="hold" grpId="0" nodeType="withEffect">
                                  <p:stCondLst>
                                    <p:cond delay="0"/>
                                  </p:stCondLst>
                                  <p:childTnLst>
                                    <p:set>
                                      <p:cBhvr>
                                        <p:cTn id="15" dur="750" fill="hold">
                                          <p:stCondLst>
                                            <p:cond delay="0"/>
                                          </p:stCondLst>
                                        </p:cTn>
                                        <p:tgtEl>
                                          <p:spTgt spid="15"/>
                                        </p:tgtEl>
                                        <p:attrNameLst>
                                          <p:attrName>style.visibility</p:attrName>
                                        </p:attrNameLst>
                                      </p:cBhvr>
                                      <p:to>
                                        <p:strVal val="visible"/>
                                      </p:to>
                                    </p:set>
                                    <p:animEffect transition="in" filter="barn(inVertical)">
                                      <p:cBhvr>
                                        <p:cTn id="16"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p:bldP spid="16" grpId="0"/>
      <p:bldP spid="15" grpId="0" bldLvl="0" animBg="1"/>
      <p:bldP spid="10" grpId="1" animBg="1"/>
      <p:bldP spid="12" grpId="1"/>
      <p:bldP spid="16" grpId="1"/>
      <p:bldP spid="1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Simulation Dataset(25k per channel)</a:t>
            </a:r>
            <a:endParaRPr lang="en-US" altLang="zh-CN"/>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pic>
        <p:nvPicPr>
          <p:cNvPr id="5" name="图片 4"/>
          <p:cNvPicPr>
            <a:picLocks noChangeAspect="1"/>
          </p:cNvPicPr>
          <p:nvPr>
            <p:custDataLst>
              <p:tags r:id="rId1"/>
            </p:custDataLst>
          </p:nvPr>
        </p:nvPicPr>
        <p:blipFill>
          <a:blip r:embed="rId2"/>
          <a:srcRect t="12167" b="4736"/>
          <a:stretch>
            <a:fillRect/>
          </a:stretch>
        </p:blipFill>
        <p:spPr>
          <a:xfrm>
            <a:off x="697230" y="1284605"/>
            <a:ext cx="2825750" cy="1937385"/>
          </a:xfrm>
          <a:prstGeom prst="rect">
            <a:avLst/>
          </a:prstGeom>
        </p:spPr>
      </p:pic>
      <p:sp>
        <p:nvSpPr>
          <p:cNvPr id="6" name="文本框 5"/>
          <p:cNvSpPr txBox="1"/>
          <p:nvPr>
            <p:custDataLst>
              <p:tags r:id="rId3"/>
            </p:custDataLst>
          </p:nvPr>
        </p:nvSpPr>
        <p:spPr>
          <a:xfrm>
            <a:off x="667385" y="3260725"/>
            <a:ext cx="2855595" cy="33718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(a) Radioactive α Source</a:t>
            </a:r>
            <a:endParaRPr lang="en-US" altLang="zh-CN" sz="1600">
              <a:latin typeface="Microsoft YaHei" panose="020B0503020204020204" charset="-122"/>
              <a:ea typeface="Microsoft YaHei" panose="020B0503020204020204" charset="-122"/>
            </a:endParaRPr>
          </a:p>
        </p:txBody>
      </p:sp>
      <p:sp>
        <p:nvSpPr>
          <p:cNvPr id="7" name="文本框 6"/>
          <p:cNvSpPr txBox="1"/>
          <p:nvPr>
            <p:custDataLst>
              <p:tags r:id="rId4"/>
            </p:custDataLst>
          </p:nvPr>
        </p:nvSpPr>
        <p:spPr>
          <a:xfrm>
            <a:off x="4248785" y="3146425"/>
            <a:ext cx="2855595" cy="58356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(b) Direct Reaction</a:t>
            </a:r>
            <a:endParaRPr lang="en-US" altLang="zh-CN" sz="1600">
              <a:latin typeface="Microsoft YaHei" panose="020B0503020204020204" charset="-122"/>
              <a:ea typeface="Microsoft YaHei" panose="020B0503020204020204" charset="-122"/>
            </a:endParaRPr>
          </a:p>
          <a:p>
            <a:pPr algn="ct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p + </a:t>
            </a:r>
            <a:r>
              <a:rPr lang="en-US" altLang="en-US" sz="1600" baseline="30000">
                <a:latin typeface="Microsoft YaHei" panose="020B0503020204020204" charset="-122"/>
                <a:ea typeface="Microsoft YaHei" panose="020B0503020204020204" charset="-122"/>
                <a:cs typeface="Microsoft YaHei" panose="020B0503020204020204" charset="-122"/>
                <a:sym typeface="+mn-ea"/>
              </a:rPr>
              <a:t>15</a:t>
            </a:r>
            <a:r>
              <a:rPr lang="en-US" altLang="en-US" sz="1600">
                <a:latin typeface="Microsoft YaHei" panose="020B0503020204020204" charset="-122"/>
                <a:ea typeface="Microsoft YaHei" panose="020B0503020204020204" charset="-122"/>
                <a:cs typeface="Microsoft YaHei" panose="020B0503020204020204" charset="-122"/>
                <a:sym typeface="+mn-ea"/>
              </a:rPr>
              <a:t>N</a:t>
            </a:r>
            <a:endParaRPr lang="en-US" altLang="zh-CN" sz="1600">
              <a:latin typeface="Microsoft YaHei" panose="020B0503020204020204" charset="-122"/>
              <a:ea typeface="Microsoft YaHei" panose="020B0503020204020204" charset="-122"/>
            </a:endParaRPr>
          </a:p>
        </p:txBody>
      </p:sp>
      <p:pic>
        <p:nvPicPr>
          <p:cNvPr id="8" name="图片 7"/>
          <p:cNvPicPr>
            <a:picLocks noChangeAspect="1"/>
          </p:cNvPicPr>
          <p:nvPr>
            <p:custDataLst>
              <p:tags r:id="rId5"/>
            </p:custDataLst>
          </p:nvPr>
        </p:nvPicPr>
        <p:blipFill>
          <a:blip r:embed="rId6"/>
          <a:srcRect t="12954" b="2709"/>
          <a:stretch>
            <a:fillRect/>
          </a:stretch>
        </p:blipFill>
        <p:spPr>
          <a:xfrm>
            <a:off x="4248785" y="1284605"/>
            <a:ext cx="2869565" cy="1927225"/>
          </a:xfrm>
          <a:prstGeom prst="rect">
            <a:avLst/>
          </a:prstGeom>
        </p:spPr>
      </p:pic>
      <p:sp>
        <p:nvSpPr>
          <p:cNvPr id="9" name="圆角矩形 8"/>
          <p:cNvSpPr/>
          <p:nvPr>
            <p:custDataLst>
              <p:tags r:id="rId7"/>
            </p:custDataLst>
          </p:nvPr>
        </p:nvSpPr>
        <p:spPr>
          <a:xfrm>
            <a:off x="755650" y="1164590"/>
            <a:ext cx="6445250" cy="2559050"/>
          </a:xfrm>
          <a:prstGeom prst="roundRect">
            <a:avLst/>
          </a:prstGeom>
          <a:noFill/>
          <a:ln w="19050"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8"/>
            </p:custDataLst>
          </p:nvPr>
        </p:nvSpPr>
        <p:spPr>
          <a:xfrm>
            <a:off x="2550795" y="1203325"/>
            <a:ext cx="2855595" cy="337185"/>
          </a:xfrm>
          <a:prstGeom prst="rect">
            <a:avLst/>
          </a:prstGeom>
          <a:noFill/>
        </p:spPr>
        <p:txBody>
          <a:bodyPr wrap="square" rtlCol="0">
            <a:spAutoFit/>
          </a:bodyPr>
          <a:p>
            <a:pPr algn="ctr"/>
            <a:r>
              <a:rPr lang="en-US" altLang="zh-CN" sz="1600" b="1">
                <a:solidFill>
                  <a:schemeClr val="accent1">
                    <a:lumMod val="75000"/>
                  </a:schemeClr>
                </a:solidFill>
                <a:latin typeface="Microsoft YaHei" panose="020B0503020204020204" charset="-122"/>
                <a:ea typeface="Microsoft YaHei" panose="020B0503020204020204" charset="-122"/>
              </a:rPr>
              <a:t>Task 1</a:t>
            </a:r>
            <a:endParaRPr lang="en-US" altLang="zh-CN" sz="1600" b="1">
              <a:solidFill>
                <a:schemeClr val="accent1">
                  <a:lumMod val="75000"/>
                </a:schemeClr>
              </a:solidFill>
              <a:latin typeface="Microsoft YaHei" panose="020B0503020204020204" charset="-122"/>
              <a:ea typeface="Microsoft YaHei" panose="020B0503020204020204" charset="-122"/>
            </a:endParaRPr>
          </a:p>
        </p:txBody>
      </p:sp>
      <p:pic>
        <p:nvPicPr>
          <p:cNvPr id="15" name="图片 14"/>
          <p:cNvPicPr>
            <a:picLocks noChangeAspect="1"/>
          </p:cNvPicPr>
          <p:nvPr>
            <p:custDataLst>
              <p:tags r:id="rId9"/>
            </p:custDataLst>
          </p:nvPr>
        </p:nvPicPr>
        <p:blipFill>
          <a:blip r:embed="rId10"/>
          <a:srcRect t="13491" b="4423"/>
          <a:stretch>
            <a:fillRect/>
          </a:stretch>
        </p:blipFill>
        <p:spPr>
          <a:xfrm>
            <a:off x="4070350" y="3963035"/>
            <a:ext cx="2945130" cy="1924685"/>
          </a:xfrm>
          <a:prstGeom prst="rect">
            <a:avLst/>
          </a:prstGeom>
        </p:spPr>
      </p:pic>
      <p:pic>
        <p:nvPicPr>
          <p:cNvPr id="12" name="图片 11"/>
          <p:cNvPicPr>
            <a:picLocks noChangeAspect="1"/>
          </p:cNvPicPr>
          <p:nvPr>
            <p:custDataLst>
              <p:tags r:id="rId11"/>
            </p:custDataLst>
          </p:nvPr>
        </p:nvPicPr>
        <p:blipFill>
          <a:blip r:embed="rId12"/>
          <a:srcRect t="12954"/>
          <a:stretch>
            <a:fillRect/>
          </a:stretch>
        </p:blipFill>
        <p:spPr>
          <a:xfrm>
            <a:off x="806450" y="3963035"/>
            <a:ext cx="2779395" cy="1926590"/>
          </a:xfrm>
          <a:prstGeom prst="rect">
            <a:avLst/>
          </a:prstGeom>
        </p:spPr>
      </p:pic>
      <p:sp>
        <p:nvSpPr>
          <p:cNvPr id="13" name="文本框 12"/>
          <p:cNvSpPr txBox="1"/>
          <p:nvPr>
            <p:custDataLst>
              <p:tags r:id="rId13"/>
            </p:custDataLst>
          </p:nvPr>
        </p:nvSpPr>
        <p:spPr>
          <a:xfrm>
            <a:off x="730250" y="5838190"/>
            <a:ext cx="2855595" cy="82994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(c) Elastic Scattering</a:t>
            </a:r>
            <a:endParaRPr lang="en-US" altLang="zh-CN" sz="1600">
              <a:latin typeface="Microsoft YaHei" panose="020B0503020204020204" charset="-122"/>
              <a:ea typeface="Microsoft YaHei" panose="020B0503020204020204" charset="-122"/>
            </a:endParaRPr>
          </a:p>
          <a:p>
            <a:pPr algn="ct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a:t>
            </a:r>
            <a:r>
              <a:rPr lang="en-US" altLang="en-US" sz="1600">
                <a:latin typeface="Microsoft YaHei" panose="020B0503020204020204" charset="-122"/>
                <a:ea typeface="Microsoft YaHei" panose="020B0503020204020204" charset="-122"/>
                <a:cs typeface="Microsoft YaHei" panose="020B0503020204020204" charset="-122"/>
                <a:sym typeface="+mn-ea"/>
              </a:rPr>
              <a:t>→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a:t>
            </a:r>
            <a:r>
              <a:rPr lang="en-US" altLang="en-US" sz="1600">
                <a:latin typeface="Microsoft YaHei" panose="020B0503020204020204" charset="-122"/>
                <a:ea typeface="Microsoft YaHei" panose="020B0503020204020204" charset="-122"/>
                <a:cs typeface="Microsoft YaHei" panose="020B0503020204020204" charset="-122"/>
                <a:sym typeface="+mn-ea"/>
              </a:rPr>
              <a:t>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a:t>
            </a:r>
            <a:endParaRPr lang="en-US" altLang="zh-CN" sz="1600">
              <a:latin typeface="Microsoft YaHei" panose="020B0503020204020204" charset="-122"/>
              <a:ea typeface="Microsoft YaHei" panose="020B0503020204020204" charset="-122"/>
            </a:endParaRPr>
          </a:p>
          <a:p>
            <a:pPr algn="ctr"/>
            <a:endParaRPr lang="en-US" altLang="zh-CN" sz="1600">
              <a:latin typeface="Microsoft YaHei" panose="020B0503020204020204" charset="-122"/>
              <a:ea typeface="Microsoft YaHei" panose="020B0503020204020204" charset="-122"/>
            </a:endParaRPr>
          </a:p>
        </p:txBody>
      </p:sp>
      <p:sp>
        <p:nvSpPr>
          <p:cNvPr id="14" name="文本框 13"/>
          <p:cNvSpPr txBox="1"/>
          <p:nvPr>
            <p:custDataLst>
              <p:tags r:id="rId14"/>
            </p:custDataLst>
          </p:nvPr>
        </p:nvSpPr>
        <p:spPr>
          <a:xfrm>
            <a:off x="4185920" y="5838190"/>
            <a:ext cx="2855595" cy="58356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(d) Elastic Scattering</a:t>
            </a:r>
            <a:endParaRPr lang="en-US" altLang="zh-CN" sz="1600">
              <a:latin typeface="Microsoft YaHei" panose="020B0503020204020204" charset="-122"/>
              <a:ea typeface="Microsoft YaHei" panose="020B0503020204020204" charset="-122"/>
            </a:endParaRPr>
          </a:p>
          <a:p>
            <a:pPr algn="ct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a:t>
            </a:r>
            <a:endParaRPr lang="en-US" altLang="zh-CN" sz="1600">
              <a:latin typeface="Microsoft YaHei" panose="020B0503020204020204" charset="-122"/>
              <a:ea typeface="Microsoft YaHei" panose="020B0503020204020204" charset="-122"/>
            </a:endParaRPr>
          </a:p>
        </p:txBody>
      </p:sp>
      <p:sp>
        <p:nvSpPr>
          <p:cNvPr id="16" name="圆角矩形 15"/>
          <p:cNvSpPr/>
          <p:nvPr>
            <p:custDataLst>
              <p:tags r:id="rId15"/>
            </p:custDataLst>
          </p:nvPr>
        </p:nvSpPr>
        <p:spPr>
          <a:xfrm>
            <a:off x="692785" y="3856355"/>
            <a:ext cx="6445250" cy="2559050"/>
          </a:xfrm>
          <a:prstGeom prst="roundRect">
            <a:avLst/>
          </a:prstGeom>
          <a:noFill/>
          <a:ln w="19050"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custDataLst>
              <p:tags r:id="rId16"/>
            </p:custDataLst>
          </p:nvPr>
        </p:nvSpPr>
        <p:spPr>
          <a:xfrm>
            <a:off x="2487930" y="3895090"/>
            <a:ext cx="2855595" cy="337185"/>
          </a:xfrm>
          <a:prstGeom prst="rect">
            <a:avLst/>
          </a:prstGeom>
          <a:noFill/>
        </p:spPr>
        <p:txBody>
          <a:bodyPr wrap="square" rtlCol="0">
            <a:spAutoFit/>
          </a:bodyPr>
          <a:p>
            <a:pPr algn="ctr"/>
            <a:r>
              <a:rPr lang="en-US" altLang="zh-CN" sz="1600" b="1">
                <a:solidFill>
                  <a:schemeClr val="accent1">
                    <a:lumMod val="75000"/>
                  </a:schemeClr>
                </a:solidFill>
                <a:latin typeface="Microsoft YaHei" panose="020B0503020204020204" charset="-122"/>
                <a:ea typeface="Microsoft YaHei" panose="020B0503020204020204" charset="-122"/>
              </a:rPr>
              <a:t>Task 2</a:t>
            </a:r>
            <a:endParaRPr lang="en-US" altLang="zh-CN" sz="1600" b="1">
              <a:solidFill>
                <a:schemeClr val="accent1">
                  <a:lumMod val="75000"/>
                </a:schemeClr>
              </a:solidFill>
              <a:latin typeface="Microsoft YaHei" panose="020B0503020204020204" charset="-122"/>
              <a:ea typeface="Microsoft YaHei" panose="020B0503020204020204" charset="-122"/>
            </a:endParaRPr>
          </a:p>
        </p:txBody>
      </p:sp>
      <p:pic>
        <p:nvPicPr>
          <p:cNvPr id="21" name="图片 20"/>
          <p:cNvPicPr>
            <a:picLocks noChangeAspect="1"/>
          </p:cNvPicPr>
          <p:nvPr/>
        </p:nvPicPr>
        <p:blipFill>
          <a:blip r:embed="rId17"/>
          <a:srcRect t="13491" b="4639"/>
          <a:stretch>
            <a:fillRect/>
          </a:stretch>
        </p:blipFill>
        <p:spPr>
          <a:xfrm>
            <a:off x="7981950" y="3895090"/>
            <a:ext cx="2843530" cy="1854200"/>
          </a:xfrm>
          <a:prstGeom prst="rect">
            <a:avLst/>
          </a:prstGeom>
        </p:spPr>
      </p:pic>
      <p:pic>
        <p:nvPicPr>
          <p:cNvPr id="19" name="图片 18"/>
          <p:cNvPicPr>
            <a:picLocks noChangeAspect="1"/>
          </p:cNvPicPr>
          <p:nvPr/>
        </p:nvPicPr>
        <p:blipFill>
          <a:blip r:embed="rId18"/>
          <a:srcRect t="13491" b="4324"/>
          <a:stretch>
            <a:fillRect/>
          </a:stretch>
        </p:blipFill>
        <p:spPr>
          <a:xfrm>
            <a:off x="7981950" y="1407160"/>
            <a:ext cx="2847975" cy="1863725"/>
          </a:xfrm>
          <a:prstGeom prst="rect">
            <a:avLst/>
          </a:prstGeom>
        </p:spPr>
      </p:pic>
      <p:sp>
        <p:nvSpPr>
          <p:cNvPr id="20" name="文本框 19"/>
          <p:cNvSpPr txBox="1"/>
          <p:nvPr>
            <p:custDataLst>
              <p:tags r:id="rId19"/>
            </p:custDataLst>
          </p:nvPr>
        </p:nvSpPr>
        <p:spPr>
          <a:xfrm>
            <a:off x="7981950" y="5749290"/>
            <a:ext cx="2855595" cy="58356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(f) Elastic Scattering</a:t>
            </a:r>
            <a:endParaRPr lang="en-US" altLang="zh-CN" sz="1600">
              <a:latin typeface="Microsoft YaHei" panose="020B0503020204020204" charset="-122"/>
              <a:ea typeface="Microsoft YaHei" panose="020B0503020204020204" charset="-122"/>
            </a:endParaRPr>
          </a:p>
          <a:p>
            <a:pPr algn="ct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a:t>
            </a:r>
            <a:endParaRPr lang="en-US" altLang="zh-CN" sz="1600">
              <a:latin typeface="Microsoft YaHei" panose="020B0503020204020204" charset="-122"/>
              <a:ea typeface="Microsoft YaHei" panose="020B0503020204020204" charset="-122"/>
            </a:endParaRPr>
          </a:p>
        </p:txBody>
      </p:sp>
      <p:sp>
        <p:nvSpPr>
          <p:cNvPr id="22" name="文本框 21"/>
          <p:cNvSpPr txBox="1"/>
          <p:nvPr>
            <p:custDataLst>
              <p:tags r:id="rId20"/>
            </p:custDataLst>
          </p:nvPr>
        </p:nvSpPr>
        <p:spPr>
          <a:xfrm>
            <a:off x="7981950" y="3211830"/>
            <a:ext cx="2855595" cy="583565"/>
          </a:xfrm>
          <a:prstGeom prst="rect">
            <a:avLst/>
          </a:prstGeom>
          <a:noFill/>
        </p:spPr>
        <p:txBody>
          <a:bodyPr wrap="square" rtlCol="0">
            <a:spAutoFit/>
          </a:bodyPr>
          <a:p>
            <a:pPr algn="ctr"/>
            <a:r>
              <a:rPr lang="en-US" altLang="zh-CN" sz="1600">
                <a:latin typeface="Microsoft YaHei" panose="020B0503020204020204" charset="-122"/>
                <a:ea typeface="Microsoft YaHei" panose="020B0503020204020204" charset="-122"/>
              </a:rPr>
              <a:t>(e) Direct Reaction</a:t>
            </a:r>
            <a:endParaRPr lang="en-US" altLang="zh-CN" sz="1600">
              <a:latin typeface="Microsoft YaHei" panose="020B0503020204020204" charset="-122"/>
              <a:ea typeface="Microsoft YaHei" panose="020B0503020204020204" charset="-122"/>
            </a:endParaRPr>
          </a:p>
          <a:p>
            <a:pPr algn="ctr"/>
            <a:r>
              <a:rPr lang="en-US" altLang="zh-CN" sz="1600" baseline="30000">
                <a:latin typeface="Microsoft YaHei" panose="020B0503020204020204" charset="-122"/>
                <a:ea typeface="Microsoft YaHei" panose="020B0503020204020204" charset="-122"/>
                <a:cs typeface="Microsoft YaHei" panose="020B0503020204020204" charset="-122"/>
                <a:sym typeface="+mn-ea"/>
              </a:rPr>
              <a:t>12</a:t>
            </a:r>
            <a:r>
              <a:rPr lang="en-US" altLang="zh-CN" sz="1600">
                <a:latin typeface="Microsoft YaHei" panose="020B0503020204020204" charset="-122"/>
                <a:ea typeface="Microsoft YaHei" panose="020B0503020204020204" charset="-122"/>
                <a:cs typeface="Microsoft YaHei" panose="020B0503020204020204" charset="-122"/>
                <a:sym typeface="+mn-ea"/>
              </a:rPr>
              <a:t>C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4</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3</a:t>
            </a:r>
            <a:r>
              <a:rPr lang="en-US" altLang="zh-CN" sz="1600">
                <a:latin typeface="Microsoft YaHei" panose="020B0503020204020204" charset="-122"/>
                <a:ea typeface="Microsoft YaHei" panose="020B0503020204020204" charset="-122"/>
                <a:cs typeface="Microsoft YaHei" panose="020B0503020204020204" charset="-122"/>
                <a:sym typeface="+mn-ea"/>
              </a:rPr>
              <a:t>He</a:t>
            </a:r>
            <a:r>
              <a:rPr lang="en-US" altLang="en-US" sz="1600">
                <a:latin typeface="Microsoft YaHei" panose="020B0503020204020204" charset="-122"/>
                <a:ea typeface="Microsoft YaHei" panose="020B0503020204020204" charset="-122"/>
                <a:cs typeface="Microsoft YaHei" panose="020B0503020204020204" charset="-122"/>
                <a:sym typeface="+mn-ea"/>
              </a:rPr>
              <a:t> + </a:t>
            </a:r>
            <a:r>
              <a:rPr lang="en-US" altLang="zh-CN" sz="1600" baseline="30000">
                <a:latin typeface="Microsoft YaHei" panose="020B0503020204020204" charset="-122"/>
                <a:ea typeface="Microsoft YaHei" panose="020B0503020204020204" charset="-122"/>
                <a:cs typeface="Microsoft YaHei" panose="020B0503020204020204" charset="-122"/>
                <a:sym typeface="+mn-ea"/>
              </a:rPr>
              <a:t>13</a:t>
            </a:r>
            <a:r>
              <a:rPr lang="en-US" altLang="zh-CN" sz="1600">
                <a:latin typeface="Microsoft YaHei" panose="020B0503020204020204" charset="-122"/>
                <a:ea typeface="Microsoft YaHei" panose="020B0503020204020204" charset="-122"/>
                <a:cs typeface="Microsoft YaHei" panose="020B0503020204020204" charset="-122"/>
                <a:sym typeface="+mn-ea"/>
              </a:rPr>
              <a:t>C</a:t>
            </a:r>
            <a:endParaRPr lang="en-US" altLang="zh-CN" sz="1600">
              <a:latin typeface="Microsoft YaHei" panose="020B0503020204020204" charset="-122"/>
              <a:ea typeface="Microsoft YaHei" panose="020B0503020204020204" charset="-122"/>
            </a:endParaRPr>
          </a:p>
        </p:txBody>
      </p:sp>
      <p:sp>
        <p:nvSpPr>
          <p:cNvPr id="23" name="圆角矩形 22"/>
          <p:cNvSpPr/>
          <p:nvPr>
            <p:custDataLst>
              <p:tags r:id="rId21"/>
            </p:custDataLst>
          </p:nvPr>
        </p:nvSpPr>
        <p:spPr>
          <a:xfrm>
            <a:off x="7792085" y="1164590"/>
            <a:ext cx="3207385" cy="5250815"/>
          </a:xfrm>
          <a:prstGeom prst="roundRect">
            <a:avLst/>
          </a:prstGeom>
          <a:noFill/>
          <a:ln w="19050"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custDataLst>
              <p:tags r:id="rId22"/>
            </p:custDataLst>
          </p:nvPr>
        </p:nvSpPr>
        <p:spPr>
          <a:xfrm>
            <a:off x="7884795" y="1203325"/>
            <a:ext cx="2855595" cy="337185"/>
          </a:xfrm>
          <a:prstGeom prst="rect">
            <a:avLst/>
          </a:prstGeom>
          <a:noFill/>
        </p:spPr>
        <p:txBody>
          <a:bodyPr wrap="square" rtlCol="0">
            <a:spAutoFit/>
          </a:bodyPr>
          <a:p>
            <a:pPr algn="ctr"/>
            <a:r>
              <a:rPr lang="en-US" altLang="zh-CN" sz="1600" b="1">
                <a:solidFill>
                  <a:schemeClr val="accent1">
                    <a:lumMod val="75000"/>
                  </a:schemeClr>
                </a:solidFill>
                <a:latin typeface="Microsoft YaHei" panose="020B0503020204020204" charset="-122"/>
                <a:ea typeface="Microsoft YaHei" panose="020B0503020204020204" charset="-122"/>
              </a:rPr>
              <a:t>Task 3</a:t>
            </a:r>
            <a:endParaRPr lang="en-US" altLang="zh-CN" sz="1600" b="1">
              <a:solidFill>
                <a:schemeClr val="accent1">
                  <a:lumMod val="75000"/>
                </a:schemeClr>
              </a:solidFill>
              <a:latin typeface="Microsoft YaHei" panose="020B0503020204020204" charset="-122"/>
              <a:ea typeface="Microsoft YaHei" panose="020B0503020204020204" charset="-122"/>
            </a:endParaRPr>
          </a:p>
        </p:txBody>
      </p:sp>
    </p:spTree>
    <p:custDataLst>
      <p:tags r:id="rId2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The Baseline and the Bottleneck</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
        <p:nvSpPr>
          <p:cNvPr id="5" name="文本框 4"/>
          <p:cNvSpPr txBox="1"/>
          <p:nvPr/>
        </p:nvSpPr>
        <p:spPr>
          <a:xfrm>
            <a:off x="222250" y="1278890"/>
            <a:ext cx="5605145" cy="5169535"/>
          </a:xfrm>
          <a:prstGeom prst="rect">
            <a:avLst/>
          </a:prstGeom>
          <a:noFill/>
        </p:spPr>
        <p:txBody>
          <a:bodyPr wrap="square" rtlCol="0">
            <a:spAutoFit/>
          </a:bodyPr>
          <a:p>
            <a:pPr marL="285750" indent="-285750">
              <a:buFont typeface="Wingdings" panose="05000000000000000000" charset="0"/>
              <a:buChar char="n"/>
            </a:pPr>
            <a:r>
              <a:rPr lang="en-US" altLang="zh-CN" sz="2000">
                <a:latin typeface="Microsoft YaHei" panose="020B0503020204020204" charset="-122"/>
                <a:ea typeface="Microsoft YaHei" panose="020B0503020204020204" charset="-122"/>
                <a:cs typeface="Microsoft YaHei" panose="020B0503020204020204" charset="-122"/>
              </a:rPr>
              <a:t>In MATE data analysis, the standard deep learning model (ResNet18) can easily handle tasks with large topology-distinct structures, with a high accuracy </a:t>
            </a:r>
            <a:r>
              <a:rPr lang="en-US" altLang="zh-CN" sz="2000" b="1">
                <a:solidFill>
                  <a:schemeClr val="accent1">
                    <a:lumMod val="75000"/>
                  </a:schemeClr>
                </a:solidFill>
                <a:latin typeface="Microsoft YaHei" panose="020B0503020204020204" charset="-122"/>
                <a:ea typeface="Microsoft YaHei" panose="020B0503020204020204" charset="-122"/>
                <a:cs typeface="Microsoft YaHei" panose="020B0503020204020204" charset="-122"/>
              </a:rPr>
              <a:t>almost achieved 100%</a:t>
            </a:r>
            <a:r>
              <a:rPr lang="en-US" altLang="zh-CN" sz="2000">
                <a:latin typeface="Microsoft YaHei" panose="020B0503020204020204" charset="-122"/>
                <a:ea typeface="Microsoft YaHei" panose="020B0503020204020204" charset="-122"/>
                <a:cs typeface="Microsoft YaHei" panose="020B0503020204020204" charset="-122"/>
              </a:rPr>
              <a:t>.</a:t>
            </a:r>
            <a:endParaRPr lang="en-US" altLang="zh-CN" sz="2000">
              <a:latin typeface="Microsoft YaHei" panose="020B0503020204020204" charset="-122"/>
              <a:ea typeface="Microsoft YaHei" panose="020B0503020204020204" charset="-122"/>
              <a:cs typeface="Microsoft YaHei" panose="020B0503020204020204" charset="-122"/>
            </a:endParaRPr>
          </a:p>
          <a:p>
            <a:pPr marL="285750" indent="-285750">
              <a:buFont typeface="Wingdings" panose="05000000000000000000" charset="0"/>
              <a:buChar char="n"/>
            </a:pPr>
            <a:r>
              <a:rPr lang="en-US" altLang="zh-CN" sz="2000">
                <a:latin typeface="Microsoft YaHei" panose="020B0503020204020204" charset="-122"/>
                <a:ea typeface="Microsoft YaHei" panose="020B0503020204020204" charset="-122"/>
                <a:cs typeface="Microsoft YaHei" panose="020B0503020204020204" charset="-122"/>
              </a:rPr>
              <a:t>The Gap: When the task is transformed into fine-grained isotope identification (</a:t>
            </a:r>
            <a:r>
              <a:rPr lang="en-US" altLang="zh-CN" sz="2000" baseline="30000">
                <a:latin typeface="Microsoft YaHei" panose="020B0503020204020204" charset="-122"/>
                <a:ea typeface="Microsoft YaHei" panose="020B0503020204020204" charset="-122"/>
                <a:cs typeface="Microsoft YaHei" panose="020B0503020204020204" charset="-122"/>
              </a:rPr>
              <a:t>3</a:t>
            </a:r>
            <a:r>
              <a:rPr lang="en-US" altLang="zh-CN" sz="2000">
                <a:latin typeface="Microsoft YaHei" panose="020B0503020204020204" charset="-122"/>
                <a:ea typeface="Microsoft YaHei" panose="020B0503020204020204" charset="-122"/>
                <a:cs typeface="Microsoft YaHei" panose="020B0503020204020204" charset="-122"/>
              </a:rPr>
              <a:t>He vs </a:t>
            </a:r>
            <a:r>
              <a:rPr lang="en-US" altLang="zh-CN" sz="2000" baseline="30000">
                <a:latin typeface="Microsoft YaHei" panose="020B0503020204020204" charset="-122"/>
                <a:ea typeface="Microsoft YaHei" panose="020B0503020204020204" charset="-122"/>
                <a:cs typeface="Microsoft YaHei" panose="020B0503020204020204" charset="-122"/>
              </a:rPr>
              <a:t>4</a:t>
            </a:r>
            <a:r>
              <a:rPr lang="en-US" altLang="zh-CN" sz="2000">
                <a:latin typeface="Microsoft YaHei" panose="020B0503020204020204" charset="-122"/>
                <a:ea typeface="Microsoft YaHei" panose="020B0503020204020204" charset="-122"/>
                <a:cs typeface="Microsoft YaHei" panose="020B0503020204020204" charset="-122"/>
              </a:rPr>
              <a:t>He), the model performance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rPr>
              <a:t>drops significantly to ~91%</a:t>
            </a:r>
            <a:r>
              <a:rPr lang="en-US" altLang="zh-CN" sz="2000">
                <a:latin typeface="Microsoft YaHei" panose="020B0503020204020204" charset="-122"/>
                <a:ea typeface="Microsoft YaHei" panose="020B0503020204020204" charset="-122"/>
                <a:cs typeface="Microsoft YaHei" panose="020B0503020204020204" charset="-122"/>
              </a:rPr>
              <a:t> due to their </a:t>
            </a:r>
            <a:r>
              <a:rPr lang="en-US" altLang="zh-CN" sz="2000" b="1">
                <a:solidFill>
                  <a:srgbClr val="FF0000"/>
                </a:solidFill>
                <a:latin typeface="Microsoft YaHei" panose="020B0503020204020204" charset="-122"/>
                <a:ea typeface="Microsoft YaHei" panose="020B0503020204020204" charset="-122"/>
                <a:cs typeface="Microsoft YaHei" panose="020B0503020204020204" charset="-122"/>
              </a:rPr>
              <a:t>similar dE/dx patterns and track features</a:t>
            </a:r>
            <a:r>
              <a:rPr lang="en-US" altLang="zh-CN" sz="2000">
                <a:latin typeface="Microsoft YaHei" panose="020B0503020204020204" charset="-122"/>
                <a:ea typeface="Microsoft YaHei" panose="020B0503020204020204" charset="-122"/>
                <a:cs typeface="Microsoft YaHei" panose="020B0503020204020204" charset="-122"/>
              </a:rPr>
              <a:t>.</a:t>
            </a:r>
            <a:endParaRPr lang="zh-CN" altLang="en-US" sz="2000">
              <a:latin typeface="Microsoft YaHei" panose="020B0503020204020204" charset="-122"/>
              <a:ea typeface="Microsoft YaHei" panose="020B0503020204020204" charset="-122"/>
              <a:cs typeface="Microsoft YaHei" panose="020B0503020204020204" charset="-122"/>
            </a:endParaRPr>
          </a:p>
          <a:p>
            <a:pPr marL="285750" indent="-285750">
              <a:buFont typeface="Wingdings" panose="05000000000000000000" charset="0"/>
              <a:buChar char="n"/>
            </a:pPr>
            <a:r>
              <a:rPr lang="en-US" altLang="zh-CN" sz="2000">
                <a:latin typeface="Microsoft YaHei" panose="020B0503020204020204" charset="-122"/>
                <a:ea typeface="Microsoft YaHei" panose="020B0503020204020204" charset="-122"/>
                <a:cs typeface="Microsoft YaHei" panose="020B0503020204020204" charset="-122"/>
              </a:rPr>
              <a:t>Hypothesis :</a:t>
            </a:r>
            <a:endParaRPr lang="en-US" altLang="zh-CN" sz="2000">
              <a:latin typeface="Microsoft YaHei" panose="020B0503020204020204" charset="-122"/>
              <a:ea typeface="Microsoft YaHei" panose="020B0503020204020204" charset="-122"/>
              <a:cs typeface="Microsoft YaHei" panose="020B0503020204020204" charset="-122"/>
            </a:endParaRPr>
          </a:p>
          <a:p>
            <a:pPr marL="800100" lvl="1" indent="-342900">
              <a:buFont typeface="Wingdings" panose="05000000000000000000" charset="0"/>
              <a:buChar char="u"/>
            </a:pPr>
            <a:r>
              <a:rPr lang="en-US" altLang="zh-CN">
                <a:latin typeface="Microsoft YaHei" panose="020B0503020204020204" charset="-122"/>
                <a:ea typeface="Microsoft YaHei" panose="020B0503020204020204" charset="-122"/>
                <a:cs typeface="Microsoft YaHei" panose="020B0503020204020204" charset="-122"/>
              </a:rPr>
              <a:t>Scale of Dataset is inadequate</a:t>
            </a:r>
            <a:endParaRPr lang="en-US" altLang="zh-CN">
              <a:latin typeface="Microsoft YaHei" panose="020B0503020204020204" charset="-122"/>
              <a:ea typeface="Microsoft YaHei" panose="020B0503020204020204" charset="-122"/>
              <a:cs typeface="Microsoft YaHei" panose="020B0503020204020204" charset="-122"/>
            </a:endParaRPr>
          </a:p>
          <a:p>
            <a:pPr marL="800100" lvl="1" indent="-342900">
              <a:buFont typeface="Wingdings" panose="05000000000000000000" charset="0"/>
              <a:buChar char="u"/>
            </a:pPr>
            <a:r>
              <a:rPr lang="en-US" altLang="zh-CN">
                <a:latin typeface="Microsoft YaHei" panose="020B0503020204020204" charset="-122"/>
                <a:ea typeface="Microsoft YaHei" panose="020B0503020204020204" charset="-122"/>
                <a:cs typeface="Microsoft YaHei" panose="020B0503020204020204" charset="-122"/>
              </a:rPr>
              <a:t>The Downsampling process of standard CNN loses vital sapatial details of energey deposition needed to distinguish isotopes .</a:t>
            </a:r>
            <a:endParaRPr lang="en-US" altLang="zh-CN">
              <a:latin typeface="Microsoft YaHei" panose="020B0503020204020204" charset="-122"/>
              <a:ea typeface="Microsoft YaHei" panose="020B0503020204020204" charset="-122"/>
              <a:cs typeface="Microsoft YaHei" panose="020B0503020204020204" charset="-122"/>
            </a:endParaRPr>
          </a:p>
        </p:txBody>
      </p:sp>
      <p:pic>
        <p:nvPicPr>
          <p:cNvPr id="8" name="图片 7"/>
          <p:cNvPicPr>
            <a:picLocks noChangeAspect="1"/>
          </p:cNvPicPr>
          <p:nvPr/>
        </p:nvPicPr>
        <p:blipFill>
          <a:blip r:embed="rId1"/>
          <a:stretch>
            <a:fillRect/>
          </a:stretch>
        </p:blipFill>
        <p:spPr>
          <a:xfrm>
            <a:off x="6084570" y="1473200"/>
            <a:ext cx="5796915" cy="4429125"/>
          </a:xfrm>
          <a:prstGeom prst="rect">
            <a:avLst/>
          </a:prstGeom>
        </p:spPr>
      </p:pic>
      <p:cxnSp>
        <p:nvCxnSpPr>
          <p:cNvPr id="20" name="直接连接符 19"/>
          <p:cNvCxnSpPr/>
          <p:nvPr/>
        </p:nvCxnSpPr>
        <p:spPr>
          <a:xfrm>
            <a:off x="5947410" y="1255395"/>
            <a:ext cx="17145" cy="505142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 Model Architecture Modification</a:t>
            </a:r>
            <a:endParaRPr lang="en-US" altLang="zh-CN"/>
          </a:p>
        </p:txBody>
      </p:sp>
      <p:pic>
        <p:nvPicPr>
          <p:cNvPr id="6" name="图片 5" descr="Gemini_Generated_Image_Conv1_modificaiton"/>
          <p:cNvPicPr>
            <a:picLocks noChangeAspect="1"/>
          </p:cNvPicPr>
          <p:nvPr/>
        </p:nvPicPr>
        <p:blipFill>
          <a:blip r:embed="rId1"/>
          <a:stretch>
            <a:fillRect/>
          </a:stretch>
        </p:blipFill>
        <p:spPr>
          <a:xfrm>
            <a:off x="3830320" y="1251585"/>
            <a:ext cx="8035290" cy="4383405"/>
          </a:xfrm>
          <a:prstGeom prst="rect">
            <a:avLst/>
          </a:prstGeom>
        </p:spPr>
      </p:pic>
      <p:cxnSp>
        <p:nvCxnSpPr>
          <p:cNvPr id="20" name="直接连接符 19"/>
          <p:cNvCxnSpPr/>
          <p:nvPr/>
        </p:nvCxnSpPr>
        <p:spPr>
          <a:xfrm flipH="1" flipV="1">
            <a:off x="3628390" y="1482725"/>
            <a:ext cx="30480" cy="480187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5" name="日期占位符 4"/>
          <p:cNvSpPr>
            <a:spLocks noGrp="1"/>
          </p:cNvSpPr>
          <p:nvPr>
            <p:ph type="dt" sz="half" idx="10"/>
          </p:nvPr>
        </p:nvSpPr>
        <p:spPr/>
        <p:txBody>
          <a:bodyPr/>
          <a:p>
            <a:fld id="{760FBDFE-C587-4B4C-A407-44438C67B59E}" type="datetime2">
              <a:rPr lang="en-US" altLang="en-US" smtClean="0"/>
            </a:fld>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
        <p:nvSpPr>
          <p:cNvPr id="8" name="文本框 7"/>
          <p:cNvSpPr txBox="1"/>
          <p:nvPr/>
        </p:nvSpPr>
        <p:spPr>
          <a:xfrm>
            <a:off x="4531360" y="5639435"/>
            <a:ext cx="3022600" cy="645160"/>
          </a:xfrm>
          <a:prstGeom prst="rect">
            <a:avLst/>
          </a:prstGeom>
          <a:noFill/>
          <a:ln w="19050" cmpd="sng">
            <a:solidFill>
              <a:schemeClr val="accent1">
                <a:shade val="50000"/>
              </a:schemeClr>
            </a:solidFill>
            <a:prstDash val="dash"/>
          </a:ln>
        </p:spPr>
        <p:txBody>
          <a:bodyPr wrap="square" rtlCol="0">
            <a:spAutoFit/>
          </a:bodyPr>
          <a:p>
            <a:pPr algn="ctr"/>
            <a:r>
              <a:rPr lang="en-US" altLang="zh-CN" b="1">
                <a:solidFill>
                  <a:schemeClr val="accent1">
                    <a:lumMod val="75000"/>
                  </a:schemeClr>
                </a:solidFill>
                <a:latin typeface="Microsoft YaHei" panose="020B0503020204020204" charset="-122"/>
                <a:ea typeface="Microsoft YaHei" panose="020B0503020204020204" charset="-122"/>
                <a:sym typeface="+mn-ea"/>
              </a:rPr>
              <a:t>An agressive downsampling strategy</a:t>
            </a:r>
            <a:endParaRPr lang="zh-CN" altLang="en-US"/>
          </a:p>
        </p:txBody>
      </p:sp>
      <p:sp>
        <p:nvSpPr>
          <p:cNvPr id="9" name="文本框 8"/>
          <p:cNvSpPr txBox="1"/>
          <p:nvPr/>
        </p:nvSpPr>
        <p:spPr>
          <a:xfrm>
            <a:off x="8452485" y="5634990"/>
            <a:ext cx="3022600" cy="645160"/>
          </a:xfrm>
          <a:prstGeom prst="rect">
            <a:avLst/>
          </a:prstGeom>
          <a:noFill/>
          <a:ln w="19050" cmpd="sng">
            <a:solidFill>
              <a:schemeClr val="accent1">
                <a:shade val="50000"/>
              </a:schemeClr>
            </a:solidFill>
            <a:prstDash val="dash"/>
          </a:ln>
        </p:spPr>
        <p:txBody>
          <a:bodyPr wrap="square" rtlCol="0">
            <a:spAutoFit/>
          </a:bodyPr>
          <a:p>
            <a:pPr algn="ctr"/>
            <a:r>
              <a:rPr lang="en-US" altLang="zh-CN" b="1">
                <a:solidFill>
                  <a:schemeClr val="accent1">
                    <a:lumMod val="75000"/>
                  </a:schemeClr>
                </a:solidFill>
                <a:latin typeface="Microsoft YaHei" panose="020B0503020204020204" charset="-122"/>
                <a:ea typeface="Microsoft YaHei" panose="020B0503020204020204" charset="-122"/>
                <a:sym typeface="+mn-ea"/>
              </a:rPr>
              <a:t>A conservative downsampling strategy</a:t>
            </a:r>
            <a:endParaRPr lang="zh-CN" altLang="en-US"/>
          </a:p>
        </p:txBody>
      </p:sp>
      <p:cxnSp>
        <p:nvCxnSpPr>
          <p:cNvPr id="10" name="直接箭头连接符 9"/>
          <p:cNvCxnSpPr>
            <a:stCxn id="8" idx="3"/>
            <a:endCxn id="9" idx="1"/>
          </p:cNvCxnSpPr>
          <p:nvPr/>
        </p:nvCxnSpPr>
        <p:spPr>
          <a:xfrm flipV="1">
            <a:off x="7553960" y="5957570"/>
            <a:ext cx="898525" cy="4445"/>
          </a:xfrm>
          <a:prstGeom prst="straightConnector1">
            <a:avLst/>
          </a:prstGeom>
          <a:ln w="19050">
            <a:solidFill>
              <a:schemeClr val="accent1">
                <a:lumMod val="75000"/>
              </a:schemeClr>
            </a:solidFill>
            <a:tailEnd type="triangle" w="med" len="med"/>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316230" y="2997835"/>
            <a:ext cx="3342640" cy="1630045"/>
          </a:xfrm>
          <a:prstGeom prst="rect">
            <a:avLst/>
          </a:prstGeom>
          <a:noFill/>
        </p:spPr>
        <p:txBody>
          <a:bodyPr wrap="square" rtlCol="0">
            <a:spAutoFit/>
          </a:bodyPr>
          <a:p>
            <a:r>
              <a:rPr lang="en-US" altLang="zh-CN" sz="2000" b="1">
                <a:latin typeface="Microsoft YaHei" panose="020B0503020204020204" charset="-122"/>
                <a:ea typeface="Microsoft YaHei" panose="020B0503020204020204" charset="-122"/>
              </a:rPr>
              <a:t>Standard downsampling (MaxPooling) discards the fine-grained dE/dx information needed for PID</a:t>
            </a:r>
            <a:endParaRPr lang="en-US" altLang="zh-CN" sz="2000" b="1">
              <a:latin typeface="Microsoft YaHei" panose="020B0503020204020204" charset="-122"/>
              <a:ea typeface="Microsoft YaHei" panose="020B0503020204020204" charset="-122"/>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8" name="直接箭头连接符 47"/>
          <p:cNvCxnSpPr>
            <a:stCxn id="33" idx="3"/>
            <a:endCxn id="40" idx="1"/>
          </p:cNvCxnSpPr>
          <p:nvPr/>
        </p:nvCxnSpPr>
        <p:spPr>
          <a:xfrm flipV="1">
            <a:off x="5459095" y="2697480"/>
            <a:ext cx="967740" cy="626745"/>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sp>
        <p:nvSpPr>
          <p:cNvPr id="31" name="椭圆 30"/>
          <p:cNvSpPr/>
          <p:nvPr/>
        </p:nvSpPr>
        <p:spPr>
          <a:xfrm>
            <a:off x="5556250" y="2752090"/>
            <a:ext cx="676910" cy="528955"/>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icrosoft YaHei" panose="020B0503020204020204" charset="-122"/>
              <a:ea typeface="Microsoft YaHei" panose="020B0503020204020204" charset="-122"/>
            </a:endParaRPr>
          </a:p>
        </p:txBody>
      </p:sp>
      <p:sp>
        <p:nvSpPr>
          <p:cNvPr id="2" name="标题 1"/>
          <p:cNvSpPr>
            <a:spLocks noGrp="1"/>
          </p:cNvSpPr>
          <p:nvPr>
            <p:ph type="title"/>
          </p:nvPr>
        </p:nvSpPr>
        <p:spPr/>
        <p:txBody>
          <a:bodyPr>
            <a:normAutofit fontScale="90000"/>
          </a:bodyPr>
          <a:p>
            <a:r>
              <a:rPr lang="en-US" altLang="zh-CN">
                <a:sym typeface="+mn-ea"/>
              </a:rPr>
              <a:t>Physics-Informed Cross-Attention CNN </a:t>
            </a:r>
            <a:endParaRPr lang="en-US" altLang="zh-CN">
              <a:sym typeface="+mn-ea"/>
            </a:endParaRPr>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smtClean="0"/>
          </a:p>
        </p:txBody>
      </p:sp>
      <p:sp>
        <p:nvSpPr>
          <p:cNvPr id="4" name="日期占位符 3"/>
          <p:cNvSpPr>
            <a:spLocks noGrp="1"/>
          </p:cNvSpPr>
          <p:nvPr>
            <p:ph type="dt" sz="half" idx="10"/>
          </p:nvPr>
        </p:nvSpPr>
        <p:spPr/>
        <p:txBody>
          <a:bodyPr/>
          <a:p>
            <a:fld id="{760FBDFE-C587-4B4C-A407-44438C67B59E}" type="datetime2">
              <a:rPr lang="en-US" altLang="en-US" smtClean="0">
                <a:latin typeface="Microsoft YaHei" panose="020B0503020204020204" charset="-122"/>
                <a:ea typeface="Microsoft YaHei" panose="020B0503020204020204" charset="-122"/>
              </a:rPr>
            </a:fld>
            <a:endParaRPr lang="en-US" altLang="en-US" smtClean="0">
              <a:latin typeface="Microsoft YaHei" panose="020B0503020204020204" charset="-122"/>
              <a:ea typeface="Microsoft YaHei" panose="020B0503020204020204" charset="-122"/>
            </a:endParaRPr>
          </a:p>
        </p:txBody>
      </p:sp>
      <p:sp>
        <p:nvSpPr>
          <p:cNvPr id="40" name="文本框 39"/>
          <p:cNvSpPr txBox="1"/>
          <p:nvPr/>
        </p:nvSpPr>
        <p:spPr>
          <a:xfrm>
            <a:off x="6426835" y="2237105"/>
            <a:ext cx="1322705" cy="920115"/>
          </a:xfrm>
          <a:prstGeom prst="rect">
            <a:avLst/>
          </a:prstGeom>
          <a:noFill/>
          <a:ln w="19050" cmpd="sng">
            <a:solidFill>
              <a:schemeClr val="accent1">
                <a:lumMod val="75000"/>
              </a:schemeClr>
            </a:solidFill>
            <a:prstDash val="solid"/>
          </a:ln>
        </p:spPr>
        <p:txBody>
          <a:bodyPr wrap="square" rtlCol="0" anchor="ctr" anchorCtr="0">
            <a:noAutofit/>
          </a:bodyPr>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Attention Score Matrix</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p:txBody>
      </p:sp>
      <p:cxnSp>
        <p:nvCxnSpPr>
          <p:cNvPr id="41" name="直接箭头连接符 40"/>
          <p:cNvCxnSpPr>
            <a:stCxn id="32" idx="3"/>
            <a:endCxn id="40" idx="1"/>
          </p:cNvCxnSpPr>
          <p:nvPr/>
        </p:nvCxnSpPr>
        <p:spPr>
          <a:xfrm>
            <a:off x="5461000" y="2065020"/>
            <a:ext cx="965835" cy="632460"/>
          </a:xfrm>
          <a:prstGeom prst="straightConnector1">
            <a:avLst/>
          </a:prstGeom>
          <a:ln w="19050" cmpd="sng">
            <a:solidFill>
              <a:schemeClr val="accent1">
                <a:shade val="50000"/>
              </a:schemeClr>
            </a:solidFill>
            <a:prstDash val="solid"/>
            <a:tailEnd type="triangle"/>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7964805" y="2237105"/>
            <a:ext cx="1448435" cy="568960"/>
          </a:xfrm>
          <a:prstGeom prst="rect">
            <a:avLst/>
          </a:prstGeom>
          <a:noFill/>
          <a:ln w="19050" cmpd="sng">
            <a:solidFill>
              <a:schemeClr val="accent1">
                <a:lumMod val="75000"/>
              </a:schemeClr>
            </a:solidFill>
            <a:prstDash val="solid"/>
          </a:ln>
        </p:spPr>
        <p:txBody>
          <a:bodyPr wrap="square" rtlCol="0" anchor="ctr" anchorCtr="0">
            <a:noAutofit/>
          </a:bodyPr>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Context</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Vector</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46" name="文本框 45"/>
          <p:cNvSpPr txBox="1"/>
          <p:nvPr/>
        </p:nvSpPr>
        <p:spPr>
          <a:xfrm>
            <a:off x="9872980" y="2237105"/>
            <a:ext cx="1571625" cy="575945"/>
          </a:xfrm>
          <a:prstGeom prst="rect">
            <a:avLst/>
          </a:prstGeom>
          <a:noFill/>
          <a:ln w="31750" cmpd="sng">
            <a:solidFill>
              <a:srgbClr val="FF0000"/>
            </a:solidFill>
            <a:prstDash val="solid"/>
          </a:ln>
        </p:spPr>
        <p:txBody>
          <a:bodyPr wrap="square" rtlCol="0" anchor="ctr" anchorCtr="0">
            <a:noAutofit/>
          </a:bodyPr>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Classification</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(FCNN)</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26" name="文本框 25"/>
          <p:cNvSpPr txBox="1"/>
          <p:nvPr/>
        </p:nvSpPr>
        <p:spPr>
          <a:xfrm>
            <a:off x="34925" y="4507230"/>
            <a:ext cx="3237230" cy="1698625"/>
          </a:xfrm>
          <a:prstGeom prst="rect">
            <a:avLst/>
          </a:prstGeom>
          <a:noFill/>
          <a:ln w="12700" cmpd="sng">
            <a:noFill/>
            <a:prstDash val="dash"/>
          </a:ln>
        </p:spPr>
        <p:txBody>
          <a:bodyPr wrap="square" rtlCol="0">
            <a:noAutofit/>
          </a:bodyPr>
          <a:p>
            <a:pPr marL="285750" indent="-285750">
              <a:lnSpc>
                <a:spcPct val="110000"/>
              </a:lnSpc>
              <a:buFont typeface="Wingdings" panose="05000000000000000000" charset="0"/>
              <a:buChar char="n"/>
            </a:pPr>
            <a:endParaRPr lang="en-US" altLang="zh-CN" sz="1400" i="1">
              <a:latin typeface="Microsoft YaHei" panose="020B0503020204020204" charset="-122"/>
              <a:ea typeface="Microsoft YaHei" panose="020B0503020204020204" charset="-122"/>
              <a:cs typeface="Times New Roman" panose="02020603050405020304" charset="0"/>
            </a:endParaRPr>
          </a:p>
        </p:txBody>
      </p:sp>
      <p:sp>
        <p:nvSpPr>
          <p:cNvPr id="9" name="文本框 8"/>
          <p:cNvSpPr txBox="1"/>
          <p:nvPr/>
        </p:nvSpPr>
        <p:spPr>
          <a:xfrm>
            <a:off x="5507990" y="2778760"/>
            <a:ext cx="758190" cy="458470"/>
          </a:xfrm>
          <a:prstGeom prst="rect">
            <a:avLst/>
          </a:prstGeom>
          <a:noFill/>
        </p:spPr>
        <p:txBody>
          <a:bodyPr wrap="square" rtlCol="0">
            <a:noAutofit/>
          </a:bodyPr>
          <a:p>
            <a:pPr algn="ctr"/>
            <a:r>
              <a:rPr lang="en-US" altLang="zh-CN" sz="1400">
                <a:latin typeface="Microsoft YaHei" panose="020B0503020204020204" charset="-122"/>
                <a:ea typeface="Microsoft YaHei" panose="020B0503020204020204" charset="-122"/>
                <a:cs typeface="Times New Roman" panose="02020603050405020304" charset="0"/>
              </a:rPr>
              <a:t>Query</a:t>
            </a:r>
            <a:endParaRPr lang="en-US" altLang="zh-CN" sz="1400">
              <a:latin typeface="Microsoft YaHei" panose="020B0503020204020204" charset="-122"/>
              <a:ea typeface="Microsoft YaHei" panose="020B0503020204020204" charset="-122"/>
              <a:cs typeface="Times New Roman" panose="02020603050405020304" charset="0"/>
            </a:endParaRPr>
          </a:p>
          <a:p>
            <a:pPr algn="ctr"/>
            <a:r>
              <a:rPr lang="en-US" altLang="zh-CN" sz="1400">
                <a:latin typeface="Microsoft YaHei" panose="020B0503020204020204" charset="-122"/>
                <a:ea typeface="Microsoft YaHei" panose="020B0503020204020204" charset="-122"/>
                <a:cs typeface="Times New Roman" panose="02020603050405020304" charset="0"/>
              </a:rPr>
              <a:t>Vector</a:t>
            </a:r>
            <a:endParaRPr lang="en-US" altLang="zh-CN" sz="1400">
              <a:latin typeface="Microsoft YaHei" panose="020B0503020204020204" charset="-122"/>
              <a:ea typeface="Microsoft YaHei" panose="020B0503020204020204" charset="-122"/>
              <a:cs typeface="Times New Roman" panose="02020603050405020304" charset="0"/>
            </a:endParaRPr>
          </a:p>
        </p:txBody>
      </p:sp>
      <p:sp>
        <p:nvSpPr>
          <p:cNvPr id="10" name="椭圆 9"/>
          <p:cNvSpPr/>
          <p:nvPr/>
        </p:nvSpPr>
        <p:spPr>
          <a:xfrm>
            <a:off x="5541010" y="2009140"/>
            <a:ext cx="676910" cy="528955"/>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icrosoft YaHei" panose="020B0503020204020204" charset="-122"/>
              <a:ea typeface="Microsoft YaHei" panose="020B0503020204020204" charset="-122"/>
            </a:endParaRPr>
          </a:p>
        </p:txBody>
      </p:sp>
      <p:sp>
        <p:nvSpPr>
          <p:cNvPr id="11" name="文本框 10"/>
          <p:cNvSpPr txBox="1"/>
          <p:nvPr/>
        </p:nvSpPr>
        <p:spPr>
          <a:xfrm>
            <a:off x="5501005" y="2009140"/>
            <a:ext cx="731520" cy="463550"/>
          </a:xfrm>
          <a:prstGeom prst="rect">
            <a:avLst/>
          </a:prstGeom>
          <a:noFill/>
        </p:spPr>
        <p:txBody>
          <a:bodyPr wrap="square" rtlCol="0">
            <a:noAutofit/>
          </a:bodyPr>
          <a:p>
            <a:pPr algn="ctr"/>
            <a:r>
              <a:rPr lang="en-US" altLang="zh-CN" sz="1400">
                <a:latin typeface="Microsoft YaHei" panose="020B0503020204020204" charset="-122"/>
                <a:ea typeface="Microsoft YaHei" panose="020B0503020204020204" charset="-122"/>
                <a:cs typeface="Times New Roman" panose="02020603050405020304" charset="0"/>
              </a:rPr>
              <a:t>Key</a:t>
            </a:r>
            <a:endParaRPr lang="en-US" altLang="zh-CN" sz="1400">
              <a:latin typeface="Microsoft YaHei" panose="020B0503020204020204" charset="-122"/>
              <a:ea typeface="Microsoft YaHei" panose="020B0503020204020204" charset="-122"/>
              <a:cs typeface="Times New Roman" panose="02020603050405020304" charset="0"/>
            </a:endParaRPr>
          </a:p>
          <a:p>
            <a:pPr algn="ctr"/>
            <a:r>
              <a:rPr lang="en-US" altLang="zh-CN" sz="1400">
                <a:latin typeface="Microsoft YaHei" panose="020B0503020204020204" charset="-122"/>
                <a:ea typeface="Microsoft YaHei" panose="020B0503020204020204" charset="-122"/>
                <a:cs typeface="Times New Roman" panose="02020603050405020304" charset="0"/>
              </a:rPr>
              <a:t>Vector</a:t>
            </a:r>
            <a:endParaRPr lang="en-US" altLang="zh-CN" sz="1400">
              <a:latin typeface="Microsoft YaHei" panose="020B0503020204020204" charset="-122"/>
              <a:ea typeface="Microsoft YaHei" panose="020B0503020204020204" charset="-122"/>
              <a:cs typeface="Times New Roman" panose="02020603050405020304" charset="0"/>
            </a:endParaRPr>
          </a:p>
        </p:txBody>
      </p:sp>
      <p:cxnSp>
        <p:nvCxnSpPr>
          <p:cNvPr id="14" name="肘形连接符 13"/>
          <p:cNvCxnSpPr>
            <a:stCxn id="32" idx="0"/>
            <a:endCxn id="45" idx="0"/>
          </p:cNvCxnSpPr>
          <p:nvPr/>
        </p:nvCxnSpPr>
        <p:spPr>
          <a:xfrm rot="16200000" flipH="1">
            <a:off x="6432550" y="-19685"/>
            <a:ext cx="560705" cy="3952240"/>
          </a:xfrm>
          <a:prstGeom prst="bentConnector3">
            <a:avLst>
              <a:gd name="adj1" fmla="val -42525"/>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5445760" y="1231900"/>
            <a:ext cx="827405" cy="515620"/>
            <a:chOff x="5625" y="2195"/>
            <a:chExt cx="1122" cy="812"/>
          </a:xfrm>
        </p:grpSpPr>
        <p:sp>
          <p:nvSpPr>
            <p:cNvPr id="15" name="椭圆 14"/>
            <p:cNvSpPr/>
            <p:nvPr/>
          </p:nvSpPr>
          <p:spPr>
            <a:xfrm>
              <a:off x="5745" y="2195"/>
              <a:ext cx="905" cy="812"/>
            </a:xfrm>
            <a:prstGeom prst="ellipse">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icrosoft YaHei" panose="020B0503020204020204" charset="-122"/>
                <a:ea typeface="Microsoft YaHei" panose="020B0503020204020204" charset="-122"/>
              </a:endParaRPr>
            </a:p>
          </p:txBody>
        </p:sp>
        <p:sp>
          <p:nvSpPr>
            <p:cNvPr id="17" name="文本框 16"/>
            <p:cNvSpPr txBox="1"/>
            <p:nvPr/>
          </p:nvSpPr>
          <p:spPr>
            <a:xfrm>
              <a:off x="5625" y="2196"/>
              <a:ext cx="1123" cy="710"/>
            </a:xfrm>
            <a:prstGeom prst="rect">
              <a:avLst/>
            </a:prstGeom>
            <a:noFill/>
          </p:spPr>
          <p:txBody>
            <a:bodyPr wrap="square" rtlCol="0">
              <a:noAutofit/>
            </a:bodyPr>
            <a:p>
              <a:pPr algn="ctr"/>
              <a:r>
                <a:rPr lang="en-US" altLang="zh-CN" sz="1400">
                  <a:latin typeface="Microsoft YaHei" panose="020B0503020204020204" charset="-122"/>
                  <a:ea typeface="Microsoft YaHei" panose="020B0503020204020204" charset="-122"/>
                  <a:cs typeface="Times New Roman" panose="02020603050405020304" charset="0"/>
                </a:rPr>
                <a:t>Value</a:t>
              </a:r>
              <a:endParaRPr lang="en-US" altLang="zh-CN" sz="1400">
                <a:latin typeface="Microsoft YaHei" panose="020B0503020204020204" charset="-122"/>
                <a:ea typeface="Microsoft YaHei" panose="020B0503020204020204" charset="-122"/>
                <a:cs typeface="Times New Roman" panose="02020603050405020304" charset="0"/>
              </a:endParaRPr>
            </a:p>
            <a:p>
              <a:pPr algn="ctr"/>
              <a:r>
                <a:rPr lang="en-US" altLang="zh-CN" sz="1400">
                  <a:latin typeface="Microsoft YaHei" panose="020B0503020204020204" charset="-122"/>
                  <a:ea typeface="Microsoft YaHei" panose="020B0503020204020204" charset="-122"/>
                  <a:cs typeface="Times New Roman" panose="02020603050405020304" charset="0"/>
                </a:rPr>
                <a:t>Vector</a:t>
              </a:r>
              <a:endParaRPr lang="en-US" altLang="zh-CN" sz="1400">
                <a:latin typeface="Microsoft YaHei" panose="020B0503020204020204" charset="-122"/>
                <a:ea typeface="Microsoft YaHei" panose="020B0503020204020204" charset="-122"/>
                <a:cs typeface="Times New Roman" panose="02020603050405020304" charset="0"/>
              </a:endParaRPr>
            </a:p>
          </p:txBody>
        </p:sp>
      </p:grpSp>
      <p:cxnSp>
        <p:nvCxnSpPr>
          <p:cNvPr id="19" name="直接箭头连接符 18"/>
          <p:cNvCxnSpPr>
            <a:stCxn id="40" idx="0"/>
          </p:cNvCxnSpPr>
          <p:nvPr/>
        </p:nvCxnSpPr>
        <p:spPr>
          <a:xfrm flipV="1">
            <a:off x="7088505" y="1822450"/>
            <a:ext cx="1905" cy="414655"/>
          </a:xfrm>
          <a:prstGeom prst="straightConnector1">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cxnSp>
        <p:nvCxnSpPr>
          <p:cNvPr id="20" name="肘形连接符 19"/>
          <p:cNvCxnSpPr>
            <a:stCxn id="33" idx="3"/>
            <a:endCxn id="45" idx="2"/>
          </p:cNvCxnSpPr>
          <p:nvPr/>
        </p:nvCxnSpPr>
        <p:spPr>
          <a:xfrm flipV="1">
            <a:off x="5459095" y="2806065"/>
            <a:ext cx="3230245" cy="518160"/>
          </a:xfrm>
          <a:prstGeom prst="bentConnector2">
            <a:avLst/>
          </a:prstGeom>
          <a:ln w="19050">
            <a:solidFill>
              <a:srgbClr val="2E54A1"/>
            </a:solidFill>
            <a:tailEnd type="triangle"/>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45" idx="3"/>
            <a:endCxn id="46" idx="1"/>
          </p:cNvCxnSpPr>
          <p:nvPr/>
        </p:nvCxnSpPr>
        <p:spPr>
          <a:xfrm>
            <a:off x="9413240" y="2521585"/>
            <a:ext cx="459740" cy="3810"/>
          </a:xfrm>
          <a:prstGeom prst="straightConnector1">
            <a:avLst/>
          </a:prstGeom>
          <a:ln w="19050">
            <a:solidFill>
              <a:srgbClr val="174994"/>
            </a:solidFill>
            <a:tailEnd type="triangle"/>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3704590" y="1154430"/>
            <a:ext cx="4146550" cy="2679700"/>
          </a:xfrm>
          <a:prstGeom prst="rect">
            <a:avLst/>
          </a:prstGeom>
          <a:noFill/>
          <a:ln w="2222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icrosoft YaHei" panose="020B0503020204020204" charset="-122"/>
              <a:ea typeface="Microsoft YaHei" panose="020B0503020204020204" charset="-122"/>
            </a:endParaRPr>
          </a:p>
        </p:txBody>
      </p:sp>
      <p:sp>
        <p:nvSpPr>
          <p:cNvPr id="23" name="文本框 22"/>
          <p:cNvSpPr txBox="1"/>
          <p:nvPr/>
        </p:nvSpPr>
        <p:spPr>
          <a:xfrm>
            <a:off x="5571490" y="3431540"/>
            <a:ext cx="2393315" cy="368300"/>
          </a:xfrm>
          <a:prstGeom prst="rect">
            <a:avLst/>
          </a:prstGeom>
          <a:noFill/>
        </p:spPr>
        <p:txBody>
          <a:bodyPr wrap="square" rtlCol="0">
            <a:spAutoFit/>
          </a:bodyPr>
          <a:p>
            <a:r>
              <a:rPr lang="en-US" altLang="zh-CN" b="1">
                <a:solidFill>
                  <a:srgbClr val="FF0000"/>
                </a:solidFill>
                <a:latin typeface="Microsoft YaHei" panose="020B0503020204020204" charset="-122"/>
                <a:ea typeface="Microsoft YaHei" panose="020B0503020204020204" charset="-122"/>
                <a:cs typeface="Times New Roman" panose="02020603050405020304" charset="0"/>
              </a:rPr>
              <a:t>Cross-Attention</a:t>
            </a:r>
            <a:endParaRPr lang="en-US" altLang="zh-CN" b="1">
              <a:solidFill>
                <a:srgbClr val="FF0000"/>
              </a:solidFill>
              <a:latin typeface="Microsoft YaHei" panose="020B0503020204020204" charset="-122"/>
              <a:ea typeface="Microsoft YaHei" panose="020B0503020204020204" charset="-122"/>
              <a:cs typeface="Times New Roman" panose="02020603050405020304" charset="0"/>
            </a:endParaRPr>
          </a:p>
        </p:txBody>
      </p:sp>
      <p:cxnSp>
        <p:nvCxnSpPr>
          <p:cNvPr id="24" name="直接连接符 23"/>
          <p:cNvCxnSpPr/>
          <p:nvPr/>
        </p:nvCxnSpPr>
        <p:spPr>
          <a:xfrm flipH="1">
            <a:off x="46990" y="3939540"/>
            <a:ext cx="12109450" cy="381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297180" y="1752600"/>
            <a:ext cx="2974975" cy="1060450"/>
          </a:xfrm>
          <a:prstGeom prst="rect">
            <a:avLst/>
          </a:prstGeom>
          <a:noFill/>
        </p:spPr>
        <p:txBody>
          <a:bodyPr wrap="square" rtlCol="0">
            <a:noAutofit/>
          </a:bodyPr>
          <a:p>
            <a:pPr algn="ctr"/>
            <a:r>
              <a:rPr lang="en-US" altLang="zh-CN" sz="2400" b="1">
                <a:latin typeface="Microsoft YaHei" panose="020B0503020204020204" charset="-122"/>
                <a:ea typeface="Microsoft YaHei" panose="020B0503020204020204" charset="-122"/>
              </a:rPr>
              <a:t>Cross-Attention</a:t>
            </a:r>
            <a:endParaRPr lang="en-US" altLang="zh-CN" sz="2400" b="1">
              <a:latin typeface="Microsoft YaHei" panose="020B0503020204020204" charset="-122"/>
              <a:ea typeface="Microsoft YaHei" panose="020B0503020204020204" charset="-122"/>
            </a:endParaRPr>
          </a:p>
          <a:p>
            <a:pPr algn="ctr"/>
            <a:r>
              <a:rPr lang="en-US" altLang="zh-CN" sz="2400" b="1">
                <a:latin typeface="Microsoft YaHei" panose="020B0503020204020204" charset="-122"/>
                <a:ea typeface="Microsoft YaHei" panose="020B0503020204020204" charset="-122"/>
              </a:rPr>
              <a:t>Workflow Schematic</a:t>
            </a:r>
            <a:endParaRPr lang="en-US" altLang="zh-CN" sz="2400" b="1">
              <a:latin typeface="Microsoft YaHei" panose="020B0503020204020204" charset="-122"/>
              <a:ea typeface="Microsoft YaHei" panose="020B0503020204020204" charset="-122"/>
            </a:endParaRPr>
          </a:p>
        </p:txBody>
      </p:sp>
      <p:grpSp>
        <p:nvGrpSpPr>
          <p:cNvPr id="28" name="组合 27"/>
          <p:cNvGrpSpPr/>
          <p:nvPr/>
        </p:nvGrpSpPr>
        <p:grpSpPr>
          <a:xfrm>
            <a:off x="6342380" y="1194435"/>
            <a:ext cx="1445895" cy="628015"/>
            <a:chOff x="4606" y="2107"/>
            <a:chExt cx="2152" cy="989"/>
          </a:xfrm>
        </p:grpSpPr>
        <p:sp>
          <p:nvSpPr>
            <p:cNvPr id="12" name="圆角矩形 11"/>
            <p:cNvSpPr/>
            <p:nvPr/>
          </p:nvSpPr>
          <p:spPr>
            <a:xfrm>
              <a:off x="4794" y="2107"/>
              <a:ext cx="1794" cy="989"/>
            </a:xfrm>
            <a:prstGeom prst="roundRect">
              <a:avLst/>
            </a:prstGeom>
            <a:solidFill>
              <a:schemeClr val="bg1"/>
            </a:solidFill>
            <a:ln w="19050">
              <a:solidFill>
                <a:srgbClr val="174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icrosoft YaHei" panose="020B0503020204020204" charset="-122"/>
                <a:ea typeface="Microsoft YaHei" panose="020B0503020204020204" charset="-122"/>
              </a:endParaRPr>
            </a:p>
          </p:txBody>
        </p:sp>
        <p:sp>
          <p:nvSpPr>
            <p:cNvPr id="13" name="文本框 12"/>
            <p:cNvSpPr txBox="1"/>
            <p:nvPr/>
          </p:nvSpPr>
          <p:spPr>
            <a:xfrm>
              <a:off x="4606" y="2156"/>
              <a:ext cx="2152" cy="822"/>
            </a:xfrm>
            <a:prstGeom prst="rect">
              <a:avLst/>
            </a:prstGeom>
            <a:noFill/>
          </p:spPr>
          <p:txBody>
            <a:bodyPr wrap="square" rtlCol="0">
              <a:spAutoFit/>
            </a:bodyPr>
            <a:p>
              <a:pPr algn="ctr"/>
              <a:r>
                <a:rPr lang="en-US" altLang="zh-CN" sz="1400">
                  <a:latin typeface="Microsoft YaHei" panose="020B0503020204020204" charset="-122"/>
                  <a:ea typeface="Microsoft YaHei" panose="020B0503020204020204" charset="-122"/>
                  <a:cs typeface="Times New Roman" panose="02020603050405020304" charset="0"/>
                </a:rPr>
                <a:t>Matrix Multiplication</a:t>
              </a:r>
              <a:endParaRPr lang="en-US" altLang="zh-CN" sz="1400">
                <a:latin typeface="Microsoft YaHei" panose="020B0503020204020204" charset="-122"/>
                <a:ea typeface="Microsoft YaHei" panose="020B0503020204020204" charset="-122"/>
                <a:cs typeface="Times New Roman" panose="02020603050405020304" charset="0"/>
              </a:endParaRPr>
            </a:p>
          </p:txBody>
        </p:sp>
      </p:grpSp>
      <p:sp>
        <p:nvSpPr>
          <p:cNvPr id="30" name="文本框 29"/>
          <p:cNvSpPr txBox="1"/>
          <p:nvPr/>
        </p:nvSpPr>
        <p:spPr>
          <a:xfrm>
            <a:off x="116840" y="4548505"/>
            <a:ext cx="3155315" cy="1198880"/>
          </a:xfrm>
          <a:prstGeom prst="rect">
            <a:avLst/>
          </a:prstGeom>
          <a:noFill/>
        </p:spPr>
        <p:txBody>
          <a:bodyPr wrap="square" rtlCol="0">
            <a:spAutoFit/>
          </a:bodyPr>
          <a:p>
            <a:pPr algn="ctr"/>
            <a:r>
              <a:rPr lang="en-US" altLang="zh-CN" sz="2400" b="1">
                <a:latin typeface="Microsoft YaHei" panose="020B0503020204020204" charset="-122"/>
                <a:ea typeface="Microsoft YaHei" panose="020B0503020204020204" charset="-122"/>
              </a:rPr>
              <a:t>Interpretability of Attention Mechanism</a:t>
            </a:r>
            <a:endParaRPr lang="en-US" altLang="zh-CN" sz="2400" b="1">
              <a:latin typeface="Microsoft YaHei" panose="020B0503020204020204" charset="-122"/>
              <a:ea typeface="Microsoft YaHei" panose="020B0503020204020204" charset="-122"/>
            </a:endParaRPr>
          </a:p>
        </p:txBody>
      </p:sp>
      <p:sp>
        <p:nvSpPr>
          <p:cNvPr id="32" name="文本框 31"/>
          <p:cNvSpPr txBox="1"/>
          <p:nvPr/>
        </p:nvSpPr>
        <p:spPr>
          <a:xfrm>
            <a:off x="4012565" y="1676400"/>
            <a:ext cx="1448435" cy="776605"/>
          </a:xfrm>
          <a:prstGeom prst="rect">
            <a:avLst/>
          </a:prstGeom>
          <a:noFill/>
          <a:ln w="31750" cmpd="sng">
            <a:solidFill>
              <a:srgbClr val="FF0000"/>
            </a:solidFill>
            <a:prstDash val="solid"/>
          </a:ln>
        </p:spPr>
        <p:txBody>
          <a:bodyPr wrap="square" rtlCol="0" anchor="ctr" anchorCtr="0">
            <a:noAutofit/>
          </a:bodyPr>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Extraction</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33" name="文本框 32"/>
          <p:cNvSpPr txBox="1"/>
          <p:nvPr/>
        </p:nvSpPr>
        <p:spPr>
          <a:xfrm>
            <a:off x="4010660" y="2954655"/>
            <a:ext cx="1448435" cy="738505"/>
          </a:xfrm>
          <a:prstGeom prst="rect">
            <a:avLst/>
          </a:prstGeom>
          <a:noFill/>
          <a:ln w="31750" cmpd="sng">
            <a:solidFill>
              <a:srgbClr val="FF0000"/>
            </a:solidFill>
            <a:prstDash val="solid"/>
          </a:ln>
        </p:spPr>
        <p:txBody>
          <a:bodyPr wrap="square" rtlCol="0" anchor="ctr" anchorCtr="0">
            <a:noAutofit/>
          </a:bodyPr>
          <a:p>
            <a:pPr algn="ct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Feature Engineering</a:t>
            </a:r>
            <a:b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br>
            <a:r>
              <a:rPr lang="en-US" altLang="zh-CN" sz="1600" b="1">
                <a:solidFill>
                  <a:schemeClr val="tx1"/>
                </a:solidFill>
                <a:latin typeface="Microsoft YaHei" panose="020B0503020204020204" charset="-122"/>
                <a:ea typeface="Microsoft YaHei" panose="020B0503020204020204" charset="-122"/>
                <a:cs typeface="Times New Roman" panose="02020603050405020304" charset="0"/>
              </a:rPr>
              <a:t>(MOI Tensor)</a:t>
            </a:r>
            <a:endParaRPr lang="en-US" altLang="zh-CN" sz="1600" b="1">
              <a:solidFill>
                <a:schemeClr val="tx1"/>
              </a:solidFill>
              <a:latin typeface="Microsoft YaHei" panose="020B0503020204020204" charset="-122"/>
              <a:ea typeface="Microsoft YaHei" panose="020B0503020204020204" charset="-122"/>
              <a:cs typeface="Times New Roman" panose="02020603050405020304" charset="0"/>
            </a:endParaRPr>
          </a:p>
        </p:txBody>
      </p:sp>
      <p:grpSp>
        <p:nvGrpSpPr>
          <p:cNvPr id="43" name="组合 42"/>
          <p:cNvGrpSpPr/>
          <p:nvPr/>
        </p:nvGrpSpPr>
        <p:grpSpPr>
          <a:xfrm>
            <a:off x="3488055" y="3972560"/>
            <a:ext cx="8304530" cy="2435860"/>
            <a:chOff x="5493" y="6256"/>
            <a:chExt cx="13078" cy="3836"/>
          </a:xfrm>
        </p:grpSpPr>
        <p:grpSp>
          <p:nvGrpSpPr>
            <p:cNvPr id="36" name="组合 35"/>
            <p:cNvGrpSpPr/>
            <p:nvPr/>
          </p:nvGrpSpPr>
          <p:grpSpPr>
            <a:xfrm>
              <a:off x="5493" y="6256"/>
              <a:ext cx="13078" cy="3836"/>
              <a:chOff x="5493" y="6206"/>
              <a:chExt cx="13078" cy="3836"/>
            </a:xfrm>
          </p:grpSpPr>
          <p:grpSp>
            <p:nvGrpSpPr>
              <p:cNvPr id="6" name="组合 5"/>
              <p:cNvGrpSpPr/>
              <p:nvPr/>
            </p:nvGrpSpPr>
            <p:grpSpPr>
              <a:xfrm>
                <a:off x="5493" y="6206"/>
                <a:ext cx="13079" cy="3837"/>
                <a:chOff x="563" y="5886"/>
                <a:chExt cx="12539" cy="3580"/>
              </a:xfrm>
            </p:grpSpPr>
            <p:pic>
              <p:nvPicPr>
                <p:cNvPr id="16" name="图片 15"/>
                <p:cNvPicPr>
                  <a:picLocks noChangeAspect="1"/>
                </p:cNvPicPr>
                <p:nvPr/>
              </p:nvPicPr>
              <p:blipFill>
                <a:blip r:embed="rId1"/>
                <a:srcRect t="6999" b="8882"/>
                <a:stretch>
                  <a:fillRect/>
                </a:stretch>
              </p:blipFill>
              <p:spPr>
                <a:xfrm>
                  <a:off x="563" y="5886"/>
                  <a:ext cx="12539" cy="3580"/>
                </a:xfrm>
                <a:prstGeom prst="rect">
                  <a:avLst/>
                </a:prstGeom>
              </p:spPr>
            </p:pic>
            <p:sp>
              <p:nvSpPr>
                <p:cNvPr id="5" name="文本框 4"/>
                <p:cNvSpPr txBox="1"/>
                <p:nvPr/>
              </p:nvSpPr>
              <p:spPr>
                <a:xfrm>
                  <a:off x="563" y="9153"/>
                  <a:ext cx="1297" cy="313"/>
                </a:xfrm>
                <a:prstGeom prst="rect">
                  <a:avLst/>
                </a:prstGeom>
                <a:solidFill>
                  <a:schemeClr val="bg1"/>
                </a:solidFill>
              </p:spPr>
              <p:txBody>
                <a:bodyPr wrap="square" rtlCol="0">
                  <a:noAutofit/>
                </a:bodyPr>
                <a:p>
                  <a:endParaRPr lang="zh-CN" altLang="en-US">
                    <a:latin typeface="Microsoft YaHei" panose="020B0503020204020204" charset="-122"/>
                    <a:ea typeface="Microsoft YaHei" panose="020B0503020204020204" charset="-122"/>
                  </a:endParaRPr>
                </a:p>
              </p:txBody>
            </p:sp>
          </p:grpSp>
          <p:sp>
            <p:nvSpPr>
              <p:cNvPr id="35" name="文本框 34"/>
              <p:cNvSpPr txBox="1"/>
              <p:nvPr/>
            </p:nvSpPr>
            <p:spPr>
              <a:xfrm>
                <a:off x="12093" y="8574"/>
                <a:ext cx="990" cy="483"/>
              </a:xfrm>
              <a:prstGeom prst="rect">
                <a:avLst/>
              </a:prstGeom>
              <a:solidFill>
                <a:srgbClr val="FDE724"/>
              </a:solidFill>
            </p:spPr>
            <p:txBody>
              <a:bodyPr wrap="square" rtlCol="0">
                <a:spAutoFit/>
              </a:bodyPr>
              <a:p>
                <a:r>
                  <a:rPr lang="en-US" altLang="zh-CN" sz="1400" b="1">
                    <a:solidFill>
                      <a:srgbClr val="FF0000"/>
                    </a:solidFill>
                    <a:latin typeface="Times New Roman" panose="02020603050405020304" charset="0"/>
                    <a:ea typeface="Microsoft YaHei" panose="020B0503020204020204" charset="-122"/>
                    <a:cs typeface="Times New Roman" panose="02020603050405020304" charset="0"/>
                  </a:rPr>
                  <a:t>0.433</a:t>
                </a:r>
                <a:endParaRPr lang="en-US" altLang="zh-CN" sz="1400" b="1">
                  <a:solidFill>
                    <a:srgbClr val="FF0000"/>
                  </a:solidFill>
                  <a:latin typeface="Times New Roman" panose="02020603050405020304" charset="0"/>
                  <a:ea typeface="Microsoft YaHei" panose="020B0503020204020204" charset="-122"/>
                  <a:cs typeface="Times New Roman" panose="02020603050405020304" charset="0"/>
                </a:endParaRPr>
              </a:p>
            </p:txBody>
          </p:sp>
        </p:grpSp>
        <p:sp>
          <p:nvSpPr>
            <p:cNvPr id="37" name="文本框 36"/>
            <p:cNvSpPr txBox="1"/>
            <p:nvPr/>
          </p:nvSpPr>
          <p:spPr>
            <a:xfrm>
              <a:off x="12093" y="7163"/>
              <a:ext cx="990" cy="483"/>
            </a:xfrm>
            <a:prstGeom prst="rect">
              <a:avLst/>
            </a:prstGeom>
            <a:solidFill>
              <a:srgbClr val="37588C"/>
            </a:solidFill>
          </p:spPr>
          <p:txBody>
            <a:bodyPr wrap="square" rtlCol="0">
              <a:spAutoFit/>
            </a:bodyPr>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0.200</a:t>
              </a:r>
              <a:endParaRPr lang="en-US" altLang="zh-CN" sz="1400" b="1">
                <a:solidFill>
                  <a:schemeClr val="bg1"/>
                </a:solidFill>
                <a:latin typeface="Times New Roman" panose="02020603050405020304" charset="0"/>
                <a:ea typeface="Microsoft YaHei" panose="020B0503020204020204" charset="-122"/>
                <a:cs typeface="Times New Roman" panose="02020603050405020304" charset="0"/>
              </a:endParaRPr>
            </a:p>
          </p:txBody>
        </p:sp>
        <p:sp>
          <p:nvSpPr>
            <p:cNvPr id="38" name="文本框 37"/>
            <p:cNvSpPr txBox="1"/>
            <p:nvPr/>
          </p:nvSpPr>
          <p:spPr>
            <a:xfrm>
              <a:off x="10773" y="7163"/>
              <a:ext cx="990" cy="483"/>
            </a:xfrm>
            <a:prstGeom prst="rect">
              <a:avLst/>
            </a:prstGeom>
            <a:solidFill>
              <a:srgbClr val="440154"/>
            </a:solidFill>
          </p:spPr>
          <p:txBody>
            <a:bodyPr wrap="square" rtlCol="0">
              <a:spAutoFit/>
            </a:bodyPr>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0.113</a:t>
              </a:r>
              <a:endParaRPr lang="en-US" altLang="zh-CN" sz="1400" b="1">
                <a:solidFill>
                  <a:schemeClr val="bg1"/>
                </a:solidFill>
                <a:latin typeface="Times New Roman" panose="02020603050405020304" charset="0"/>
                <a:ea typeface="Microsoft YaHei" panose="020B0503020204020204" charset="-122"/>
                <a:cs typeface="Times New Roman" panose="02020603050405020304" charset="0"/>
              </a:endParaRPr>
            </a:p>
          </p:txBody>
        </p:sp>
        <p:sp>
          <p:nvSpPr>
            <p:cNvPr id="42" name="文本框 41"/>
            <p:cNvSpPr txBox="1"/>
            <p:nvPr/>
          </p:nvSpPr>
          <p:spPr>
            <a:xfrm>
              <a:off x="10773" y="8623"/>
              <a:ext cx="990" cy="483"/>
            </a:xfrm>
            <a:prstGeom prst="rect">
              <a:avLst/>
            </a:prstGeom>
            <a:solidFill>
              <a:srgbClr val="26808E"/>
            </a:solidFill>
          </p:spPr>
          <p:txBody>
            <a:bodyPr wrap="square" rtlCol="0">
              <a:spAutoFit/>
            </a:bodyPr>
            <a:p>
              <a:r>
                <a:rPr lang="en-US" altLang="zh-CN" sz="1400" b="1">
                  <a:solidFill>
                    <a:schemeClr val="bg1"/>
                  </a:solidFill>
                  <a:latin typeface="Times New Roman" panose="02020603050405020304" charset="0"/>
                  <a:ea typeface="Microsoft YaHei" panose="020B0503020204020204" charset="-122"/>
                  <a:cs typeface="Times New Roman" panose="02020603050405020304" charset="0"/>
                </a:rPr>
                <a:t>0.254</a:t>
              </a:r>
              <a:endParaRPr lang="en-US" altLang="zh-CN" sz="1400" b="1">
                <a:solidFill>
                  <a:schemeClr val="bg1"/>
                </a:solidFill>
                <a:latin typeface="Times New Roman" panose="02020603050405020304" charset="0"/>
                <a:ea typeface="Microsoft YaHei" panose="020B0503020204020204" charset="-122"/>
                <a:cs typeface="Times New Roman" panose="02020603050405020304" charset="0"/>
              </a:endParaRPr>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down)">
                                      <p:cBhvr>
                                        <p:cTn id="19" dur="500"/>
                                        <p:tgtEl>
                                          <p:spTgt spid="4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down)">
                                      <p:cBhvr>
                                        <p:cTn id="22" dur="500"/>
                                        <p:tgtEl>
                                          <p:spTgt spid="4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down)">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par>
                                <p:cTn id="31" presetID="22" presetClass="entr" presetSubtype="4"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par>
                                <p:cTn id="39" presetID="22" presetClass="entr" presetSubtype="4"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down)">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down)">
                                      <p:cBhvr>
                                        <p:cTn id="46" dur="500"/>
                                        <p:tgtEl>
                                          <p:spTgt spid="45"/>
                                        </p:tgtEl>
                                      </p:cBhvr>
                                    </p:animEffect>
                                  </p:childTnLst>
                                </p:cTn>
                              </p:par>
                              <p:par>
                                <p:cTn id="47" presetID="22" presetClass="entr" presetSubtype="4"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down)">
                                      <p:cBhvr>
                                        <p:cTn id="57" dur="500"/>
                                        <p:tgtEl>
                                          <p:spTgt spid="2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down)">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down)">
                                      <p:cBhvr>
                                        <p:cTn id="65" dur="500"/>
                                        <p:tgtEl>
                                          <p:spTgt spid="30"/>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down)">
                                      <p:cBhvr>
                                        <p:cTn id="68" dur="500"/>
                                        <p:tgtEl>
                                          <p:spTgt spid="26"/>
                                        </p:tgtEl>
                                      </p:cBhvr>
                                    </p:animEffect>
                                  </p:childTnLst>
                                </p:cTn>
                              </p:par>
                              <p:par>
                                <p:cTn id="69" presetID="22" presetClass="entr" presetSubtype="4" fill="hold" nodeType="with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down)">
                                      <p:cBhvr>
                                        <p:cTn id="7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bldLvl="0" animBg="1"/>
      <p:bldP spid="9" grpId="0"/>
      <p:bldP spid="40" grpId="0" bldLvl="0" animBg="1"/>
      <p:bldP spid="11" grpId="1"/>
      <p:bldP spid="10" grpId="1" animBg="1"/>
      <p:bldP spid="9" grpId="1"/>
      <p:bldP spid="40" grpId="1" animBg="1"/>
      <p:bldP spid="45" grpId="0" bldLvl="0" animBg="1"/>
      <p:bldP spid="45" grpId="1" animBg="1"/>
      <p:bldP spid="22" grpId="0" bldLvl="0" animBg="1"/>
      <p:bldP spid="23" grpId="0"/>
      <p:bldP spid="22" grpId="1" animBg="1"/>
      <p:bldP spid="23" grpId="1"/>
      <p:bldP spid="30" grpId="0"/>
      <p:bldP spid="26" grpId="0"/>
      <p:bldP spid="30" grpId="1"/>
      <p:bldP spid="26" grpId="1"/>
      <p:bldP spid="31" grpId="0" bldLvl="0" animBg="1"/>
      <p:bldP spid="31"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Methodological Evolution and Results</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90170" y="3190240"/>
            <a:ext cx="4018280" cy="3191510"/>
          </a:xfrm>
          <a:prstGeom prst="rect">
            <a:avLst/>
          </a:prstGeom>
        </p:spPr>
      </p:pic>
      <p:pic>
        <p:nvPicPr>
          <p:cNvPr id="6" name="图片 5"/>
          <p:cNvPicPr>
            <a:picLocks noChangeAspect="1"/>
          </p:cNvPicPr>
          <p:nvPr/>
        </p:nvPicPr>
        <p:blipFill>
          <a:blip r:embed="rId2"/>
          <a:srcRect b="2591"/>
          <a:stretch>
            <a:fillRect/>
          </a:stretch>
        </p:blipFill>
        <p:spPr>
          <a:xfrm>
            <a:off x="4083050" y="3188970"/>
            <a:ext cx="7927340" cy="3246120"/>
          </a:xfrm>
          <a:prstGeom prst="rect">
            <a:avLst/>
          </a:prstGeom>
        </p:spPr>
      </p:pic>
      <p:sp>
        <p:nvSpPr>
          <p:cNvPr id="7" name="文本框 6"/>
          <p:cNvSpPr txBox="1"/>
          <p:nvPr/>
        </p:nvSpPr>
        <p:spPr>
          <a:xfrm>
            <a:off x="52070" y="1168400"/>
            <a:ext cx="4030980" cy="2030095"/>
          </a:xfrm>
          <a:prstGeom prst="rect">
            <a:avLst/>
          </a:prstGeom>
          <a:noFill/>
        </p:spPr>
        <p:txBody>
          <a:bodyPr wrap="square" rtlCol="0">
            <a:spAutoFit/>
          </a:bodyPr>
          <a:p>
            <a:r>
              <a:rPr lang="en-US" altLang="zh-CN">
                <a:latin typeface="Microsoft YaHei" panose="020B0503020204020204" charset="-122"/>
                <a:ea typeface="Microsoft YaHei" panose="020B0503020204020204" charset="-122"/>
              </a:rPr>
              <a:t>- Phase 1 (Data and Tuning) : </a:t>
            </a:r>
            <a:r>
              <a:rPr lang="en-US" altLang="zh-CN" b="1">
                <a:solidFill>
                  <a:schemeClr val="accent1">
                    <a:lumMod val="75000"/>
                  </a:schemeClr>
                </a:solidFill>
                <a:latin typeface="Microsoft YaHei" panose="020B0503020204020204" charset="-122"/>
                <a:ea typeface="Microsoft YaHei" panose="020B0503020204020204" charset="-122"/>
              </a:rPr>
              <a:t>Scaled the dataset</a:t>
            </a:r>
            <a:r>
              <a:rPr lang="en-US" altLang="zh-CN">
                <a:latin typeface="Microsoft YaHei" panose="020B0503020204020204" charset="-122"/>
                <a:ea typeface="Microsoft YaHei" panose="020B0503020204020204" charset="-122"/>
              </a:rPr>
              <a:t> from 25k per class to 100k per class and optimized hyperparameters.</a:t>
            </a:r>
            <a:endParaRPr lang="zh-CN" altLang="en-US">
              <a:latin typeface="Microsoft YaHei" panose="020B0503020204020204" charset="-122"/>
              <a:ea typeface="Microsoft YaHei" panose="020B0503020204020204" charset="-122"/>
            </a:endParaRPr>
          </a:p>
          <a:p>
            <a:r>
              <a:rPr lang="en-US" altLang="zh-CN">
                <a:latin typeface="Microsoft YaHei" panose="020B0503020204020204" charset="-122"/>
                <a:ea typeface="Microsoft YaHei" panose="020B0503020204020204" charset="-122"/>
              </a:rPr>
              <a:t>- Result : Performance improved to 94.75%, but encountered a </a:t>
            </a:r>
            <a:r>
              <a:rPr lang="en-US" altLang="zh-CN" b="1">
                <a:solidFill>
                  <a:schemeClr val="accent1">
                    <a:lumMod val="75000"/>
                  </a:schemeClr>
                </a:solidFill>
                <a:latin typeface="Microsoft YaHei" panose="020B0503020204020204" charset="-122"/>
                <a:ea typeface="Microsoft YaHei" panose="020B0503020204020204" charset="-122"/>
              </a:rPr>
              <a:t>bottleneck</a:t>
            </a:r>
            <a:r>
              <a:rPr lang="en-US" altLang="zh-CN">
                <a:latin typeface="Microsoft YaHei" panose="020B0503020204020204" charset="-122"/>
                <a:ea typeface="Microsoft YaHei" panose="020B0503020204020204" charset="-122"/>
              </a:rPr>
              <a:t>.</a:t>
            </a:r>
            <a:endParaRPr lang="en-US" altLang="zh-CN">
              <a:latin typeface="Microsoft YaHei" panose="020B0503020204020204" charset="-122"/>
              <a:ea typeface="Microsoft YaHei" panose="020B0503020204020204" charset="-122"/>
            </a:endParaRPr>
          </a:p>
        </p:txBody>
      </p:sp>
      <p:sp>
        <p:nvSpPr>
          <p:cNvPr id="8" name="文本框 7"/>
          <p:cNvSpPr txBox="1"/>
          <p:nvPr/>
        </p:nvSpPr>
        <p:spPr>
          <a:xfrm>
            <a:off x="4083050" y="1168400"/>
            <a:ext cx="4032250" cy="2072005"/>
          </a:xfrm>
          <a:prstGeom prst="rect">
            <a:avLst/>
          </a:prstGeom>
          <a:noFill/>
        </p:spPr>
        <p:txBody>
          <a:bodyPr wrap="square" rtlCol="0">
            <a:noAutofit/>
          </a:bodyPr>
          <a:p>
            <a:r>
              <a:rPr lang="en-US" altLang="zh-CN">
                <a:latin typeface="Microsoft YaHei" panose="020B0503020204020204" charset="-122"/>
                <a:ea typeface="Microsoft YaHei" panose="020B0503020204020204" charset="-122"/>
                <a:cs typeface="Microsoft YaHei" panose="020B0503020204020204" charset="-122"/>
              </a:rPr>
              <a:t>- Phase 2 (Architecture Adaptation) : Modified Conv1 and Pooling, reduced premature compression of information</a:t>
            </a:r>
            <a:endParaRPr lang="en-US" altLang="zh-CN">
              <a:latin typeface="Microsoft YaHei" panose="020B0503020204020204" charset="-122"/>
              <a:ea typeface="Microsoft YaHei" panose="020B0503020204020204" charset="-122"/>
              <a:cs typeface="Microsoft YaHei" panose="020B0503020204020204" charset="-122"/>
            </a:endParaRPr>
          </a:p>
          <a:p>
            <a:r>
              <a:rPr lang="en-US" altLang="zh-CN">
                <a:latin typeface="Microsoft YaHei" panose="020B0503020204020204" charset="-122"/>
                <a:ea typeface="Microsoft YaHei" panose="020B0503020204020204" charset="-122"/>
                <a:cs typeface="Microsoft YaHei" panose="020B0503020204020204" charset="-122"/>
              </a:rPr>
              <a:t>- Result : Performance improved to 95.34%, demonstrated the importance of </a:t>
            </a:r>
            <a:r>
              <a:rPr lang="en-US" altLang="zh-CN" b="1">
                <a:solidFill>
                  <a:schemeClr val="accent1">
                    <a:lumMod val="75000"/>
                  </a:schemeClr>
                </a:solidFill>
                <a:latin typeface="Microsoft YaHei" panose="020B0503020204020204" charset="-122"/>
                <a:ea typeface="Microsoft YaHei" panose="020B0503020204020204" charset="-122"/>
                <a:cs typeface="Microsoft YaHei" panose="020B0503020204020204" charset="-122"/>
              </a:rPr>
              <a:t>spatial resolution</a:t>
            </a:r>
            <a:r>
              <a:rPr lang="en-US" altLang="zh-CN">
                <a:latin typeface="Microsoft YaHei" panose="020B0503020204020204" charset="-122"/>
                <a:ea typeface="Microsoft YaHei" panose="020B0503020204020204" charset="-122"/>
                <a:cs typeface="Microsoft YaHei" panose="020B0503020204020204" charset="-122"/>
              </a:rPr>
              <a:t>.</a:t>
            </a:r>
            <a:endParaRPr lang="zh-CN" altLang="en-US">
              <a:latin typeface="Microsoft YaHei" panose="020B0503020204020204" charset="-122"/>
              <a:ea typeface="Microsoft YaHei" panose="020B0503020204020204" charset="-122"/>
              <a:cs typeface="Microsoft YaHei" panose="020B0503020204020204" charset="-122"/>
            </a:endParaRPr>
          </a:p>
          <a:p>
            <a:endParaRPr lang="en-US" altLang="zh-CN">
              <a:latin typeface="Microsoft YaHei" panose="020B0503020204020204" charset="-122"/>
              <a:ea typeface="Microsoft YaHei" panose="020B0503020204020204" charset="-122"/>
              <a:cs typeface="Microsoft YaHei" panose="020B0503020204020204" charset="-122"/>
            </a:endParaRPr>
          </a:p>
        </p:txBody>
      </p:sp>
      <p:sp>
        <p:nvSpPr>
          <p:cNvPr id="9" name="文本框 8"/>
          <p:cNvSpPr txBox="1"/>
          <p:nvPr/>
        </p:nvSpPr>
        <p:spPr>
          <a:xfrm>
            <a:off x="8173085" y="1168400"/>
            <a:ext cx="3903980" cy="1753235"/>
          </a:xfrm>
          <a:prstGeom prst="rect">
            <a:avLst/>
          </a:prstGeom>
          <a:noFill/>
        </p:spPr>
        <p:txBody>
          <a:bodyPr wrap="square" rtlCol="0">
            <a:spAutoFit/>
          </a:bodyPr>
          <a:p>
            <a:r>
              <a:rPr lang="en-US" altLang="zh-CN">
                <a:latin typeface="Microsoft YaHei" panose="020B0503020204020204" charset="-122"/>
                <a:ea typeface="Microsoft YaHei" panose="020B0503020204020204" charset="-122"/>
                <a:cs typeface="Microsoft YaHei" panose="020B0503020204020204" charset="-122"/>
              </a:rPr>
              <a:t>- Phase 3 (Mechanism Innovation) : Introduced Cross-Attention mechanism, utilized physical information to query feature extracted by CNN </a:t>
            </a:r>
            <a:endParaRPr lang="en-US" altLang="zh-CN">
              <a:latin typeface="Microsoft YaHei" panose="020B0503020204020204" charset="-122"/>
              <a:ea typeface="Microsoft YaHei" panose="020B0503020204020204" charset="-122"/>
              <a:cs typeface="Microsoft YaHei" panose="020B0503020204020204" charset="-122"/>
            </a:endParaRPr>
          </a:p>
          <a:p>
            <a:r>
              <a:rPr lang="en-US" altLang="zh-CN">
                <a:latin typeface="Microsoft YaHei" panose="020B0503020204020204" charset="-122"/>
                <a:ea typeface="Microsoft YaHei" panose="020B0503020204020204" charset="-122"/>
                <a:cs typeface="Microsoft YaHei" panose="020B0503020204020204" charset="-122"/>
              </a:rPr>
              <a:t>- Result : Achieved </a:t>
            </a:r>
            <a:r>
              <a:rPr lang="en-US" altLang="zh-CN" b="1">
                <a:solidFill>
                  <a:schemeClr val="accent1">
                    <a:lumMod val="75000"/>
                  </a:schemeClr>
                </a:solidFill>
                <a:latin typeface="Microsoft YaHei" panose="020B0503020204020204" charset="-122"/>
                <a:ea typeface="Microsoft YaHei" panose="020B0503020204020204" charset="-122"/>
                <a:cs typeface="Microsoft YaHei" panose="020B0503020204020204" charset="-122"/>
              </a:rPr>
              <a:t>96.10%</a:t>
            </a:r>
            <a:endParaRPr lang="en-US" altLang="zh-CN" b="1">
              <a:solidFill>
                <a:schemeClr val="accent1">
                  <a:lumMod val="75000"/>
                </a:schemeClr>
              </a:solidFill>
              <a:latin typeface="Microsoft YaHei" panose="020B0503020204020204" charset="-122"/>
              <a:ea typeface="Microsoft YaHei" panose="020B0503020204020204" charset="-122"/>
              <a:cs typeface="Microsoft YaHei" panose="020B0503020204020204" charset="-122"/>
            </a:endParaRPr>
          </a:p>
        </p:txBody>
      </p:sp>
      <p:cxnSp>
        <p:nvCxnSpPr>
          <p:cNvPr id="20" name="直接连接符 19"/>
          <p:cNvCxnSpPr/>
          <p:nvPr/>
        </p:nvCxnSpPr>
        <p:spPr>
          <a:xfrm flipH="1">
            <a:off x="127000" y="3196590"/>
            <a:ext cx="11950700" cy="3873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en-US" altLang="zh-CN"/>
              <a:t>Summary:Research Roadmap and Timeline</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normAutofit/>
          </a:bodyPr>
          <a:p>
            <a:fld id="{49AE70B2-8BF9-45C0-BB95-33D1B9D3A854}" type="slidenum">
              <a:rPr lang="zh-CN" altLang="en-US" smtClean="0"/>
            </a:fld>
            <a:endParaRPr lang="en-US" altLang="zh-CN" smtClean="0"/>
          </a:p>
        </p:txBody>
      </p:sp>
      <p:pic>
        <p:nvPicPr>
          <p:cNvPr id="6" name="图片 5" descr="Gemini_Generated_Image_Timeline_Thesisproposal"/>
          <p:cNvPicPr>
            <a:picLocks noChangeAspect="1"/>
          </p:cNvPicPr>
          <p:nvPr/>
        </p:nvPicPr>
        <p:blipFill>
          <a:blip r:embed="rId1"/>
          <a:srcRect l="781" t="22098" r="729" b="6430"/>
          <a:stretch>
            <a:fillRect/>
          </a:stretch>
        </p:blipFill>
        <p:spPr>
          <a:xfrm>
            <a:off x="95250" y="1390015"/>
            <a:ext cx="12007850" cy="4787900"/>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305560"/>
            <a:ext cx="12209780" cy="4462145"/>
          </a:xfrm>
          <a:prstGeom prst="rect">
            <a:avLst/>
          </a:prstGeom>
          <a:solidFill>
            <a:srgbClr val="17499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3789045" y="2976880"/>
            <a:ext cx="4745990" cy="1106805"/>
          </a:xfrm>
          <a:prstGeom prst="rect">
            <a:avLst/>
          </a:prstGeom>
          <a:noFill/>
        </p:spPr>
        <p:txBody>
          <a:bodyPr wrap="square" rtlCol="0">
            <a:spAutoFit/>
          </a:bodyPr>
          <a:p>
            <a:pPr algn="ctr"/>
            <a:r>
              <a:rPr lang="en-US" altLang="zh-CN" sz="6600" b="1">
                <a:solidFill>
                  <a:schemeClr val="bg1"/>
                </a:solidFill>
                <a:latin typeface="Times New Roman" panose="02020603050405020304" charset="0"/>
                <a:cs typeface="Times New Roman" panose="02020603050405020304" charset="0"/>
              </a:rPr>
              <a:t>Thank You</a:t>
            </a:r>
            <a:r>
              <a:rPr lang="zh-CN" altLang="en-US" sz="6600" b="1">
                <a:solidFill>
                  <a:schemeClr val="bg1"/>
                </a:solidFill>
                <a:latin typeface="Times New Roman" panose="02020603050405020304" charset="0"/>
                <a:cs typeface="Times New Roman" panose="02020603050405020304" charset="0"/>
              </a:rPr>
              <a:t>！</a:t>
            </a:r>
            <a:endParaRPr lang="zh-CN" altLang="en-US" sz="6600" b="1">
              <a:solidFill>
                <a:schemeClr val="bg1"/>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MATE: A new generation detector</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pic>
        <p:nvPicPr>
          <p:cNvPr id="7" name="图片 6"/>
          <p:cNvPicPr>
            <a:picLocks noChangeAspect="1"/>
          </p:cNvPicPr>
          <p:nvPr/>
        </p:nvPicPr>
        <p:blipFill>
          <a:blip r:embed="rId1"/>
          <a:srcRect t="12232" r="3932"/>
          <a:stretch>
            <a:fillRect/>
          </a:stretch>
        </p:blipFill>
        <p:spPr>
          <a:xfrm>
            <a:off x="463550" y="1141095"/>
            <a:ext cx="10260330" cy="5273040"/>
          </a:xfrm>
          <a:prstGeom prst="rect">
            <a:avLst/>
          </a:prstGeom>
        </p:spPr>
      </p:pic>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2"/>
          <p:cNvSpPr txBox="1"/>
          <p:nvPr/>
        </p:nvSpPr>
        <p:spPr>
          <a:xfrm>
            <a:off x="2012950" y="-22225"/>
            <a:ext cx="4064000" cy="368300"/>
          </a:xfrm>
          <a:prstGeom prst="rect">
            <a:avLst/>
          </a:prstGeom>
          <a:noFill/>
        </p:spPr>
        <p:txBody>
          <a:bodyPr wrap="square" rtlCol="0">
            <a:spAutoFit/>
          </a:bodyPr>
          <a:p>
            <a:endParaRPr lang="zh-CN" altLang="en-US"/>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 name="图片 21"/>
          <p:cNvPicPr>
            <a:picLocks noChangeAspect="1"/>
          </p:cNvPicPr>
          <p:nvPr/>
        </p:nvPicPr>
        <p:blipFill>
          <a:blip r:embed="rId1"/>
          <a:stretch>
            <a:fillRect/>
          </a:stretch>
        </p:blipFill>
        <p:spPr>
          <a:xfrm>
            <a:off x="6806565" y="3048000"/>
            <a:ext cx="4375150" cy="2905760"/>
          </a:xfrm>
          <a:prstGeom prst="rect">
            <a:avLst/>
          </a:prstGeom>
        </p:spPr>
      </p:pic>
      <p:sp>
        <p:nvSpPr>
          <p:cNvPr id="4" name="标题 3"/>
          <p:cNvSpPr>
            <a:spLocks noGrp="1"/>
          </p:cNvSpPr>
          <p:nvPr>
            <p:ph type="title"/>
          </p:nvPr>
        </p:nvSpPr>
        <p:spPr/>
        <p:txBody>
          <a:bodyPr/>
          <a:p>
            <a:r>
              <a:rPr lang="en-US" altLang="zh-CN">
                <a:sym typeface="+mn-ea"/>
              </a:rPr>
              <a:t>Detailed Motivation </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
        <p:nvSpPr>
          <p:cNvPr id="15" name="灯片编号占位符 14"/>
          <p:cNvSpPr>
            <a:spLocks noGrp="1"/>
          </p:cNvSpPr>
          <p:nvPr>
            <p:custDataLst>
              <p:tags r:id="rId2"/>
            </p:custDataLst>
          </p:nvPr>
        </p:nvSpPr>
        <p:spPr>
          <a:xfrm>
            <a:off x="11186160" y="6549390"/>
            <a:ext cx="455930" cy="316865"/>
          </a:xfrm>
          <a:prstGeom prst="rect">
            <a:avLst/>
          </a:prstGeom>
        </p:spPr>
        <p:txBody>
          <a:bodyPr vert="horz" lIns="91440" tIns="45720" rIns="91440" bIns="45720" rtlCol="0" anchor="ctr">
            <a:no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z="1800" smtClean="0">
                <a:solidFill>
                  <a:schemeClr val="bg1"/>
                </a:solidFill>
                <a:latin typeface="Times New Roman" panose="02020603050405020304" charset="0"/>
                <a:cs typeface="Times New Roman" panose="02020603050405020304" charset="0"/>
              </a:rPr>
            </a:fld>
            <a:endParaRPr lang="zh-CN" altLang="en-US" sz="1800" dirty="0">
              <a:solidFill>
                <a:schemeClr val="bg1"/>
              </a:solidFill>
              <a:latin typeface="Times New Roman" panose="02020603050405020304" charset="0"/>
              <a:cs typeface="Times New Roman" panose="02020603050405020304" charset="0"/>
            </a:endParaRPr>
          </a:p>
        </p:txBody>
      </p:sp>
      <p:sp>
        <p:nvSpPr>
          <p:cNvPr id="70" name="文本框 69"/>
          <p:cNvSpPr txBox="1"/>
          <p:nvPr/>
        </p:nvSpPr>
        <p:spPr>
          <a:xfrm>
            <a:off x="26035" y="4063365"/>
            <a:ext cx="1849755" cy="368300"/>
          </a:xfrm>
          <a:prstGeom prst="rect">
            <a:avLst/>
          </a:prstGeom>
          <a:solidFill>
            <a:schemeClr val="bg1"/>
          </a:solidFill>
        </p:spPr>
        <p:txBody>
          <a:bodyPr wrap="square" rtlCol="0">
            <a:spAutoFit/>
          </a:bodyPr>
          <a:p>
            <a:endParaRPr lang="zh-CN" altLang="en-US"/>
          </a:p>
        </p:txBody>
      </p:sp>
      <p:sp>
        <p:nvSpPr>
          <p:cNvPr id="87" name="文本框 86"/>
          <p:cNvSpPr txBox="1"/>
          <p:nvPr/>
        </p:nvSpPr>
        <p:spPr>
          <a:xfrm>
            <a:off x="316230" y="1269365"/>
            <a:ext cx="3890645" cy="460375"/>
          </a:xfrm>
          <a:prstGeom prst="rect">
            <a:avLst/>
          </a:prstGeom>
          <a:noFill/>
        </p:spPr>
        <p:txBody>
          <a:bodyPr wrap="square" rtlCol="0">
            <a:spAutoFit/>
          </a:bodyPr>
          <a:p>
            <a:r>
              <a:rPr lang="en-US" altLang="zh-CN" sz="2400" b="1"/>
              <a:t>Motivation</a:t>
            </a:r>
            <a:r>
              <a:rPr lang="zh-CN" altLang="en-US" sz="2400" b="1"/>
              <a:t>：</a:t>
            </a:r>
            <a:endParaRPr lang="en-US" altLang="zh-CN" sz="2000" b="1"/>
          </a:p>
        </p:txBody>
      </p:sp>
      <p:sp>
        <p:nvSpPr>
          <p:cNvPr id="8" name="文本框 7"/>
          <p:cNvSpPr txBox="1"/>
          <p:nvPr/>
        </p:nvSpPr>
        <p:spPr>
          <a:xfrm>
            <a:off x="316230" y="1863090"/>
            <a:ext cx="4906010" cy="706755"/>
          </a:xfrm>
          <a:prstGeom prst="rect">
            <a:avLst/>
          </a:prstGeom>
          <a:noFill/>
        </p:spPr>
        <p:txBody>
          <a:bodyPr wrap="square" rtlCol="0">
            <a:spAutoFit/>
          </a:bodyPr>
          <a:p>
            <a:pPr marL="342900" indent="-342900">
              <a:buFont typeface="Wingdings" panose="05000000000000000000" charset="0"/>
              <a:buChar char="n"/>
            </a:pPr>
            <a:r>
              <a:rPr lang="en-US" altLang="zh-CN" sz="2000" b="1"/>
              <a:t>The Data Challenge: </a:t>
            </a:r>
            <a:endParaRPr lang="en-US" altLang="zh-CN" sz="2000" b="1"/>
          </a:p>
          <a:p>
            <a:pPr indent="0">
              <a:buFont typeface="Wingdings" panose="05000000000000000000" charset="0"/>
              <a:buNone/>
            </a:pPr>
            <a:r>
              <a:rPr lang="en-US" altLang="zh-CN" sz="2000" b="1"/>
              <a:t>     A Tsunami of 3D Point-Cloud Data</a:t>
            </a:r>
            <a:endParaRPr lang="en-US" altLang="zh-CN" sz="2000" b="1"/>
          </a:p>
        </p:txBody>
      </p:sp>
      <p:sp>
        <p:nvSpPr>
          <p:cNvPr id="5" name="文本框 4"/>
          <p:cNvSpPr txBox="1"/>
          <p:nvPr/>
        </p:nvSpPr>
        <p:spPr>
          <a:xfrm>
            <a:off x="6026150" y="1863090"/>
            <a:ext cx="5414010" cy="1322070"/>
          </a:xfrm>
          <a:prstGeom prst="rect">
            <a:avLst/>
          </a:prstGeom>
          <a:noFill/>
        </p:spPr>
        <p:txBody>
          <a:bodyPr wrap="square" rtlCol="0">
            <a:spAutoFit/>
          </a:bodyPr>
          <a:p>
            <a:pPr marL="342900" indent="-342900">
              <a:buFont typeface="Wingdings" panose="05000000000000000000" charset="0"/>
              <a:buChar char="n"/>
            </a:pPr>
            <a:r>
              <a:rPr lang="en-US" altLang="zh-CN" sz="2000" b="1"/>
              <a:t>The Verification Challenge:</a:t>
            </a:r>
            <a:endParaRPr lang="en-US" altLang="zh-CN" sz="2000" b="1"/>
          </a:p>
          <a:p>
            <a:pPr indent="0" algn="l">
              <a:buClrTx/>
              <a:buSzTx/>
              <a:buFont typeface="Wingdings" panose="05000000000000000000" charset="0"/>
              <a:buNone/>
            </a:pPr>
            <a:r>
              <a:rPr lang="en-US" altLang="zh-CN" sz="2000">
                <a:latin typeface="Times New Roman" panose="02020603050405020304" charset="0"/>
                <a:cs typeface="Times New Roman" panose="02020603050405020304" charset="0"/>
                <a:sym typeface="+mn-ea"/>
              </a:rPr>
              <a:t> </a:t>
            </a:r>
            <a:r>
              <a:rPr lang="en-US" altLang="zh-CN" sz="2000" b="1">
                <a:sym typeface="+mn-ea"/>
              </a:rPr>
              <a:t>The subjectivity and potential biases of a "one-size-fits-all" standard.</a:t>
            </a:r>
            <a:endParaRPr lang="en-US" altLang="zh-CN" sz="2000" b="1"/>
          </a:p>
          <a:p>
            <a:pPr indent="0">
              <a:buFont typeface="Wingdings" panose="05000000000000000000" charset="0"/>
              <a:buNone/>
            </a:pPr>
            <a:endParaRPr lang="en-US" altLang="zh-CN" sz="2000" b="1"/>
          </a:p>
        </p:txBody>
      </p:sp>
      <p:sp>
        <p:nvSpPr>
          <p:cNvPr id="7" name="文本框 6"/>
          <p:cNvSpPr txBox="1"/>
          <p:nvPr/>
        </p:nvSpPr>
        <p:spPr>
          <a:xfrm>
            <a:off x="246380" y="2631440"/>
            <a:ext cx="5779770" cy="2030095"/>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Experiments generate </a:t>
            </a:r>
            <a:r>
              <a:rPr lang="en-US" altLang="zh-CN" b="1">
                <a:solidFill>
                  <a:schemeClr val="accent1">
                    <a:lumMod val="75000"/>
                  </a:schemeClr>
                </a:solidFill>
                <a:latin typeface="Times New Roman" panose="02020603050405020304" charset="0"/>
                <a:cs typeface="Times New Roman" panose="02020603050405020304" charset="0"/>
              </a:rPr>
              <a:t>massive and complex</a:t>
            </a:r>
            <a:r>
              <a:rPr lang="en-US" altLang="zh-CN">
                <a:latin typeface="Times New Roman" panose="02020603050405020304" charset="0"/>
                <a:cs typeface="Times New Roman" panose="02020603050405020304" charset="0"/>
              </a:rPr>
              <a:t> datasets.Each event is a 3D point-cloud representing the ionization trail of particles.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The sheer volume of data makes manual analysis extremely challenging.</a:t>
            </a:r>
            <a:endParaRPr lang="en-US" altLang="zh-CN">
              <a:latin typeface="Times New Roman" panose="02020603050405020304" charset="0"/>
              <a:cs typeface="Times New Roman" panose="02020603050405020304" charset="0"/>
            </a:endParaRPr>
          </a:p>
          <a:p>
            <a:r>
              <a:rPr lang="en-US" altLang="zh-CN" b="1">
                <a:solidFill>
                  <a:schemeClr val="accent1">
                    <a:lumMod val="75000"/>
                  </a:schemeClr>
                </a:solidFill>
                <a:latin typeface="Times New Roman" panose="02020603050405020304" charset="0"/>
                <a:cs typeface="Times New Roman" panose="02020603050405020304" charset="0"/>
              </a:rPr>
              <a:t>Efficiently and accurately </a:t>
            </a:r>
            <a:r>
              <a:rPr lang="en-US" altLang="zh-CN">
                <a:latin typeface="Times New Roman" panose="02020603050405020304" charset="0"/>
                <a:cs typeface="Times New Roman" panose="02020603050405020304" charset="0"/>
              </a:rPr>
              <a:t>identifying different reaction events is a major bottleneck.</a:t>
            </a:r>
            <a:endParaRPr lang="en-US" altLang="zh-CN">
              <a:latin typeface="Times New Roman" panose="02020603050405020304" charset="0"/>
              <a:cs typeface="Times New Roman" panose="02020603050405020304" charset="0"/>
            </a:endParaRPr>
          </a:p>
        </p:txBody>
      </p:sp>
      <p:cxnSp>
        <p:nvCxnSpPr>
          <p:cNvPr id="10" name="直接连接符 9"/>
          <p:cNvCxnSpPr/>
          <p:nvPr/>
        </p:nvCxnSpPr>
        <p:spPr>
          <a:xfrm>
            <a:off x="5956300" y="1838960"/>
            <a:ext cx="16510" cy="455422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flipH="1">
            <a:off x="0" y="1788160"/>
            <a:ext cx="12223750" cy="381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5817235" y="5934075"/>
            <a:ext cx="6324600" cy="337185"/>
          </a:xfrm>
          <a:prstGeom prst="rect">
            <a:avLst/>
          </a:prstGeom>
          <a:noFill/>
        </p:spPr>
        <p:txBody>
          <a:bodyPr wrap="square" rtlCol="0">
            <a:spAutoFit/>
          </a:bodyPr>
          <a:p>
            <a:pPr algn="ctr"/>
            <a:r>
              <a:rPr lang="en-US" altLang="zh-CN" sz="1600" i="1">
                <a:latin typeface="Times New Roman" panose="02020603050405020304" charset="0"/>
                <a:cs typeface="Times New Roman" panose="02020603050405020304" charset="0"/>
              </a:rPr>
              <a:t>Machine learning methods for track classification in the AT-TPC</a:t>
            </a:r>
            <a:endParaRPr lang="en-US" altLang="zh-CN" sz="1600" i="1">
              <a:latin typeface="Times New Roman" panose="02020603050405020304" charset="0"/>
              <a:cs typeface="Times New Roman" panose="02020603050405020304" charset="0"/>
            </a:endParaRPr>
          </a:p>
        </p:txBody>
      </p:sp>
      <p:cxnSp>
        <p:nvCxnSpPr>
          <p:cNvPr id="23" name="直接连接符 22"/>
          <p:cNvCxnSpPr/>
          <p:nvPr/>
        </p:nvCxnSpPr>
        <p:spPr>
          <a:xfrm>
            <a:off x="8348345" y="3115945"/>
            <a:ext cx="3810" cy="2413000"/>
          </a:xfrm>
          <a:prstGeom prst="line">
            <a:avLst/>
          </a:prstGeom>
          <a:ln w="28575" cmpd="sng">
            <a:solidFill>
              <a:srgbClr val="FF0000"/>
            </a:solidFill>
            <a:prstDash val="sysDash"/>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8884285" y="3698875"/>
            <a:ext cx="2806065" cy="318770"/>
          </a:xfrm>
          <a:prstGeom prst="rect">
            <a:avLst/>
          </a:prstGeom>
          <a:noFill/>
        </p:spPr>
        <p:txBody>
          <a:bodyPr wrap="square" rtlCol="0">
            <a:noAutofit/>
          </a:bodyPr>
          <a:p>
            <a:pPr algn="ctr"/>
            <a:r>
              <a:rPr lang="en-US" altLang="zh-CN" sz="1600">
                <a:solidFill>
                  <a:srgbClr val="FF0000"/>
                </a:solidFill>
                <a:latin typeface="Times New Roman" panose="02020603050405020304" charset="0"/>
                <a:cs typeface="Times New Roman" panose="02020603050405020304" charset="0"/>
              </a:rPr>
              <a:t>Maybe another person’s cutoff</a:t>
            </a:r>
            <a:endParaRPr lang="en-US" altLang="zh-CN" sz="1600">
              <a:solidFill>
                <a:srgbClr val="FF0000"/>
              </a:solidFill>
              <a:latin typeface="Times New Roman" panose="02020603050405020304" charset="0"/>
              <a:cs typeface="Times New Roman" panose="02020603050405020304" charset="0"/>
            </a:endParaRPr>
          </a:p>
        </p:txBody>
      </p:sp>
      <p:cxnSp>
        <p:nvCxnSpPr>
          <p:cNvPr id="25" name="直接箭头连接符 24"/>
          <p:cNvCxnSpPr/>
          <p:nvPr/>
        </p:nvCxnSpPr>
        <p:spPr>
          <a:xfrm flipH="1">
            <a:off x="8416290" y="3877310"/>
            <a:ext cx="487045" cy="5715"/>
          </a:xfrm>
          <a:prstGeom prst="straightConnector1">
            <a:avLst/>
          </a:prstGeom>
          <a:ln w="12700" cmpd="sng">
            <a:solidFill>
              <a:srgbClr val="FF0000"/>
            </a:solidFill>
            <a:prstDash val="solid"/>
            <a:tailEnd type="arrow"/>
          </a:ln>
        </p:spPr>
        <p:style>
          <a:lnRef idx="2">
            <a:schemeClr val="accent1"/>
          </a:lnRef>
          <a:fillRef idx="0">
            <a:srgbClr val="FFFFFF"/>
          </a:fillRef>
          <a:effectRef idx="0">
            <a:srgbClr val="FFFFFF"/>
          </a:effectRef>
          <a:fontRef idx="minor">
            <a:schemeClr val="tx1"/>
          </a:fontRef>
        </p:style>
      </p:cxn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par>
                                <p:cTn id="14" presetID="22" presetClass="entr" presetSubtype="4"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ResNet-18 detailed Structure</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640205" y="1132840"/>
            <a:ext cx="9391015" cy="4709160"/>
          </a:xfrm>
          <a:prstGeom prst="rect">
            <a:avLst/>
          </a:prstGeom>
        </p:spPr>
      </p:pic>
      <p:sp>
        <p:nvSpPr>
          <p:cNvPr id="6" name="文本框 5"/>
          <p:cNvSpPr txBox="1"/>
          <p:nvPr/>
        </p:nvSpPr>
        <p:spPr>
          <a:xfrm>
            <a:off x="607060" y="5842000"/>
            <a:ext cx="11227435"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The ResNet-18 network architecture consists of 18 weight layers, including 17 convolutional layers and 1 dense layer. </a:t>
            </a:r>
            <a:endParaRPr lang="en-US" altLang="zh-CN">
              <a:latin typeface="Times New Roman" panose="02020603050405020304" charset="0"/>
              <a:cs typeface="Times New Roman" panose="02020603050405020304" charset="0"/>
            </a:endParaRPr>
          </a:p>
        </p:txBody>
      </p:sp>
      <p:sp>
        <p:nvSpPr>
          <p:cNvPr id="7" name="文本框 6"/>
          <p:cNvSpPr txBox="1"/>
          <p:nvPr/>
        </p:nvSpPr>
        <p:spPr>
          <a:xfrm>
            <a:off x="1951355" y="6165850"/>
            <a:ext cx="7719060" cy="306705"/>
          </a:xfrm>
          <a:prstGeom prst="rect">
            <a:avLst/>
          </a:prstGeom>
          <a:noFill/>
        </p:spPr>
        <p:txBody>
          <a:bodyPr wrap="square" rtlCol="0">
            <a:spAutoFit/>
          </a:bodyPr>
          <a:p>
            <a:r>
              <a:rPr lang="en-US" altLang="zh-CN" sz="1400" i="1">
                <a:latin typeface="Times New Roman" panose="02020603050405020304" charset="0"/>
                <a:cs typeface="Times New Roman" panose="02020603050405020304" charset="0"/>
              </a:rPr>
              <a:t>H. Wu, Y. Wang, Y. Wang et al. Nuclear Inst. and Methods in Physics Research, A 1055 (2023) 168528</a:t>
            </a:r>
            <a:endParaRPr lang="en-US" altLang="zh-CN" sz="1400" i="1">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en-US" altLang="zh-CN">
                <a:sym typeface="+mn-ea"/>
              </a:rPr>
              <a:t>A Further more Motivation </a:t>
            </a:r>
            <a:r>
              <a:rPr lang="zh-CN" altLang="en-US">
                <a:sym typeface="+mn-ea"/>
              </a:rPr>
              <a:t>：</a:t>
            </a:r>
            <a:br>
              <a:rPr lang="zh-CN" altLang="en-US">
                <a:sym typeface="+mn-ea"/>
              </a:rPr>
            </a:br>
            <a:r>
              <a:rPr lang="en-US" altLang="zh-CN">
                <a:sym typeface="+mn-ea"/>
              </a:rPr>
              <a:t>High-Dimensional Connections</a:t>
            </a:r>
            <a:endParaRPr lang="en-US" altLang="zh-CN"/>
          </a:p>
        </p:txBody>
      </p:sp>
      <p:sp>
        <p:nvSpPr>
          <p:cNvPr id="2" name="日期占位符 1"/>
          <p:cNvSpPr>
            <a:spLocks noGrp="1"/>
          </p:cNvSpPr>
          <p:nvPr>
            <p:ph type="dt" sz="half" idx="10"/>
          </p:nvPr>
        </p:nvSpPr>
        <p:spPr/>
        <p:txBody>
          <a:bodyPr/>
          <a:p>
            <a:fld id="{760FBDFE-C587-4B4C-A407-44438C67B59E}" type="datetime2">
              <a:rPr lang="en-US" altLang="en-US" smtClean="0"/>
            </a:fld>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pic>
        <p:nvPicPr>
          <p:cNvPr id="5" name="图片 4" descr="大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25650" y="2194560"/>
            <a:ext cx="914400" cy="914400"/>
          </a:xfrm>
          <a:prstGeom prst="rect">
            <a:avLst/>
          </a:prstGeom>
        </p:spPr>
      </p:pic>
      <p:sp>
        <p:nvSpPr>
          <p:cNvPr id="8" name="文本框 7"/>
          <p:cNvSpPr txBox="1"/>
          <p:nvPr/>
        </p:nvSpPr>
        <p:spPr>
          <a:xfrm>
            <a:off x="685800" y="3658235"/>
            <a:ext cx="4064000" cy="119888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The human brain is good at thinking in two or three dimensions and can only process a limited number of variables at a time.</a:t>
            </a:r>
            <a:endParaRPr lang="en-US" altLang="zh-CN">
              <a:latin typeface="Times New Roman" panose="02020603050405020304" charset="0"/>
              <a:cs typeface="Times New Roman" panose="02020603050405020304" charset="0"/>
            </a:endParaRPr>
          </a:p>
        </p:txBody>
      </p:sp>
      <p:sp>
        <p:nvSpPr>
          <p:cNvPr id="9" name="文本框 8"/>
          <p:cNvSpPr txBox="1"/>
          <p:nvPr/>
        </p:nvSpPr>
        <p:spPr>
          <a:xfrm>
            <a:off x="6292850" y="3651885"/>
            <a:ext cx="5390515" cy="1476375"/>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AI models map positional relationships and concepts into a "</a:t>
            </a:r>
            <a:r>
              <a:rPr lang="en-US" altLang="zh-CN" b="1">
                <a:solidFill>
                  <a:srgbClr val="174994"/>
                </a:solidFill>
                <a:latin typeface="Times New Roman" panose="02020603050405020304" charset="0"/>
                <a:cs typeface="Times New Roman" panose="02020603050405020304" charset="0"/>
              </a:rPr>
              <a:t>latent space</a:t>
            </a:r>
            <a:r>
              <a:rPr lang="en-US" altLang="zh-CN">
                <a:latin typeface="Times New Roman" panose="02020603050405020304" charset="0"/>
                <a:cs typeface="Times New Roman" panose="02020603050405020304" charset="0"/>
              </a:rPr>
              <a:t>" containing hundreds even thousands of dimensions. In this high-dimensional space, two features that appear unrelated to humans may be close together due to some deep, abstract similarities. </a:t>
            </a:r>
            <a:endParaRPr lang="en-US" altLang="zh-CN">
              <a:latin typeface="Times New Roman" panose="02020603050405020304" charset="0"/>
              <a:cs typeface="Times New Roman" panose="02020603050405020304" charset="0"/>
            </a:endParaRPr>
          </a:p>
        </p:txBody>
      </p:sp>
      <p:pic>
        <p:nvPicPr>
          <p:cNvPr id="11" name="图片 10" descr="人工智能"/>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9900" y="1993265"/>
            <a:ext cx="1143635" cy="1143635"/>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sym typeface="+mn-ea"/>
              </a:rPr>
              <a:t>An Automated, Two-Stage Workflow</a:t>
            </a:r>
            <a:endParaRPr lang="en-US" altLang="zh-CN">
              <a:sym typeface="+mn-ea"/>
            </a:endParaRPr>
          </a:p>
        </p:txBody>
      </p:sp>
      <p:sp>
        <p:nvSpPr>
          <p:cNvPr id="2" name="日期占位符 1"/>
          <p:cNvSpPr>
            <a:spLocks noGrp="1"/>
          </p:cNvSpPr>
          <p:nvPr>
            <p:ph type="dt" sz="half" idx="10"/>
          </p:nvPr>
        </p:nvSpPr>
        <p:spPr/>
        <p:txBody>
          <a:bodyPr/>
          <a:p>
            <a:fld id="{760FBDFE-C587-4B4C-A407-44438C67B59E}" type="datetime2">
              <a:rPr lang="en-US" altLang="en-US" smtClean="0">
                <a:latin typeface="Microsoft YaHei" panose="020B0503020204020204" charset="-122"/>
                <a:ea typeface="Microsoft YaHei" panose="020B0503020204020204" charset="-122"/>
              </a:rPr>
            </a:fld>
            <a:endParaRPr lang="en-US" altLang="en-US" smtClean="0">
              <a:latin typeface="Microsoft YaHei" panose="020B0503020204020204" charset="-122"/>
              <a:ea typeface="Microsoft YaHei" panose="020B0503020204020204" charset="-122"/>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smtClean="0"/>
          </a:p>
        </p:txBody>
      </p:sp>
      <p:sp>
        <p:nvSpPr>
          <p:cNvPr id="8" name="文本框 7"/>
          <p:cNvSpPr txBox="1"/>
          <p:nvPr/>
        </p:nvSpPr>
        <p:spPr>
          <a:xfrm>
            <a:off x="392430" y="1850390"/>
            <a:ext cx="1423035" cy="1936115"/>
          </a:xfrm>
          <a:prstGeom prst="rect">
            <a:avLst/>
          </a:prstGeom>
          <a:solidFill>
            <a:srgbClr val="174994"/>
          </a:solidFill>
          <a:ln w="19050" cmpd="sng">
            <a:noFill/>
            <a:prstDash val="solid"/>
          </a:ln>
        </p:spPr>
        <p:txBody>
          <a:bodyPr wrap="square" rtlCol="0" anchor="ctr" anchorCtr="0">
            <a:noAutofit/>
          </a:bodyPr>
          <a:p>
            <a:pPr algn="ctr"/>
            <a:r>
              <a:rPr lang="en-US" altLang="zh-CN" b="1">
                <a:solidFill>
                  <a:schemeClr val="bg1"/>
                </a:solidFill>
                <a:latin typeface="Microsoft YaHei" panose="020B0503020204020204" charset="-122"/>
                <a:ea typeface="Microsoft YaHei" panose="020B0503020204020204" charset="-122"/>
              </a:rPr>
              <a:t>Stage 1:</a:t>
            </a:r>
            <a:endParaRPr lang="en-US" altLang="zh-CN" b="1">
              <a:solidFill>
                <a:schemeClr val="bg1"/>
              </a:solidFill>
              <a:latin typeface="Microsoft YaHei" panose="020B0503020204020204" charset="-122"/>
              <a:ea typeface="Microsoft YaHei" panose="020B0503020204020204" charset="-122"/>
            </a:endParaRPr>
          </a:p>
          <a:p>
            <a:pPr algn="ctr">
              <a:lnSpc>
                <a:spcPct val="110000"/>
              </a:lnSpc>
            </a:pPr>
            <a:r>
              <a:rPr lang="en-US" altLang="zh-CN" b="1">
                <a:solidFill>
                  <a:schemeClr val="bg1"/>
                </a:solidFill>
                <a:latin typeface="Microsoft YaHei" panose="020B0503020204020204" charset="-122"/>
                <a:ea typeface="Microsoft YaHei" panose="020B0503020204020204" charset="-122"/>
              </a:rPr>
              <a:t>The Event Filter</a:t>
            </a:r>
            <a:endParaRPr lang="en-US" altLang="zh-CN" b="1">
              <a:solidFill>
                <a:schemeClr val="bg1"/>
              </a:solidFill>
              <a:latin typeface="Microsoft YaHei" panose="020B0503020204020204" charset="-122"/>
              <a:ea typeface="Microsoft YaHei" panose="020B0503020204020204" charset="-122"/>
            </a:endParaRPr>
          </a:p>
        </p:txBody>
      </p:sp>
      <p:sp>
        <p:nvSpPr>
          <p:cNvPr id="9" name="文本框 8"/>
          <p:cNvSpPr txBox="1"/>
          <p:nvPr/>
        </p:nvSpPr>
        <p:spPr>
          <a:xfrm>
            <a:off x="430530" y="4295140"/>
            <a:ext cx="1423035" cy="1822450"/>
          </a:xfrm>
          <a:prstGeom prst="rect">
            <a:avLst/>
          </a:prstGeom>
          <a:solidFill>
            <a:srgbClr val="174994"/>
          </a:solidFill>
          <a:ln w="19050" cmpd="sng">
            <a:noFill/>
            <a:prstDash val="solid"/>
          </a:ln>
        </p:spPr>
        <p:txBody>
          <a:bodyPr wrap="square" rtlCol="0" anchor="ctr" anchorCtr="0">
            <a:noAutofit/>
          </a:bodyPr>
          <a:p>
            <a:pPr algn="ctr"/>
            <a:r>
              <a:rPr lang="en-US" altLang="zh-CN" sz="1800" b="1">
                <a:solidFill>
                  <a:schemeClr val="bg1"/>
                </a:solidFill>
                <a:latin typeface="Microsoft YaHei" panose="020B0503020204020204" charset="-122"/>
                <a:ea typeface="Microsoft YaHei" panose="020B0503020204020204" charset="-122"/>
              </a:rPr>
              <a:t>Stage 2:</a:t>
            </a:r>
            <a:endParaRPr lang="en-US" altLang="zh-CN" sz="1800" b="1">
              <a:solidFill>
                <a:schemeClr val="bg1"/>
              </a:solidFill>
              <a:latin typeface="Microsoft YaHei" panose="020B0503020204020204" charset="-122"/>
              <a:ea typeface="Microsoft YaHei" panose="020B0503020204020204" charset="-122"/>
            </a:endParaRPr>
          </a:p>
          <a:p>
            <a:pPr algn="ctr">
              <a:lnSpc>
                <a:spcPct val="110000"/>
              </a:lnSpc>
            </a:pPr>
            <a:r>
              <a:rPr lang="en-US" altLang="zh-CN" sz="1800" b="1">
                <a:solidFill>
                  <a:schemeClr val="bg1"/>
                </a:solidFill>
                <a:latin typeface="Microsoft YaHei" panose="020B0503020204020204" charset="-122"/>
                <a:ea typeface="Microsoft YaHei" panose="020B0503020204020204" charset="-122"/>
              </a:rPr>
              <a:t>Detailed Analysis</a:t>
            </a:r>
            <a:endParaRPr lang="en-US" altLang="zh-CN" sz="1800" b="1">
              <a:solidFill>
                <a:schemeClr val="bg1"/>
              </a:solidFill>
              <a:latin typeface="Microsoft YaHei" panose="020B0503020204020204" charset="-122"/>
              <a:ea typeface="Microsoft YaHei" panose="020B0503020204020204" charset="-122"/>
            </a:endParaRPr>
          </a:p>
        </p:txBody>
      </p:sp>
      <p:sp>
        <p:nvSpPr>
          <p:cNvPr id="26" name="圆角矩形 25"/>
          <p:cNvSpPr/>
          <p:nvPr>
            <p:custDataLst>
              <p:tags r:id="rId1"/>
            </p:custDataLst>
          </p:nvPr>
        </p:nvSpPr>
        <p:spPr>
          <a:xfrm>
            <a:off x="2537460" y="1976755"/>
            <a:ext cx="1735455" cy="149923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10" name="文本框 9"/>
          <p:cNvSpPr txBox="1"/>
          <p:nvPr>
            <p:custDataLst>
              <p:tags r:id="rId2"/>
            </p:custDataLst>
          </p:nvPr>
        </p:nvSpPr>
        <p:spPr>
          <a:xfrm>
            <a:off x="2569845" y="2261235"/>
            <a:ext cx="1703070"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Raw 3D Event Data</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(x,y,z,charge)</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11" name="文本框 10"/>
          <p:cNvSpPr txBox="1"/>
          <p:nvPr/>
        </p:nvSpPr>
        <p:spPr>
          <a:xfrm>
            <a:off x="2861945" y="1450975"/>
            <a:ext cx="105981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Input</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12" name="圆角矩形 11"/>
          <p:cNvSpPr/>
          <p:nvPr>
            <p:custDataLst>
              <p:tags r:id="rId3"/>
            </p:custDataLst>
          </p:nvPr>
        </p:nvSpPr>
        <p:spPr>
          <a:xfrm>
            <a:off x="4912995" y="1986280"/>
            <a:ext cx="1735455" cy="14890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13" name="文本框 12"/>
          <p:cNvSpPr txBox="1"/>
          <p:nvPr>
            <p:custDataLst>
              <p:tags r:id="rId4"/>
            </p:custDataLst>
          </p:nvPr>
        </p:nvSpPr>
        <p:spPr>
          <a:xfrm>
            <a:off x="4926330" y="2105660"/>
            <a:ext cx="1703070" cy="1276350"/>
          </a:xfrm>
          <a:prstGeom prst="rect">
            <a:avLst/>
          </a:prstGeom>
          <a:noFill/>
        </p:spPr>
        <p:txBody>
          <a:bodyPr wrap="square" rtlCol="0">
            <a:noAutofit/>
          </a:bodyPr>
          <a:p>
            <a:pPr algn="ctr">
              <a:buClrTx/>
              <a:buSzTx/>
              <a:buFontTx/>
            </a:pP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Project to 2D Dual-Channel Image</a:t>
            </a:r>
            <a:b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latin typeface="Microsoft YaHei" panose="020B0503020204020204" charset="-122"/>
                <a:ea typeface="Microsoft YaHei" panose="020B0503020204020204" charset="-122"/>
                <a:cs typeface="Times New Roman" panose="02020603050405020304" charset="0"/>
              </a:rPr>
              <a:t>Charge - 0</a:t>
            </a:r>
            <a:endParaRPr lang="en-US" altLang="zh-CN" sz="1400">
              <a:latin typeface="Microsoft YaHei" panose="020B0503020204020204" charset="-122"/>
              <a:ea typeface="Microsoft YaHei" panose="020B0503020204020204" charset="-122"/>
              <a:cs typeface="Times New Roman" panose="02020603050405020304" charset="0"/>
            </a:endParaRPr>
          </a:p>
          <a:p>
            <a:pPr algn="ctr">
              <a:buClrTx/>
              <a:buSzTx/>
              <a:buFontTx/>
            </a:pPr>
            <a:r>
              <a:rPr lang="en-US" altLang="zh-CN" sz="1400">
                <a:latin typeface="Microsoft YaHei" panose="020B0503020204020204" charset="-122"/>
                <a:ea typeface="Microsoft YaHei" panose="020B0503020204020204" charset="-122"/>
                <a:cs typeface="Times New Roman" panose="02020603050405020304" charset="0"/>
              </a:rPr>
              <a:t>Drift Time - 1</a:t>
            </a:r>
            <a:br>
              <a:rPr lang="en-US" altLang="zh-CN" sz="1400">
                <a:latin typeface="Microsoft YaHei" panose="020B0503020204020204" charset="-122"/>
                <a:ea typeface="Microsoft YaHei" panose="020B0503020204020204" charset="-122"/>
                <a:cs typeface="Times New Roman" panose="02020603050405020304" charset="0"/>
              </a:rPr>
            </a:b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14" name="文本框 13"/>
          <p:cNvSpPr txBox="1"/>
          <p:nvPr/>
        </p:nvSpPr>
        <p:spPr>
          <a:xfrm>
            <a:off x="4642485" y="1450975"/>
            <a:ext cx="220027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Preprocessing</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15" name="圆角矩形 14"/>
          <p:cNvSpPr/>
          <p:nvPr>
            <p:custDataLst>
              <p:tags r:id="rId5"/>
            </p:custDataLst>
          </p:nvPr>
        </p:nvSpPr>
        <p:spPr>
          <a:xfrm>
            <a:off x="7161530" y="1976755"/>
            <a:ext cx="1735455" cy="1498600"/>
          </a:xfrm>
          <a:prstGeom prst="roundRect">
            <a:avLst/>
          </a:prstGeom>
          <a:solidFill>
            <a:schemeClr val="bg1"/>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16" name="文本框 15"/>
          <p:cNvSpPr txBox="1"/>
          <p:nvPr>
            <p:custDataLst>
              <p:tags r:id="rId6"/>
            </p:custDataLst>
          </p:nvPr>
        </p:nvSpPr>
        <p:spPr>
          <a:xfrm>
            <a:off x="7176770" y="2301240"/>
            <a:ext cx="1703070" cy="1063625"/>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ResNet-18</a:t>
            </a:r>
            <a:endPar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endParaRP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Binary Classifier</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17" name="文本框 16"/>
          <p:cNvSpPr txBox="1"/>
          <p:nvPr/>
        </p:nvSpPr>
        <p:spPr>
          <a:xfrm>
            <a:off x="7486015" y="1441450"/>
            <a:ext cx="105981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Model</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18" name="圆角矩形 17"/>
          <p:cNvSpPr/>
          <p:nvPr>
            <p:custDataLst>
              <p:tags r:id="rId7"/>
            </p:custDataLst>
          </p:nvPr>
        </p:nvSpPr>
        <p:spPr>
          <a:xfrm>
            <a:off x="9403715" y="1986280"/>
            <a:ext cx="1735455" cy="1489075"/>
          </a:xfrm>
          <a:prstGeom prst="roundRect">
            <a:avLst/>
          </a:prstGeom>
          <a:solidFill>
            <a:srgbClr val="79AE72"/>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19" name="文本框 18"/>
          <p:cNvSpPr txBox="1"/>
          <p:nvPr>
            <p:custDataLst>
              <p:tags r:id="rId8"/>
            </p:custDataLst>
          </p:nvPr>
        </p:nvSpPr>
        <p:spPr>
          <a:xfrm>
            <a:off x="9436100" y="2273935"/>
            <a:ext cx="1703070"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EventLabel</a:t>
            </a:r>
            <a:endParaRPr lang="en-US" altLang="zh-CN" b="1">
              <a:solidFill>
                <a:srgbClr val="6DDF9C"/>
              </a:solidFill>
              <a:latin typeface="Microsoft YaHei" panose="020B0503020204020204" charset="-122"/>
              <a:ea typeface="Microsoft YaHei" panose="020B0503020204020204" charset="-122"/>
              <a:cs typeface="Times New Roman" panose="02020603050405020304" charset="0"/>
            </a:endParaRPr>
          </a:p>
          <a:p>
            <a:pPr algn="ctr">
              <a:buClrTx/>
              <a:buSzTx/>
              <a:buFontTx/>
            </a:pPr>
            <a:r>
              <a:rPr lang="en-US" altLang="zh-CN" sz="1400">
                <a:latin typeface="Microsoft YaHei" panose="020B0503020204020204" charset="-122"/>
                <a:ea typeface="Microsoft YaHei" panose="020B0503020204020204" charset="-122"/>
                <a:cs typeface="Times New Roman" panose="02020603050405020304" charset="0"/>
              </a:rPr>
              <a:t>Proton_event or other</a:t>
            </a:r>
            <a:endParaRPr lang="en-US" altLang="zh-CN" sz="1400">
              <a:latin typeface="Microsoft YaHei" panose="020B0503020204020204" charset="-122"/>
              <a:ea typeface="Microsoft YaHei" panose="020B0503020204020204" charset="-122"/>
              <a:cs typeface="Times New Roman" panose="02020603050405020304" charset="0"/>
            </a:endParaRPr>
          </a:p>
        </p:txBody>
      </p:sp>
      <p:sp>
        <p:nvSpPr>
          <p:cNvPr id="20" name="文本框 19"/>
          <p:cNvSpPr txBox="1"/>
          <p:nvPr/>
        </p:nvSpPr>
        <p:spPr>
          <a:xfrm>
            <a:off x="9569450" y="1450975"/>
            <a:ext cx="131889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Output</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21" name="圆角矩形 20"/>
          <p:cNvSpPr/>
          <p:nvPr>
            <p:custDataLst>
              <p:tags r:id="rId9"/>
            </p:custDataLst>
          </p:nvPr>
        </p:nvSpPr>
        <p:spPr>
          <a:xfrm>
            <a:off x="2569845" y="4431665"/>
            <a:ext cx="1735455" cy="1692275"/>
          </a:xfrm>
          <a:prstGeom prst="roundRect">
            <a:avLst/>
          </a:prstGeom>
          <a:solidFill>
            <a:srgbClr val="79AE72"/>
          </a:solid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22" name="文本框 21"/>
          <p:cNvSpPr txBox="1"/>
          <p:nvPr>
            <p:custDataLst>
              <p:tags r:id="rId10"/>
            </p:custDataLst>
          </p:nvPr>
        </p:nvSpPr>
        <p:spPr>
          <a:xfrm>
            <a:off x="2602230" y="4706620"/>
            <a:ext cx="1703070"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Filtered</a:t>
            </a:r>
            <a:endPar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endParaRPr>
          </a:p>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 3D events</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Filetered by Stage 1</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23" name="文本框 22"/>
          <p:cNvSpPr txBox="1"/>
          <p:nvPr/>
        </p:nvSpPr>
        <p:spPr>
          <a:xfrm>
            <a:off x="2894330" y="3896360"/>
            <a:ext cx="105981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Input</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24" name="圆角矩形 23"/>
          <p:cNvSpPr/>
          <p:nvPr>
            <p:custDataLst>
              <p:tags r:id="rId11"/>
            </p:custDataLst>
          </p:nvPr>
        </p:nvSpPr>
        <p:spPr>
          <a:xfrm>
            <a:off x="4935855" y="442531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25" name="文本框 24"/>
          <p:cNvSpPr txBox="1"/>
          <p:nvPr>
            <p:custDataLst>
              <p:tags r:id="rId12"/>
            </p:custDataLst>
          </p:nvPr>
        </p:nvSpPr>
        <p:spPr>
          <a:xfrm>
            <a:off x="4888230" y="4496435"/>
            <a:ext cx="1811655"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3D Clustering to find individual tracks</a:t>
            </a:r>
            <a:endPar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endParaRP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DBSCAN/</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HDBSCAN</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27" name="文本框 26"/>
          <p:cNvSpPr txBox="1"/>
          <p:nvPr/>
        </p:nvSpPr>
        <p:spPr>
          <a:xfrm>
            <a:off x="4718685" y="3890010"/>
            <a:ext cx="206057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Segmentation</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28" name="圆角矩形 27"/>
          <p:cNvSpPr/>
          <p:nvPr>
            <p:custDataLst>
              <p:tags r:id="rId13"/>
            </p:custDataLst>
          </p:nvPr>
        </p:nvSpPr>
        <p:spPr>
          <a:xfrm>
            <a:off x="7214870" y="442531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29" name="文本框 28"/>
          <p:cNvSpPr txBox="1"/>
          <p:nvPr>
            <p:custDataLst>
              <p:tags r:id="rId14"/>
            </p:custDataLst>
          </p:nvPr>
        </p:nvSpPr>
        <p:spPr>
          <a:xfrm>
            <a:off x="7247255" y="4700270"/>
            <a:ext cx="1703070"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Classify each track via CNN</a:t>
            </a:r>
            <a:endPar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endParaRPr>
          </a:p>
          <a:p>
            <a:pPr algn="ct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proton,alpha,etc.</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30" name="文本框 29"/>
          <p:cNvSpPr txBox="1"/>
          <p:nvPr/>
        </p:nvSpPr>
        <p:spPr>
          <a:xfrm>
            <a:off x="7106285" y="3890010"/>
            <a:ext cx="1901190"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Identification</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sp>
        <p:nvSpPr>
          <p:cNvPr id="31" name="圆角矩形 30"/>
          <p:cNvSpPr/>
          <p:nvPr>
            <p:custDataLst>
              <p:tags r:id="rId15"/>
            </p:custDataLst>
          </p:nvPr>
        </p:nvSpPr>
        <p:spPr>
          <a:xfrm>
            <a:off x="9408160" y="4431665"/>
            <a:ext cx="1735455" cy="1692275"/>
          </a:xfrm>
          <a:prstGeom prst="roundRect">
            <a:avLst/>
          </a:prstGeom>
          <a:noFill/>
          <a:ln>
            <a:solidFill>
              <a:srgbClr val="1F293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latin typeface="Microsoft YaHei" panose="020B0503020204020204" charset="-122"/>
              <a:ea typeface="Microsoft YaHei" panose="020B0503020204020204" charset="-122"/>
            </a:endParaRPr>
          </a:p>
        </p:txBody>
      </p:sp>
      <p:sp>
        <p:nvSpPr>
          <p:cNvPr id="32" name="文本框 31"/>
          <p:cNvSpPr txBox="1"/>
          <p:nvPr>
            <p:custDataLst>
              <p:tags r:id="rId16"/>
            </p:custDataLst>
          </p:nvPr>
        </p:nvSpPr>
        <p:spPr>
          <a:xfrm>
            <a:off x="9440545" y="4598035"/>
            <a:ext cx="1703070" cy="895350"/>
          </a:xfrm>
          <a:prstGeom prst="rect">
            <a:avLst/>
          </a:prstGeom>
          <a:noFill/>
        </p:spPr>
        <p:txBody>
          <a:bodyPr wrap="square" rtlCol="0">
            <a:noAutofit/>
          </a:bodyPr>
          <a:p>
            <a:pPr algn="ctr"/>
            <a:r>
              <a:rPr lang="en-US" altLang="zh-CN"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t>Predict Physics Parameters</a:t>
            </a:r>
            <a:br>
              <a:rPr lang="en-US" altLang="zh-CN" sz="1400" b="1">
                <a:solidFill>
                  <a:schemeClr val="accent1">
                    <a:lumMod val="50000"/>
                  </a:schemeClr>
                </a:solidFill>
                <a:latin typeface="Microsoft YaHei" panose="020B0503020204020204" charset="-122"/>
                <a:ea typeface="Microsoft YaHei" panose="020B0503020204020204" charset="-122"/>
                <a:cs typeface="Times New Roman" panose="02020603050405020304" charset="0"/>
              </a:rPr>
            </a:br>
            <a:r>
              <a:rPr lang="en-US" altLang="zh-CN" sz="1400">
                <a:latin typeface="Microsoft YaHei" panose="020B0503020204020204" charset="-122"/>
                <a:ea typeface="Microsoft YaHei" panose="020B0503020204020204" charset="-122"/>
                <a:cs typeface="Times New Roman" panose="02020603050405020304" charset="0"/>
              </a:rPr>
              <a:t>E</a:t>
            </a:r>
            <a:r>
              <a:rPr lang="en-US" altLang="zh-CN" sz="1400">
                <a:solidFill>
                  <a:schemeClr val="tx1"/>
                </a:solidFill>
                <a:latin typeface="Microsoft YaHei" panose="020B0503020204020204" charset="-122"/>
                <a:ea typeface="Microsoft YaHei" panose="020B0503020204020204" charset="-122"/>
                <a:cs typeface="Times New Roman" panose="02020603050405020304" charset="0"/>
              </a:rPr>
              <a:t>nergy,Angle,Vertex</a:t>
            </a:r>
            <a:endParaRPr lang="en-US" altLang="zh-CN" sz="1400">
              <a:solidFill>
                <a:schemeClr val="tx1"/>
              </a:solidFill>
              <a:latin typeface="Microsoft YaHei" panose="020B0503020204020204" charset="-122"/>
              <a:ea typeface="Microsoft YaHei" panose="020B0503020204020204" charset="-122"/>
              <a:cs typeface="Times New Roman" panose="02020603050405020304" charset="0"/>
            </a:endParaRPr>
          </a:p>
        </p:txBody>
      </p:sp>
      <p:sp>
        <p:nvSpPr>
          <p:cNvPr id="33" name="文本框 32"/>
          <p:cNvSpPr txBox="1"/>
          <p:nvPr/>
        </p:nvSpPr>
        <p:spPr>
          <a:xfrm>
            <a:off x="9403715" y="3896360"/>
            <a:ext cx="1762125" cy="398780"/>
          </a:xfrm>
          <a:prstGeom prst="rect">
            <a:avLst/>
          </a:prstGeom>
          <a:noFill/>
        </p:spPr>
        <p:txBody>
          <a:bodyPr wrap="square" rtlCol="0">
            <a:spAutoFit/>
          </a:bodyPr>
          <a:p>
            <a:pPr algn="ctr">
              <a:buClrTx/>
              <a:buSzTx/>
              <a:buFontTx/>
            </a:pPr>
            <a:r>
              <a:rPr lang="en-US" altLang="zh-CN" sz="2000" b="1">
                <a:solidFill>
                  <a:schemeClr val="accent1">
                    <a:lumMod val="50000"/>
                  </a:schemeClr>
                </a:solidFill>
                <a:latin typeface="Microsoft YaHei" panose="020B0503020204020204" charset="-122"/>
                <a:ea typeface="Microsoft YaHei" panose="020B0503020204020204" charset="-122"/>
              </a:rPr>
              <a:t>Regression</a:t>
            </a:r>
            <a:endParaRPr lang="en-US" altLang="zh-CN" sz="2000" b="1">
              <a:solidFill>
                <a:schemeClr val="accent1">
                  <a:lumMod val="50000"/>
                </a:schemeClr>
              </a:solidFill>
              <a:latin typeface="Microsoft YaHei" panose="020B0503020204020204" charset="-122"/>
              <a:ea typeface="Microsoft YaHei" panose="020B0503020204020204" charset="-122"/>
            </a:endParaRPr>
          </a:p>
        </p:txBody>
      </p:sp>
      <p:cxnSp>
        <p:nvCxnSpPr>
          <p:cNvPr id="34" name="直接箭头连接符 33"/>
          <p:cNvCxnSpPr/>
          <p:nvPr/>
        </p:nvCxnSpPr>
        <p:spPr>
          <a:xfrm flipV="1">
            <a:off x="4259580" y="2831465"/>
            <a:ext cx="628650" cy="444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nvCxnSpPr>
        <p:spPr>
          <a:xfrm flipV="1">
            <a:off x="6648450" y="2825115"/>
            <a:ext cx="506730" cy="6350"/>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a:off x="8879840" y="2840355"/>
            <a:ext cx="520700" cy="190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flipV="1">
            <a:off x="4307205" y="5469890"/>
            <a:ext cx="628650" cy="444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flipV="1">
            <a:off x="6671310" y="5475605"/>
            <a:ext cx="531495" cy="3175"/>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a:off x="8925560" y="5463540"/>
            <a:ext cx="482600" cy="0"/>
          </a:xfrm>
          <a:prstGeom prst="straightConnector1">
            <a:avLst/>
          </a:prstGeom>
          <a:ln>
            <a:solidFill>
              <a:srgbClr val="152379"/>
            </a:solidFill>
            <a:tailEnd type="arrow"/>
          </a:ln>
        </p:spPr>
        <p:style>
          <a:lnRef idx="2">
            <a:schemeClr val="accent1"/>
          </a:lnRef>
          <a:fillRef idx="0">
            <a:srgbClr val="FFFFFF"/>
          </a:fillRef>
          <a:effectRef idx="0">
            <a:srgbClr val="FFFFFF"/>
          </a:effectRef>
          <a:fontRef idx="minor">
            <a:schemeClr val="tx1"/>
          </a:fontRef>
        </p:style>
      </p:cxnSp>
    </p:spTree>
    <p:custDataLst>
      <p:tags r:id="rId17"/>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6230" y="219710"/>
            <a:ext cx="10854690" cy="705485"/>
          </a:xfrm>
        </p:spPr>
        <p:txBody>
          <a:bodyPr>
            <a:normAutofit/>
          </a:bodyPr>
          <a:p>
            <a:r>
              <a:rPr lang="en-US" altLang="zh-CN">
                <a:sym typeface="+mn-ea"/>
              </a:rPr>
              <a:t>Cross-Attention Performance </a:t>
            </a:r>
            <a:endParaRPr lang="en-US" altLang="zh-CN"/>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sp>
        <p:nvSpPr>
          <p:cNvPr id="6" name="文本框 5"/>
          <p:cNvSpPr txBox="1"/>
          <p:nvPr/>
        </p:nvSpPr>
        <p:spPr>
          <a:xfrm>
            <a:off x="601345" y="1569085"/>
            <a:ext cx="4400550" cy="3529330"/>
          </a:xfrm>
          <a:prstGeom prst="rect">
            <a:avLst/>
          </a:prstGeom>
          <a:noFill/>
        </p:spPr>
        <p:txBody>
          <a:bodyPr wrap="square" rtlCol="0">
            <a:noAutofit/>
          </a:bodyPr>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Overall Accuracy reached </a:t>
            </a:r>
            <a:r>
              <a:rPr lang="en-US" altLang="zh-CN" b="1">
                <a:solidFill>
                  <a:srgbClr val="FF0000"/>
                </a:solidFill>
                <a:latin typeface="Times New Roman" panose="02020603050405020304" charset="0"/>
                <a:cs typeface="Times New Roman" panose="02020603050405020304" charset="0"/>
              </a:rPr>
              <a:t>95.68%</a:t>
            </a:r>
            <a:r>
              <a:rPr lang="en-US" altLang="zh-CN">
                <a:latin typeface="Times New Roman" panose="02020603050405020304" charset="0"/>
                <a:cs typeface="Times New Roman" panose="02020603050405020304" charset="0"/>
              </a:rPr>
              <a:t>, surpassing all previous baselines.</a:t>
            </a:r>
            <a:endParaRPr lang="en-US" altLang="zh-CN">
              <a:latin typeface="Times New Roman" panose="02020603050405020304" charset="0"/>
              <a:cs typeface="Times New Roman" panose="02020603050405020304" charset="0"/>
            </a:endParaRPr>
          </a:p>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Most critically, the </a:t>
            </a:r>
            <a:r>
              <a:rPr lang="en-US" altLang="zh-CN" b="1">
                <a:solidFill>
                  <a:srgbClr val="FF0000"/>
                </a:solidFill>
                <a:latin typeface="Times New Roman" panose="02020603050405020304" charset="0"/>
                <a:cs typeface="Times New Roman" panose="02020603050405020304" charset="0"/>
              </a:rPr>
              <a:t>Proton Recall</a:t>
            </a:r>
            <a:r>
              <a:rPr lang="en-US" altLang="zh-CN">
                <a:latin typeface="Times New Roman" panose="02020603050405020304" charset="0"/>
                <a:cs typeface="Times New Roman" panose="02020603050405020304" charset="0"/>
              </a:rPr>
              <a:t>—our primary physics metric—was boosted to </a:t>
            </a:r>
            <a:r>
              <a:rPr lang="en-US" altLang="zh-CN" b="1">
                <a:solidFill>
                  <a:srgbClr val="FF0000"/>
                </a:solidFill>
                <a:latin typeface="Times New Roman" panose="02020603050405020304" charset="0"/>
                <a:cs typeface="Times New Roman" panose="02020603050405020304" charset="0"/>
              </a:rPr>
              <a:t>96.67%</a:t>
            </a:r>
            <a:r>
              <a:rPr lang="en-US" altLang="zh-CN">
                <a:latin typeface="Times New Roman" panose="02020603050405020304" charset="0"/>
                <a:cs typeface="Times New Roman" panose="02020603050405020304" charset="0"/>
              </a:rPr>
              <a:t>, a significant improvement over the ResNet-18 baseline's 87.6%.</a:t>
            </a:r>
            <a:endParaRPr lang="en-US" altLang="zh-CN">
              <a:latin typeface="Times New Roman" panose="02020603050405020304" charset="0"/>
              <a:cs typeface="Times New Roman" panose="02020603050405020304" charset="0"/>
            </a:endParaRPr>
          </a:p>
          <a:p>
            <a:pPr marL="285750" indent="-285750">
              <a:lnSpc>
                <a:spcPct val="120000"/>
              </a:lnSpc>
              <a:buFont typeface="Wingdings" panose="05000000000000000000" charset="0"/>
              <a:buChar char="n"/>
            </a:pPr>
            <a:r>
              <a:rPr lang="en-US" altLang="zh-CN">
                <a:latin typeface="Times New Roman" panose="02020603050405020304" charset="0"/>
                <a:cs typeface="Times New Roman" panose="02020603050405020304" charset="0"/>
              </a:rPr>
              <a:t>This demonstrates that our physics-informed architecture is not just more interpretable, but also more effective.</a:t>
            </a:r>
            <a:endParaRPr lang="en-US" altLang="zh-CN">
              <a:latin typeface="Times New Roman" panose="02020603050405020304" charset="0"/>
              <a:cs typeface="Times New Roman" panose="02020603050405020304" charset="0"/>
            </a:endParaRPr>
          </a:p>
        </p:txBody>
      </p:sp>
      <p:cxnSp>
        <p:nvCxnSpPr>
          <p:cNvPr id="12" name="直接连接符 11"/>
          <p:cNvCxnSpPr/>
          <p:nvPr/>
        </p:nvCxnSpPr>
        <p:spPr>
          <a:xfrm>
            <a:off x="52832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6939280" y="1717040"/>
            <a:ext cx="762000" cy="368300"/>
          </a:xfrm>
          <a:prstGeom prst="rect">
            <a:avLst/>
          </a:prstGeom>
          <a:solidFill>
            <a:srgbClr val="F7FBFF"/>
          </a:solidFill>
        </p:spPr>
        <p:txBody>
          <a:bodyPr wrap="square" rtlCol="0">
            <a:spAutoFit/>
          </a:bodyPr>
          <a:p>
            <a:pPr algn="ctr"/>
            <a:r>
              <a:rPr lang="en-US" altLang="zh-CN">
                <a:solidFill>
                  <a:schemeClr val="tx1"/>
                </a:solidFill>
              </a:rPr>
              <a:t>100</a:t>
            </a:r>
            <a:endParaRPr lang="en-US" altLang="zh-CN">
              <a:solidFill>
                <a:schemeClr val="tx1"/>
              </a:solidFill>
            </a:endParaRPr>
          </a:p>
        </p:txBody>
      </p:sp>
      <p:sp>
        <p:nvSpPr>
          <p:cNvPr id="5" name="文本框 4"/>
          <p:cNvSpPr txBox="1"/>
          <p:nvPr/>
        </p:nvSpPr>
        <p:spPr>
          <a:xfrm>
            <a:off x="1142365" y="4944745"/>
            <a:ext cx="1671955" cy="440690"/>
          </a:xfrm>
          <a:prstGeom prst="rect">
            <a:avLst/>
          </a:prstGeom>
          <a:noFill/>
        </p:spPr>
        <p:txBody>
          <a:bodyPr wrap="square" rtlCol="0">
            <a:noAutofit/>
          </a:bodyPr>
          <a:p>
            <a:r>
              <a:rPr lang="en-US" altLang="zh-CN">
                <a:latin typeface="Times New Roman" panose="02020603050405020304" charset="0"/>
                <a:cs typeface="Times New Roman" panose="02020603050405020304" charset="0"/>
              </a:rPr>
              <a:t>Proton</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p:txBody>
      </p:sp>
      <p:graphicFrame>
        <p:nvGraphicFramePr>
          <p:cNvPr id="17" name="对象 16">
            <a:hlinkClick r:id="" action="ppaction://ole?verb="/>
          </p:cNvPr>
          <p:cNvGraphicFramePr>
            <a:graphicFrameLocks noChangeAspect="1"/>
          </p:cNvGraphicFramePr>
          <p:nvPr/>
        </p:nvGraphicFramePr>
        <p:xfrm>
          <a:off x="2328545" y="4878705"/>
          <a:ext cx="1328420" cy="572135"/>
        </p:xfrm>
        <a:graphic>
          <a:graphicData uri="http://schemas.openxmlformats.org/presentationml/2006/ole">
            <mc:AlternateContent xmlns:mc="http://schemas.openxmlformats.org/markup-compatibility/2006">
              <mc:Choice xmlns:v="urn:schemas-microsoft-com:vml" Requires="v">
                <p:oleObj spid="_x0000_s1026" name="" r:id="rId1" imgW="914400" imgH="393700" progId="Equation.KSEE3">
                  <p:embed/>
                </p:oleObj>
              </mc:Choice>
              <mc:Fallback>
                <p:oleObj name="" r:id="rId1" imgW="914400" imgH="393700" progId="Equation.KSEE3">
                  <p:embed/>
                  <p:pic>
                    <p:nvPicPr>
                      <p:cNvPr id="0" name="图片 1025"/>
                      <p:cNvPicPr/>
                      <p:nvPr/>
                    </p:nvPicPr>
                    <p:blipFill>
                      <a:blip r:embed="rId2"/>
                      <a:stretch>
                        <a:fillRect/>
                      </a:stretch>
                    </p:blipFill>
                    <p:spPr>
                      <a:xfrm>
                        <a:off x="2328545" y="4878705"/>
                        <a:ext cx="1328420" cy="572135"/>
                      </a:xfrm>
                      <a:prstGeom prst="rect">
                        <a:avLst/>
                      </a:prstGeom>
                    </p:spPr>
                  </p:pic>
                </p:oleObj>
              </mc:Fallback>
            </mc:AlternateContent>
          </a:graphicData>
        </a:graphic>
      </p:graphicFrame>
      <p:sp>
        <p:nvSpPr>
          <p:cNvPr id="18" name="文本框 17"/>
          <p:cNvSpPr txBox="1"/>
          <p:nvPr/>
        </p:nvSpPr>
        <p:spPr>
          <a:xfrm>
            <a:off x="567690" y="5661025"/>
            <a:ext cx="1876425" cy="440690"/>
          </a:xfrm>
          <a:prstGeom prst="rect">
            <a:avLst/>
          </a:prstGeom>
          <a:noFill/>
        </p:spPr>
        <p:txBody>
          <a:bodyPr wrap="square" rtlCol="0">
            <a:noAutofit/>
          </a:bodyPr>
          <a:p>
            <a:r>
              <a:rPr lang="en-US" altLang="zh-CN">
                <a:latin typeface="Times New Roman" panose="02020603050405020304" charset="0"/>
                <a:cs typeface="Times New Roman" panose="02020603050405020304" charset="0"/>
              </a:rPr>
              <a:t>Overall Accuracy</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p:txBody>
      </p:sp>
      <p:graphicFrame>
        <p:nvGraphicFramePr>
          <p:cNvPr id="19" name="对象 18">
            <a:hlinkClick r:id="" action="ppaction://ole?verb="/>
          </p:cNvPr>
          <p:cNvGraphicFramePr>
            <a:graphicFrameLocks noChangeAspect="1"/>
          </p:cNvGraphicFramePr>
          <p:nvPr/>
        </p:nvGraphicFramePr>
        <p:xfrm>
          <a:off x="2677795" y="5594985"/>
          <a:ext cx="1958340" cy="572770"/>
        </p:xfrm>
        <a:graphic>
          <a:graphicData uri="http://schemas.openxmlformats.org/presentationml/2006/ole">
            <mc:AlternateContent xmlns:mc="http://schemas.openxmlformats.org/markup-compatibility/2006">
              <mc:Choice xmlns:v="urn:schemas-microsoft-com:vml" Requires="v">
                <p:oleObj spid="_x0000_s1027" name="" r:id="rId3" imgW="1346200" imgH="393700" progId="Equation.KSEE3">
                  <p:embed/>
                </p:oleObj>
              </mc:Choice>
              <mc:Fallback>
                <p:oleObj name="" r:id="rId3" imgW="1346200" imgH="393700" progId="Equation.KSEE3">
                  <p:embed/>
                  <p:pic>
                    <p:nvPicPr>
                      <p:cNvPr id="0" name="图片 1026"/>
                      <p:cNvPicPr/>
                      <p:nvPr/>
                    </p:nvPicPr>
                    <p:blipFill>
                      <a:blip r:embed="rId4"/>
                      <a:stretch>
                        <a:fillRect/>
                      </a:stretch>
                    </p:blipFill>
                    <p:spPr>
                      <a:xfrm>
                        <a:off x="2677795" y="5594985"/>
                        <a:ext cx="1958340" cy="572770"/>
                      </a:xfrm>
                      <a:prstGeom prst="rect">
                        <a:avLst/>
                      </a:prstGeom>
                    </p:spPr>
                  </p:pic>
                </p:oleObj>
              </mc:Fallback>
            </mc:AlternateContent>
          </a:graphicData>
        </a:graphic>
      </p:graphicFrame>
      <p:grpSp>
        <p:nvGrpSpPr>
          <p:cNvPr id="24" name="组合 23"/>
          <p:cNvGrpSpPr/>
          <p:nvPr/>
        </p:nvGrpSpPr>
        <p:grpSpPr>
          <a:xfrm>
            <a:off x="5910580" y="1395095"/>
            <a:ext cx="5728970" cy="4779010"/>
            <a:chOff x="9308" y="2197"/>
            <a:chExt cx="9022" cy="7526"/>
          </a:xfrm>
        </p:grpSpPr>
        <p:pic>
          <p:nvPicPr>
            <p:cNvPr id="8" name="图片 7"/>
            <p:cNvPicPr>
              <a:picLocks noChangeAspect="1"/>
            </p:cNvPicPr>
            <p:nvPr/>
          </p:nvPicPr>
          <p:blipFill>
            <a:blip r:embed="rId5"/>
            <a:srcRect l="5004" t="4749" r="9330"/>
            <a:stretch>
              <a:fillRect/>
            </a:stretch>
          </p:blipFill>
          <p:spPr>
            <a:xfrm>
              <a:off x="9308" y="2197"/>
              <a:ext cx="9022" cy="7526"/>
            </a:xfrm>
            <a:prstGeom prst="rect">
              <a:avLst/>
            </a:prstGeom>
          </p:spPr>
        </p:pic>
        <p:sp>
          <p:nvSpPr>
            <p:cNvPr id="20" name="文本框 19"/>
            <p:cNvSpPr txBox="1"/>
            <p:nvPr/>
          </p:nvSpPr>
          <p:spPr>
            <a:xfrm rot="16200000">
              <a:off x="9143" y="3950"/>
              <a:ext cx="1203" cy="483"/>
            </a:xfrm>
            <a:prstGeom prst="rect">
              <a:avLst/>
            </a:prstGeom>
            <a:solidFill>
              <a:schemeClr val="bg1"/>
            </a:solidFill>
          </p:spPr>
          <p:txBody>
            <a:bodyPr wrap="square" rtlCol="0">
              <a:spAutoFit/>
            </a:bodyPr>
            <a:p>
              <a:r>
                <a:rPr lang="en-US" altLang="zh-CN" sz="1400"/>
                <a:t>proton</a:t>
              </a:r>
              <a:endParaRPr lang="en-US" altLang="zh-CN" sz="1400"/>
            </a:p>
          </p:txBody>
        </p:sp>
        <p:sp>
          <p:nvSpPr>
            <p:cNvPr id="21" name="文本框 20"/>
            <p:cNvSpPr txBox="1"/>
            <p:nvPr/>
          </p:nvSpPr>
          <p:spPr>
            <a:xfrm rot="16200000">
              <a:off x="8921" y="7110"/>
              <a:ext cx="1666" cy="483"/>
            </a:xfrm>
            <a:prstGeom prst="rect">
              <a:avLst/>
            </a:prstGeom>
            <a:solidFill>
              <a:schemeClr val="bg1"/>
            </a:solidFill>
          </p:spPr>
          <p:txBody>
            <a:bodyPr wrap="square" rtlCol="0">
              <a:spAutoFit/>
            </a:bodyPr>
            <a:p>
              <a:r>
                <a:rPr lang="en-US" altLang="zh-CN" sz="1400"/>
                <a:t>non-proton</a:t>
              </a:r>
              <a:endParaRPr lang="en-US" altLang="zh-CN" sz="1400"/>
            </a:p>
          </p:txBody>
        </p:sp>
        <p:sp>
          <p:nvSpPr>
            <p:cNvPr id="22" name="文本框 21"/>
            <p:cNvSpPr txBox="1"/>
            <p:nvPr/>
          </p:nvSpPr>
          <p:spPr>
            <a:xfrm>
              <a:off x="11285" y="8975"/>
              <a:ext cx="1203" cy="483"/>
            </a:xfrm>
            <a:prstGeom prst="rect">
              <a:avLst/>
            </a:prstGeom>
            <a:solidFill>
              <a:schemeClr val="bg1"/>
            </a:solidFill>
          </p:spPr>
          <p:txBody>
            <a:bodyPr wrap="square" rtlCol="0">
              <a:spAutoFit/>
            </a:bodyPr>
            <a:p>
              <a:r>
                <a:rPr lang="en-US" altLang="zh-CN" sz="1400"/>
                <a:t>proton</a:t>
              </a:r>
              <a:endParaRPr lang="en-US" altLang="zh-CN" sz="1400"/>
            </a:p>
          </p:txBody>
        </p:sp>
        <p:sp>
          <p:nvSpPr>
            <p:cNvPr id="23" name="文本框 22"/>
            <p:cNvSpPr txBox="1"/>
            <p:nvPr/>
          </p:nvSpPr>
          <p:spPr>
            <a:xfrm>
              <a:off x="14359" y="8975"/>
              <a:ext cx="1666" cy="483"/>
            </a:xfrm>
            <a:prstGeom prst="rect">
              <a:avLst/>
            </a:prstGeom>
            <a:solidFill>
              <a:schemeClr val="bg1"/>
            </a:solidFill>
          </p:spPr>
          <p:txBody>
            <a:bodyPr wrap="square" rtlCol="0">
              <a:spAutoFit/>
            </a:bodyPr>
            <a:p>
              <a:r>
                <a:rPr lang="en-US" altLang="zh-CN" sz="1400"/>
                <a:t>non-proton</a:t>
              </a:r>
              <a:endParaRPr lang="en-US" altLang="zh-CN" sz="1400"/>
            </a:p>
          </p:txBody>
        </p:sp>
      </p:grpSp>
    </p:spTree>
    <p:custDataLst>
      <p:tags r:id="rId6"/>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Attention Entropy</a:t>
            </a:r>
            <a:endParaRPr lang="en-US" altLang="zh-CN"/>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pic>
        <p:nvPicPr>
          <p:cNvPr id="5" name="图片 4"/>
          <p:cNvPicPr>
            <a:picLocks noChangeAspect="1"/>
          </p:cNvPicPr>
          <p:nvPr/>
        </p:nvPicPr>
        <p:blipFill>
          <a:blip r:embed="rId1"/>
          <a:stretch>
            <a:fillRect/>
          </a:stretch>
        </p:blipFill>
        <p:spPr>
          <a:xfrm>
            <a:off x="5734050" y="1537335"/>
            <a:ext cx="5566410" cy="4639310"/>
          </a:xfrm>
          <a:prstGeom prst="rect">
            <a:avLst/>
          </a:prstGeom>
        </p:spPr>
      </p:pic>
      <p:cxnSp>
        <p:nvCxnSpPr>
          <p:cNvPr id="12" name="直接连接符 11"/>
          <p:cNvCxnSpPr/>
          <p:nvPr/>
        </p:nvCxnSpPr>
        <p:spPr>
          <a:xfrm>
            <a:off x="53340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47650" y="1247140"/>
            <a:ext cx="438150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Shannon entropy for a discrete distribution p</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pic>
        <p:nvPicPr>
          <p:cNvPr id="7" name="图片 6"/>
          <p:cNvPicPr>
            <a:picLocks noChangeAspect="1"/>
          </p:cNvPicPr>
          <p:nvPr/>
        </p:nvPicPr>
        <p:blipFill>
          <a:blip r:embed="rId2"/>
          <a:stretch>
            <a:fillRect/>
          </a:stretch>
        </p:blipFill>
        <p:spPr>
          <a:xfrm>
            <a:off x="1395095" y="1619250"/>
            <a:ext cx="2197100" cy="654050"/>
          </a:xfrm>
          <a:prstGeom prst="rect">
            <a:avLst/>
          </a:prstGeom>
        </p:spPr>
      </p:pic>
      <p:sp>
        <p:nvSpPr>
          <p:cNvPr id="8" name="文本框 7"/>
          <p:cNvSpPr txBox="1"/>
          <p:nvPr/>
        </p:nvSpPr>
        <p:spPr>
          <a:xfrm>
            <a:off x="278130" y="2289810"/>
            <a:ext cx="4686935"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Assume that the attention matrix of a specific head is</a:t>
            </a:r>
            <a:endParaRPr lang="zh-CN" altLang="en-US">
              <a:latin typeface="Times New Roman" panose="02020603050405020304" charset="0"/>
              <a:cs typeface="Times New Roman" panose="02020603050405020304" charset="0"/>
            </a:endParaRPr>
          </a:p>
        </p:txBody>
      </p:sp>
      <p:pic>
        <p:nvPicPr>
          <p:cNvPr id="9" name="图片 8"/>
          <p:cNvPicPr>
            <a:picLocks noChangeAspect="1"/>
          </p:cNvPicPr>
          <p:nvPr/>
        </p:nvPicPr>
        <p:blipFill>
          <a:blip r:embed="rId3"/>
          <a:srcRect t="24908" r="5845"/>
          <a:stretch>
            <a:fillRect/>
          </a:stretch>
        </p:blipFill>
        <p:spPr>
          <a:xfrm>
            <a:off x="1105535" y="2594610"/>
            <a:ext cx="1005840" cy="367665"/>
          </a:xfrm>
          <a:prstGeom prst="rect">
            <a:avLst/>
          </a:prstGeom>
        </p:spPr>
      </p:pic>
      <p:sp>
        <p:nvSpPr>
          <p:cNvPr id="10" name="文本框 9"/>
          <p:cNvSpPr txBox="1"/>
          <p:nvPr/>
        </p:nvSpPr>
        <p:spPr>
          <a:xfrm>
            <a:off x="316230" y="4022090"/>
            <a:ext cx="4064000"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Measures the concentration of attention of token i on all tokens</a:t>
            </a:r>
            <a:endParaRPr lang="en-US" altLang="zh-CN">
              <a:latin typeface="Times New Roman" panose="02020603050405020304" charset="0"/>
              <a:cs typeface="Times New Roman" panose="02020603050405020304" charset="0"/>
            </a:endParaRPr>
          </a:p>
        </p:txBody>
      </p:sp>
      <p:sp>
        <p:nvSpPr>
          <p:cNvPr id="11" name="文本框 10"/>
          <p:cNvSpPr txBox="1"/>
          <p:nvPr/>
        </p:nvSpPr>
        <p:spPr>
          <a:xfrm>
            <a:off x="316230" y="2955290"/>
            <a:ext cx="406400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Row Entropy</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pic>
        <p:nvPicPr>
          <p:cNvPr id="13" name="图片 12"/>
          <p:cNvPicPr>
            <a:picLocks noChangeAspect="1"/>
          </p:cNvPicPr>
          <p:nvPr/>
        </p:nvPicPr>
        <p:blipFill>
          <a:blip r:embed="rId4"/>
          <a:stretch>
            <a:fillRect/>
          </a:stretch>
        </p:blipFill>
        <p:spPr>
          <a:xfrm>
            <a:off x="1482090" y="3338830"/>
            <a:ext cx="2265045" cy="668020"/>
          </a:xfrm>
          <a:prstGeom prst="rect">
            <a:avLst/>
          </a:prstGeom>
        </p:spPr>
      </p:pic>
      <p:sp>
        <p:nvSpPr>
          <p:cNvPr id="14" name="文本框 13"/>
          <p:cNvSpPr txBox="1"/>
          <p:nvPr/>
        </p:nvSpPr>
        <p:spPr>
          <a:xfrm>
            <a:off x="323850" y="4641850"/>
            <a:ext cx="4806315" cy="1753235"/>
          </a:xfrm>
          <a:prstGeom prst="rect">
            <a:avLst/>
          </a:prstGeom>
          <a:noFill/>
        </p:spPr>
        <p:txBody>
          <a:bodyPr wrap="square" rtlCol="0">
            <a:spAutoFit/>
          </a:bodyPr>
          <a:p>
            <a:r>
              <a:rPr lang="en-US" altLang="zh-CN" b="1">
                <a:solidFill>
                  <a:srgbClr val="083573"/>
                </a:solidFill>
                <a:latin typeface="Times New Roman" panose="02020603050405020304" charset="0"/>
                <a:cs typeface="Times New Roman" panose="02020603050405020304" charset="0"/>
              </a:rPr>
              <a:t>Physical Meaning</a:t>
            </a:r>
            <a:endParaRPr lang="en-US" altLang="zh-CN" b="1">
              <a:solidFill>
                <a:srgbClr val="083573"/>
              </a:solidFill>
              <a:latin typeface="Times New Roman" panose="02020603050405020304" charset="0"/>
              <a:cs typeface="Times New Roman" panose="02020603050405020304" charset="0"/>
            </a:endParaRPr>
          </a:p>
          <a:p>
            <a:r>
              <a:rPr lang="en-US" altLang="zh-CN" b="1">
                <a:solidFill>
                  <a:srgbClr val="083573"/>
                </a:solidFill>
                <a:latin typeface="Times New Roman" panose="02020603050405020304" charset="0"/>
                <a:cs typeface="Times New Roman" panose="02020603050405020304" charset="0"/>
              </a:rPr>
              <a:t>High entropy: </a:t>
            </a:r>
            <a:r>
              <a:rPr lang="en-US" altLang="zh-CN">
                <a:latin typeface="Times New Roman" panose="02020603050405020304" charset="0"/>
                <a:cs typeface="Times New Roman" panose="02020603050405020304" charset="0"/>
              </a:rPr>
              <a:t>Attention is evenly distributed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Model uncertainty, worth further exploration;</a:t>
            </a:r>
            <a:endParaRPr lang="en-US" altLang="zh-CN">
              <a:latin typeface="Times New Roman" panose="02020603050405020304" charset="0"/>
              <a:cs typeface="Times New Roman" panose="02020603050405020304" charset="0"/>
            </a:endParaRPr>
          </a:p>
          <a:p>
            <a:r>
              <a:rPr lang="en-US" altLang="zh-CN" b="1">
                <a:solidFill>
                  <a:srgbClr val="083573"/>
                </a:solidFill>
                <a:latin typeface="Times New Roman" panose="02020603050405020304" charset="0"/>
                <a:cs typeface="Times New Roman" panose="02020603050405020304" charset="0"/>
              </a:rPr>
              <a:t>Low entropy: </a:t>
            </a:r>
            <a:r>
              <a:rPr lang="en-US" altLang="zh-CN">
                <a:latin typeface="Times New Roman" panose="02020603050405020304" charset="0"/>
                <a:cs typeface="Times New Roman" panose="02020603050405020304" charset="0"/>
              </a:rPr>
              <a:t>Attention is almost exclusively focused on a single token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Model certainty, but may overfit.</a:t>
            </a:r>
            <a:endParaRPr lang="en-US" altLang="zh-CN">
              <a:latin typeface="Times New Roman" panose="02020603050405020304" charset="0"/>
              <a:cs typeface="Times New Roman" panose="02020603050405020304" charset="0"/>
            </a:endParaRPr>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Attention Entropy</a:t>
            </a:r>
            <a:endParaRPr lang="zh-CN" altLang="en-US"/>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sp>
        <p:nvSpPr>
          <p:cNvPr id="5" name="文本框 4"/>
          <p:cNvSpPr txBox="1"/>
          <p:nvPr/>
        </p:nvSpPr>
        <p:spPr>
          <a:xfrm>
            <a:off x="171450" y="1167765"/>
            <a:ext cx="4946650" cy="535432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When the model handles different types of misclassified examples, its internal attention mechanism exhibits diametrically opposed "</a:t>
            </a:r>
            <a:r>
              <a:rPr lang="en-US" altLang="zh-CN" b="1">
                <a:solidFill>
                  <a:srgbClr val="083573"/>
                </a:solidFill>
                <a:latin typeface="Times New Roman" panose="02020603050405020304" charset="0"/>
                <a:cs typeface="Times New Roman" panose="02020603050405020304" charset="0"/>
              </a:rPr>
              <a:t>cognitive states</a:t>
            </a:r>
            <a:r>
              <a:rPr lang="en-US" altLang="zh-CN">
                <a:latin typeface="Times New Roman" panose="02020603050405020304" charset="0"/>
                <a:cs typeface="Times New Roman" panose="02020603050405020304" charset="0"/>
              </a:rPr>
              <a:t>":</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For </a:t>
            </a:r>
            <a:r>
              <a:rPr lang="en-US" altLang="zh-CN" b="1">
                <a:solidFill>
                  <a:srgbClr val="083573"/>
                </a:solidFill>
                <a:latin typeface="Times New Roman" panose="02020603050405020304" charset="0"/>
                <a:cs typeface="Times New Roman" panose="02020603050405020304" charset="0"/>
              </a:rPr>
              <a:t>FN examples (missed protons)</a:t>
            </a:r>
            <a:r>
              <a:rPr lang="en-US" altLang="zh-CN">
                <a:latin typeface="Times New Roman" panose="02020603050405020304" charset="0"/>
                <a:cs typeface="Times New Roman" panose="02020603050405020304" charset="0"/>
              </a:rPr>
              <a:t>, the model exhibits significant "confusion." Its attention entropy is generally higher and more widely distributed, indicating that when faced with a real proton track, the model is unable to find a clear feature to focus its attention on, resulting in a false negative.</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For FP examples (falsely positive background), the model exhibits high "false confidence." Its attention entropy is generally lower and more concentrated, indicating that the model mistakenly focuses on certain local features (such as a bright cluster of pixels) and makes high-confidence judgments based on this incorrect focus.</a:t>
            </a:r>
            <a:endParaRPr lang="en-US" altLang="zh-CN">
              <a:latin typeface="Times New Roman" panose="02020603050405020304" charset="0"/>
              <a:cs typeface="Times New Roman" panose="02020603050405020304" charset="0"/>
            </a:endParaRPr>
          </a:p>
        </p:txBody>
      </p:sp>
      <p:pic>
        <p:nvPicPr>
          <p:cNvPr id="7" name="图片 6"/>
          <p:cNvPicPr>
            <a:picLocks noChangeAspect="1"/>
          </p:cNvPicPr>
          <p:nvPr/>
        </p:nvPicPr>
        <p:blipFill>
          <a:blip r:embed="rId1"/>
          <a:stretch>
            <a:fillRect/>
          </a:stretch>
        </p:blipFill>
        <p:spPr>
          <a:xfrm>
            <a:off x="5881370" y="1597660"/>
            <a:ext cx="5566410" cy="4639310"/>
          </a:xfrm>
          <a:prstGeom prst="rect">
            <a:avLst/>
          </a:prstGeom>
        </p:spPr>
      </p:pic>
      <p:cxnSp>
        <p:nvCxnSpPr>
          <p:cNvPr id="8" name="直接连接符 7"/>
          <p:cNvCxnSpPr/>
          <p:nvPr/>
        </p:nvCxnSpPr>
        <p:spPr>
          <a:xfrm>
            <a:off x="53340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Interpretability Analysis</a:t>
            </a:r>
            <a:endParaRPr lang="en-US" altLang="zh-CN"/>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sp>
        <p:nvSpPr>
          <p:cNvPr id="8" name="文本框 7"/>
          <p:cNvSpPr txBox="1"/>
          <p:nvPr/>
        </p:nvSpPr>
        <p:spPr>
          <a:xfrm>
            <a:off x="375920" y="1797685"/>
            <a:ext cx="6096000" cy="3876675"/>
          </a:xfrm>
          <a:prstGeom prst="rect">
            <a:avLst/>
          </a:prstGeom>
          <a:noFill/>
        </p:spPr>
        <p:txBody>
          <a:bodyPr wrap="square" rtlCol="0" anchor="t">
            <a:spAutoFit/>
          </a:bodyPr>
          <a:p>
            <a:pPr indent="0" fontAlgn="auto">
              <a:lnSpc>
                <a:spcPts val="2460"/>
              </a:lnSpc>
            </a:pPr>
            <a:r>
              <a:rPr lang="en-US" altLang="zh-CN">
                <a:latin typeface="Times New Roman" panose="02020603050405020304" charset="0"/>
                <a:cs typeface="Times New Roman" panose="02020603050405020304" charset="0"/>
              </a:rPr>
              <a:t>The model's level of "perplexity" (high attention entropy) shows a strong correlation with the physical form of the track. Specifically, </a:t>
            </a:r>
            <a:r>
              <a:rPr lang="en-US" altLang="zh-CN" b="1">
                <a:solidFill>
                  <a:srgbClr val="083573"/>
                </a:solidFill>
                <a:latin typeface="Times New Roman" panose="02020603050405020304" charset="0"/>
                <a:cs typeface="Times New Roman" panose="02020603050405020304" charset="0"/>
              </a:rPr>
              <a:t>when the model misidentifies a "long" background event as a proton (FP), it exhibits systematic uncertainty.</a:t>
            </a:r>
            <a:endParaRPr lang="en-US" altLang="zh-CN" b="1">
              <a:solidFill>
                <a:srgbClr val="083573"/>
              </a:solidFill>
              <a:latin typeface="Times New Roman" panose="02020603050405020304" charset="0"/>
              <a:cs typeface="Times New Roman" panose="02020603050405020304" charset="0"/>
            </a:endParaRPr>
          </a:p>
          <a:p>
            <a:pPr indent="0" fontAlgn="auto">
              <a:lnSpc>
                <a:spcPts val="2460"/>
              </a:lnSpc>
            </a:pPr>
            <a:endParaRPr lang="en-US" altLang="zh-CN" b="1">
              <a:solidFill>
                <a:srgbClr val="083573"/>
              </a:solidFill>
              <a:latin typeface="Times New Roman" panose="02020603050405020304" charset="0"/>
              <a:cs typeface="Times New Roman" panose="02020603050405020304" charset="0"/>
            </a:endParaRPr>
          </a:p>
          <a:p>
            <a:pPr indent="0" fontAlgn="auto">
              <a:lnSpc>
                <a:spcPts val="2460"/>
              </a:lnSpc>
            </a:pPr>
            <a:r>
              <a:rPr lang="en-US" altLang="zh-CN">
                <a:latin typeface="Times New Roman" panose="02020603050405020304" charset="0"/>
                <a:cs typeface="Times New Roman" panose="02020603050405020304" charset="0"/>
              </a:rPr>
              <a:t>This reveals a key weakness in the model and provides a clear direction for improvement: the model's ability to discriminate long tracks must be improved, and attention entropy should be used as a reference indicator of decision confidence. When the entropy value is too high, the confidence of the prediction should be reduced.</a:t>
            </a:r>
            <a:endParaRPr lang="zh-CN" altLang="en-US">
              <a:latin typeface="Times New Roman" panose="02020603050405020304" charset="0"/>
              <a:cs typeface="Times New Roman" panose="02020603050405020304" charset="0"/>
            </a:endParaRPr>
          </a:p>
        </p:txBody>
      </p:sp>
      <p:grpSp>
        <p:nvGrpSpPr>
          <p:cNvPr id="14" name="组合 13"/>
          <p:cNvGrpSpPr/>
          <p:nvPr/>
        </p:nvGrpSpPr>
        <p:grpSpPr>
          <a:xfrm>
            <a:off x="7559675" y="3862705"/>
            <a:ext cx="3185160" cy="2503170"/>
            <a:chOff x="12251" y="5973"/>
            <a:chExt cx="5016" cy="3942"/>
          </a:xfrm>
        </p:grpSpPr>
        <p:pic>
          <p:nvPicPr>
            <p:cNvPr id="10" name="图片 9"/>
            <p:cNvPicPr>
              <a:picLocks noChangeAspect="1"/>
            </p:cNvPicPr>
            <p:nvPr/>
          </p:nvPicPr>
          <p:blipFill>
            <a:blip r:embed="rId1"/>
            <a:srcRect r="66054"/>
            <a:stretch>
              <a:fillRect/>
            </a:stretch>
          </p:blipFill>
          <p:spPr>
            <a:xfrm>
              <a:off x="12251" y="5973"/>
              <a:ext cx="5017" cy="3943"/>
            </a:xfrm>
            <a:prstGeom prst="rect">
              <a:avLst/>
            </a:prstGeom>
          </p:spPr>
        </p:pic>
        <p:pic>
          <p:nvPicPr>
            <p:cNvPr id="11" name="图片 10"/>
            <p:cNvPicPr>
              <a:picLocks noChangeAspect="1"/>
            </p:cNvPicPr>
            <p:nvPr/>
          </p:nvPicPr>
          <p:blipFill>
            <a:blip r:embed="rId1"/>
            <a:srcRect l="93818" t="10175" r="1205" b="76193"/>
            <a:stretch>
              <a:fillRect/>
            </a:stretch>
          </p:blipFill>
          <p:spPr>
            <a:xfrm>
              <a:off x="16242" y="6514"/>
              <a:ext cx="950" cy="694"/>
            </a:xfrm>
            <a:prstGeom prst="rect">
              <a:avLst/>
            </a:prstGeom>
          </p:spPr>
        </p:pic>
      </p:grpSp>
      <p:grpSp>
        <p:nvGrpSpPr>
          <p:cNvPr id="13" name="组合 12"/>
          <p:cNvGrpSpPr/>
          <p:nvPr/>
        </p:nvGrpSpPr>
        <p:grpSpPr>
          <a:xfrm>
            <a:off x="7493000" y="1183005"/>
            <a:ext cx="3386455" cy="2542540"/>
            <a:chOff x="12120" y="1783"/>
            <a:chExt cx="5333" cy="4004"/>
          </a:xfrm>
        </p:grpSpPr>
        <p:pic>
          <p:nvPicPr>
            <p:cNvPr id="9" name="图片 8"/>
            <p:cNvPicPr>
              <a:picLocks noChangeAspect="1"/>
            </p:cNvPicPr>
            <p:nvPr/>
          </p:nvPicPr>
          <p:blipFill>
            <a:blip r:embed="rId1"/>
            <a:srcRect l="34470" r="32422"/>
            <a:stretch>
              <a:fillRect/>
            </a:stretch>
          </p:blipFill>
          <p:spPr>
            <a:xfrm>
              <a:off x="12481" y="1783"/>
              <a:ext cx="4972" cy="4005"/>
            </a:xfrm>
            <a:prstGeom prst="rect">
              <a:avLst/>
            </a:prstGeom>
          </p:spPr>
        </p:pic>
        <p:pic>
          <p:nvPicPr>
            <p:cNvPr id="7" name="图片 6"/>
            <p:cNvPicPr>
              <a:picLocks noChangeAspect="1"/>
            </p:cNvPicPr>
            <p:nvPr/>
          </p:nvPicPr>
          <p:blipFill>
            <a:blip r:embed="rId1"/>
            <a:srcRect l="93818" t="10175" r="1205" b="76193"/>
            <a:stretch>
              <a:fillRect/>
            </a:stretch>
          </p:blipFill>
          <p:spPr>
            <a:xfrm>
              <a:off x="16242" y="2236"/>
              <a:ext cx="950" cy="694"/>
            </a:xfrm>
            <a:prstGeom prst="rect">
              <a:avLst/>
            </a:prstGeom>
          </p:spPr>
        </p:pic>
        <p:pic>
          <p:nvPicPr>
            <p:cNvPr id="12" name="图片 11"/>
            <p:cNvPicPr>
              <a:picLocks noChangeAspect="1"/>
            </p:cNvPicPr>
            <p:nvPr/>
          </p:nvPicPr>
          <p:blipFill>
            <a:blip r:embed="rId1"/>
            <a:srcRect l="-589" t="18502" r="98185" b="28414"/>
            <a:stretch>
              <a:fillRect/>
            </a:stretch>
          </p:blipFill>
          <p:spPr>
            <a:xfrm>
              <a:off x="12120" y="2524"/>
              <a:ext cx="361" cy="2126"/>
            </a:xfrm>
            <a:prstGeom prst="rect">
              <a:avLst/>
            </a:prstGeom>
          </p:spPr>
        </p:pic>
      </p:grpSp>
      <p:cxnSp>
        <p:nvCxnSpPr>
          <p:cNvPr id="15" name="直接连接符 14"/>
          <p:cNvCxnSpPr/>
          <p:nvPr/>
        </p:nvCxnSpPr>
        <p:spPr>
          <a:xfrm>
            <a:off x="6807200" y="1316990"/>
            <a:ext cx="31115" cy="485965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flipH="1">
            <a:off x="6965950" y="3793490"/>
            <a:ext cx="4959350" cy="25400"/>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12"/>
          <p:cNvPicPr>
            <a:picLocks noChangeAspect="1"/>
          </p:cNvPicPr>
          <p:nvPr/>
        </p:nvPicPr>
        <p:blipFill>
          <a:blip r:embed="rId1"/>
          <a:srcRect l="1993" r="11411" b="44630"/>
          <a:stretch>
            <a:fillRect/>
          </a:stretch>
        </p:blipFill>
        <p:spPr>
          <a:xfrm>
            <a:off x="19685" y="3589655"/>
            <a:ext cx="4820285" cy="480060"/>
          </a:xfrm>
          <a:prstGeom prst="rect">
            <a:avLst/>
          </a:prstGeom>
        </p:spPr>
      </p:pic>
      <p:sp>
        <p:nvSpPr>
          <p:cNvPr id="2" name="标题 1"/>
          <p:cNvSpPr>
            <a:spLocks noGrp="1"/>
          </p:cNvSpPr>
          <p:nvPr>
            <p:ph type="title"/>
          </p:nvPr>
        </p:nvSpPr>
        <p:spPr>
          <a:xfrm>
            <a:off x="316230" y="219710"/>
            <a:ext cx="10702290" cy="705485"/>
          </a:xfrm>
        </p:spPr>
        <p:txBody>
          <a:bodyPr>
            <a:normAutofit fontScale="90000"/>
          </a:bodyPr>
          <a:p>
            <a:r>
              <a:rPr lang="en-US" altLang="zh-CN"/>
              <a:t>Mechanism of Cross-Attention Architecture</a:t>
            </a:r>
            <a:endParaRPr lang="en-US" altLang="zh-CN"/>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pic>
        <p:nvPicPr>
          <p:cNvPr id="5" name="图片 4"/>
          <p:cNvPicPr>
            <a:picLocks noChangeAspect="1"/>
          </p:cNvPicPr>
          <p:nvPr/>
        </p:nvPicPr>
        <p:blipFill>
          <a:blip r:embed="rId2"/>
          <a:stretch>
            <a:fillRect/>
          </a:stretch>
        </p:blipFill>
        <p:spPr>
          <a:xfrm>
            <a:off x="4826635" y="1220470"/>
            <a:ext cx="4090035" cy="5082540"/>
          </a:xfrm>
          <a:prstGeom prst="rect">
            <a:avLst/>
          </a:prstGeom>
        </p:spPr>
      </p:pic>
      <p:sp>
        <p:nvSpPr>
          <p:cNvPr id="6" name="文本框 5"/>
          <p:cNvSpPr txBox="1"/>
          <p:nvPr/>
        </p:nvSpPr>
        <p:spPr>
          <a:xfrm>
            <a:off x="316230" y="1428750"/>
            <a:ext cx="4064000" cy="398780"/>
          </a:xfrm>
          <a:prstGeom prst="rect">
            <a:avLst/>
          </a:prstGeom>
          <a:noFill/>
        </p:spPr>
        <p:txBody>
          <a:bodyPr wrap="square" rtlCol="0">
            <a:spAutoFit/>
          </a:bodyPr>
          <a:p>
            <a:r>
              <a:rPr lang="en-US" altLang="zh-CN" sz="2000" b="1"/>
              <a:t>Transformer Architecture</a:t>
            </a:r>
            <a:r>
              <a:rPr lang="zh-CN" altLang="en-US" sz="2000" b="1"/>
              <a:t>：</a:t>
            </a:r>
            <a:endParaRPr lang="zh-CN" altLang="en-US" sz="2000" b="1"/>
          </a:p>
        </p:txBody>
      </p:sp>
      <p:pic>
        <p:nvPicPr>
          <p:cNvPr id="7" name="图片 6"/>
          <p:cNvPicPr>
            <a:picLocks noChangeAspect="1"/>
          </p:cNvPicPr>
          <p:nvPr/>
        </p:nvPicPr>
        <p:blipFill>
          <a:blip r:embed="rId3"/>
          <a:stretch>
            <a:fillRect/>
          </a:stretch>
        </p:blipFill>
        <p:spPr>
          <a:xfrm>
            <a:off x="8879205" y="1760855"/>
            <a:ext cx="2991485" cy="3852545"/>
          </a:xfrm>
          <a:prstGeom prst="rect">
            <a:avLst/>
          </a:prstGeom>
        </p:spPr>
      </p:pic>
      <p:pic>
        <p:nvPicPr>
          <p:cNvPr id="9" name="图片 8"/>
          <p:cNvPicPr>
            <a:picLocks noChangeAspect="1"/>
          </p:cNvPicPr>
          <p:nvPr/>
        </p:nvPicPr>
        <p:blipFill>
          <a:blip r:embed="rId4"/>
          <a:stretch>
            <a:fillRect/>
          </a:stretch>
        </p:blipFill>
        <p:spPr>
          <a:xfrm>
            <a:off x="121920" y="2331085"/>
            <a:ext cx="4258310" cy="818515"/>
          </a:xfrm>
          <a:prstGeom prst="rect">
            <a:avLst/>
          </a:prstGeom>
        </p:spPr>
      </p:pic>
      <p:cxnSp>
        <p:nvCxnSpPr>
          <p:cNvPr id="12" name="直接连接符 11"/>
          <p:cNvCxnSpPr/>
          <p:nvPr/>
        </p:nvCxnSpPr>
        <p:spPr>
          <a:xfrm flipH="1">
            <a:off x="4998720" y="2009140"/>
            <a:ext cx="5715" cy="3876675"/>
          </a:xfrm>
          <a:prstGeom prst="line">
            <a:avLst/>
          </a:prstGeom>
          <a:ln w="12700" cmpd="sng">
            <a:solidFill>
              <a:schemeClr val="accent1">
                <a:shade val="50000"/>
              </a:schemeClr>
            </a:solidFill>
            <a:prstDash val="dash"/>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3742055" y="6111240"/>
            <a:ext cx="3211195" cy="337185"/>
          </a:xfrm>
          <a:prstGeom prst="rect">
            <a:avLst/>
          </a:prstGeom>
          <a:noFill/>
        </p:spPr>
        <p:txBody>
          <a:bodyPr wrap="square" rtlCol="0">
            <a:spAutoFit/>
          </a:bodyPr>
          <a:p>
            <a:r>
              <a:rPr lang="en-US" altLang="zh-CN" sz="1600" i="1">
                <a:latin typeface="Times New Roman" panose="02020603050405020304" charset="0"/>
                <a:cs typeface="Times New Roman" panose="02020603050405020304" charset="0"/>
              </a:rPr>
              <a:t>Attention is all you need</a:t>
            </a:r>
            <a:endParaRPr lang="zh-CN" altLang="en-US" sz="1600" i="1">
              <a:latin typeface="Times New Roman" panose="02020603050405020304" charset="0"/>
              <a:cs typeface="Times New Roman" panose="02020603050405020304" charset="0"/>
            </a:endParaRPr>
          </a:p>
        </p:txBody>
      </p:sp>
      <p:pic>
        <p:nvPicPr>
          <p:cNvPr id="14" name="图片 13"/>
          <p:cNvPicPr>
            <a:picLocks noChangeAspect="1"/>
          </p:cNvPicPr>
          <p:nvPr/>
        </p:nvPicPr>
        <p:blipFill>
          <a:blip r:embed="rId1"/>
          <a:srcRect l="15151" t="48369" r="6319" b="1512"/>
          <a:stretch>
            <a:fillRect/>
          </a:stretch>
        </p:blipFill>
        <p:spPr>
          <a:xfrm>
            <a:off x="245110" y="4728845"/>
            <a:ext cx="4369435" cy="434340"/>
          </a:xfrm>
          <a:prstGeom prst="rect">
            <a:avLst/>
          </a:prstGeom>
        </p:spPr>
      </p:pic>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6230" y="219710"/>
            <a:ext cx="10778490" cy="705485"/>
          </a:xfrm>
        </p:spPr>
        <p:txBody>
          <a:bodyPr>
            <a:normAutofit fontScale="90000"/>
          </a:bodyPr>
          <a:p>
            <a:r>
              <a:rPr lang="en-US" altLang="zh-CN">
                <a:solidFill>
                  <a:schemeClr val="bg1"/>
                </a:solidFill>
                <a:sym typeface="+mn-ea"/>
              </a:rPr>
              <a:t>Mechanism of Cross-Attention Architecture</a:t>
            </a:r>
            <a:endParaRPr lang="en-US" altLang="zh-CN">
              <a:solidFill>
                <a:schemeClr val="bg1"/>
              </a:solidFill>
              <a:sym typeface="+mn-ea"/>
            </a:endParaRPr>
          </a:p>
        </p:txBody>
      </p:sp>
      <p:sp>
        <p:nvSpPr>
          <p:cNvPr id="3" name="灯片编号占位符 2"/>
          <p:cNvSpPr>
            <a:spLocks noGrp="1"/>
          </p:cNvSpPr>
          <p:nvPr>
            <p:ph type="sldNum" sz="quarter" idx="12"/>
          </p:nvPr>
        </p:nvSpPr>
        <p:spPr/>
        <p:txBody>
          <a:bodyPr/>
          <a:p>
            <a:fld id="{8141257D-CBAA-4317-A108-DEE4BE529EBA}" type="slidenum">
              <a:rPr lang="zh-CN" altLang="en-US" smtClean="0"/>
            </a:fld>
            <a:endParaRPr lang="zh-CN" altLang="en-US" dirty="0"/>
          </a:p>
        </p:txBody>
      </p:sp>
      <p:sp>
        <p:nvSpPr>
          <p:cNvPr id="4" name="日期占位符 3"/>
          <p:cNvSpPr>
            <a:spLocks noGrp="1"/>
          </p:cNvSpPr>
          <p:nvPr>
            <p:ph type="dt" sz="half" idx="10"/>
          </p:nvPr>
        </p:nvSpPr>
        <p:spPr/>
        <p:txBody>
          <a:bodyPr/>
          <a:p>
            <a:fld id="{760FBDFE-C587-4B4C-A407-44438C67B59E}" type="datetime2">
              <a:rPr lang="en-US" altLang="en-US" smtClean="0"/>
            </a:fld>
            <a:endParaRPr lang="zh-CN" altLang="en-US"/>
          </a:p>
        </p:txBody>
      </p:sp>
      <p:pic>
        <p:nvPicPr>
          <p:cNvPr id="6" name="Cross_Attention_Physical_Feature.mp4">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1741170" y="1146175"/>
            <a:ext cx="9405620" cy="5235575"/>
          </a:xfrm>
          <a:prstGeom prst="rect">
            <a:avLst/>
          </a:prstGeom>
        </p:spPr>
      </p:pic>
      <p:sp>
        <p:nvSpPr>
          <p:cNvPr id="7" name="文本框 6"/>
          <p:cNvSpPr txBox="1"/>
          <p:nvPr/>
        </p:nvSpPr>
        <p:spPr>
          <a:xfrm>
            <a:off x="1684655" y="5616575"/>
            <a:ext cx="9529445" cy="765175"/>
          </a:xfrm>
          <a:prstGeom prst="rect">
            <a:avLst/>
          </a:prstGeom>
          <a:solidFill>
            <a:schemeClr val="bg1"/>
          </a:solidFill>
        </p:spPr>
        <p:txBody>
          <a:bodyPr wrap="square" rtlCol="0">
            <a:noAutofit/>
          </a:bodyPr>
          <a:p>
            <a:endParaRPr lang="zh-CN" altLang="en-US"/>
          </a:p>
        </p:txBody>
      </p:sp>
      <p:sp>
        <p:nvSpPr>
          <p:cNvPr id="8" name="文本框 7"/>
          <p:cNvSpPr txBox="1"/>
          <p:nvPr/>
        </p:nvSpPr>
        <p:spPr>
          <a:xfrm>
            <a:off x="1541145" y="1134745"/>
            <a:ext cx="9605645" cy="762635"/>
          </a:xfrm>
          <a:prstGeom prst="rect">
            <a:avLst/>
          </a:prstGeom>
          <a:solidFill>
            <a:schemeClr val="bg1"/>
          </a:solidFill>
        </p:spPr>
        <p:txBody>
          <a:bodyPr wrap="square" rtlCol="0">
            <a:noAutofit/>
          </a:bodyPr>
          <a:p>
            <a:endParaRPr lang="zh-CN" altLang="en-US"/>
          </a:p>
        </p:txBody>
      </p:sp>
      <p:sp>
        <p:nvSpPr>
          <p:cNvPr id="9" name="文本框 8"/>
          <p:cNvSpPr txBox="1"/>
          <p:nvPr/>
        </p:nvSpPr>
        <p:spPr>
          <a:xfrm>
            <a:off x="476885" y="1959610"/>
            <a:ext cx="1479550" cy="583565"/>
          </a:xfrm>
          <a:prstGeom prst="rect">
            <a:avLst/>
          </a:prstGeom>
          <a:noFill/>
          <a:ln w="12700" cmpd="sng">
            <a:solidFill>
              <a:schemeClr val="tx1"/>
            </a:solidFill>
            <a:prstDash val="solid"/>
          </a:ln>
        </p:spPr>
        <p:txBody>
          <a:bodyPr wrap="square" rtlCol="0">
            <a:spAutoFit/>
          </a:bodyPr>
          <a:p>
            <a:r>
              <a:rPr lang="en-US" altLang="zh-CN" sz="1600">
                <a:latin typeface="Times New Roman" panose="02020603050405020304" charset="0"/>
                <a:cs typeface="Times New Roman" panose="02020603050405020304" charset="0"/>
              </a:rPr>
              <a:t>Moment of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Interia Tensor</a:t>
            </a:r>
            <a:endParaRPr lang="en-US" altLang="zh-CN" sz="1600">
              <a:latin typeface="Times New Roman" panose="02020603050405020304" charset="0"/>
              <a:cs typeface="Times New Roman" panose="02020603050405020304" charset="0"/>
            </a:endParaRPr>
          </a:p>
        </p:txBody>
      </p:sp>
      <p:sp>
        <p:nvSpPr>
          <p:cNvPr id="10" name="文本框 9"/>
          <p:cNvSpPr txBox="1"/>
          <p:nvPr/>
        </p:nvSpPr>
        <p:spPr>
          <a:xfrm>
            <a:off x="2724785" y="5730240"/>
            <a:ext cx="2494915" cy="368300"/>
          </a:xfrm>
          <a:prstGeom prst="rect">
            <a:avLst/>
          </a:prstGeom>
          <a:noFill/>
          <a:ln w="12700" cmpd="sng">
            <a:solidFill>
              <a:srgbClr val="174994"/>
            </a:solidFill>
            <a:prstDash val="solid"/>
          </a:ln>
        </p:spPr>
        <p:txBody>
          <a:bodyPr wrap="square" rtlCol="0">
            <a:spAutoFit/>
          </a:bodyPr>
          <a:p>
            <a:pPr algn="ctr"/>
            <a:r>
              <a:rPr lang="en-US" altLang="zh-CN">
                <a:solidFill>
                  <a:srgbClr val="174994"/>
                </a:solidFill>
                <a:latin typeface="Times New Roman" panose="02020603050405020304" charset="0"/>
                <a:cs typeface="Times New Roman" panose="02020603050405020304" charset="0"/>
              </a:rPr>
              <a:t>Parameter Matrix: W</a:t>
            </a:r>
            <a:r>
              <a:rPr lang="en-US" altLang="zh-CN" baseline="30000">
                <a:solidFill>
                  <a:srgbClr val="174994"/>
                </a:solidFill>
                <a:latin typeface="Times New Roman" panose="02020603050405020304" charset="0"/>
                <a:cs typeface="Times New Roman" panose="02020603050405020304" charset="0"/>
              </a:rPr>
              <a:t>Q</a:t>
            </a:r>
            <a:endParaRPr lang="en-US" altLang="zh-CN" baseline="30000">
              <a:solidFill>
                <a:srgbClr val="174994"/>
              </a:solidFill>
              <a:latin typeface="Times New Roman" panose="02020603050405020304" charset="0"/>
              <a:cs typeface="Times New Roman" panose="02020603050405020304" charset="0"/>
            </a:endParaRPr>
          </a:p>
        </p:txBody>
      </p:sp>
      <p:sp>
        <p:nvSpPr>
          <p:cNvPr id="11" name="文本框 10"/>
          <p:cNvSpPr txBox="1"/>
          <p:nvPr/>
        </p:nvSpPr>
        <p:spPr>
          <a:xfrm>
            <a:off x="7138035" y="5730240"/>
            <a:ext cx="3212465" cy="368300"/>
          </a:xfrm>
          <a:prstGeom prst="rect">
            <a:avLst/>
          </a:prstGeom>
          <a:noFill/>
          <a:ln w="12700" cmpd="sng">
            <a:solidFill>
              <a:srgbClr val="174994"/>
            </a:solidFill>
            <a:prstDash val="solid"/>
          </a:ln>
        </p:spPr>
        <p:txBody>
          <a:bodyPr wrap="square" rtlCol="0">
            <a:spAutoFit/>
          </a:bodyPr>
          <a:p>
            <a:pPr algn="ctr"/>
            <a:r>
              <a:rPr lang="en-US" altLang="zh-CN">
                <a:solidFill>
                  <a:srgbClr val="174994"/>
                </a:solidFill>
                <a:latin typeface="Times New Roman" panose="02020603050405020304" charset="0"/>
                <a:cs typeface="Times New Roman" panose="02020603050405020304" charset="0"/>
              </a:rPr>
              <a:t>Parameter Matrix: W</a:t>
            </a:r>
            <a:r>
              <a:rPr lang="en-US" altLang="zh-CN" baseline="30000">
                <a:solidFill>
                  <a:srgbClr val="174994"/>
                </a:solidFill>
                <a:latin typeface="Times New Roman" panose="02020603050405020304" charset="0"/>
                <a:cs typeface="Times New Roman" panose="02020603050405020304" charset="0"/>
              </a:rPr>
              <a:t>K</a:t>
            </a:r>
            <a:r>
              <a:rPr lang="en-US" altLang="zh-CN">
                <a:solidFill>
                  <a:srgbClr val="174994"/>
                </a:solidFill>
                <a:latin typeface="Times New Roman" panose="02020603050405020304" charset="0"/>
                <a:cs typeface="Times New Roman" panose="02020603050405020304" charset="0"/>
              </a:rPr>
              <a:t>, W</a:t>
            </a:r>
            <a:r>
              <a:rPr lang="en-US" altLang="zh-CN" baseline="30000">
                <a:solidFill>
                  <a:srgbClr val="174994"/>
                </a:solidFill>
                <a:latin typeface="Times New Roman" panose="02020603050405020304" charset="0"/>
                <a:cs typeface="Times New Roman" panose="02020603050405020304" charset="0"/>
              </a:rPr>
              <a:t>V</a:t>
            </a:r>
            <a:endParaRPr lang="zh-CN" altLang="en-US" baseline="30000">
              <a:solidFill>
                <a:srgbClr val="174994"/>
              </a:solidFill>
              <a:latin typeface="Times New Roman" panose="02020603050405020304" charset="0"/>
              <a:cs typeface="Times New Roman" panose="02020603050405020304" charset="0"/>
            </a:endParaRPr>
          </a:p>
        </p:txBody>
      </p:sp>
      <p:sp>
        <p:nvSpPr>
          <p:cNvPr id="13" name="文本框 12"/>
          <p:cNvSpPr txBox="1"/>
          <p:nvPr/>
        </p:nvSpPr>
        <p:spPr>
          <a:xfrm>
            <a:off x="8814435" y="1959610"/>
            <a:ext cx="1406525" cy="583565"/>
          </a:xfrm>
          <a:prstGeom prst="rect">
            <a:avLst/>
          </a:prstGeom>
          <a:noFill/>
          <a:ln w="12700" cmpd="sng">
            <a:solidFill>
              <a:schemeClr val="tx1"/>
            </a:solidFill>
            <a:prstDash val="solid"/>
          </a:ln>
        </p:spPr>
        <p:txBody>
          <a:bodyPr wrap="square" rtlCol="0">
            <a:spAutoFit/>
          </a:bodyPr>
          <a:p>
            <a:r>
              <a:rPr lang="en-US" altLang="zh-CN" sz="1600">
                <a:latin typeface="Times New Roman" panose="02020603050405020304" charset="0"/>
                <a:cs typeface="Times New Roman" panose="02020603050405020304" charset="0"/>
              </a:rPr>
              <a:t>Extracted by ResNet-18 </a:t>
            </a:r>
            <a:endParaRPr lang="en-US" altLang="zh-CN" sz="1600">
              <a:latin typeface="Times New Roman" panose="02020603050405020304" charset="0"/>
              <a:cs typeface="Times New Roman" panose="02020603050405020304" charset="0"/>
            </a:endParaRPr>
          </a:p>
        </p:txBody>
      </p:sp>
      <p:sp>
        <p:nvSpPr>
          <p:cNvPr id="15" name="文本框 14"/>
          <p:cNvSpPr txBox="1"/>
          <p:nvPr/>
        </p:nvSpPr>
        <p:spPr>
          <a:xfrm>
            <a:off x="10531475" y="3193415"/>
            <a:ext cx="1431925" cy="922020"/>
          </a:xfrm>
          <a:prstGeom prst="rect">
            <a:avLst/>
          </a:prstGeom>
          <a:noFill/>
        </p:spPr>
        <p:txBody>
          <a:bodyPr wrap="square" rtlCol="0">
            <a:spAutoFit/>
          </a:bodyPr>
          <a:p>
            <a:pPr indent="0" fontAlgn="auto">
              <a:lnSpc>
                <a:spcPct val="150000"/>
              </a:lnSpc>
            </a:pPr>
            <a:r>
              <a:rPr lang="en-US" altLang="zh-CN">
                <a:solidFill>
                  <a:srgbClr val="00B0F0"/>
                </a:solidFill>
                <a:latin typeface="Times New Roman" panose="02020603050405020304" charset="0"/>
                <a:cs typeface="Times New Roman" panose="02020603050405020304" charset="0"/>
              </a:rPr>
              <a:t>Vectors:</a:t>
            </a:r>
            <a:br>
              <a:rPr lang="en-US" altLang="zh-CN">
                <a:solidFill>
                  <a:srgbClr val="00B0F0"/>
                </a:solidFill>
                <a:latin typeface="Times New Roman" panose="02020603050405020304" charset="0"/>
                <a:cs typeface="Times New Roman" panose="02020603050405020304" charset="0"/>
              </a:rPr>
            </a:br>
            <a:r>
              <a:rPr lang="en-US" altLang="zh-CN">
                <a:solidFill>
                  <a:srgbClr val="00B0F0"/>
                </a:solidFill>
                <a:latin typeface="Times New Roman" panose="02020603050405020304" charset="0"/>
                <a:cs typeface="Times New Roman" panose="02020603050405020304" charset="0"/>
              </a:rPr>
              <a:t>K &amp; V</a:t>
            </a:r>
            <a:endParaRPr lang="en-US" altLang="zh-CN">
              <a:solidFill>
                <a:srgbClr val="00B0F0"/>
              </a:solidFill>
              <a:latin typeface="Times New Roman" panose="02020603050405020304" charset="0"/>
              <a:cs typeface="Times New Roman" panose="02020603050405020304" charset="0"/>
            </a:endParaRPr>
          </a:p>
        </p:txBody>
      </p:sp>
    </p:spTree>
    <p:custDataLst>
      <p:tags r:id="rId4"/>
    </p:custDataLst>
  </p:cSld>
  <p:clrMapOvr>
    <a:masterClrMapping/>
  </p:clrMapOvr>
  <p:timing>
    <p:tnLst>
      <p:par>
        <p:cTn id="1" dur="indefinite" restart="never" nodeType="tmRoot">
          <p:childTnLst>
            <p:video fullScrn="0">
              <p:cMediaNode>
                <p:cTn id="2" repeatCount="indefinite" fill="remove"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Traditional Workflow</a:t>
            </a:r>
            <a:endParaRPr lang="en-US" altLang="zh-CN"/>
          </a:p>
        </p:txBody>
      </p:sp>
      <p:sp>
        <p:nvSpPr>
          <p:cNvPr id="3" name="文本框 2"/>
          <p:cNvSpPr txBox="1"/>
          <p:nvPr/>
        </p:nvSpPr>
        <p:spPr>
          <a:xfrm>
            <a:off x="180340" y="821690"/>
            <a:ext cx="2733040" cy="521970"/>
          </a:xfrm>
          <a:prstGeom prst="rect">
            <a:avLst/>
          </a:prstGeom>
          <a:noFill/>
        </p:spPr>
        <p:txBody>
          <a:bodyPr wrap="square" rtlCol="0">
            <a:spAutoFit/>
          </a:bodyPr>
          <a:p>
            <a:pPr lvl="0" algn="l">
              <a:buClrTx/>
              <a:buSzTx/>
              <a:buFontTx/>
            </a:pPr>
            <a:r>
              <a:rPr lang="en-US" altLang="zh-CN" sz="2800">
                <a:latin typeface="Times New Roman" panose="02020603050405020304" charset="0"/>
                <a:cs typeface="Times New Roman" panose="02020603050405020304" charset="0"/>
                <a:sym typeface="+mn-ea"/>
              </a:rPr>
              <a:t>Outlined</a:t>
            </a:r>
            <a:r>
              <a:rPr lang="en-US" altLang="zh-CN" sz="2800">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steps</a:t>
            </a:r>
            <a:r>
              <a:rPr lang="en-US" altLang="zh-CN" sz="2800">
                <a:latin typeface="Times New Roman" panose="02020603050405020304" charset="0"/>
                <a:cs typeface="Times New Roman" panose="02020603050405020304" charset="0"/>
                <a:sym typeface="+mn-ea"/>
              </a:rPr>
              <a:t>:</a:t>
            </a:r>
            <a:endParaRPr lang="en-US" altLang="zh-CN" sz="2800">
              <a:latin typeface="Times New Roman" panose="02020603050405020304" charset="0"/>
              <a:cs typeface="Times New Roman" panose="02020603050405020304" charset="0"/>
              <a:sym typeface="+mn-ea"/>
            </a:endParaRPr>
          </a:p>
        </p:txBody>
      </p:sp>
      <p:sp>
        <p:nvSpPr>
          <p:cNvPr id="5" name="文本框 4"/>
          <p:cNvSpPr txBox="1"/>
          <p:nvPr/>
        </p:nvSpPr>
        <p:spPr>
          <a:xfrm>
            <a:off x="180340" y="1313180"/>
            <a:ext cx="11617325"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1. Clean all events using Hough transform methods.Discard events that have fewer than some preset number of points.</a:t>
            </a:r>
            <a:endParaRPr lang="zh-CN" altLang="en-US">
              <a:latin typeface="Times New Roman" panose="02020603050405020304" charset="0"/>
              <a:cs typeface="Times New Roman" panose="02020603050405020304" charset="0"/>
            </a:endParaRPr>
          </a:p>
        </p:txBody>
      </p:sp>
      <p:sp>
        <p:nvSpPr>
          <p:cNvPr id="4" name="文本框 3"/>
          <p:cNvSpPr txBox="1"/>
          <p:nvPr/>
        </p:nvSpPr>
        <p:spPr>
          <a:xfrm>
            <a:off x="180340" y="1687195"/>
            <a:ext cx="11617325"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 Use naive Monto Carlo method to fit every track, assuming that each represents the desired reaction product.</a:t>
            </a:r>
            <a:endParaRPr lang="en-US" altLang="zh-CN">
              <a:latin typeface="Times New Roman" panose="02020603050405020304" charset="0"/>
              <a:cs typeface="Times New Roman" panose="02020603050405020304" charset="0"/>
            </a:endParaRPr>
          </a:p>
        </p:txBody>
      </p:sp>
      <p:sp>
        <p:nvSpPr>
          <p:cNvPr id="6" name="文本框 5"/>
          <p:cNvSpPr txBox="1"/>
          <p:nvPr/>
        </p:nvSpPr>
        <p:spPr>
          <a:xfrm>
            <a:off x="180340" y="2080895"/>
            <a:ext cx="11617325"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 Plot a histogram of the objective function for all events.</a:t>
            </a:r>
            <a:endParaRPr lang="en-US" altLang="zh-CN">
              <a:latin typeface="Times New Roman" panose="02020603050405020304" charset="0"/>
              <a:cs typeface="Times New Roman" panose="02020603050405020304" charset="0"/>
            </a:endParaRPr>
          </a:p>
        </p:txBody>
      </p:sp>
      <p:sp>
        <p:nvSpPr>
          <p:cNvPr id="8" name="文本框 7"/>
          <p:cNvSpPr txBox="1"/>
          <p:nvPr/>
        </p:nvSpPr>
        <p:spPr>
          <a:xfrm>
            <a:off x="174625" y="2480945"/>
            <a:ext cx="77127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4.Visually determine a cutoff for a ‘‘good fit’’, or low objective function value.</a:t>
            </a:r>
            <a:endParaRPr lang="en-US" altLang="zh-CN">
              <a:latin typeface="Times New Roman" panose="02020603050405020304" charset="0"/>
              <a:cs typeface="Times New Roman" panose="02020603050405020304" charset="0"/>
            </a:endParaRPr>
          </a:p>
        </p:txBody>
      </p:sp>
      <p:sp>
        <p:nvSpPr>
          <p:cNvPr id="7" name="文本框 6"/>
          <p:cNvSpPr txBox="1"/>
          <p:nvPr/>
        </p:nvSpPr>
        <p:spPr>
          <a:xfrm>
            <a:off x="175895" y="2880360"/>
            <a:ext cx="56934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5.Define all events within that cut as events of interest .</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174625" y="3349625"/>
            <a:ext cx="379412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Several Disadvantages:</a:t>
            </a:r>
            <a:endParaRPr lang="en-US" altLang="zh-CN" sz="2800">
              <a:latin typeface="Times New Roman" panose="02020603050405020304" charset="0"/>
              <a:cs typeface="Times New Roman" panose="02020603050405020304" charset="0"/>
            </a:endParaRPr>
          </a:p>
        </p:txBody>
      </p:sp>
      <p:sp>
        <p:nvSpPr>
          <p:cNvPr id="11" name="文本框 10"/>
          <p:cNvSpPr txBox="1"/>
          <p:nvPr/>
        </p:nvSpPr>
        <p:spPr>
          <a:xfrm>
            <a:off x="149225" y="3972560"/>
            <a:ext cx="2585720" cy="368300"/>
          </a:xfrm>
          <a:prstGeom prst="rect">
            <a:avLst/>
          </a:prstGeom>
          <a:noFill/>
        </p:spPr>
        <p:txBody>
          <a:bodyPr wrap="square" rtlCol="0">
            <a:spAutoFit/>
          </a:bodyPr>
          <a:p>
            <a:pPr algn="ctr"/>
            <a:r>
              <a:rPr lang="en-US" altLang="zh-CN">
                <a:latin typeface="Times New Roman" panose="02020603050405020304" charset="0"/>
                <a:cs typeface="Times New Roman" panose="02020603050405020304" charset="0"/>
              </a:rPr>
              <a:t>1. The lack of verfication</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132715" y="4353560"/>
            <a:ext cx="3836035" cy="645160"/>
          </a:xfrm>
          <a:prstGeom prst="rect">
            <a:avLst/>
          </a:prstGeom>
          <a:noFill/>
        </p:spPr>
        <p:txBody>
          <a:bodyPr wrap="square" rtlCol="0">
            <a:spAutoFit/>
          </a:bodyPr>
          <a:p>
            <a:pPr algn="ctr"/>
            <a:r>
              <a:rPr lang="en-US" altLang="zh-CN">
                <a:latin typeface="Times New Roman" panose="02020603050405020304" charset="0"/>
                <a:cs typeface="Times New Roman" panose="02020603050405020304" charset="0"/>
              </a:rPr>
              <a:t>2. The subjectivity and potential biases of a "one-size-fits-all" standard.</a:t>
            </a:r>
            <a:endParaRPr lang="en-US" altLang="zh-CN">
              <a:latin typeface="Times New Roman" panose="02020603050405020304" charset="0"/>
              <a:cs typeface="Times New Roman" panose="02020603050405020304" charset="0"/>
            </a:endParaRPr>
          </a:p>
        </p:txBody>
      </p:sp>
      <p:sp>
        <p:nvSpPr>
          <p:cNvPr id="19" name="文本框 18"/>
          <p:cNvSpPr txBox="1"/>
          <p:nvPr/>
        </p:nvSpPr>
        <p:spPr>
          <a:xfrm>
            <a:off x="85725" y="4941570"/>
            <a:ext cx="4255770" cy="645160"/>
          </a:xfrm>
          <a:prstGeom prst="rect">
            <a:avLst/>
          </a:prstGeom>
          <a:noFill/>
        </p:spPr>
        <p:txBody>
          <a:bodyPr wrap="square" rtlCol="0">
            <a:spAutoFit/>
          </a:bodyPr>
          <a:p>
            <a:pPr algn="ctr"/>
            <a:r>
              <a:rPr lang="en-US" altLang="zh-CN">
                <a:latin typeface="Times New Roman" panose="02020603050405020304" charset="0"/>
                <a:cs typeface="Times New Roman" panose="02020603050405020304" charset="0"/>
              </a:rPr>
              <a:t>3. The prejudice raised by preceding steps.</a:t>
            </a:r>
            <a:endParaRPr lang="en-US" altLang="zh-CN">
              <a:latin typeface="Times New Roman" panose="02020603050405020304" charset="0"/>
              <a:cs typeface="Times New Roman" panose="02020603050405020304" charset="0"/>
            </a:endParaRPr>
          </a:p>
          <a:p>
            <a:pPr algn="ctr"/>
            <a:r>
              <a:rPr lang="en-US" altLang="zh-CN">
                <a:latin typeface="Times New Roman" panose="02020603050405020304" charset="0"/>
                <a:cs typeface="Times New Roman" panose="02020603050405020304" charset="0"/>
              </a:rPr>
              <a:t>(chain reactions)</a:t>
            </a:r>
            <a:endParaRPr lang="en-US" altLang="zh-CN">
              <a:latin typeface="Times New Roman" panose="02020603050405020304" charset="0"/>
              <a:cs typeface="Times New Roman" panose="02020603050405020304" charset="0"/>
            </a:endParaRPr>
          </a:p>
        </p:txBody>
      </p:sp>
      <p:sp>
        <p:nvSpPr>
          <p:cNvPr id="21" name="文本框 20"/>
          <p:cNvSpPr txBox="1"/>
          <p:nvPr/>
        </p:nvSpPr>
        <p:spPr>
          <a:xfrm>
            <a:off x="5400040" y="4340860"/>
            <a:ext cx="5074285" cy="706755"/>
          </a:xfrm>
          <a:prstGeom prst="rect">
            <a:avLst/>
          </a:prstGeom>
          <a:noFill/>
        </p:spPr>
        <p:txBody>
          <a:bodyPr wrap="square" rtlCol="0">
            <a:spAutoFit/>
          </a:bodyPr>
          <a:p>
            <a:pPr algn="ctr"/>
            <a:r>
              <a:rPr lang="en-US" altLang="zh-CN" sz="2000" b="1">
                <a:solidFill>
                  <a:srgbClr val="FF0000"/>
                </a:solidFill>
                <a:latin typeface="Times New Roman" panose="02020603050405020304" charset="0"/>
                <a:cs typeface="Times New Roman" panose="02020603050405020304" charset="0"/>
              </a:rPr>
              <a:t> These above degrades the efficacy of any ensuing analysis steps.</a:t>
            </a:r>
            <a:endParaRPr lang="en-US" altLang="zh-CN" sz="2000" b="1">
              <a:solidFill>
                <a:srgbClr val="FF0000"/>
              </a:solidFill>
              <a:latin typeface="Times New Roman" panose="02020603050405020304" charset="0"/>
              <a:cs typeface="Times New Roman" panose="02020603050405020304" charset="0"/>
            </a:endParaRPr>
          </a:p>
        </p:txBody>
      </p:sp>
      <p:sp>
        <p:nvSpPr>
          <p:cNvPr id="22" name="日期占位符 21"/>
          <p:cNvSpPr>
            <a:spLocks noGrp="1"/>
          </p:cNvSpPr>
          <p:nvPr>
            <p:ph type="dt" sz="half" idx="10"/>
          </p:nvPr>
        </p:nvSpPr>
        <p:spPr/>
        <p:txBody>
          <a:bodyPr/>
          <a:p>
            <a:fld id="{760FBDFE-C587-4B4C-A407-44438C67B59E}" type="datetime2">
              <a:rPr lang="en-US"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Traditional Workflow</a:t>
            </a:r>
            <a:endParaRPr lang="en-US" altLang="zh-CN"/>
          </a:p>
        </p:txBody>
      </p:sp>
      <p:sp>
        <p:nvSpPr>
          <p:cNvPr id="10" name="文本框 9"/>
          <p:cNvSpPr txBox="1"/>
          <p:nvPr/>
        </p:nvSpPr>
        <p:spPr>
          <a:xfrm>
            <a:off x="174625" y="974725"/>
            <a:ext cx="3794125" cy="521970"/>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Several Disadvantages:</a:t>
            </a:r>
            <a:endParaRPr lang="en-US" altLang="zh-CN" sz="2800">
              <a:latin typeface="Times New Roman" panose="02020603050405020304" charset="0"/>
              <a:cs typeface="Times New Roman" panose="02020603050405020304" charset="0"/>
            </a:endParaRPr>
          </a:p>
        </p:txBody>
      </p:sp>
      <p:sp>
        <p:nvSpPr>
          <p:cNvPr id="11" name="文本框 10"/>
          <p:cNvSpPr txBox="1"/>
          <p:nvPr/>
        </p:nvSpPr>
        <p:spPr>
          <a:xfrm>
            <a:off x="174625" y="1597660"/>
            <a:ext cx="258572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1. The lack of verfication</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3533140" y="1597660"/>
            <a:ext cx="3861435" cy="645160"/>
          </a:xfrm>
          <a:prstGeom prst="rect">
            <a:avLst/>
          </a:prstGeom>
          <a:noFill/>
        </p:spPr>
        <p:txBody>
          <a:bodyPr wrap="square" rtlCol="0">
            <a:spAutoFit/>
          </a:bodyPr>
          <a:p>
            <a:pPr algn="ctr"/>
            <a:r>
              <a:rPr lang="en-US" altLang="zh-CN">
                <a:latin typeface="Times New Roman" panose="02020603050405020304" charset="0"/>
                <a:cs typeface="Times New Roman" panose="02020603050405020304" charset="0"/>
              </a:rPr>
              <a:t>2. The subjectivity and potential biases of a "one-size-fits-all" standard.</a:t>
            </a:r>
            <a:endParaRPr lang="en-US" altLang="zh-CN">
              <a:latin typeface="Times New Roman" panose="02020603050405020304" charset="0"/>
              <a:cs typeface="Times New Roman" panose="02020603050405020304" charset="0"/>
            </a:endParaRPr>
          </a:p>
        </p:txBody>
      </p:sp>
      <p:sp>
        <p:nvSpPr>
          <p:cNvPr id="19" name="文本框 18"/>
          <p:cNvSpPr txBox="1"/>
          <p:nvPr/>
        </p:nvSpPr>
        <p:spPr>
          <a:xfrm>
            <a:off x="7953375" y="1597660"/>
            <a:ext cx="410972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 The prejudice raised by preceding steps.</a:t>
            </a:r>
            <a:endParaRPr lang="en-US" altLang="zh-CN">
              <a:latin typeface="Times New Roman" panose="02020603050405020304" charset="0"/>
              <a:cs typeface="Times New Roman" panose="02020603050405020304" charset="0"/>
            </a:endParaRPr>
          </a:p>
        </p:txBody>
      </p:sp>
      <p:grpSp>
        <p:nvGrpSpPr>
          <p:cNvPr id="23" name="组合 22"/>
          <p:cNvGrpSpPr/>
          <p:nvPr/>
        </p:nvGrpSpPr>
        <p:grpSpPr>
          <a:xfrm>
            <a:off x="301625" y="2185670"/>
            <a:ext cx="9516745" cy="4083050"/>
            <a:chOff x="475" y="3442"/>
            <a:chExt cx="14987" cy="6430"/>
          </a:xfrm>
        </p:grpSpPr>
        <p:pic>
          <p:nvPicPr>
            <p:cNvPr id="13" name="图片 12" descr="Gemini_Generated_Image_SingerImagery"/>
            <p:cNvPicPr>
              <a:picLocks noChangeAspect="1"/>
            </p:cNvPicPr>
            <p:nvPr/>
          </p:nvPicPr>
          <p:blipFill>
            <a:blip r:embed="rId1"/>
            <a:stretch>
              <a:fillRect/>
            </a:stretch>
          </p:blipFill>
          <p:spPr>
            <a:xfrm>
              <a:off x="3192" y="3442"/>
              <a:ext cx="12271" cy="6431"/>
            </a:xfrm>
            <a:prstGeom prst="rect">
              <a:avLst/>
            </a:prstGeom>
          </p:spPr>
        </p:pic>
        <p:sp>
          <p:nvSpPr>
            <p:cNvPr id="12" name="文本框 11"/>
            <p:cNvSpPr txBox="1"/>
            <p:nvPr/>
          </p:nvSpPr>
          <p:spPr>
            <a:xfrm>
              <a:off x="475" y="3705"/>
              <a:ext cx="4475" cy="822"/>
            </a:xfrm>
            <a:prstGeom prst="rect">
              <a:avLst/>
            </a:prstGeom>
            <a:noFill/>
          </p:spPr>
          <p:txBody>
            <a:bodyPr wrap="square" rtlCol="0">
              <a:spAutoFit/>
            </a:bodyPr>
            <a:p>
              <a:r>
                <a:rPr lang="en-US" altLang="zh-CN" sz="2800">
                  <a:latin typeface="Times New Roman" panose="02020603050405020304" charset="0"/>
                  <a:cs typeface="Times New Roman" panose="02020603050405020304" charset="0"/>
                </a:rPr>
                <a:t>Simple Imagery:</a:t>
              </a:r>
              <a:endParaRPr lang="en-US" altLang="zh-CN" sz="2800">
                <a:latin typeface="Times New Roman" panose="02020603050405020304" charset="0"/>
                <a:cs typeface="Times New Roman" panose="02020603050405020304" charset="0"/>
              </a:endParaRPr>
            </a:p>
          </p:txBody>
        </p:sp>
        <p:sp>
          <p:nvSpPr>
            <p:cNvPr id="18" name="文本框 17"/>
            <p:cNvSpPr txBox="1"/>
            <p:nvPr/>
          </p:nvSpPr>
          <p:spPr>
            <a:xfrm>
              <a:off x="5997" y="8793"/>
              <a:ext cx="6661" cy="483"/>
            </a:xfrm>
            <a:prstGeom prst="rect">
              <a:avLst/>
            </a:prstGeom>
            <a:noFill/>
          </p:spPr>
          <p:txBody>
            <a:bodyPr wrap="square" rtlCol="0">
              <a:spAutoFit/>
            </a:bodyPr>
            <a:p>
              <a:pPr algn="ctr"/>
              <a:r>
                <a:rPr lang="en-US" altLang="zh-CN" sz="1400">
                  <a:latin typeface="Times New Roman" panose="02020603050405020304" charset="0"/>
                  <a:cs typeface="Times New Roman" panose="02020603050405020304" charset="0"/>
                </a:rPr>
                <a:t>Generated by Gemini</a:t>
              </a:r>
              <a:endParaRPr lang="en-US" altLang="zh-CN" sz="1400">
                <a:latin typeface="Times New Roman" panose="02020603050405020304" charset="0"/>
                <a:cs typeface="Times New Roman" panose="02020603050405020304" charset="0"/>
              </a:endParaRPr>
            </a:p>
          </p:txBody>
        </p:sp>
        <p:sp>
          <p:nvSpPr>
            <p:cNvPr id="22" name="文本框 21"/>
            <p:cNvSpPr txBox="1"/>
            <p:nvPr/>
          </p:nvSpPr>
          <p:spPr>
            <a:xfrm>
              <a:off x="5123" y="6029"/>
              <a:ext cx="1342" cy="344"/>
            </a:xfrm>
            <a:prstGeom prst="rect">
              <a:avLst/>
            </a:prstGeom>
            <a:solidFill>
              <a:schemeClr val="bg1"/>
            </a:solidFill>
          </p:spPr>
          <p:txBody>
            <a:bodyPr wrap="square" rtlCol="0">
              <a:noAutofit/>
            </a:bodyPr>
            <a:p>
              <a:pPr algn="ctr"/>
              <a:r>
                <a:rPr lang="en-US" altLang="zh-CN" sz="1200" b="1">
                  <a:latin typeface="Times New Roman" panose="02020603050405020304" charset="0"/>
                  <a:cs typeface="Times New Roman" panose="02020603050405020304" charset="0"/>
                </a:rPr>
                <a:t>amazingly</a:t>
              </a:r>
              <a:endParaRPr lang="en-US" altLang="zh-CN" sz="1200" b="1">
                <a:latin typeface="Times New Roman" panose="02020603050405020304" charset="0"/>
                <a:cs typeface="Times New Roman" panose="02020603050405020304" charset="0"/>
              </a:endParaRPr>
            </a:p>
          </p:txBody>
        </p:sp>
      </p:grpSp>
      <p:sp>
        <p:nvSpPr>
          <p:cNvPr id="24" name="文本框 23"/>
          <p:cNvSpPr txBox="1"/>
          <p:nvPr/>
        </p:nvSpPr>
        <p:spPr>
          <a:xfrm>
            <a:off x="3033395" y="2364740"/>
            <a:ext cx="6125845" cy="706755"/>
          </a:xfrm>
          <a:prstGeom prst="rect">
            <a:avLst/>
          </a:prstGeom>
          <a:noFill/>
        </p:spPr>
        <p:txBody>
          <a:bodyPr wrap="square" rtlCol="0">
            <a:spAutoFit/>
          </a:bodyPr>
          <a:p>
            <a:pPr algn="ctr"/>
            <a:r>
              <a:rPr lang="en-US" altLang="zh-CN" sz="2000">
                <a:solidFill>
                  <a:srgbClr val="FF0000"/>
                </a:solidFill>
                <a:latin typeface="Times New Roman" panose="02020603050405020304" charset="0"/>
                <a:cs typeface="Times New Roman" panose="02020603050405020304" charset="0"/>
              </a:rPr>
              <a:t>But we haven't actually heard them singing by ourselves! (corresponding to "independent verification").</a:t>
            </a:r>
            <a:endParaRPr lang="en-US" altLang="zh-CN" sz="2000">
              <a:solidFill>
                <a:srgbClr val="FF0000"/>
              </a:solidFill>
              <a:latin typeface="Times New Roman" panose="02020603050405020304" charset="0"/>
              <a:cs typeface="Times New Roman" panose="02020603050405020304" charset="0"/>
            </a:endParaRPr>
          </a:p>
        </p:txBody>
      </p:sp>
      <p:sp>
        <p:nvSpPr>
          <p:cNvPr id="7" name="日期占位符 6"/>
          <p:cNvSpPr>
            <a:spLocks noGrp="1"/>
          </p:cNvSpPr>
          <p:nvPr>
            <p:ph type="dt" sz="half" idx="10"/>
          </p:nvPr>
        </p:nvSpPr>
        <p:spPr/>
        <p:txBody>
          <a:bodyPr/>
          <a:p>
            <a:fld id="{760FBDFE-C587-4B4C-A407-44438C67B59E}" type="datetime2">
              <a:rPr lang="en-US"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9"/>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VALUE" val="340"/>
  <p:tag name="KSO_WM_TEMPLATE_CATEGORY" val="custom"/>
  <p:tag name="KSO_WM_TEMPLATE_INDEX" val="20233299"/>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9"/>
  <p:tag name="KSO_WM_TEMPLATE_THUMBS_INDEX" val="1、9"/>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wm#"/>
  <p:tag name="KSO_WM_TEMPLATE_CATEGORY" val="custom"/>
  <p:tag name="KSO_WM_TEMPLATE_INDEX" val="20233299"/>
</p:tagLst>
</file>

<file path=ppt/tags/tag87.xml><?xml version="1.0" encoding="utf-8"?>
<p:tagLst xmlns:p="http://schemas.openxmlformats.org/presentationml/2006/main">
  <p:tag name="KSO_WM_BEAUTIFY_FLAG" val="#wm#"/>
  <p:tag name="KSO_WM_TEMPLATE_CATEGORY" val="custom"/>
  <p:tag name="KSO_WM_TEMPLATE_INDEX" val="20233299"/>
</p:tagLst>
</file>

<file path=ppt/tags/tag88.xml><?xml version="1.0" encoding="utf-8"?>
<p:tagLst xmlns:p="http://schemas.openxmlformats.org/presentationml/2006/main">
  <p:tag name="KSO_WM_BEAUTIFY_FLAG" val="#wm#"/>
  <p:tag name="KSO_WM_TEMPLATE_CATEGORY" val="custom"/>
  <p:tag name="KSO_WM_TEMPLATE_INDEX" val="20233299"/>
  <p:tag name="resource_record_key" val="{&quot;10&quot;:[50001574,21602304,50026891],&quot;65&quot;:[20233299]}"/>
</p:tagLst>
</file>

<file path=ppt/tags/tag89.xml><?xml version="1.0" encoding="utf-8"?>
<p:tagLst xmlns:p="http://schemas.openxmlformats.org/presentationml/2006/main">
  <p:tag name="KSO_WM_BEAUTIFY_FLAG" val="#wm#"/>
  <p:tag name="KSO_WM_TEMPLATE_CATEGORY" val="custom"/>
  <p:tag name="KSO_WM_TEMPLATE_INDEX" val="20233299"/>
</p:tagLst>
</file>

<file path=ppt/tags/tag90.xml><?xml version="1.0" encoding="utf-8"?>
<p:tagLst xmlns:p="http://schemas.openxmlformats.org/presentationml/2006/main">
  <p:tag name="KSO_WM_DIAGRAM_VIRTUALLY_FRAME" val="{&quot;height&quot;:436.9,&quot;left&quot;:0,&quot;top&quot;:88.15,&quot;width&quot;:567}"/>
</p:tagLst>
</file>

<file path=ppt/tags/tag91.xml><?xml version="1.0" encoding="utf-8"?>
<p:tagLst xmlns:p="http://schemas.openxmlformats.org/presentationml/2006/main">
  <p:tag name="KSO_WM_DIAGRAM_VIRTUALLY_FRAME" val="{&quot;height&quot;:436.9,&quot;left&quot;:0,&quot;top&quot;:88.15,&quot;width&quot;:567}"/>
</p:tagLst>
</file>

<file path=ppt/tags/tag92.xml><?xml version="1.0" encoding="utf-8"?>
<p:tagLst xmlns:p="http://schemas.openxmlformats.org/presentationml/2006/main">
  <p:tag name="KSO_WM_DIAGRAM_VIRTUALLY_FRAME" val="{&quot;height&quot;:436.9,&quot;left&quot;:0,&quot;top&quot;:88.15,&quot;width&quot;:567}"/>
</p:tagLst>
</file>

<file path=ppt/tags/tag93.xml><?xml version="1.0" encoding="utf-8"?>
<p:tagLst xmlns:p="http://schemas.openxmlformats.org/presentationml/2006/main">
  <p:tag name="KSO_WM_DIAGRAM_VIRTUALLY_FRAME" val="{&quot;height&quot;:436.9,&quot;left&quot;:0,&quot;top&quot;:88.15,&quot;width&quot;:567}"/>
</p:tagLst>
</file>

<file path=ppt/tags/tag94.xml><?xml version="1.0" encoding="utf-8"?>
<p:tagLst xmlns:p="http://schemas.openxmlformats.org/presentationml/2006/main">
  <p:tag name="KSO_WM_DIAGRAM_VIRTUALLY_FRAME" val="{&quot;height&quot;:436.9,&quot;left&quot;:0,&quot;top&quot;:88.15,&quot;width&quot;:567}"/>
</p:tagLst>
</file>

<file path=ppt/tags/tag95.xml><?xml version="1.0" encoding="utf-8"?>
<p:tagLst xmlns:p="http://schemas.openxmlformats.org/presentationml/2006/main">
  <p:tag name="KSO_WM_DIAGRAM_VIRTUALLY_FRAME" val="{&quot;height&quot;:436.9,&quot;left&quot;:0,&quot;top&quot;:88.15,&quot;width&quot;:567}"/>
</p:tagLst>
</file>

<file path=ppt/tags/tag96.xml><?xml version="1.0" encoding="utf-8"?>
<p:tagLst xmlns:p="http://schemas.openxmlformats.org/presentationml/2006/main">
  <p:tag name="KSO_WM_DIAGRAM_VIRTUALLY_FRAME" val="{&quot;height&quot;:436.9,&quot;left&quot;:0,&quot;top&quot;:88.15,&quot;width&quot;:567}"/>
</p:tagLst>
</file>

<file path=ppt/tags/tag97.xml><?xml version="1.0" encoding="utf-8"?>
<p:tagLst xmlns:p="http://schemas.openxmlformats.org/presentationml/2006/main">
  <p:tag name="KSO_WM_DIAGRAM_VIRTUALLY_FRAME" val="{&quot;height&quot;:436.9,&quot;left&quot;:0,&quot;top&quot;:88.15,&quot;width&quot;:567}"/>
</p:tagLst>
</file>

<file path=ppt/tags/tag98.xml><?xml version="1.0" encoding="utf-8"?>
<p:tagLst xmlns:p="http://schemas.openxmlformats.org/presentationml/2006/main">
  <p:tag name="KSO_WM_DIAGRAM_VIRTUALLY_FRAME" val="{&quot;height&quot;:436.9,&quot;left&quot;:0,&quot;top&quot;:88.15,&quot;width&quot;:567}"/>
</p:tagLst>
</file>

<file path=ppt/tags/tag99.xml><?xml version="1.0" encoding="utf-8"?>
<p:tagLst xmlns:p="http://schemas.openxmlformats.org/presentationml/2006/main">
  <p:tag name="KSO_WM_DIAGRAM_VIRTUALLY_FRAME" val="{&quot;height&quot;:436.9,&quot;left&quot;:0,&quot;top&quot;:88.15,&quot;width&quot;:567}"/>
</p:tagLst>
</file>

<file path=ppt/tags/tag100.xml><?xml version="1.0" encoding="utf-8"?>
<p:tagLst xmlns:p="http://schemas.openxmlformats.org/presentationml/2006/main">
  <p:tag name="KSO_WM_DIAGRAM_VIRTUALLY_FRAME" val="{&quot;height&quot;:436.9,&quot;left&quot;:0,&quot;top&quot;:88.15,&quot;width&quot;:567}"/>
</p:tagLst>
</file>

<file path=ppt/tags/tag101.xml><?xml version="1.0" encoding="utf-8"?>
<p:tagLst xmlns:p="http://schemas.openxmlformats.org/presentationml/2006/main">
  <p:tag name="KSO_WM_DIAGRAM_VIRTUALLY_FRAME" val="{&quot;height&quot;:436.9,&quot;left&quot;:0,&quot;top&quot;:88.15,&quot;width&quot;:567}"/>
</p:tagLst>
</file>

<file path=ppt/tags/tag102.xml><?xml version="1.0" encoding="utf-8"?>
<p:tagLst xmlns:p="http://schemas.openxmlformats.org/presentationml/2006/main">
  <p:tag name="KSO_WM_DIAGRAM_VIRTUALLY_FRAME" val="{&quot;height&quot;:436.9,&quot;left&quot;:0,&quot;top&quot;:88.15,&quot;width&quot;:535}"/>
</p:tagLst>
</file>

<file path=ppt/tags/tag103.xml><?xml version="1.0" encoding="utf-8"?>
<p:tagLst xmlns:p="http://schemas.openxmlformats.org/presentationml/2006/main">
  <p:tag name="KSO_WM_DIAGRAM_VIRTUALLY_FRAME" val="{&quot;height&quot;:436.9,&quot;left&quot;:0,&quot;top&quot;:88.15,&quot;width&quot;:535}"/>
</p:tagLst>
</file>

<file path=ppt/tags/tag104.xml><?xml version="1.0" encoding="utf-8"?>
<p:tagLst xmlns:p="http://schemas.openxmlformats.org/presentationml/2006/main">
  <p:tag name="KSO_WM_DIAGRAM_VIRTUALLY_FRAME" val="{&quot;height&quot;:436.9,&quot;left&quot;:0,&quot;top&quot;:88.15,&quot;width&quot;:567}"/>
</p:tagLst>
</file>

<file path=ppt/tags/tag105.xml><?xml version="1.0" encoding="utf-8"?>
<p:tagLst xmlns:p="http://schemas.openxmlformats.org/presentationml/2006/main">
  <p:tag name="KSO_WM_DIAGRAM_VIRTUALLY_FRAME" val="{&quot;height&quot;:436.9,&quot;left&quot;:0,&quot;top&quot;:88.15,&quot;width&quot;:567}"/>
</p:tagLst>
</file>

<file path=ppt/tags/tag106.xml><?xml version="1.0" encoding="utf-8"?>
<p:tagLst xmlns:p="http://schemas.openxmlformats.org/presentationml/2006/main">
  <p:tag name="KSO_WM_BEAUTIFY_FLAG" val="#wm#"/>
  <p:tag name="KSO_WM_TEMPLATE_CATEGORY" val="custom"/>
  <p:tag name="KSO_WM_TEMPLATE_INDEX" val="20233299"/>
</p:tagLst>
</file>

<file path=ppt/tags/tag107.xml><?xml version="1.0" encoding="utf-8"?>
<p:tagLst xmlns:p="http://schemas.openxmlformats.org/presentationml/2006/main">
  <p:tag name="KSO_WM_BEAUTIFY_FLAG" val="#wm#"/>
  <p:tag name="KSO_WM_TEMPLATE_CATEGORY" val="custom"/>
  <p:tag name="KSO_WM_TEMPLATE_INDEX" val="20233299"/>
</p:tagLst>
</file>

<file path=ppt/tags/tag108.xml><?xml version="1.0" encoding="utf-8"?>
<p:tagLst xmlns:p="http://schemas.openxmlformats.org/presentationml/2006/main">
  <p:tag name="KSO_WM_BEAUTIFY_FLAG" val="#wm#"/>
  <p:tag name="KSO_WM_TEMPLATE_CATEGORY" val="custom"/>
  <p:tag name="KSO_WM_TEMPLATE_INDEX" val="20233299"/>
</p:tagLst>
</file>

<file path=ppt/tags/tag109.xml><?xml version="1.0" encoding="utf-8"?>
<p:tagLst xmlns:p="http://schemas.openxmlformats.org/presentationml/2006/main">
  <p:tag name="KSO_WM_BEAUTIFY_FLAG" val="#wm#"/>
  <p:tag name="KSO_WM_TEMPLATE_CATEGORY" val="custom"/>
  <p:tag name="KSO_WM_TEMPLATE_INDEX" val="20233299"/>
</p:tagLst>
</file>

<file path=ppt/tags/tag110.xml><?xml version="1.0" encoding="utf-8"?>
<p:tagLst xmlns:p="http://schemas.openxmlformats.org/presentationml/2006/main">
  <p:tag name="KSO_WM_BEAUTIFY_FLAG" val="#wm#"/>
  <p:tag name="KSO_WM_TEMPLATE_CATEGORY" val="custom"/>
  <p:tag name="KSO_WM_TEMPLATE_INDEX" val="20233299"/>
</p:tagLst>
</file>

<file path=ppt/tags/tag111.xml><?xml version="1.0" encoding="utf-8"?>
<p:tagLst xmlns:p="http://schemas.openxmlformats.org/presentationml/2006/main">
  <p:tag name="KSO_WM_BEAUTIFY_FLAG" val="#wm#"/>
  <p:tag name="KSO_WM_TEMPLATE_CATEGORY" val="custom"/>
  <p:tag name="KSO_WM_TEMPLATE_INDEX" val="20233299"/>
</p:tagLst>
</file>

<file path=ppt/tags/tag112.xml><?xml version="1.0" encoding="utf-8"?>
<p:tagLst xmlns:p="http://schemas.openxmlformats.org/presentationml/2006/main">
  <p:tag name="KSO_WM_BEAUTIFY_FLAG" val="#wm#"/>
  <p:tag name="KSO_WM_TEMPLATE_CATEGORY" val="custom"/>
  <p:tag name="KSO_WM_TEMPLATE_INDEX" val="20233299"/>
</p:tagLst>
</file>

<file path=ppt/tags/tag113.xml><?xml version="1.0" encoding="utf-8"?>
<p:tagLst xmlns:p="http://schemas.openxmlformats.org/presentationml/2006/main">
  <p:tag name="KSO_WM_BEAUTIFY_FLAG" val="#wm#"/>
  <p:tag name="KSO_WM_TEMPLATE_CATEGORY" val="custom"/>
  <p:tag name="KSO_WM_TEMPLATE_INDEX" val="20233299"/>
  <p:tag name="resource_record_key" val="{&quot;10&quot;:[50001574],&quot;65&quot;:[20233299]}"/>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wm#"/>
  <p:tag name="KSO_WM_TEMPLATE_CATEGORY" val="custom"/>
  <p:tag name="KSO_WM_TEMPLATE_INDEX" val="20233299"/>
  <p:tag name="resource_record_key" val="{&quot;10&quot;:[50001574],&quot;65&quot;:[20233299]}"/>
</p:tagLst>
</file>

<file path=ppt/tags/tag116.xml><?xml version="1.0" encoding="utf-8"?>
<p:tagLst xmlns:p="http://schemas.openxmlformats.org/presentationml/2006/main">
  <p:tag name="KSO_WM_BEAUTIFY_FLAG" val="#wm#"/>
  <p:tag name="KSO_WM_TEMPLATE_CATEGORY" val="custom"/>
  <p:tag name="KSO_WM_TEMPLATE_INDEX" val="20233299"/>
</p:tagLst>
</file>

<file path=ppt/tags/tag117.xml><?xml version="1.0" encoding="utf-8"?>
<p:tagLst xmlns:p="http://schemas.openxmlformats.org/presentationml/2006/main">
  <p:tag name="KSO_WM_BEAUTIFY_FLAG" val="#wm#"/>
  <p:tag name="KSO_WM_TEMPLATE_CATEGORY" val="custom"/>
  <p:tag name="KSO_WM_TEMPLATE_INDEX" val="20233299"/>
  <p:tag name="resource_record_key" val="{&quot;10&quot;:[21557347,21572628,21573244],&quot;65&quot;:[20233299]}"/>
</p:tagLst>
</file>

<file path=ppt/tags/tag118.xml><?xml version="1.0" encoding="utf-8"?>
<p:tagLst xmlns:p="http://schemas.openxmlformats.org/presentationml/2006/main">
  <p:tag name="KSO_WM_DIAGRAM_VIRTUALLY_FRAME" val="{&quot;height&quot;:341.1,&quot;left&quot;:84.05,&quot;top&quot;:169.15,&quot;width&quot;:715.2}"/>
</p:tagLst>
</file>

<file path=ppt/tags/tag119.xml><?xml version="1.0" encoding="utf-8"?>
<p:tagLst xmlns:p="http://schemas.openxmlformats.org/presentationml/2006/main">
  <p:tag name="KSO_WM_DIAGRAM_VIRTUALLY_FRAME" val="{&quot;height&quot;:341.1,&quot;left&quot;:84.05,&quot;top&quot;:169.15,&quot;width&quot;:715.2}"/>
</p:tagLst>
</file>

<file path=ppt/tags/tag120.xml><?xml version="1.0" encoding="utf-8"?>
<p:tagLst xmlns:p="http://schemas.openxmlformats.org/presentationml/2006/main">
  <p:tag name="KSO_WM_DIAGRAM_VIRTUALLY_FRAME" val="{&quot;height&quot;:341.1,&quot;left&quot;:84.05,&quot;top&quot;:169.15,&quot;width&quot;:715.2}"/>
</p:tagLst>
</file>

<file path=ppt/tags/tag121.xml><?xml version="1.0" encoding="utf-8"?>
<p:tagLst xmlns:p="http://schemas.openxmlformats.org/presentationml/2006/main">
  <p:tag name="KSO_WM_DIAGRAM_VIRTUALLY_FRAME" val="{&quot;height&quot;:341.1,&quot;left&quot;:84.05,&quot;top&quot;:169.15,&quot;width&quot;:715.2}"/>
</p:tagLst>
</file>

<file path=ppt/tags/tag122.xml><?xml version="1.0" encoding="utf-8"?>
<p:tagLst xmlns:p="http://schemas.openxmlformats.org/presentationml/2006/main">
  <p:tag name="KSO_WM_DIAGRAM_VIRTUALLY_FRAME" val="{&quot;height&quot;:341.1,&quot;left&quot;:84.05,&quot;top&quot;:169.15,&quot;width&quot;:715.2}"/>
</p:tagLst>
</file>

<file path=ppt/tags/tag123.xml><?xml version="1.0" encoding="utf-8"?>
<p:tagLst xmlns:p="http://schemas.openxmlformats.org/presentationml/2006/main">
  <p:tag name="KSO_WM_DIAGRAM_VIRTUALLY_FRAME" val="{&quot;height&quot;:341.1,&quot;left&quot;:84.05,&quot;top&quot;:169.15,&quot;width&quot;:715.2}"/>
</p:tagLst>
</file>

<file path=ppt/tags/tag124.xml><?xml version="1.0" encoding="utf-8"?>
<p:tagLst xmlns:p="http://schemas.openxmlformats.org/presentationml/2006/main">
  <p:tag name="KSO_WM_DIAGRAM_VIRTUALLY_FRAME" val="{&quot;height&quot;:341.1,&quot;left&quot;:84.05,&quot;top&quot;:169.15,&quot;width&quot;:715.2}"/>
</p:tagLst>
</file>

<file path=ppt/tags/tag125.xml><?xml version="1.0" encoding="utf-8"?>
<p:tagLst xmlns:p="http://schemas.openxmlformats.org/presentationml/2006/main">
  <p:tag name="KSO_WM_DIAGRAM_VIRTUALLY_FRAME" val="{&quot;height&quot;:341.1,&quot;left&quot;:84.05,&quot;top&quot;:169.15,&quot;width&quot;:715.2}"/>
</p:tagLst>
</file>

<file path=ppt/tags/tag126.xml><?xml version="1.0" encoding="utf-8"?>
<p:tagLst xmlns:p="http://schemas.openxmlformats.org/presentationml/2006/main">
  <p:tag name="KSO_WM_DIAGRAM_VIRTUALLY_FRAME" val="{&quot;height&quot;:341.1,&quot;left&quot;:84.05,&quot;top&quot;:169.15,&quot;width&quot;:715.2}"/>
</p:tagLst>
</file>

<file path=ppt/tags/tag127.xml><?xml version="1.0" encoding="utf-8"?>
<p:tagLst xmlns:p="http://schemas.openxmlformats.org/presentationml/2006/main">
  <p:tag name="KSO_WM_DIAGRAM_VIRTUALLY_FRAME" val="{&quot;height&quot;:341.1,&quot;left&quot;:84.05,&quot;top&quot;:169.15,&quot;width&quot;:715.2}"/>
</p:tagLst>
</file>

<file path=ppt/tags/tag128.xml><?xml version="1.0" encoding="utf-8"?>
<p:tagLst xmlns:p="http://schemas.openxmlformats.org/presentationml/2006/main">
  <p:tag name="KSO_WM_DIAGRAM_VIRTUALLY_FRAME" val="{&quot;height&quot;:341.1,&quot;left&quot;:84.05,&quot;top&quot;:169.15,&quot;width&quot;:715.2}"/>
</p:tagLst>
</file>

<file path=ppt/tags/tag129.xml><?xml version="1.0" encoding="utf-8"?>
<p:tagLst xmlns:p="http://schemas.openxmlformats.org/presentationml/2006/main">
  <p:tag name="KSO_WM_DIAGRAM_VIRTUALLY_FRAME" val="{&quot;height&quot;:341.1,&quot;left&quot;:84.05,&quot;top&quot;:169.15,&quot;width&quot;:715.2}"/>
</p:tagLst>
</file>

<file path=ppt/tags/tag130.xml><?xml version="1.0" encoding="utf-8"?>
<p:tagLst xmlns:p="http://schemas.openxmlformats.org/presentationml/2006/main">
  <p:tag name="KSO_WM_DIAGRAM_VIRTUALLY_FRAME" val="{&quot;height&quot;:341.1,&quot;left&quot;:84.05,&quot;top&quot;:169.15,&quot;width&quot;:715.2}"/>
</p:tagLst>
</file>

<file path=ppt/tags/tag131.xml><?xml version="1.0" encoding="utf-8"?>
<p:tagLst xmlns:p="http://schemas.openxmlformats.org/presentationml/2006/main">
  <p:tag name="KSO_WM_DIAGRAM_VIRTUALLY_FRAME" val="{&quot;height&quot;:341.1,&quot;left&quot;:84.05,&quot;top&quot;:169.15,&quot;width&quot;:715.2}"/>
</p:tagLst>
</file>

<file path=ppt/tags/tag132.xml><?xml version="1.0" encoding="utf-8"?>
<p:tagLst xmlns:p="http://schemas.openxmlformats.org/presentationml/2006/main">
  <p:tag name="KSO_WM_DIAGRAM_VIRTUALLY_FRAME" val="{&quot;height&quot;:341.1,&quot;left&quot;:84.05,&quot;top&quot;:169.15,&quot;width&quot;:715.2}"/>
</p:tagLst>
</file>

<file path=ppt/tags/tag133.xml><?xml version="1.0" encoding="utf-8"?>
<p:tagLst xmlns:p="http://schemas.openxmlformats.org/presentationml/2006/main">
  <p:tag name="KSO_WM_DIAGRAM_VIRTUALLY_FRAME" val="{&quot;height&quot;:341.1,&quot;left&quot;:84.05,&quot;top&quot;:169.15,&quot;width&quot;:715.2}"/>
</p:tagLst>
</file>

<file path=ppt/tags/tag134.xml><?xml version="1.0" encoding="utf-8"?>
<p:tagLst xmlns:p="http://schemas.openxmlformats.org/presentationml/2006/main">
  <p:tag name="KSO_WM_BEAUTIFY_FLAG" val="#wm#"/>
  <p:tag name="KSO_WM_TEMPLATE_CATEGORY" val="custom"/>
  <p:tag name="KSO_WM_TEMPLATE_INDEX" val="20233299"/>
</p:tagLst>
</file>

<file path=ppt/tags/tag135.xml><?xml version="1.0" encoding="utf-8"?>
<p:tagLst xmlns:p="http://schemas.openxmlformats.org/presentationml/2006/main">
  <p:tag name="KSO_WM_BEAUTIFY_FLAG" val="#wm#"/>
  <p:tag name="KSO_WM_TEMPLATE_CATEGORY" val="custom"/>
  <p:tag name="KSO_WM_TEMPLATE_INDEX" val="20233299"/>
</p:tagLst>
</file>

<file path=ppt/tags/tag136.xml><?xml version="1.0" encoding="utf-8"?>
<p:tagLst xmlns:p="http://schemas.openxmlformats.org/presentationml/2006/main">
  <p:tag name="KSO_WM_BEAUTIFY_FLAG" val="#wm#"/>
  <p:tag name="KSO_WM_TEMPLATE_CATEGORY" val="custom"/>
  <p:tag name="KSO_WM_TEMPLATE_INDEX" val="20233299"/>
</p:tagLst>
</file>

<file path=ppt/tags/tag137.xml><?xml version="1.0" encoding="utf-8"?>
<p:tagLst xmlns:p="http://schemas.openxmlformats.org/presentationml/2006/main">
  <p:tag name="KSO_WM_BEAUTIFY_FLAG" val="#wm#"/>
  <p:tag name="KSO_WM_TEMPLATE_CATEGORY" val="custom"/>
  <p:tag name="KSO_WM_TEMPLATE_INDEX" val="20233299"/>
</p:tagLst>
</file>

<file path=ppt/tags/tag138.xml><?xml version="1.0" encoding="utf-8"?>
<p:tagLst xmlns:p="http://schemas.openxmlformats.org/presentationml/2006/main">
  <p:tag name="KSO_WM_BEAUTIFY_FLAG" val="#wm#"/>
  <p:tag name="KSO_WM_TEMPLATE_CATEGORY" val="custom"/>
  <p:tag name="KSO_WM_TEMPLATE_INDEX" val="20233299"/>
</p:tagLst>
</file>

<file path=ppt/tags/tag139.xml><?xml version="1.0" encoding="utf-8"?>
<p:tagLst xmlns:p="http://schemas.openxmlformats.org/presentationml/2006/main">
  <p:tag name="KSO_WM_BEAUTIFY_FLAG" val="#wm#"/>
  <p:tag name="KSO_WM_TEMPLATE_CATEGORY" val="custom"/>
  <p:tag name="KSO_WM_TEMPLATE_INDEX" val="20233299"/>
</p:tagLst>
</file>

<file path=ppt/tags/tag140.xml><?xml version="1.0" encoding="utf-8"?>
<p:tagLst xmlns:p="http://schemas.openxmlformats.org/presentationml/2006/main">
  <p:tag name="KSO_WM_BEAUTIFY_FLAG" val="#wm#"/>
  <p:tag name="KSO_WM_TEMPLATE_CATEGORY" val="custom"/>
  <p:tag name="KSO_WM_TEMPLATE_INDEX" val="20233299"/>
</p:tagLst>
</file>

<file path=ppt/tags/tag141.xml><?xml version="1.0" encoding="utf-8"?>
<p:tagLst xmlns:p="http://schemas.openxmlformats.org/presentationml/2006/main">
  <p:tag name="commondata" val="eyJoZGlkIjoiOTFkMmU0ODRiNDhiOGM5MmIxOWQ0ZTljMjA3NmExZmUifQ=="/>
  <p:tag name="resource_record_key" val="{&quot;10&quot;:[50001574,50043682,21557347,21572628,21573244,21602304,50026891],&quot;13&quot;:[4364938],&quot;29&quot;:[50000042,50000049,50000076],&quot;65&quot;:[2023329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04">
      <a:dk1>
        <a:srgbClr val="000000"/>
      </a:dk1>
      <a:lt1>
        <a:srgbClr val="FFFFFF"/>
      </a:lt1>
      <a:dk2>
        <a:srgbClr val="000000"/>
      </a:dk2>
      <a:lt2>
        <a:srgbClr val="FFFFFF"/>
      </a:lt2>
      <a:accent1>
        <a:srgbClr val="057174"/>
      </a:accent1>
      <a:accent2>
        <a:srgbClr val="3A8C42"/>
      </a:accent2>
      <a:accent3>
        <a:srgbClr val="487AB5"/>
      </a:accent3>
      <a:accent4>
        <a:srgbClr val="4D65BB"/>
      </a:accent4>
      <a:accent5>
        <a:srgbClr val="745EB4"/>
      </a:accent5>
      <a:accent6>
        <a:srgbClr val="3098B9"/>
      </a:accent6>
      <a:hlink>
        <a:srgbClr val="658BD5"/>
      </a:hlink>
      <a:folHlink>
        <a:srgbClr val="A16AA5"/>
      </a:folHlink>
    </a:clrScheme>
    <a:fontScheme name="自定义 45">
      <a:majorFont>
        <a:latin typeface="MiSans Demibold"/>
        <a:ea typeface="微软雅黑"/>
        <a:cs typeface=""/>
      </a:majorFont>
      <a:minorFont>
        <a:latin typeface="MiSans Demibold"/>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8709</Words>
  <Application>WPS 演示</Application>
  <PresentationFormat>宽屏</PresentationFormat>
  <Paragraphs>445</Paragraphs>
  <Slides>24</Slides>
  <Notes>4</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2</vt:i4>
      </vt:variant>
      <vt:variant>
        <vt:lpstr>幻灯片标题</vt:lpstr>
      </vt:variant>
      <vt:variant>
        <vt:i4>24</vt:i4>
      </vt:variant>
    </vt:vector>
  </HeadingPairs>
  <TitlesOfParts>
    <vt:vector size="36" baseType="lpstr">
      <vt:lpstr>Arial</vt:lpstr>
      <vt:lpstr>SimSun</vt:lpstr>
      <vt:lpstr>Wingdings</vt:lpstr>
      <vt:lpstr>Wingdings</vt:lpstr>
      <vt:lpstr>Microsoft YaHei</vt:lpstr>
      <vt:lpstr>Times New Roman</vt:lpstr>
      <vt:lpstr>Arial Unicode MS</vt:lpstr>
      <vt:lpstr>Calibri</vt:lpstr>
      <vt:lpstr>WPS</vt:lpstr>
      <vt:lpstr>2_Office 主题​​</vt:lpstr>
      <vt:lpstr>Equation.KSEE3</vt:lpstr>
      <vt:lpstr>Equation.KSEE3</vt:lpstr>
      <vt:lpstr>PowerPoint 演示文稿</vt:lpstr>
      <vt:lpstr>PowerPoint 演示文稿</vt:lpstr>
      <vt:lpstr>Introduction and Motivation</vt:lpstr>
      <vt:lpstr>Methodology: Convolutional Neural Networks (CNN) for MATE data</vt:lpstr>
      <vt:lpstr>Dataset</vt:lpstr>
      <vt:lpstr>The Baseline</vt:lpstr>
      <vt:lpstr>Method 2: Modification of Model Architecture</vt:lpstr>
      <vt:lpstr>Physics-Informed Cross-Attention CNN </vt:lpstr>
      <vt:lpstr>Methodological Evolution and Results</vt:lpstr>
      <vt:lpstr>Summary</vt:lpstr>
      <vt:lpstr>PowerPoint 演示文稿</vt:lpstr>
      <vt:lpstr>MATE: A new generation detector</vt:lpstr>
      <vt:lpstr>Detailed Motivation </vt:lpstr>
      <vt:lpstr>ResNet-18 detailed Structure</vt:lpstr>
      <vt:lpstr>A Further more Motivation ： High-Dimensional Connections</vt:lpstr>
      <vt:lpstr>An Automated, Two-Stage Workflow</vt:lpstr>
      <vt:lpstr>Cross-Attention Performance </vt:lpstr>
      <vt:lpstr>Attention Entropy</vt:lpstr>
      <vt:lpstr>Attention Entropy</vt:lpstr>
      <vt:lpstr>Interpretability Analysis</vt:lpstr>
      <vt:lpstr>Mechanism of Cross-Attention Architecture</vt:lpstr>
      <vt:lpstr>Mechanism of Cross-Attention Architecture</vt:lpstr>
      <vt:lpstr>Traditional Workflow</vt:lpstr>
      <vt:lpstr>Traditional Workflow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伊文斯继承者</cp:lastModifiedBy>
  <cp:revision>2261</cp:revision>
  <dcterms:created xsi:type="dcterms:W3CDTF">2019-06-19T02:08:00Z</dcterms:created>
  <dcterms:modified xsi:type="dcterms:W3CDTF">2025-12-11T13:33:57Z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B1FF7FFBD64A439BB080732AEDF04F77_13</vt:lpwstr>
  </property>
</Properties>
</file>