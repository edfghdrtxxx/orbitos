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5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720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Nuclear Structure</a:t>
            </a:r>
            <a:endParaRPr lang="en-US" sz="2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 Direct Reactions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Active-Target TPCs Need Better Particle Identification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evolution far from stability</a:t>
            </a:r>
            <a:endParaRPr lang="en-US" sz="13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magic numbers change for exotic nuclei; tensor-force monopole reshuffles single-particle levels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Inverse-kinematics direct reactions as the probe</a:t>
            </a:r>
            <a:endParaRPr lang="en-US" sz="13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Transfer/knockout reactions on RI beams extract spectroscopic factors and angular distributions via DWBA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Active-target TPCs: thick target + full coverage</a:t>
            </a:r>
            <a:endParaRPr lang="en-US" sz="13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IS the target: near-unity efficiency for short-range recoils, 4π coverage, high luminosity without degrading resolution</a:t>
            </a:r>
            <a:endParaRPr lang="en-US" sz="1300" dirty="0"/>
          </a:p>
          <a:p>
            <a:pPr marL="0" indent="0" algn="l">
              <a:spcAft>
                <a:spcPts val="200"/>
              </a:spcAft>
              <a:buNone/>
            </a:pPr>
            <a:endParaRPr lang="en-US" sz="13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bottleneck: reliable particle identification (PID)</a:t>
            </a:r>
            <a:endParaRPr lang="en-US" sz="13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clean PID, light recoils cannot be separated from backgrounds — angular distributions and C²S extraction collapse</a:t>
            </a:r>
            <a:endParaRPr lang="en-US" sz="1300" dirty="0"/>
          </a:p>
        </p:txBody>
      </p:sp>
      <p:pic>
        <p:nvPicPr>
          <p:cNvPr id="6" name="Image 0" descr="D:\Something\research\MATE-Automation-V4\10_Papers-Thesis\Physics_Informed\figures\mate_geometry_schem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4960" y="457200"/>
            <a:ext cx="347472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AT-TPC: GEM readout, 3792 triangular pads</a:t>
            </a:r>
            <a:endParaRPr lang="en-US" sz="900" dirty="0"/>
          </a:p>
        </p:txBody>
      </p:sp>
      <p:pic>
        <p:nvPicPr>
          <p:cNvPr id="8" name="Image 1" descr="D:\Something\research\MATE-Automation-V4\10_Papers-Thesis\Physics_Informed\figures\mate_pad_geometr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52160" y="3794760"/>
            <a:ext cx="2560320" cy="1005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Meeting with Imai-sensei  |  2026-04-13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229600" y="4754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Did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MATE-Automation: ML Pipeline for Active-Target TPC Particle Identification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MATE-Automation ML pipeline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framework: Geant4 simulation → ROOT → HDF5 → image generation → CNN training → inference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ResNet family + VGG-19 on ¹²C+¹²C data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ResNet-18/34/50 and VGG-19 benchmarked on Geant4-simulated + real HIRFL-RIBLL commissioning data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novel CrossAttention + HitChannel fusion architecture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feature injection: cross-attention fuses scalar hit-channel data with CNN image embeddings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pipeline to trajectory reconstruction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generalizes from classification to angle regression (polar/azimuthal)</a:t>
            </a:r>
            <a:endParaRPr lang="en-US" sz="1400" dirty="0"/>
          </a:p>
          <a:p>
            <a:pPr marL="0" indent="0" algn="l">
              <a:spcAft>
                <a:spcPts val="200"/>
              </a:spcAft>
              <a:buNone/>
            </a:pPr>
            <a:endParaRPr lang="en-US" sz="14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paper to Nuclear Science and Techniques</a:t>
            </a:r>
            <a:endParaRPr lang="en-US" sz="1400" dirty="0"/>
          </a:p>
          <a:p>
            <a:pPr marL="0" lvl="1" indent="0" algn="l">
              <a:spcAft>
                <a:spcPts val="2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NST-2025-0958: full PID classification results on elastic/fusion + 5 fusion sub-channels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From Event Classification to Trajectory Reconstruction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606040" cy="14173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22960"/>
            <a:ext cx="54864" cy="141732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Classification</a:t>
            </a:r>
            <a:endParaRPr lang="en-US" sz="11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90–97%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elastic/fusion on ¹²C+¹²C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across 5 fusion channels</a:t>
            </a:r>
            <a:endParaRPr lang="en-US" sz="1100" dirty="0"/>
          </a:p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Submitted: NST-2025-0958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4408" y="822960"/>
            <a:ext cx="2606040" cy="14173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8" name="Shape 6"/>
          <p:cNvSpPr/>
          <p:nvPr/>
        </p:nvSpPr>
        <p:spPr>
          <a:xfrm>
            <a:off x="3264408" y="822960"/>
            <a:ext cx="54864" cy="1417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3447288" y="91440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CrossAtt + HitChannel</a:t>
            </a:r>
            <a:endParaRPr lang="en-US" sz="11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95.80%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³He/⁴He binary (controlled)</a:t>
            </a:r>
            <a:endParaRPr lang="en-US" sz="110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to baseline (95.77%, p=0.81)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interpretable physics features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sacrificing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71616" y="822960"/>
            <a:ext cx="2606040" cy="14173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1" name="Shape 9"/>
          <p:cNvSpPr/>
          <p:nvPr/>
        </p:nvSpPr>
        <p:spPr>
          <a:xfrm>
            <a:off x="6071616" y="822960"/>
            <a:ext cx="54864" cy="1417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6254496" y="91440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Reconstruction</a:t>
            </a:r>
            <a:endParaRPr lang="en-US" sz="11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−16.1%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0.992° → 0.832° (p &lt; 10⁻¹⁶)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CrossAtt on angle regression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generalizes</a:t>
            </a:r>
            <a:endParaRPr lang="en-US" sz="1100" dirty="0"/>
          </a:p>
        </p:txBody>
      </p:sp>
      <p:pic>
        <p:nvPicPr>
          <p:cNvPr id="13" name="Image 0" descr="D:\Something\research\MATE-Automation-V4\10_Papers-Thesis\Physics_Informed\figures\v6_confusion_matrix_gri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468880"/>
            <a:ext cx="3031112" cy="2148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4572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ablation confusion matrices (3He/4He)</a:t>
            </a:r>
            <a:endParaRPr lang="en-US" sz="850" dirty="0"/>
          </a:p>
        </p:txBody>
      </p:sp>
      <p:pic>
        <p:nvPicPr>
          <p:cNvPr id="15" name="Image 1" descr="D:\Something\research\MATE-Automation-V4\runs\TRK-comparison\figures\cross_task_honest_comparis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2468880"/>
            <a:ext cx="4114800" cy="21488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63440" y="4572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Cross-task: Isotope ID / Track Count / Angle Regression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8229600" y="4754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Connection: From MATE to DONUTS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ML-PID capability maps directly to the DONUTS experimental program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06040" cy="54864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OEDO-SHARAQ</a:t>
            </a:r>
            <a:endParaRPr lang="en-US" sz="14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Reactions on Exotic Nuclei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Inverse-kinematics (d,p), (p,d) at 10–30 MeV/u with RI beams from RIKEN RIBF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PID challenge: separate light recoils from beam-related backgrounds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64408" y="13258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1325880"/>
            <a:ext cx="260604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3447288" y="14630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</a:t>
            </a:r>
            <a:endParaRPr lang="en-US" sz="14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(d,p) for r-Process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for (n,γ) cross-sections on short-lived nuclei for astrophysical r-process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⁷⁹Se(d,p) flagship (PLB 2024, Imai et al.) — reliable PID essential for extracting neutron-capture proxy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71616" y="132588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71616" y="1325880"/>
            <a:ext cx="2606040" cy="5486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6254496" y="14630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Challenge</a:t>
            </a:r>
            <a:endParaRPr lang="en-US" sz="14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Active-Target TPC + PID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CAT-M (CNS) and MATE (IMP) share GEM-based AT-TPC design with dual-gain architecture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DG-M-THGEM prototype (Iwamoto, Ota, Imai, PTEP 2023): stable to 2.5×10⁶ pps</a:t>
            </a:r>
            <a:endParaRPr lang="en-US" sz="1400" dirty="0"/>
          </a:p>
        </p:txBody>
      </p:sp>
      <p:pic>
        <p:nvPicPr>
          <p:cNvPr id="14" name="Image 0" descr="D:\Something\research\MATE-Automation-V4\10_Papers-Thesis\Physics_Informed\figures\cross_attention_schem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3566160"/>
            <a:ext cx="4114800" cy="1417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4892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CrossAttention + HitChannel architecture (transferable to DONUTS data)</a:t>
            </a:r>
            <a:endParaRPr lang="en-US" sz="850" dirty="0"/>
          </a:p>
        </p:txBody>
      </p:sp>
      <p:pic>
        <p:nvPicPr>
          <p:cNvPr id="16" name="Image 1" descr="D:\Something\research\MATE-Automation-V4\10_Papers-Thesis\Physics_Informed\figures\data_pipelin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3566160"/>
            <a:ext cx="3931920" cy="1417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46320" y="4892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ROOT → HDF5 → image → ML inference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229600" y="4754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Outlook &amp; Discussion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237744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23774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Next Steps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CrossAtt-PID framework to DONUTS detector data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pipeline for CAT-M / DG-M-THGEM geometries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complex multi-particle reaction channels in SAKURA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4408" y="1188720"/>
            <a:ext cx="2606040" cy="237744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8" name="Shape 6"/>
          <p:cNvSpPr/>
          <p:nvPr/>
        </p:nvSpPr>
        <p:spPr>
          <a:xfrm>
            <a:off x="3264408" y="1188720"/>
            <a:ext cx="54864" cy="2377440"/>
          </a:xfrm>
          <a:prstGeom prst="rect">
            <a:avLst/>
          </a:prstGeom>
          <a:solidFill>
            <a:srgbClr val="0E8388"/>
          </a:solidFill>
          <a:ln/>
        </p:spPr>
      </p:sp>
      <p:sp>
        <p:nvSpPr>
          <p:cNvPr id="9" name="Text 7"/>
          <p:cNvSpPr/>
          <p:nvPr/>
        </p:nvSpPr>
        <p:spPr>
          <a:xfrm>
            <a:off x="3447288" y="13258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ML-PID transfer across different TPC geometries and beam conditions?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domain adaptation (DANN, MCD) bridge simulation-to-real gap for exotic nuclei data?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minimum training data for reliable PID on rare reaction channels?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71616" y="1188720"/>
            <a:ext cx="2606040" cy="237744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1" name="Shape 9"/>
          <p:cNvSpPr/>
          <p:nvPr/>
        </p:nvSpPr>
        <p:spPr>
          <a:xfrm>
            <a:off x="6071616" y="1188720"/>
            <a:ext cx="54864" cy="2377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6254496" y="132588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Imai-sensei see the highest-impact application of ML-PID within DONUTS?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upcoming SAKURA/OEDO experiments would benefit most from this pipeline?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this work contribute to a PhD thesis at UTokyo CNS?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3840480"/>
            <a:ext cx="6400800" cy="777240"/>
          </a:xfrm>
          <a:prstGeom prst="rect">
            <a:avLst/>
          </a:prstGeom>
          <a:solidFill>
            <a:srgbClr val="0E8388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38862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message: </a:t>
            </a:r>
            <a:r>
              <a:rPr lang="en-US" sz="14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AFTPC pipeline </a:t>
            </a:r>
            <a:r>
              <a:rPr lang="en-US" sz="1400" b="1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</a:t>
            </a:r>
            <a:r>
              <a:rPr lang="en-US" sz="1400" dirty="0">
                <a:solidFill>
                  <a:srgbClr val="CB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tasks (classification + regression) and can be adapted to DONUTS experimental data — let’s explore how.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ZhiHeng Hu  |  IMP, CAS  |  hu@impcas.ac.cn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691</Words>
  <Application>Microsoft Office PowerPoint</Application>
  <PresentationFormat>On-screen Show (16:9)</PresentationFormat>
  <Paragraphs>109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ML-Based Particle Identification for Active-Target TPCs</dc:title>
  <dc:subject>PptxGenJS Presentation</dc:subject>
  <dc:creator>ZhiHeng Hu</dc:creator>
  <cp:lastModifiedBy>智恒 胡</cp:lastModifiedBy>
  <cp:revision>2</cp:revision>
  <dcterms:created xsi:type="dcterms:W3CDTF">2026-04-12T11:02:36Z</dcterms:created>
  <dcterms:modified xsi:type="dcterms:W3CDTF">2026-04-13T00:58:51Z</dcterms:modified>
</cp:coreProperties>
</file>