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59" r:id="rId6"/>
    <p:sldId id="260" r:id="rId7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3"/>
    <p:restoredTop sz="82515"/>
  </p:normalViewPr>
  <p:slideViewPr>
    <p:cSldViewPr snapToGrid="0" snapToObjects="1">
      <p:cViewPr varScale="1">
        <p:scale>
          <a:sx n="160" d="100"/>
          <a:sy n="160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704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learning group. Today we cover Section III.B of Chapter 11 on velocity filters. I will show you why a filter that ignores mass is the most sensitive way to find superheavy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GSI, SHIP ran an iron beam on a lead target for ten days: 6 × 10¹⁷ projectiles. Three atoms of element 108 came out — flying in the same direction as the beam. How would you pick those three out? That is the job of a separator, and today's device does it by velocity.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Here is the plan: four questions, and each answer raises the next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First of four. A mass spectrometer is the tool we all learned. Why not use one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Recall how a mass spectrometer works: a magnet bends each ion by momentum over charge. Here is the catch. In complete fusion, the compound nucleus takes the full projectile momentum, so to a magnet the residue looks almost like the beam — the book shows their magnetic rigidities nearly coincide (Fig. 9). But that momentum now sits on a much heavier nucleus, so it moves at the centre-of-mass velocity: for iron on lead, about a fifth of the beam speed. Same momentum, lower speed — that is our handle.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Evaporation is how the hot compound nucleus cools down: it boils off a few neutrons, protons or alphas. Each one kicks the residue in a random direction. Random kicks add in quadrature, and the 3 keeps the part along one axis. Compare that with the projectile momentum in the denominator: a heavy beam makes it large, so the residues stay in a narrow forward cone.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But a magnet is not the whole story: recoil mass separators add electric fields, and they do separate residues from the beam. Their catch is the charge state. They disperse by A/q, and heavy ions emerge in a spread of charge states centred near q ≈ 20 — about five states carry the intensity. A mass separator keeps only one or two, losing most of the yield. On the left, schematically: one residue species arrives in about five charge states; the separator transmits the navy one, and the grey ones are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 time, same idea: same momentum, lower speed. In a pure velocity filter, the condition v = E/B does not contain the charge. All charge states of the chosen velocity pass through, giving near-100% charge-state transmission and suppressing the unreacted beam by more than 10¹⁶. E here is the electric field, not kinetic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 of four. The unreacted beam is more than 10¹⁶ times stronger than the signal. How does the filter survive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SHIP at GSI. Notice it is not a crossed-field Wien filter. The electric condenser comes first. It deflects the primary beam away immediately, so the beam never hits the plates — no scattered background, no heat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contrast, Daresbury uses crossed E and B fields, followed by a magnetic spectrometer to refocus the energy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Third of four. Back to the trade-off from slide 8: the filter never measures mass in flight. So how do we know what we caught?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SHIP separates in under 2 microseconds, we can implant short-lived residues into silicon. Here is the first ground-state proton decay from Lutetium-151, cleanly isolated from the alpha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 to the three atoms from the start. Out of 6 × 10¹⁷ projectiles over ten days, SHIP produced just three atoms of element 108. Because SHIP does not measure mass, we prove the isotope by watching it alpha-decay step by step into known daughters.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Daresbury, they surround the target with gamma detectors. By only looking at gammas coincident with a recoil at the focal plane, the Coulomb-excitation and fission background disappears.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Last of four: when is a velocity filter the wrong tool?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Velocity filters are the best choice for Coulomb-barrier fusion where you need maximum transmission. If you need mass resolution in flight, use an RMS. If you have relativistic energies, use a fragment separator.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summarize: velocity filters ignore mass to achieve 100% charge-state transmission; SHIP's separated fields survive particle-microampere beams; and this extreme sensitivity makes single-atom discoveries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jpe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jpe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7.png"/><Relationship Id="rId4" Type="http://schemas.openxmlformats.org/officeDocument/2006/relationships/image" Target="../media/image38.jpe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5.jpe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9.jpe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200" dirty="0"/>
          </a:p>
        </p:txBody>
      </p:sp>
      <p:pic>
        <p:nvPicPr>
          <p:cNvPr id="6" name="Image 1" descr="/Users/Reid Hu/OrbitOS/70_Presentations/717_Learning Group-20260916/assets/ship_fig12_rubbing_sepa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3520440" cy="2331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0352" y="1078992"/>
            <a:ext cx="5806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heavy-ion fusion products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548640" y="3401568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Zhiheng Hu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48640" y="3822192"/>
            <a:ext cx="5806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29 </a:t>
            </a:r>
            <a:r>
              <a:rPr lang="en-US" sz="13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Sep, 2026  ·  Exp. Techniques NP Ch. 11 §III.B</a:t>
            </a:r>
            <a:endParaRPr lang="en-US" sz="13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014226-D832-0957-69DE-6D35897CD387}"/>
              </a:ext>
            </a:extLst>
          </p:cNvPr>
          <p:cNvGrpSpPr/>
          <p:nvPr/>
        </p:nvGrpSpPr>
        <p:grpSpPr>
          <a:xfrm>
            <a:off x="6336792" y="129586"/>
            <a:ext cx="2734056" cy="566928"/>
            <a:chOff x="5797296" y="356616"/>
            <a:chExt cx="2734056" cy="566928"/>
          </a:xfrm>
        </p:grpSpPr>
        <p:pic>
          <p:nvPicPr>
            <p:cNvPr id="11" name="Image 0" descr="/Users/Reid Hu/OrbitOS/70_Presentations/717_Learning Group-20260916/assets/imp_mark_white.png">
              <a:extLst>
                <a:ext uri="{FF2B5EF4-FFF2-40B4-BE49-F238E27FC236}">
                  <a16:creationId xmlns:a16="http://schemas.microsoft.com/office/drawing/2014/main" id="{F60E45DF-AB2C-E06F-E1D0-3236767CC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97296" y="356616"/>
              <a:ext cx="530352" cy="566928"/>
            </a:xfrm>
            <a:prstGeom prst="rect">
              <a:avLst/>
            </a:prstGeom>
          </p:spPr>
        </p:pic>
        <p:sp>
          <p:nvSpPr>
            <p:cNvPr id="12" name="Text 2">
              <a:extLst>
                <a:ext uri="{FF2B5EF4-FFF2-40B4-BE49-F238E27FC236}">
                  <a16:creationId xmlns:a16="http://schemas.microsoft.com/office/drawing/2014/main" id="{3946F8EA-4915-5A58-5D95-5A38FCC85A08}"/>
                </a:ext>
              </a:extLst>
            </p:cNvPr>
            <p:cNvSpPr/>
            <p:nvPr/>
          </p:nvSpPr>
          <p:spPr>
            <a:xfrm>
              <a:off x="6473952" y="365760"/>
              <a:ext cx="205740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Institute of Modern Physics</a:t>
              </a:r>
              <a:endParaRPr lang="en-US" sz="1150" dirty="0"/>
            </a:p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Chinese Academy of Sciences</a:t>
              </a:r>
              <a:endParaRPr lang="en-US" sz="115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 days of beam produced three atoms of element 108.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 leave the target in the beam direction, inside the unreacted beam.</a:t>
            </a:r>
            <a:endParaRPr lang="en-US" sz="1300" dirty="0"/>
          </a:p>
        </p:txBody>
      </p:sp>
      <p:pic>
        <p:nvPicPr>
          <p:cNvPr id="8" name="Picture 7" descr="stakes_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8321040" cy="2063843"/>
          </a:xfrm>
          <a:prstGeom prst="rect">
            <a:avLst/>
          </a:prstGeom>
        </p:spPr>
      </p:pic>
      <p:pic>
        <p:nvPicPr>
          <p:cNvPr id="9" name="Picture 8" descr="stakes_st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628" y="3545171"/>
            <a:ext cx="6536743" cy="40233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20040" y="411209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(GSI): iron beam on a lead target for 240 h (Ch. 11, Fig. 14)  ·  Illustration: blue = beam, red = fusion residues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1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3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5039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594360" y="9418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 cannot separate residues from the beam: same momentum, lower speed.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eq/lead_v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8355"/>
            <a:ext cx="7451811" cy="20290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914400"/>
            <a:ext cx="8321040" cy="2468880"/>
          </a:xfrm>
          <a:prstGeom prst="roundRect">
            <a:avLst>
              <a:gd name="adj" fmla="val 3704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1" descr="/Users/Reid Hu/OrbitOS/70_Presentations/717_Learning Group-20260916/assets/eq/eq_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969264"/>
            <a:ext cx="4703905" cy="11338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987552"/>
            <a:ext cx="32461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Residue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heavy remnant of the compound nucleus after it evaporates a few light particles.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</a:t>
            </a:r>
            <a:r>
              <a:rPr lang="en-US" sz="1100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 = (Ap/Ac) Ep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the residue’s kinetic energy under full momentum transfer: motion at v_cm, slower than the beam.</a:t>
            </a:r>
            <a:endParaRPr lang="en-US" sz="1100" dirty="0"/>
          </a:p>
        </p:txBody>
      </p:sp>
      <p:pic>
        <p:nvPicPr>
          <p:cNvPr id="11" name="Image 2" descr="/Users/Reid Hu/OrbitOS/70_Presentations/717_Learning Group-20260916/assets/eq/eq_v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3403" y="2139696"/>
            <a:ext cx="5617194" cy="950976"/>
          </a:xfrm>
          <a:prstGeom prst="rect">
            <a:avLst/>
          </a:prstGeom>
        </p:spPr>
      </p:pic>
      <p:pic>
        <p:nvPicPr>
          <p:cNvPr id="12" name="Image 3" descr="/Users/Reid Hu/OrbitOS/70_Presentations/717_Learning Group-20260916/assets/eq/eq_eq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4867" y="3118104"/>
            <a:ext cx="2934266" cy="1828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41148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Text 8"/>
          <p:cNvSpPr/>
          <p:nvPr/>
        </p:nvSpPr>
        <p:spPr>
          <a:xfrm>
            <a:off x="54864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</a:t>
            </a:r>
            <a:endParaRPr lang="en-US" sz="1300" dirty="0"/>
          </a:p>
        </p:txBody>
      </p:sp>
      <p:pic>
        <p:nvPicPr>
          <p:cNvPr id="15" name="Image 4" descr="/Users/Reid Hu/OrbitOS/70_Presentations/717_Learning Group-20260916/assets/eq/kine_fusion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105656"/>
            <a:ext cx="2296058" cy="373807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24612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Text 10"/>
          <p:cNvSpPr/>
          <p:nvPr/>
        </p:nvSpPr>
        <p:spPr>
          <a:xfrm>
            <a:off x="338328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Unreacted beam</a:t>
            </a:r>
            <a:endParaRPr lang="en-US" sz="1300" dirty="0"/>
          </a:p>
        </p:txBody>
      </p:sp>
      <p:pic>
        <p:nvPicPr>
          <p:cNvPr id="18" name="Image 5" descr="/Users/Reid Hu/OrbitOS/70_Presentations/717_Learning Group-20260916/assets/eq/kine_beam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4105656"/>
            <a:ext cx="2369302" cy="37399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608076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0" name="Text 12"/>
          <p:cNvSpPr/>
          <p:nvPr/>
        </p:nvSpPr>
        <p:spPr>
          <a:xfrm>
            <a:off x="621792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channels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217920" y="41056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stays near beam or target velocity; fission-after-fusion spreads over a wide lab-velocity range.</a:t>
            </a:r>
            <a:endParaRPr lang="en-US" sz="1200" dirty="0"/>
          </a:p>
        </p:txBody>
      </p:sp>
      <p:sp>
        <p:nvSpPr>
          <p:cNvPr id="22" name="Oval 21"/>
          <p:cNvSpPr/>
          <p:nvPr/>
        </p:nvSpPr>
        <p:spPr>
          <a:xfrm>
            <a:off x="149047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vᵣ</a:t>
            </a:r>
          </a:p>
        </p:txBody>
      </p:sp>
      <p:sp>
        <p:nvSpPr>
          <p:cNvPr id="23" name="Oval 22"/>
          <p:cNvSpPr/>
          <p:nvPr/>
        </p:nvSpPr>
        <p:spPr>
          <a:xfrm>
            <a:off x="432511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vₚ</a:t>
            </a:r>
          </a:p>
        </p:txBody>
      </p:sp>
      <p:sp>
        <p:nvSpPr>
          <p:cNvPr id="24" name="Oval 23"/>
          <p:cNvSpPr/>
          <p:nvPr/>
        </p:nvSpPr>
        <p:spPr>
          <a:xfrm>
            <a:off x="715975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Δv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residues are kinematically focused into a narrow forward cone.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2 /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compound nucleus carries large forward momentum; a few evaporated nucleons barely deflect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969264"/>
            <a:ext cx="8321040" cy="1792224"/>
          </a:xfrm>
          <a:prstGeom prst="roundRect">
            <a:avLst>
              <a:gd name="adj" fmla="val 5102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0" descr="/Users/Reid Hu/OrbitOS/70_Presentations/717_Learning Group-20260916/assets/eq/eq_sigma.png"/>
          <p:cNvPicPr>
            <a:picLocks noChangeAspect="1"/>
          </p:cNvPicPr>
          <p:nvPr/>
        </p:nvPicPr>
        <p:blipFill>
          <a:blip r:embed="rId3"/>
          <a:srcRect l="18081" r="22894"/>
          <a:stretch>
            <a:fillRect/>
          </a:stretch>
        </p:blipFill>
        <p:spPr>
          <a:xfrm>
            <a:off x="548640" y="1024128"/>
            <a:ext cx="3665551" cy="1353312"/>
          </a:xfrm>
          <a:prstGeom prst="rect">
            <a:avLst/>
          </a:prstGeom>
        </p:spPr>
      </p:pic>
      <p:pic>
        <p:nvPicPr>
          <p:cNvPr id="10" name="Image 1" descr="/Users/Reid Hu/OrbitOS/70_Presentations/717_Learning Group-20260916/assets/eq/eq_sigma_n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1252" y="2455804"/>
            <a:ext cx="344454" cy="172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1148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Shape 8"/>
          <p:cNvSpPr/>
          <p:nvPr/>
        </p:nvSpPr>
        <p:spPr>
          <a:xfrm>
            <a:off x="1463040" y="2980944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13" name="Image 2" descr="/Users/Reid Hu/OrbitOS/70_Presentations/717_Learning Group-20260916/assets/eq/chip_th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906" y="3138358"/>
            <a:ext cx="127467" cy="1423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Narrow cone</a:t>
            </a:r>
            <a:endParaRPr lang="en-US" sz="1400" dirty="0"/>
          </a:p>
        </p:txBody>
      </p:sp>
      <p:pic>
        <p:nvPicPr>
          <p:cNvPr id="15" name="Image 3" descr="/Users/Reid Hu/OrbitOS/70_Presentations/717_Learning Group-20260916/assets/eq/focus_theta_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40480"/>
            <a:ext cx="2423160" cy="36634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24612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Shape 11"/>
          <p:cNvSpPr/>
          <p:nvPr/>
        </p:nvSpPr>
        <p:spPr>
          <a:xfrm>
            <a:off x="4297680" y="2980944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18" name="Image 4" descr="/Users/Reid Hu/OrbitOS/70_Presentations/717_Learning Group-20260916/assets/eq/chip_omeg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086" y="3137032"/>
            <a:ext cx="176388" cy="1450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38328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solid angle</a:t>
            </a:r>
            <a:endParaRPr lang="en-US" sz="1400" dirty="0"/>
          </a:p>
        </p:txBody>
      </p:sp>
      <p:pic>
        <p:nvPicPr>
          <p:cNvPr id="20" name="Image 5" descr="/Users/Reid Hu/OrbitOS/70_Presentations/717_Learning Group-20260916/assets/eq/focus_omega_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3840480"/>
            <a:ext cx="2423160" cy="37106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08076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4"/>
          <p:cNvSpPr/>
          <p:nvPr/>
        </p:nvSpPr>
        <p:spPr>
          <a:xfrm>
            <a:off x="7132320" y="2980944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23" name="Image 6" descr="/Users/Reid Hu/OrbitOS/70_Presentations/717_Learning Group-20260916/assets/eq/chip_ep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8009" y="3156509"/>
            <a:ext cx="125821" cy="10607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21792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transmission</a:t>
            </a:r>
            <a:endParaRPr lang="en-US" sz="1400" dirty="0"/>
          </a:p>
        </p:txBody>
      </p:sp>
      <p:pic>
        <p:nvPicPr>
          <p:cNvPr id="25" name="Image 7" descr="/Users/Reid Hu/OrbitOS/70_Presentations/717_Learning Group-20260916/assets/eq/focus_eps_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4783" y="3840480"/>
            <a:ext cx="2329434" cy="343449"/>
          </a:xfrm>
          <a:prstGeom prst="rect">
            <a:avLst/>
          </a:prstGeom>
        </p:spPr>
      </p:pic>
      <p:sp>
        <p:nvSpPr>
          <p:cNvPr id="26" name="Aside Evaporation"/>
          <p:cNvSpPr/>
          <p:nvPr/>
        </p:nvSpPr>
        <p:spPr>
          <a:xfrm>
            <a:off x="4572000" y="1060704"/>
            <a:ext cx="3977639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how the hot compound nucleus cools: it emits a few light particles (n, p, α).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</a:t>
            </a:r>
            <a:r>
              <a:rPr lang="en-US" sz="1100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kicks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each emission recoils the residue in a random direction; the kicks add in quadrature and split equally over x, y and z, so dividing by 3 keeps one axis.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separators lose most of the yield to charge-state splitting.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3 / 10</a:t>
            </a:r>
            <a:endParaRPr lang="en-US" sz="1000" dirty="0"/>
          </a:p>
        </p:txBody>
      </p:sp>
      <p:sp>
        <p:nvSpPr>
          <p:cNvPr id="7" name="Bar q18"/>
          <p:cNvSpPr/>
          <p:nvPr/>
        </p:nvSpPr>
        <p:spPr>
          <a:xfrm>
            <a:off x="722375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" y="3977639"/>
            <a:ext cx="7315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5" y="2987801"/>
            <a:ext cx="9144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0" name="Bar q19"/>
          <p:cNvSpPr/>
          <p:nvPr/>
        </p:nvSpPr>
        <p:spPr>
          <a:xfrm>
            <a:off x="1527048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35607" y="3977639"/>
            <a:ext cx="7315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872234"/>
            <a:ext cx="9144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3" name="Bar q20"/>
          <p:cNvSpPr/>
          <p:nvPr/>
        </p:nvSpPr>
        <p:spPr>
          <a:xfrm>
            <a:off x="2331720" y="1143000"/>
            <a:ext cx="548640" cy="2788920"/>
          </a:xfrm>
          <a:prstGeom prst="rect">
            <a:avLst/>
          </a:prstGeom>
          <a:solidFill>
            <a:srgbClr val="0F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0279" y="3977639"/>
            <a:ext cx="7315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39" y="896112"/>
            <a:ext cx="9144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2F5C"/>
                </a:solidFill>
                <a:latin typeface="Times New Roman"/>
              </a:rPr>
              <a:t>kept</a:t>
            </a:r>
          </a:p>
        </p:txBody>
      </p:sp>
      <p:sp>
        <p:nvSpPr>
          <p:cNvPr id="16" name="Bar q21"/>
          <p:cNvSpPr/>
          <p:nvPr/>
        </p:nvSpPr>
        <p:spPr>
          <a:xfrm>
            <a:off x="3136391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3977639"/>
            <a:ext cx="7315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1" y="1872234"/>
            <a:ext cx="9144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9" name="Bar q22"/>
          <p:cNvSpPr/>
          <p:nvPr/>
        </p:nvSpPr>
        <p:spPr>
          <a:xfrm>
            <a:off x="3941063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24" y="3977639"/>
            <a:ext cx="7315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3" y="2987801"/>
            <a:ext cx="9144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5" y="3931920"/>
            <a:ext cx="4133089" cy="0"/>
          </a:xfrm>
          <a:prstGeom prst="line">
            <a:avLst/>
          </a:prstGeom>
          <a:ln w="9525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s7_ax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6841" y="4242816"/>
            <a:ext cx="898398" cy="163403"/>
          </a:xfrm>
          <a:prstGeom prst="rect">
            <a:avLst/>
          </a:prstGeom>
        </p:spPr>
      </p:pic>
      <p:pic>
        <p:nvPicPr>
          <p:cNvPr id="24" name="Picture 23" descr="cap_s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064" y="4535424"/>
            <a:ext cx="4265950" cy="140451"/>
          </a:xfrm>
          <a:prstGeom prst="rect">
            <a:avLst/>
          </a:prstGeom>
        </p:spPr>
      </p:pic>
      <p:sp>
        <p:nvSpPr>
          <p:cNvPr id="25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6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7" name="Text 11"/>
          <p:cNvSpPr/>
          <p:nvPr/>
        </p:nvSpPr>
        <p:spPr>
          <a:xfrm>
            <a:off x="5303520" y="731519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Sorts by mass-over-charge</a:t>
            </a:r>
            <a:endParaRPr lang="en-US" sz="1300" dirty="0"/>
          </a:p>
        </p:txBody>
      </p:sp>
      <p:pic>
        <p:nvPicPr>
          <p:cNvPr id="28" name="Picture 27" descr="s7_sort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1024128"/>
            <a:ext cx="3297783" cy="373806"/>
          </a:xfrm>
          <a:prstGeom prst="rect">
            <a:avLst/>
          </a:prstGeom>
        </p:spPr>
      </p:pic>
      <p:sp>
        <p:nvSpPr>
          <p:cNvPr id="29" name="Shape 4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0" name="Shape 5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1" name="Text 11"/>
          <p:cNvSpPr/>
          <p:nvPr/>
        </p:nvSpPr>
        <p:spPr>
          <a:xfrm>
            <a:off x="5303520" y="16916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five charge states</a:t>
            </a:r>
            <a:endParaRPr lang="en-US" sz="1300" dirty="0"/>
          </a:p>
        </p:txBody>
      </p:sp>
      <p:pic>
        <p:nvPicPr>
          <p:cNvPr id="32" name="Picture 31" descr="s7_five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0" y="1984248"/>
            <a:ext cx="3390138" cy="343265"/>
          </a:xfrm>
          <a:prstGeom prst="rect">
            <a:avLst/>
          </a:prstGeom>
        </p:spPr>
      </p:pic>
      <p:sp>
        <p:nvSpPr>
          <p:cNvPr id="33" name="Shape 4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4" name="Shape 5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5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charge not known in advance</a:t>
            </a:r>
            <a:endParaRPr lang="en-US" sz="1300" dirty="0"/>
          </a:p>
        </p:txBody>
      </p:sp>
      <p:pic>
        <p:nvPicPr>
          <p:cNvPr id="36" name="Picture 35" descr="s7_qbar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0" y="2944368"/>
            <a:ext cx="3263767" cy="373989"/>
          </a:xfrm>
          <a:prstGeom prst="rect">
            <a:avLst/>
          </a:prstGeom>
        </p:spPr>
      </p:pic>
      <p:sp>
        <p:nvSpPr>
          <p:cNvPr id="37" name="Shape 4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8" name="Shape 5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9" name="Text 11"/>
          <p:cNvSpPr/>
          <p:nvPr/>
        </p:nvSpPr>
        <p:spPr>
          <a:xfrm>
            <a:off x="5303520" y="3611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of the yield is lost</a:t>
            </a:r>
            <a:endParaRPr lang="en-US" sz="1300" dirty="0"/>
          </a:p>
        </p:txBody>
      </p:sp>
      <p:sp>
        <p:nvSpPr>
          <p:cNvPr id="40" name="Text 6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one or two states reach the focal plane; the others are thrown away.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Pure velocity filters transmit all charge states and isotopes simultaneously.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4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621792"/>
            <a:ext cx="8321040" cy="1938528"/>
          </a:xfrm>
          <a:prstGeom prst="roundRect">
            <a:avLst>
              <a:gd name="adj" fmla="val 4717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8" name="Image 0" descr="/Users/Reid Hu/OrbitOS/70_Presentations/717_Learning Group-20260916/assets/eq/eq_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248" y="667512"/>
            <a:ext cx="7509503" cy="1280160"/>
          </a:xfrm>
          <a:prstGeom prst="rect">
            <a:avLst/>
          </a:prstGeom>
        </p:spPr>
      </p:pic>
      <p:pic>
        <p:nvPicPr>
          <p:cNvPr id="9" name="Image 1" descr="/Users/Reid Hu/OrbitOS/70_Presentations/717_Learning Group-20260916/assets/eq/eq_v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3404" y="1985894"/>
            <a:ext cx="4417192" cy="234452"/>
          </a:xfrm>
          <a:prstGeom prst="rect">
            <a:avLst/>
          </a:prstGeom>
        </p:spPr>
      </p:pic>
      <p:pic>
        <p:nvPicPr>
          <p:cNvPr id="10" name="Image 2" descr="/Users/Reid Hu/OrbitOS/70_Presentations/717_Learning Group-20260916/assets/eq/eq_qcan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4954" y="2273884"/>
            <a:ext cx="5214092" cy="188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1148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Text 7"/>
          <p:cNvSpPr/>
          <p:nvPr/>
        </p:nvSpPr>
        <p:spPr>
          <a:xfrm>
            <a:off x="54864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</a:t>
            </a:r>
            <a:endParaRPr lang="en-US" sz="1300" dirty="0"/>
          </a:p>
        </p:txBody>
      </p:sp>
      <p:pic>
        <p:nvPicPr>
          <p:cNvPr id="13" name="Image 3" descr="/Users/Reid Hu/OrbitOS/70_Presentations/717_Learning Group-20260916/assets/eq/power_allq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980944"/>
            <a:ext cx="2422063" cy="52861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24612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5" name="Text 9"/>
          <p:cNvSpPr/>
          <p:nvPr/>
        </p:nvSpPr>
        <p:spPr>
          <a:xfrm>
            <a:off x="338328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fusion isotopes</a:t>
            </a:r>
            <a:endParaRPr lang="en-US" sz="1300" dirty="0"/>
          </a:p>
        </p:txBody>
      </p:sp>
      <p:pic>
        <p:nvPicPr>
          <p:cNvPr id="16" name="Image 4" descr="/Users/Reid Hu/OrbitOS/70_Presentations/717_Learning Group-20260916/assets/eq/power_iso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2980944"/>
            <a:ext cx="2423160" cy="553077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08076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Text 11"/>
          <p:cNvSpPr/>
          <p:nvPr/>
        </p:nvSpPr>
        <p:spPr>
          <a:xfrm>
            <a:off x="621792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Beam rejection</a:t>
            </a:r>
            <a:endParaRPr lang="en-US" sz="1300" dirty="0"/>
          </a:p>
        </p:txBody>
      </p:sp>
      <p:pic>
        <p:nvPicPr>
          <p:cNvPr id="19" name="Image 5" descr="/Users/Reid Hu/OrbitOS/70_Presentations/717_Learning Group-20260916/assets/eq/power_beam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2980944"/>
            <a:ext cx="2297796" cy="373807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11480" y="3822192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0F2F5C"/>
          </a:solidFill>
          <a:ln/>
        </p:spPr>
        <p:txBody>
          <a:bodyPr/>
          <a:lstStyle/>
          <a:p>
            <a:endParaRPr lang="en-JP" dirty="0"/>
          </a:p>
        </p:txBody>
      </p:sp>
      <p:sp>
        <p:nvSpPr>
          <p:cNvPr id="21" name="Text 13"/>
          <p:cNvSpPr/>
          <p:nvPr/>
        </p:nvSpPr>
        <p:spPr>
          <a:xfrm>
            <a:off x="594360" y="3931920"/>
            <a:ext cx="7955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Trade-off: the filter does not measure mass in flight. The isotope is identified later — by decay spectroscopy at the focal plane.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594360" y="199339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uses separated fields to protect its condenser plates.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5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2_ship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12  ·  SHIP (GSI): the plate condenser comes first; dipoles send the projectile beam to the dump.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Text 7"/>
          <p:cNvSpPr/>
          <p:nvPr/>
        </p:nvSpPr>
        <p:spPr>
          <a:xfrm>
            <a:off x="47548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 first</a:t>
            </a:r>
            <a:endParaRPr lang="en-US" sz="1300" dirty="0"/>
          </a:p>
        </p:txBody>
      </p:sp>
      <p:pic>
        <p:nvPicPr>
          <p:cNvPr id="11" name="Image 1" descr="/Users/Reid Hu/OrbitOS/70_Presentations/717_Learning Group-20260916/assets/eq/ship_cond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703320"/>
            <a:ext cx="2395637" cy="3468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9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a Wien filter</a:t>
            </a:r>
            <a:endParaRPr lang="en-US" sz="1300" dirty="0"/>
          </a:p>
        </p:txBody>
      </p:sp>
      <p:pic>
        <p:nvPicPr>
          <p:cNvPr id="14" name="Image 2" descr="/Users/Reid Hu/OrbitOS/70_Presentations/717_Learning Group-20260916/assets/eq/ship_wien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3703320"/>
            <a:ext cx="2345802" cy="51691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6" name="Text 11"/>
          <p:cNvSpPr/>
          <p:nvPr/>
        </p:nvSpPr>
        <p:spPr>
          <a:xfrm>
            <a:off x="623620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current</a:t>
            </a:r>
            <a:endParaRPr lang="en-US" sz="1300" dirty="0"/>
          </a:p>
        </p:txBody>
      </p:sp>
      <p:pic>
        <p:nvPicPr>
          <p:cNvPr id="17" name="Image 3" descr="/Users/Reid Hu/OrbitOS/70_Presentations/717_Learning Group-20260916/assets/eq/ship_curren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3703320"/>
            <a:ext cx="2523744" cy="5321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Daresbury separator uses crossed fields and energy refocusing.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6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5_daresbury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15  ·  Daresbury recoil separator: two crossed-field filters followed by a DQQQ spectrometer.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10" name="Image 1" descr="/Users/Reid Hu/OrbitOS/70_Presentations/717_Learning Group-20260916/assets/eq/dar_exb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459998"/>
            <a:ext cx="1003828" cy="139172"/>
          </a:xfrm>
          <a:prstGeom prst="rect">
            <a:avLst/>
          </a:prstGeom>
        </p:spPr>
      </p:pic>
      <p:pic>
        <p:nvPicPr>
          <p:cNvPr id="11" name="Image 2" descr="/Users/Reid Hu/OrbitOS/70_Presentations/717_Learning Group-20260916/assets/eq/dar_ex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3703320"/>
            <a:ext cx="2309957" cy="3468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8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DQQQ spectrometer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55848" y="3703320"/>
            <a:ext cx="2523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magnetic spectrometer after the filters refocuses the energy spread at the focal plane.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16" name="Image 3" descr="/Users/Reid Hu/OrbitOS/70_Presentations/717_Learning Group-20260916/assets/eq/dar_gamma_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3447242"/>
            <a:ext cx="1210940" cy="164683"/>
          </a:xfrm>
          <a:prstGeom prst="rect">
            <a:avLst/>
          </a:prstGeom>
        </p:spPr>
      </p:pic>
      <p:pic>
        <p:nvPicPr>
          <p:cNvPr id="17" name="Image 4" descr="/Users/Reid Hu/OrbitOS/70_Presentations/717_Learning Group-20260916/assets/eq/dar_gamma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6208" y="3703320"/>
            <a:ext cx="2444008" cy="4886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95351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7" name="Text 5"/>
          <p:cNvSpPr/>
          <p:nvPr/>
        </p:nvSpPr>
        <p:spPr>
          <a:xfrm>
            <a:off x="594360" y="304495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pic>
        <p:nvPicPr>
          <p:cNvPr id="3" name="Image 0" descr="/Users/Reid Hu/OrbitOS/70_Presentations/717_Learning Group-20260916/assets/eq/hdr_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4508"/>
            <a:ext cx="5422392" cy="26133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2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7 / 10</a:t>
            </a:r>
            <a:endParaRPr lang="en-US" sz="1000" dirty="0"/>
          </a:p>
        </p:txBody>
      </p:sp>
      <p:pic>
        <p:nvPicPr>
          <p:cNvPr id="7" name="Image 1" descr="/Users/Reid Hu/OrbitOS/70_Presentations/717_Learning Group-20260916/assets/fig13_151lu.jpe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6032" y="658368"/>
            <a:ext cx="4709160" cy="3840480"/>
          </a:xfrm>
          <a:prstGeom prst="rect">
            <a:avLst/>
          </a:prstGeom>
        </p:spPr>
      </p:pic>
      <p:pic>
        <p:nvPicPr>
          <p:cNvPr id="8" name="Image 2" descr="/Users/Reid Hu/OrbitOS/70_Presentations/717_Learning Group-20260916/assets/eq/cap_l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7830" y="4533184"/>
            <a:ext cx="2085564" cy="15992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11" name="Image 3" descr="/Users/Reid Hu/OrbitOS/70_Presentations/717_Learning Group-20260916/assets/eq/lu_flight_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773354"/>
            <a:ext cx="1280434" cy="17236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03520" y="1024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delivers short-lived residues to a Si surface-barrier detector.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8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15" name="Image 4" descr="/Users/Reid Hu/OrbitOS/70_Presentations/717_Learning Group-20260916/assets/eq/lu_proton_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1733657"/>
            <a:ext cx="1489466" cy="171999"/>
          </a:xfrm>
          <a:prstGeom prst="rect">
            <a:avLst/>
          </a:prstGeom>
        </p:spPr>
      </p:pic>
      <p:pic>
        <p:nvPicPr>
          <p:cNvPr id="16" name="Image 5" descr="/Users/Reid Hu/OrbitOS/70_Presentations/717_Learning Group-20260916/assets/eq/lu_proton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1984248"/>
            <a:ext cx="3383280" cy="338211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0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Escape bump</a:t>
            </a:r>
            <a:endParaRPr lang="en-US" sz="1300" dirty="0"/>
          </a:p>
        </p:txBody>
      </p:sp>
      <p:pic>
        <p:nvPicPr>
          <p:cNvPr id="20" name="Image 6" descr="/Users/Reid Hu/OrbitOS/70_Presentations/717_Learning Group-20260916/assets/eq/lu_alpha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0" y="2944368"/>
            <a:ext cx="3175620" cy="37399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3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pic>
        <p:nvPicPr>
          <p:cNvPr id="23" name="Image 7" descr="/Users/Reid Hu/OrbitOS/70_Presentations/717_Learning Group-20260916/assets/eq/lu_half_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0" y="3644753"/>
            <a:ext cx="872703" cy="190287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Implant time-tag gives the half-life event by event.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decay-chain tagging isolated element 108 from just three atoms.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8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4_element108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640080"/>
            <a:ext cx="5486400" cy="3858768"/>
          </a:xfrm>
          <a:prstGeom prst="rect">
            <a:avLst/>
          </a:prstGeom>
        </p:spPr>
      </p:pic>
      <p:pic>
        <p:nvPicPr>
          <p:cNvPr id="8" name="Image 1" descr="/Users/Reid Hu/OrbitOS/70_Presentations/717_Learning Group-20260916/assets/eq/cap_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907" y="4533184"/>
            <a:ext cx="2898922" cy="15992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852160" y="64008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852160" y="64008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6053328" y="7132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Ungated</a:t>
            </a:r>
            <a:endParaRPr lang="en-US" sz="1300" dirty="0"/>
          </a:p>
        </p:txBody>
      </p:sp>
      <p:pic>
        <p:nvPicPr>
          <p:cNvPr id="12" name="Image 2" descr="/Users/Reid Hu/OrbitOS/70_Presentations/717_Learning Group-20260916/assets/eq/hs_ungated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005840"/>
            <a:ext cx="2156064" cy="32013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52160" y="160020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852160" y="160020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6053328" y="167335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Implant-correlated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053328" y="196596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must match a prior implant in time and position.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852160" y="256032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852160" y="256032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6053328" y="263347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Heavy-mass window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053328" y="292608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TOF + implant energy select heavy-mass recoils; 2 of 3 atoms survive.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852160" y="35204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7"/>
          <p:cNvSpPr/>
          <p:nvPr/>
        </p:nvSpPr>
        <p:spPr>
          <a:xfrm>
            <a:off x="5852160" y="3520440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8"/>
          <p:cNvSpPr/>
          <p:nvPr/>
        </p:nvSpPr>
        <p:spPr>
          <a:xfrm>
            <a:off x="6053328" y="359359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 Daughter generations</a:t>
            </a:r>
            <a:endParaRPr lang="en-US" sz="1300" dirty="0"/>
          </a:p>
        </p:txBody>
      </p:sp>
      <p:pic>
        <p:nvPicPr>
          <p:cNvPr id="24" name="Image 3" descr="/Users/Reid Hu/OrbitOS/70_Presentations/717_Learning Group-20260916/assets/eq/hs_daughter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886200"/>
            <a:ext cx="2528865" cy="32013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Recoil-gamma tagging reveals nuclear structure at the proton drip line.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9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7_49mn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58368"/>
            <a:ext cx="4572000" cy="3840480"/>
          </a:xfrm>
          <a:prstGeom prst="rect">
            <a:avLst/>
          </a:prstGeom>
        </p:spPr>
      </p:pic>
      <p:pic>
        <p:nvPicPr>
          <p:cNvPr id="8" name="Image 1" descr="/Users/Reid Hu/OrbitOS/70_Presentations/717_Learning Group-20260916/assets/eq/cap_m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497" y="4533184"/>
            <a:ext cx="2835646" cy="15992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0" y="65836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02920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5257800" y="7315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Tag at the focal plane</a:t>
            </a:r>
            <a:endParaRPr lang="en-US" sz="1300" dirty="0"/>
          </a:p>
        </p:txBody>
      </p:sp>
      <p:pic>
        <p:nvPicPr>
          <p:cNvPr id="12" name="Image 2" descr="/Users/Reid Hu/OrbitOS/70_Presentations/717_Learning Group-20260916/assets/eq/mn_tag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024128"/>
            <a:ext cx="2443734" cy="37399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029200" y="16184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02920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5257800" y="169164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 suppressed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257800" y="198424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 excitation, fission, and target impurities drop out of the spectrum.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257860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02920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5257800" y="2651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Drip-line structure</a:t>
            </a:r>
            <a:endParaRPr lang="en-US" sz="1300" dirty="0"/>
          </a:p>
        </p:txBody>
      </p:sp>
      <p:pic>
        <p:nvPicPr>
          <p:cNvPr id="20" name="Image 3" descr="/Users/Reid Hu/OrbitOS/70_Presentations/717_Learning Group-20260916/assets/eq/mn_drip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2944368"/>
            <a:ext cx="3400196" cy="38825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029200" y="353872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6"/>
          <p:cNvSpPr/>
          <p:nvPr/>
        </p:nvSpPr>
        <p:spPr>
          <a:xfrm>
            <a:off x="502920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7"/>
          <p:cNvSpPr/>
          <p:nvPr/>
        </p:nvSpPr>
        <p:spPr>
          <a:xfrm>
            <a:off x="5257800" y="3611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Daresbury</a:t>
            </a:r>
            <a:endParaRPr lang="en-US" sz="1300" dirty="0"/>
          </a:p>
        </p:txBody>
      </p:sp>
      <p:pic>
        <p:nvPicPr>
          <p:cNvPr id="24" name="Image 4" descr="/Users/Reid Hu/OrbitOS/70_Presentations/717_Learning Group-20260916/assets/eq/mn_why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800" y="3904488"/>
            <a:ext cx="3048244" cy="34326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4005071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94360" y="4096511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 fill a unique niche for low-energy fusion.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10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02920" y="731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731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when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23560" y="731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ideal when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8412480" cy="603504"/>
          </a:xfrm>
          <a:prstGeom prst="rect">
            <a:avLst/>
          </a:prstGeom>
          <a:solidFill>
            <a:srgbClr val="E8F0FA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2" name="Shape 10"/>
          <p:cNvSpPr/>
          <p:nvPr/>
        </p:nvSpPr>
        <p:spPr>
          <a:xfrm>
            <a:off x="365760" y="1115568"/>
            <a:ext cx="73152" cy="603504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502920" y="12435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68880" y="124358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Coulomb-barrier fusion; highest transmission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124358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in-flight mass ID — decay spectroscopy afterward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773936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7" name="Text 15"/>
          <p:cNvSpPr/>
          <p:nvPr/>
        </p:nvSpPr>
        <p:spPr>
          <a:xfrm>
            <a:off x="502920" y="19019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/ FMA</a:t>
            </a:r>
            <a:endParaRPr lang="en-US" sz="1300" dirty="0"/>
          </a:p>
        </p:txBody>
      </p:sp>
      <p:pic>
        <p:nvPicPr>
          <p:cNvPr id="18" name="Image 0" descr="/Users/Reid Hu/OrbitOS/70_Presentations/717_Learning Group-20260916/assets/eq/row_rm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994078"/>
            <a:ext cx="1703802" cy="163220"/>
          </a:xfrm>
          <a:prstGeom prst="rect">
            <a:avLst/>
          </a:prstGeom>
        </p:spPr>
      </p:pic>
      <p:pic>
        <p:nvPicPr>
          <p:cNvPr id="19" name="Image 1" descr="/Users/Reid Hu/OrbitOS/70_Presentations/717_Learning Group-20260916/assets/eq/row_rms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993986"/>
            <a:ext cx="2339218" cy="163403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65760" y="2432304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1" name="Text 17"/>
          <p:cNvSpPr/>
          <p:nvPr/>
        </p:nvSpPr>
        <p:spPr>
          <a:xfrm>
            <a:off x="502920" y="25603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RF separator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468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Pulsed beams; TOF phase</a:t>
            </a:r>
            <a:endParaRPr lang="en-US" sz="1200" dirty="0"/>
          </a:p>
        </p:txBody>
      </p:sp>
      <p:pic>
        <p:nvPicPr>
          <p:cNvPr id="23" name="Image 2" descr="/Users/Reid Hu/OrbitOS/70_Presentations/717_Learning Group-20260916/assets/eq/row_rf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652354"/>
            <a:ext cx="1796247" cy="16340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365760" y="3090672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5" name="Text 20"/>
          <p:cNvSpPr/>
          <p:nvPr/>
        </p:nvSpPr>
        <p:spPr>
          <a:xfrm>
            <a:off x="502920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Gas-filled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2468880" y="32186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asymmetric reactions; actinide targets; high efficiency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623560" y="32186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Scattering; no velocity resolution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65760" y="3749040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9" name="Text 24"/>
          <p:cNvSpPr/>
          <p:nvPr/>
        </p:nvSpPr>
        <p:spPr>
          <a:xfrm>
            <a:off x="502920" y="3877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Fragment separator</a:t>
            </a:r>
            <a:endParaRPr lang="en-US" sz="1300" dirty="0"/>
          </a:p>
        </p:txBody>
      </p:sp>
      <p:pic>
        <p:nvPicPr>
          <p:cNvPr id="30" name="Image 3" descr="/Users/Reid Hu/OrbitOS/70_Presentations/717_Learning Group-20260916/assets/eq/row_fra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3974028"/>
            <a:ext cx="1754094" cy="15352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23560" y="38770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Wrong energy regime; degraders destroy slow beams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Contributions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20700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Velocity-based separation yields zero charge dispersion.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727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 at the selected velocity are transmitted together.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9" name="Shape 7"/>
          <p:cNvSpPr/>
          <p:nvPr/>
        </p:nvSpPr>
        <p:spPr>
          <a:xfrm>
            <a:off x="640080" y="235000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640080" y="24048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Separated-field design keeps the beam off the condenser plates.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Condenser-first SHIP dumps the primary beam before it can hit the plates.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4" name="Shape 12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640080" y="3456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31012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tagging enables picobarn sensitivity.</a:t>
            </a:r>
            <a:endParaRPr lang="en-US" sz="1600" dirty="0"/>
          </a:p>
        </p:txBody>
      </p:sp>
      <p:pic>
        <p:nvPicPr>
          <p:cNvPr id="17" name="Image 0" descr="/Users/Reid Hu/OrbitOS/70_Presentations/717_Learning Group-20260916/assets/eq/contrib_dec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35050"/>
            <a:ext cx="6394491" cy="201717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  ·  Zhiheng Hu  ·  16 Sep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1823</Words>
  <Application>Microsoft Macintosh PowerPoint</Application>
  <PresentationFormat>On-screen Show (16:9)</PresentationFormat>
  <Paragraphs>177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Velocity Filters</dc:title>
  <dc:subject>Learning Group — Exp. Techniques NP Ch. 11 §III.B</dc:subject>
  <dc:creator>Zhiheng Hu</dc:creator>
  <cp:lastModifiedBy>HA139785@365mak.com</cp:lastModifiedBy>
  <cp:revision>6</cp:revision>
  <dcterms:created xsi:type="dcterms:W3CDTF">2026-09-27T03:10:36Z</dcterms:created>
  <dcterms:modified xsi:type="dcterms:W3CDTF">2026-09-27T10:20:06Z</dcterms:modified>
</cp:coreProperties>
</file>