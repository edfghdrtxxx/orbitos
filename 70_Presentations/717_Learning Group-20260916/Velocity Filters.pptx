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8" r:id="rId5"/>
    <p:sldId id="275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9"/>
    <p:restoredTop sz="96591"/>
  </p:normalViewPr>
  <p:slideViewPr>
    <p:cSldViewPr snapToGrid="0" snapToObjects="1">
      <p:cViewPr>
        <p:scale>
          <a:sx n="185" d="100"/>
          <a:sy n="185" d="100"/>
        </p:scale>
        <p:origin x="-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70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the learning group. Today we cover velocity filters from Chapter 11. I will show you why a filter that ignores mass is the most sensitive way to find superheavy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At GSI, SHIP ran an iron beam on a lead target for ten days: 6 × 10¹⁷ projectiles. Three atoms of element 108 came out — flying in the same direction as the beam. How would you pick those three out? That is the job of a separator, and today's device does it by velocity.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Here is the plan: four questions, and each answer raises the next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First of four. A mass spectrometer is the tool we all learned. Why not use one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45F7-AB87-0E55-ACAE-506182E7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C84A9-353C-769C-7243-104E380FC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9A7F9-A192-6298-8C4D-1F55C4006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Recall how a mass spectrometer works: a magnet bends each ion by momentum over charge. Here is the catch. In complete fusion, the compound nucleus takes the full projectile momentum, so to a magnet the residue looks almost like the beam — the book shows their magnetic rigidities nearly coincide (Fig. 9). But that momentum now sits on a much heavier nucleus, so it moves at the </a:t>
            </a:r>
            <a:r>
              <a:rPr dirty="0" err="1"/>
              <a:t>centre</a:t>
            </a:r>
            <a:r>
              <a:rPr dirty="0"/>
              <a:t>-of-mass velocity: for iron on lead, about a fifth of the beam speed. Same momentum, lower speed — that is our handle.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77850-BAE1-5AAB-2464-2C755CC4B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03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Recall how a mass spectrometer works: a magnet bends each ion by momentum over charge. Here is the catch. In complete fusion, the compound nucleus takes the full projectile momentum, so to a magnet the residue looks almost like the beam — the book shows their magnetic rigidities nearly coincide (Fig. 9). But that momentum now sits on a much heavier nucleus, so it moves at the </a:t>
            </a:r>
            <a:r>
              <a:rPr dirty="0" err="1"/>
              <a:t>centre</a:t>
            </a:r>
            <a:r>
              <a:rPr dirty="0"/>
              <a:t>-of-mass velocity: for iron on lead, about a fifth of the beam speed. Same momentum, lower speed — that is our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Evaporation is how the hot compound nucleus cools down: it boils off a few neutrons, protons or alphas. Each one kicks the residue in a random direction. Random kicks add in quadrature, and the 3 keeps the part along one axis. Compare that with the projectile momentum in the denominator: a heavy beam makes it large, so the residues stay in a narrow forward cone.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But a magnet is not the whole story: recoil mass separators add electric fields, and they do separate residues from the beam. Their catch is the charge state. They disperse by A/q, and heavy ions emerge in a spread of charge states centred near q ≈ 20 — about five states carry the intensity. A mass separator keeps only one or two, losing most of the yield. On the left, schematically: one residue species arrives in about five charge states; the separator transmits the navy one, and the grey ones are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 time, same idea: same momentum, lower speed. In a pure velocity filter, the condition v = E/B does not contain the charge. All charge states of the chosen velocity pass through, giving near-100% charge-state transmission and, at SHIP, suppressing unretarded projectiles by more than 10¹⁶. E here is the electric field, not kinetic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 of four. For element 108, about 2 × 10¹⁷ projectiles hit the target for every atom caught. How does the filter survive that beam?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SHIP at GSI. Notice it is not a crossed-field Wien filter. The electric condenser comes first. It deflects the primary beam away immediately, so the beam never hits the plates — no scattered background, no heat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contrast, Daresbury uses crossed E and B fields, followed by a magnetic spectrometer to refocus the energy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Third of four. Back to the trade-off from slide 8: the filter never measures mass in flight. So how do we know what we caught?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SHIP separates in under 2 microseconds, we can implant short-lived residues into silicon. Here is the first ground-state proton decay from Lutetium-151, cleanly isolated from the alpha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 to the three atoms from the start. Out of 6 × 10¹⁷ projectiles over ten days, SHIP produced just three atoms of element 108. Because SHIP does not measure mass, we prove the isotope by watching it alpha-decay step by step into known daughters.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Daresbury, they surround the target with gamma detectors. By only looking at gammas coincident with a mass-selected recoil at the focal plane, the Coulomb-excitation and target-impurity background disappears.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Last of four: when is a velocity filter the wrong tool?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 filters are the best choice for Coulomb-barrier fusion where you need maximum transmission. If you need mass resolution in flight, use an RMS. If you have relativistic energies, use a fragment separator.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summarize: velocity filters ignore mass to achieve 100% charge-state transmission; SHIP's separated fields survive particle-microampere beams; and this extreme sensitivity makes single-atom discoveries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jpeg"/><Relationship Id="rId9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200" dirty="0"/>
          </a:p>
        </p:txBody>
      </p:sp>
      <p:pic>
        <p:nvPicPr>
          <p:cNvPr id="6" name="Image 1" descr="/Users/Reid Hu/OrbitOS/70_Presentations/717_Learning Group-20260916/assets/ship_fig12_rubbing_sepa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761488"/>
            <a:ext cx="3520440" cy="2331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0352" y="1078992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heavy-ion fusion products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340156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Zhiheng Hu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382219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</a:t>
            </a:r>
            <a:r>
              <a:rPr lang="en-US" sz="13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 2026  ·  Exp. Techniques NP Ch. 11</a:t>
            </a:r>
            <a:endParaRPr lang="en-US" sz="13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014226-D832-0957-69DE-6D35897CD387}"/>
              </a:ext>
            </a:extLst>
          </p:cNvPr>
          <p:cNvGrpSpPr/>
          <p:nvPr/>
        </p:nvGrpSpPr>
        <p:grpSpPr>
          <a:xfrm>
            <a:off x="6336792" y="129586"/>
            <a:ext cx="2734056" cy="566928"/>
            <a:chOff x="5797296" y="356616"/>
            <a:chExt cx="2734056" cy="566928"/>
          </a:xfrm>
        </p:grpSpPr>
        <p:pic>
          <p:nvPicPr>
            <p:cNvPr id="11" name="Image 0" descr="/Users/Reid Hu/OrbitOS/70_Presentations/717_Learning Group-20260916/assets/imp_mark_white.png">
              <a:extLst>
                <a:ext uri="{FF2B5EF4-FFF2-40B4-BE49-F238E27FC236}">
                  <a16:creationId xmlns:a16="http://schemas.microsoft.com/office/drawing/2014/main" id="{F60E45DF-AB2C-E06F-E1D0-3236767CC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7296" y="356616"/>
              <a:ext cx="530352" cy="566928"/>
            </a:xfrm>
            <a:prstGeom prst="rect">
              <a:avLst/>
            </a:prstGeom>
          </p:spPr>
        </p:pic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3946F8EA-4915-5A58-5D95-5A38FCC85A08}"/>
                </a:ext>
              </a:extLst>
            </p:cNvPr>
            <p:cNvSpPr/>
            <p:nvPr/>
          </p:nvSpPr>
          <p:spPr>
            <a:xfrm>
              <a:off x="6473952" y="365760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Institute of Modern Physics</a:t>
              </a:r>
              <a:endParaRPr lang="en-US" sz="1150" dirty="0"/>
            </a:p>
            <a:p>
              <a:pPr marL="0" indent="0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Times New Roman" pitchFamily="34" charset="0"/>
                  <a:ea typeface="Times New Roman" pitchFamily="34" charset="-122"/>
                  <a:cs typeface="Times New Roman" pitchFamily="34" charset="-120"/>
                </a:rPr>
                <a:t>Chinese Academy of Sciences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days of beam produced three atoms of </a:t>
            </a:r>
            <a:r>
              <a:rPr lang="en-US" sz="1800" b="1" baseline="-25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108</a:t>
            </a: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Hassium.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residues leave the target in the beam direction, inside the unreacted beam.</a:t>
            </a:r>
            <a:endParaRPr lang="en-US" sz="1300" dirty="0"/>
          </a:p>
        </p:txBody>
      </p:sp>
      <p:pic>
        <p:nvPicPr>
          <p:cNvPr id="9" name="Picture 8" descr="stakes_st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628" y="3545171"/>
            <a:ext cx="6536743" cy="402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0040" y="4112099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(GSI): iron beam on a lead target for 240 h (Ch. 11, Fig. 14)  ·  Illustration: blue = beam, red = fusion residues</a:t>
            </a:r>
            <a:endParaRPr lang="en-US" sz="1000" dirty="0"/>
          </a:p>
        </p:txBody>
      </p:sp>
      <p:grpSp>
        <p:nvGrpSpPr>
          <p:cNvPr id="15" name="Stakes figure + role labels"/>
          <p:cNvGrpSpPr/>
          <p:nvPr/>
        </p:nvGrpSpPr>
        <p:grpSpPr>
          <a:xfrm>
            <a:off x="73804" y="994910"/>
            <a:ext cx="8658716" cy="2467965"/>
            <a:chOff x="73804" y="994910"/>
            <a:chExt cx="8658716" cy="2467965"/>
          </a:xfrm>
        </p:grpSpPr>
        <p:pic>
          <p:nvPicPr>
            <p:cNvPr id="8" name="Picture 7" descr="stakes_beam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1280160"/>
              <a:ext cx="8321040" cy="206384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C96EC0F-B8A1-EDCE-4A35-F0327527C86A}"/>
                </a:ext>
              </a:extLst>
            </p:cNvPr>
            <p:cNvSpPr txBox="1"/>
            <p:nvPr/>
          </p:nvSpPr>
          <p:spPr>
            <a:xfrm>
              <a:off x="73804" y="3093543"/>
              <a:ext cx="15798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Projectile: </a:t>
              </a:r>
              <a:r>
                <a:rPr lang="en-JP" baseline="30000" dirty="0"/>
                <a:t>58</a:t>
              </a:r>
              <a:r>
                <a:rPr lang="en-JP" dirty="0"/>
                <a:t>Fe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02BA1C-ADF4-6AEB-B014-10BC22733E20}"/>
                </a:ext>
              </a:extLst>
            </p:cNvPr>
            <p:cNvSpPr txBox="1"/>
            <p:nvPr/>
          </p:nvSpPr>
          <p:spPr>
            <a:xfrm>
              <a:off x="457200" y="994910"/>
              <a:ext cx="1389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Target: </a:t>
              </a:r>
              <a:r>
                <a:rPr lang="en-JP" baseline="30000" dirty="0"/>
                <a:t>208</a:t>
              </a:r>
              <a:r>
                <a:rPr lang="en-JP" dirty="0"/>
                <a:t>Pb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243637" y="1298448"/>
              <a:ext cx="16310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Residue: </a:t>
              </a:r>
              <a:r>
                <a:rPr lang="en-JP" baseline="30000" dirty="0"/>
                <a:t>265</a:t>
              </a:r>
              <a:r>
                <a:rPr lang="en-JP" dirty="0"/>
                <a:t>108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91859" y="2761488"/>
              <a:ext cx="11346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Ejectile: 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1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06323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5039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594360" y="94183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8F59-0B42-9C6C-4C7E-C66CDB80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C89379-E562-6001-FFEA-A837ECD71135}"/>
              </a:ext>
            </a:extLst>
          </p:cNvPr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24E546-098F-4E7B-B7FC-50B26DF00DC8}"/>
              </a:ext>
            </a:extLst>
          </p:cNvPr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Residues share the beam’s momentum but not its speed, so a magnet fails.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416291B-A032-22E8-2D0D-B2BDC8A145CA}"/>
              </a:ext>
            </a:extLst>
          </p:cNvPr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EAC1DB-352F-37C6-FD37-988506CCA57A}"/>
              </a:ext>
            </a:extLst>
          </p:cNvPr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31581C4-6D18-9B11-0712-1CF77C687E69}"/>
              </a:ext>
            </a:extLst>
          </p:cNvPr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1 / 10</a:t>
            </a:r>
            <a:endParaRPr lang="en-US" sz="10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A8CF638-64F5-14BC-2E98-03FC4A6F4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595254"/>
            <a:ext cx="3296652" cy="40458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852F821-EBAE-AEA7-1C8B-A042EA6D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663" y="780247"/>
            <a:ext cx="3119283" cy="9818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4E43D36-C81C-BE81-2117-B84DBDCD355B}"/>
              </a:ext>
            </a:extLst>
          </p:cNvPr>
          <p:cNvSpPr txBox="1"/>
          <p:nvPr/>
        </p:nvSpPr>
        <p:spPr>
          <a:xfrm>
            <a:off x="4044663" y="1775770"/>
            <a:ext cx="4536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Comment: The formula here doesn’t match our</a:t>
            </a:r>
          </a:p>
          <a:p>
            <a:r>
              <a:rPr lang="en-US" dirty="0"/>
              <a:t>paradigm. Make it.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730819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Residues share the beam’s momentum but not its speed, so a magnet fails.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1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eq/lead_v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37032"/>
            <a:ext cx="7187184" cy="2255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914400"/>
            <a:ext cx="8321040" cy="2468880"/>
          </a:xfrm>
          <a:prstGeom prst="roundRect">
            <a:avLst>
              <a:gd name="adj" fmla="val 3704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9" name="Image 1" descr="/Users/Reid Hu/OrbitOS/70_Presentations/717_Learning Group-20260916/assets/eq/eq_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865" y="1094333"/>
            <a:ext cx="4471416" cy="944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5232" y="1040451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300"/>
              </a:lnSpc>
            </a:pP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Residue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heavy remnant of the compound nucleus after it evaporates a few light particles.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2. 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Er = (A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p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/A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c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) E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p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 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the residue’s kinetic energy under full momentum transfer: motion at v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cm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slower than the beam.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3. 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A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t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 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 </a:t>
            </a:r>
            <a:r>
              <a:rPr lang="en-US" sz="1100" i="1" baseline="30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Pb: 208.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4. </a:t>
            </a:r>
            <a:r>
              <a:rPr lang="en-US" sz="1100" b="1" i="1" dirty="0" err="1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v</a:t>
            </a:r>
            <a:r>
              <a:rPr lang="en-US" sz="1100" b="1" i="1" baseline="-25000" dirty="0" err="1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cm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 = (A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p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/A</a:t>
            </a:r>
            <a:r>
              <a:rPr lang="en-US" sz="1100" b="1" i="1" baseline="-25000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c</a:t>
            </a: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) </a:t>
            </a:r>
            <a:r>
              <a:rPr lang="en-US" sz="1100" b="1" i="1" dirty="0" err="1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v</a:t>
            </a:r>
            <a:r>
              <a:rPr lang="en-US" sz="1100" b="1" i="1" baseline="-25000" dirty="0" err="1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so Δv/v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1 − A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A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/A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the heavier the target, the slower the residue (</a:t>
            </a:r>
            <a:r>
              <a:rPr lang="en-US" sz="1100" i="1" baseline="30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 + </a:t>
            </a:r>
            <a:r>
              <a:rPr lang="en-US" sz="1100" i="1" baseline="30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Pb: Δv/v</a:t>
            </a:r>
            <a:r>
              <a:rPr lang="en-US" sz="1100" i="1" baseline="-25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208/266 ≈ 0.78).</a:t>
            </a:r>
            <a:endParaRPr lang="en-US" sz="1100" dirty="0"/>
          </a:p>
        </p:txBody>
      </p:sp>
      <p:pic>
        <p:nvPicPr>
          <p:cNvPr id="11" name="Image 2" descr="/Users/Reid Hu/OrbitOS/70_Presentations/717_Learning Group-20260916/assets/eq/eq_v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52" y="2227758"/>
            <a:ext cx="3404616" cy="762000"/>
          </a:xfrm>
          <a:prstGeom prst="rect">
            <a:avLst/>
          </a:prstGeom>
        </p:spPr>
      </p:pic>
      <p:pic>
        <p:nvPicPr>
          <p:cNvPr id="12" name="Image 3" descr="/Users/Reid Hu/OrbitOS/70_Presentations/717_Learning Group-20260916/assets/eq/eq_eq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01558"/>
            <a:ext cx="3377184" cy="2133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1148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Text 8"/>
          <p:cNvSpPr/>
          <p:nvPr/>
        </p:nvSpPr>
        <p:spPr>
          <a:xfrm>
            <a:off x="54864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Fusion residues</a:t>
            </a:r>
            <a:endParaRPr lang="en-US" sz="1300" dirty="0"/>
          </a:p>
        </p:txBody>
      </p:sp>
      <p:pic>
        <p:nvPicPr>
          <p:cNvPr id="15" name="Image 4" descr="/Users/Reid Hu/OrbitOS/70_Presentations/717_Learning Group-20260916/assets/eq/kine_fusion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1" y="4105656"/>
            <a:ext cx="2296058" cy="37380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24612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7" name="Text 10"/>
          <p:cNvSpPr/>
          <p:nvPr/>
        </p:nvSpPr>
        <p:spPr>
          <a:xfrm>
            <a:off x="338328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Unreacted beam</a:t>
            </a:r>
            <a:endParaRPr lang="en-US" sz="1300" dirty="0"/>
          </a:p>
        </p:txBody>
      </p:sp>
      <p:pic>
        <p:nvPicPr>
          <p:cNvPr id="18" name="Image 5" descr="/Users/Reid Hu/OrbitOS/70_Presentations/717_Learning Group-20260916/assets/eq/kine_beam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209" y="4105656"/>
            <a:ext cx="2369301" cy="373989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080760" y="3456432"/>
            <a:ext cx="2697480" cy="1207008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0" name="Text 12"/>
          <p:cNvSpPr/>
          <p:nvPr/>
        </p:nvSpPr>
        <p:spPr>
          <a:xfrm>
            <a:off x="6217920" y="384048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channels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217920" y="410565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stays near beam or target velocity; fission-after-fusion spreads over a wide lab-velocity range.</a:t>
            </a:r>
            <a:endParaRPr lang="en-US" sz="1200" dirty="0"/>
          </a:p>
        </p:txBody>
      </p:sp>
      <p:sp>
        <p:nvSpPr>
          <p:cNvPr id="22" name="Oval 21"/>
          <p:cNvSpPr/>
          <p:nvPr/>
        </p:nvSpPr>
        <p:spPr>
          <a:xfrm>
            <a:off x="149047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vᵣ</a:t>
            </a:r>
          </a:p>
        </p:txBody>
      </p:sp>
      <p:sp>
        <p:nvSpPr>
          <p:cNvPr id="23" name="Oval 22"/>
          <p:cNvSpPr/>
          <p:nvPr/>
        </p:nvSpPr>
        <p:spPr>
          <a:xfrm>
            <a:off x="432511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vₚ</a:t>
            </a:r>
          </a:p>
        </p:txBody>
      </p:sp>
      <p:sp>
        <p:nvSpPr>
          <p:cNvPr id="24" name="Oval 23"/>
          <p:cNvSpPr/>
          <p:nvPr/>
        </p:nvSpPr>
        <p:spPr>
          <a:xfrm>
            <a:off x="7159752" y="3511296"/>
            <a:ext cx="310896" cy="310896"/>
          </a:xfrm>
          <a:prstGeom prst="ellipse">
            <a:avLst/>
          </a:prstGeom>
          <a:solidFill>
            <a:srgbClr val="0F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 i="1">
                <a:solidFill>
                  <a:srgbClr val="FFFFFF"/>
                </a:solidFill>
                <a:latin typeface="Times New Roman"/>
              </a:rPr>
              <a:t>Δv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 residues are kinematically focused into a narrow forward cone.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2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heavy projectile brings large forward momentum; a few evaporated particles barely deflect the residue.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30" y="969264"/>
            <a:ext cx="8321040" cy="1792224"/>
          </a:xfrm>
          <a:prstGeom prst="roundRect">
            <a:avLst>
              <a:gd name="adj" fmla="val 5102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9" name="Image 0" descr="/Users/Reid Hu/OrbitOS/70_Presentations/717_Learning Group-20260916/assets/eq/eq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04" y="1063833"/>
            <a:ext cx="3685032" cy="1395984"/>
          </a:xfrm>
          <a:prstGeom prst="rect">
            <a:avLst/>
          </a:prstGeom>
        </p:spPr>
      </p:pic>
      <p:pic>
        <p:nvPicPr>
          <p:cNvPr id="10" name="Image 1" descr="/Users/Reid Hu/OrbitOS/70_Presentations/717_Learning Group-20260916/assets/eq/eq_sigma_no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516" y="2501524"/>
            <a:ext cx="344454" cy="172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Shape 8"/>
          <p:cNvSpPr/>
          <p:nvPr/>
        </p:nvSpPr>
        <p:spPr>
          <a:xfrm>
            <a:off x="146304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3" name="Image 2" descr="/Users/Reid Hu/OrbitOS/70_Presentations/717_Learning Group-20260916/assets/eq/chip_the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906" y="3289234"/>
            <a:ext cx="127467" cy="1423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864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 cone</a:t>
            </a:r>
            <a:endParaRPr lang="en-US" sz="1400" dirty="0"/>
          </a:p>
        </p:txBody>
      </p:sp>
      <p:pic>
        <p:nvPicPr>
          <p:cNvPr id="15" name="Image 3" descr="/Users/Reid Hu/OrbitOS/70_Presentations/717_Learning Group-20260916/assets/eq/focus_theta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953" y="3991356"/>
            <a:ext cx="2440533" cy="37398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24612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7" name="Shape 11"/>
          <p:cNvSpPr/>
          <p:nvPr/>
        </p:nvSpPr>
        <p:spPr>
          <a:xfrm>
            <a:off x="429768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8" name="Image 4" descr="/Users/Reid Hu/OrbitOS/70_Presentations/717_Learning Group-20260916/assets/eq/chip_omeg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086" y="3287908"/>
            <a:ext cx="176388" cy="1450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8328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solid angle</a:t>
            </a:r>
            <a:endParaRPr lang="en-US" sz="1400" dirty="0"/>
          </a:p>
        </p:txBody>
      </p:sp>
      <p:pic>
        <p:nvPicPr>
          <p:cNvPr id="20" name="Image 5" descr="/Users/Reid Hu/OrbitOS/70_Presentations/717_Learning Group-20260916/assets/eq/focus_omega_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294" y="3991356"/>
            <a:ext cx="2387132" cy="343540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080760" y="2871216"/>
            <a:ext cx="2697480" cy="1755648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4"/>
          <p:cNvSpPr/>
          <p:nvPr/>
        </p:nvSpPr>
        <p:spPr>
          <a:xfrm>
            <a:off x="7132320" y="3131820"/>
            <a:ext cx="457200" cy="45720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3" name="Image 6" descr="/Users/Reid Hu/OrbitOS/70_Presentations/717_Learning Group-20260916/assets/eq/chip_e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8009" y="3307385"/>
            <a:ext cx="125821" cy="10607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17920" y="36621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transmission</a:t>
            </a:r>
            <a:endParaRPr lang="en-US" sz="1400" dirty="0"/>
          </a:p>
        </p:txBody>
      </p:sp>
      <p:pic>
        <p:nvPicPr>
          <p:cNvPr id="25" name="Image 7" descr="/Users/Reid Hu/OrbitOS/70_Presentations/717_Learning Group-20260916/assets/eq/focus_eps_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2492" y="3991356"/>
            <a:ext cx="2414016" cy="374904"/>
          </a:xfrm>
          <a:prstGeom prst="rect">
            <a:avLst/>
          </a:prstGeom>
        </p:spPr>
      </p:pic>
      <p:sp>
        <p:nvSpPr>
          <p:cNvPr id="26" name="Aside Evaporation"/>
          <p:cNvSpPr/>
          <p:nvPr/>
        </p:nvSpPr>
        <p:spPr>
          <a:xfrm>
            <a:off x="5261756" y="1401532"/>
            <a:ext cx="30563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</a:t>
            </a:r>
            <a:r>
              <a:rPr lang="en-US" sz="1100" i="1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how the hot compound nucleus cools: it emits a few light particles (n, p, α).</a:t>
            </a: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100" b="1" i="1" strike="sngStrike" dirty="0">
                <a:solidFill>
                  <a:srgbClr val="0F2F5C"/>
                </a:solidFill>
                <a:latin typeface="Times New Roman" pitchFamily="34" charset="0"/>
                <a:cs typeface="Times New Roman" pitchFamily="34" charset="-120"/>
              </a:rPr>
              <a:t>Random kicks </a:t>
            </a:r>
            <a:r>
              <a:rPr lang="en-US" sz="1100" i="1" strike="sngStrike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each emission recoils the residue in a random direction; the kicks add in quadrature and split equally over x, y and z, so dividing by 3 keeps one axis.(Comment: I think this phrasing is pretty awkward. Have you ever thought about it?)</a:t>
            </a:r>
            <a:endParaRPr lang="en-US" sz="1100" strike="sngStrik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 separators lose most of the yield to charge-state splitting.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3 / 10</a:t>
            </a:r>
            <a:endParaRPr lang="en-US" sz="1000" dirty="0"/>
          </a:p>
        </p:txBody>
      </p:sp>
      <p:sp>
        <p:nvSpPr>
          <p:cNvPr id="7" name="Bar q18"/>
          <p:cNvSpPr/>
          <p:nvPr/>
        </p:nvSpPr>
        <p:spPr>
          <a:xfrm>
            <a:off x="722375" y="3234689"/>
            <a:ext cx="548640" cy="69723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5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5" y="2987801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0" name="Bar q19"/>
          <p:cNvSpPr/>
          <p:nvPr/>
        </p:nvSpPr>
        <p:spPr>
          <a:xfrm>
            <a:off x="1527048" y="2119122"/>
            <a:ext cx="548640" cy="181279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35607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1872234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3" name="Bar q20"/>
          <p:cNvSpPr/>
          <p:nvPr/>
        </p:nvSpPr>
        <p:spPr>
          <a:xfrm>
            <a:off x="2331720" y="1143000"/>
            <a:ext cx="548640" cy="2788920"/>
          </a:xfrm>
          <a:prstGeom prst="rect">
            <a:avLst/>
          </a:prstGeom>
          <a:solidFill>
            <a:srgbClr val="0F2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40279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39" y="896112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0F2F5C"/>
                </a:solidFill>
                <a:latin typeface="Times New Roman"/>
              </a:rPr>
              <a:t>kept</a:t>
            </a:r>
          </a:p>
        </p:txBody>
      </p:sp>
      <p:sp>
        <p:nvSpPr>
          <p:cNvPr id="16" name="Bar q21"/>
          <p:cNvSpPr/>
          <p:nvPr/>
        </p:nvSpPr>
        <p:spPr>
          <a:xfrm>
            <a:off x="3136391" y="2119122"/>
            <a:ext cx="548640" cy="1812798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44951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1" y="1872234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sp>
        <p:nvSpPr>
          <p:cNvPr id="19" name="Bar q22"/>
          <p:cNvSpPr/>
          <p:nvPr/>
        </p:nvSpPr>
        <p:spPr>
          <a:xfrm>
            <a:off x="3941063" y="3234689"/>
            <a:ext cx="548640" cy="69723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9624" y="3977639"/>
            <a:ext cx="73152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Times New Roman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3" y="2987801"/>
            <a:ext cx="914400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0" i="0">
                <a:solidFill>
                  <a:srgbClr val="5F6B73"/>
                </a:solidFill>
                <a:latin typeface="Times New Roman"/>
              </a:rPr>
              <a:t>lost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9495" y="3931920"/>
            <a:ext cx="4133089" cy="0"/>
          </a:xfrm>
          <a:prstGeom prst="line">
            <a:avLst/>
          </a:prstGeom>
          <a:ln w="9525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s7_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841" y="4242816"/>
            <a:ext cx="898398" cy="163403"/>
          </a:xfrm>
          <a:prstGeom prst="rect">
            <a:avLst/>
          </a:prstGeom>
        </p:spPr>
      </p:pic>
      <p:pic>
        <p:nvPicPr>
          <p:cNvPr id="24" name="Picture 23" descr="cap_s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64" y="4535424"/>
            <a:ext cx="4265950" cy="140451"/>
          </a:xfrm>
          <a:prstGeom prst="rect">
            <a:avLst/>
          </a:prstGeom>
        </p:spPr>
      </p:pic>
      <p:sp>
        <p:nvSpPr>
          <p:cNvPr id="25" name="Shape 4"/>
          <p:cNvSpPr/>
          <p:nvPr/>
        </p:nvSpPr>
        <p:spPr>
          <a:xfrm>
            <a:off x="5074920" y="65836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6" name="Shape 5"/>
          <p:cNvSpPr/>
          <p:nvPr/>
        </p:nvSpPr>
        <p:spPr>
          <a:xfrm>
            <a:off x="507492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7" name="Text 11"/>
          <p:cNvSpPr/>
          <p:nvPr/>
        </p:nvSpPr>
        <p:spPr>
          <a:xfrm>
            <a:off x="5303520" y="731519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Sorts by mass-over-charge</a:t>
            </a:r>
            <a:endParaRPr lang="en-US" sz="1300" dirty="0"/>
          </a:p>
        </p:txBody>
      </p:sp>
      <p:pic>
        <p:nvPicPr>
          <p:cNvPr id="28" name="Picture 27" descr="s7_sort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024128"/>
            <a:ext cx="3297783" cy="373806"/>
          </a:xfrm>
          <a:prstGeom prst="rect">
            <a:avLst/>
          </a:prstGeom>
        </p:spPr>
      </p:pic>
      <p:sp>
        <p:nvSpPr>
          <p:cNvPr id="29" name="Shape 4"/>
          <p:cNvSpPr/>
          <p:nvPr/>
        </p:nvSpPr>
        <p:spPr>
          <a:xfrm>
            <a:off x="5074920" y="161848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0" name="Shape 5"/>
          <p:cNvSpPr/>
          <p:nvPr/>
        </p:nvSpPr>
        <p:spPr>
          <a:xfrm>
            <a:off x="507492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1" name="Text 11"/>
          <p:cNvSpPr/>
          <p:nvPr/>
        </p:nvSpPr>
        <p:spPr>
          <a:xfrm>
            <a:off x="5303520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five charge states</a:t>
            </a:r>
            <a:endParaRPr lang="en-US" sz="1300" dirty="0"/>
          </a:p>
        </p:txBody>
      </p:sp>
      <p:pic>
        <p:nvPicPr>
          <p:cNvPr id="32" name="Picture 31" descr="s7_five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984248"/>
            <a:ext cx="3390138" cy="343265"/>
          </a:xfrm>
          <a:prstGeom prst="rect">
            <a:avLst/>
          </a:prstGeom>
        </p:spPr>
      </p:pic>
      <p:sp>
        <p:nvSpPr>
          <p:cNvPr id="33" name="Shape 4"/>
          <p:cNvSpPr/>
          <p:nvPr/>
        </p:nvSpPr>
        <p:spPr>
          <a:xfrm>
            <a:off x="5074920" y="257860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4" name="Shape 5"/>
          <p:cNvSpPr/>
          <p:nvPr/>
        </p:nvSpPr>
        <p:spPr>
          <a:xfrm>
            <a:off x="507492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5" name="Text 11"/>
          <p:cNvSpPr/>
          <p:nvPr/>
        </p:nvSpPr>
        <p:spPr>
          <a:xfrm>
            <a:off x="530352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charge not known in advance</a:t>
            </a:r>
            <a:endParaRPr lang="en-US" sz="1300" dirty="0"/>
          </a:p>
        </p:txBody>
      </p:sp>
      <p:pic>
        <p:nvPicPr>
          <p:cNvPr id="36" name="Picture 35" descr="s7_qbar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2944368"/>
            <a:ext cx="3263767" cy="373989"/>
          </a:xfrm>
          <a:prstGeom prst="rect">
            <a:avLst/>
          </a:prstGeom>
        </p:spPr>
      </p:pic>
      <p:sp>
        <p:nvSpPr>
          <p:cNvPr id="37" name="Shape 4"/>
          <p:cNvSpPr/>
          <p:nvPr/>
        </p:nvSpPr>
        <p:spPr>
          <a:xfrm>
            <a:off x="5074920" y="353872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8" name="Shape 5"/>
          <p:cNvSpPr/>
          <p:nvPr/>
        </p:nvSpPr>
        <p:spPr>
          <a:xfrm>
            <a:off x="5074920" y="3538728"/>
            <a:ext cx="73152" cy="86868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9" name="Text 11"/>
          <p:cNvSpPr/>
          <p:nvPr/>
        </p:nvSpPr>
        <p:spPr>
          <a:xfrm>
            <a:off x="5303520" y="3611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of the yield is lost</a:t>
            </a:r>
            <a:endParaRPr lang="en-US" sz="1300" dirty="0"/>
          </a:p>
        </p:txBody>
      </p:sp>
      <p:sp>
        <p:nvSpPr>
          <p:cNvPr id="40" name="Text 6"/>
          <p:cNvSpPr/>
          <p:nvPr/>
        </p:nvSpPr>
        <p:spPr>
          <a:xfrm>
            <a:off x="53035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one or two states reach the focal plane; the others are thrown away.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velocity filters transmit all charge states and isotopes simultaneously.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4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621792"/>
            <a:ext cx="8321040" cy="1938528"/>
          </a:xfrm>
          <a:prstGeom prst="roundRect">
            <a:avLst>
              <a:gd name="adj" fmla="val 4717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8" name="Image 0" descr="/Users/Reid Hu/OrbitOS/70_Presentations/717_Learning Group-20260916/assets/eq/eq_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967" y="920637"/>
            <a:ext cx="5309616" cy="731520"/>
          </a:xfrm>
          <a:prstGeom prst="rect">
            <a:avLst/>
          </a:prstGeom>
        </p:spPr>
      </p:pic>
      <p:pic>
        <p:nvPicPr>
          <p:cNvPr id="9" name="Image 1" descr="/Users/Reid Hu/OrbitOS/70_Presentations/717_Learning Group-20260916/assets/eq/eq_v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404" y="1985894"/>
            <a:ext cx="4417192" cy="234452"/>
          </a:xfrm>
          <a:prstGeom prst="rect">
            <a:avLst/>
          </a:prstGeom>
        </p:spPr>
      </p:pic>
      <p:pic>
        <p:nvPicPr>
          <p:cNvPr id="10" name="Image 2" descr="/Users/Reid Hu/OrbitOS/70_Presentations/717_Learning Group-20260916/assets/eq/eq_qcan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4954" y="2273884"/>
            <a:ext cx="5214092" cy="188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Text 7"/>
          <p:cNvSpPr/>
          <p:nvPr/>
        </p:nvSpPr>
        <p:spPr>
          <a:xfrm>
            <a:off x="54864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charge states</a:t>
            </a:r>
            <a:endParaRPr lang="en-US" sz="1300" dirty="0"/>
          </a:p>
        </p:txBody>
      </p:sp>
      <p:pic>
        <p:nvPicPr>
          <p:cNvPr id="13" name="Image 3" descr="/Users/Reid Hu/OrbitOS/70_Presentations/717_Learning Group-20260916/assets/eq/power_allq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980944"/>
            <a:ext cx="2422063" cy="52861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24612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5" name="Text 9"/>
          <p:cNvSpPr/>
          <p:nvPr/>
        </p:nvSpPr>
        <p:spPr>
          <a:xfrm>
            <a:off x="338328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fusion isotopes</a:t>
            </a:r>
            <a:endParaRPr lang="en-US" sz="1300" dirty="0"/>
          </a:p>
        </p:txBody>
      </p:sp>
      <p:pic>
        <p:nvPicPr>
          <p:cNvPr id="16" name="Image 4" descr="/Users/Reid Hu/OrbitOS/70_Presentations/717_Learning Group-20260916/assets/eq/power_iso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980944"/>
            <a:ext cx="2423160" cy="553077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80760" y="2633472"/>
            <a:ext cx="2697480" cy="1115568"/>
          </a:xfrm>
          <a:prstGeom prst="roundRect">
            <a:avLst>
              <a:gd name="adj" fmla="val 655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 dirty="0"/>
          </a:p>
        </p:txBody>
      </p:sp>
      <p:sp>
        <p:nvSpPr>
          <p:cNvPr id="18" name="Text 11"/>
          <p:cNvSpPr/>
          <p:nvPr/>
        </p:nvSpPr>
        <p:spPr>
          <a:xfrm>
            <a:off x="6217920" y="270662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Beam rejection</a:t>
            </a:r>
            <a:endParaRPr lang="en-US" sz="1300" dirty="0"/>
          </a:p>
        </p:txBody>
      </p:sp>
      <p:pic>
        <p:nvPicPr>
          <p:cNvPr id="19" name="Image 5" descr="/Users/Reid Hu/OrbitOS/70_Presentations/717_Learning Group-20260916/assets/eq/power_beam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980944"/>
            <a:ext cx="2447544" cy="5608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11480" y="3822192"/>
            <a:ext cx="8394192" cy="804672"/>
          </a:xfrm>
          <a:prstGeom prst="roundRect">
            <a:avLst>
              <a:gd name="adj" fmla="val 9091"/>
            </a:avLst>
          </a:prstGeom>
          <a:solidFill>
            <a:srgbClr val="0F2F5C"/>
          </a:solidFill>
          <a:ln/>
          <a:effectLst>
            <a:outerShdw blurRad="101600" dist="25400" dir="8100000" algn="ctr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 dirty="0"/>
          </a:p>
        </p:txBody>
      </p:sp>
      <p:sp>
        <p:nvSpPr>
          <p:cNvPr id="21" name="Text 13"/>
          <p:cNvSpPr/>
          <p:nvPr/>
        </p:nvSpPr>
        <p:spPr>
          <a:xfrm>
            <a:off x="594360" y="3931920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Trade-off: no mass dispersion. SHIP identifies isotopes by decay; Daresbury adds a spectrometer for mass.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594360" y="19933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uses separated fields to protect its condenser plates.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5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2_ship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621792"/>
            <a:ext cx="850392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12  ·  SHIP (GSI) and the separator NASE: the plate condenser comes first; dipoles send the projectile beam to the dump.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Text 7"/>
          <p:cNvSpPr/>
          <p:nvPr/>
        </p:nvSpPr>
        <p:spPr>
          <a:xfrm>
            <a:off x="47548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Condenser first</a:t>
            </a:r>
            <a:endParaRPr lang="en-US" sz="1300" dirty="0"/>
          </a:p>
        </p:txBody>
      </p:sp>
      <p:pic>
        <p:nvPicPr>
          <p:cNvPr id="11" name="Image 1" descr="/Users/Reid Hu/OrbitOS/70_Presentations/717_Learning Group-20260916/assets/eq/ship_con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03320"/>
            <a:ext cx="2395637" cy="3468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Text 9"/>
          <p:cNvSpPr/>
          <p:nvPr/>
        </p:nvSpPr>
        <p:spPr>
          <a:xfrm>
            <a:off x="335584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 Wien filter</a:t>
            </a:r>
            <a:endParaRPr lang="en-US" sz="1300" dirty="0"/>
          </a:p>
        </p:txBody>
      </p:sp>
      <p:pic>
        <p:nvPicPr>
          <p:cNvPr id="14" name="Image 2" descr="/Users/Reid Hu/OrbitOS/70_Presentations/717_Learning Group-20260916/assets/eq/ship_wien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717447"/>
            <a:ext cx="2345801" cy="48865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2648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6" name="Text 11"/>
          <p:cNvSpPr/>
          <p:nvPr/>
        </p:nvSpPr>
        <p:spPr>
          <a:xfrm>
            <a:off x="623620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current</a:t>
            </a:r>
            <a:endParaRPr lang="en-US" sz="1300" dirty="0"/>
          </a:p>
        </p:txBody>
      </p:sp>
      <p:pic>
        <p:nvPicPr>
          <p:cNvPr id="17" name="Image 3" descr="/Users/Reid Hu/OrbitOS/70_Presentations/717_Learning Group-20260916/assets/eq/ship_current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703320"/>
            <a:ext cx="2523744" cy="53210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Daresbury separator uses crossed fields and energy refocusing.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6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5_daresbury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621792"/>
            <a:ext cx="850392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9992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6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15  ·  Daresbury recoil separator: two crossed-field filters followed by a DQQQ spectrometer.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0" name="Image 1" descr="/Users/Reid Hu/OrbitOS/70_Presentations/717_Learning Group-20260916/assets/eq/dar_exb_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459998"/>
            <a:ext cx="1003828" cy="139172"/>
          </a:xfrm>
          <a:prstGeom prst="rect">
            <a:avLst/>
          </a:prstGeom>
        </p:spPr>
      </p:pic>
      <p:pic>
        <p:nvPicPr>
          <p:cNvPr id="11" name="Image 2" descr="/Users/Reid Hu/OrbitOS/70_Presentations/717_Learning Group-20260916/assets/eq/dar_exb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703320"/>
            <a:ext cx="2309957" cy="3468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3" name="Text 8"/>
          <p:cNvSpPr/>
          <p:nvPr/>
        </p:nvSpPr>
        <p:spPr>
          <a:xfrm>
            <a:off x="3355848" y="3383280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DQQQ spectrometer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355848" y="370332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magnetic spectrometer after the filters refocuses the energy spread at the focal plane.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32918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pic>
        <p:nvPicPr>
          <p:cNvPr id="16" name="Image 3" descr="/Users/Reid Hu/OrbitOS/70_Presentations/717_Learning Group-20260916/assets/eq/dar_gamma_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447242"/>
            <a:ext cx="1210940" cy="164683"/>
          </a:xfrm>
          <a:prstGeom prst="rect">
            <a:avLst/>
          </a:prstGeom>
        </p:spPr>
      </p:pic>
      <p:pic>
        <p:nvPicPr>
          <p:cNvPr id="17" name="Image 4" descr="/Users/Reid Hu/OrbitOS/70_Presentations/717_Learning Group-20260916/assets/eq/dar_gamma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3703320"/>
            <a:ext cx="2444008" cy="488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95351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7" name="Text 5"/>
          <p:cNvSpPr/>
          <p:nvPr/>
        </p:nvSpPr>
        <p:spPr>
          <a:xfrm>
            <a:off x="594360" y="304495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14799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pic>
        <p:nvPicPr>
          <p:cNvPr id="3" name="Image 0" descr="/Users/Reid Hu/OrbitOS/70_Presentations/717_Learning Group-20260916/assets/eq/hdr_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4508"/>
            <a:ext cx="5422392" cy="2613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2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7 / 10</a:t>
            </a:r>
            <a:endParaRPr lang="en-US" sz="1000" dirty="0"/>
          </a:p>
        </p:txBody>
      </p:sp>
      <p:pic>
        <p:nvPicPr>
          <p:cNvPr id="7" name="Image 1" descr="/Users/Reid Hu/OrbitOS/70_Presentations/717_Learning Group-20260916/assets/fig13_151lu.jpeg"/>
          <p:cNvPicPr>
            <a:picLocks noChangeAspect="1"/>
          </p:cNvPicPr>
          <p:nvPr/>
        </p:nvPicPr>
        <p:blipFill>
          <a:blip r:embed="rId4"/>
          <a:srcRect l="15396" r="4992"/>
          <a:stretch>
            <a:fillRect/>
          </a:stretch>
        </p:blipFill>
        <p:spPr>
          <a:xfrm>
            <a:off x="75570" y="692674"/>
            <a:ext cx="4843902" cy="3670630"/>
          </a:xfrm>
          <a:prstGeom prst="rect">
            <a:avLst/>
          </a:prstGeom>
        </p:spPr>
      </p:pic>
      <p:pic>
        <p:nvPicPr>
          <p:cNvPr id="8" name="Image 2" descr="/Users/Reid Hu/OrbitOS/70_Presentations/717_Learning Group-20260916/assets/eq/cap_l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044" y="4533184"/>
            <a:ext cx="2993136" cy="1615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74920" y="65836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5"/>
          <p:cNvSpPr/>
          <p:nvPr/>
        </p:nvSpPr>
        <p:spPr>
          <a:xfrm>
            <a:off x="507492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1" name="Image 3" descr="/Users/Reid Hu/OrbitOS/70_Presentations/717_Learning Group-20260916/assets/eq/lu_flight_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773354"/>
            <a:ext cx="1241663" cy="1723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03520" y="10241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 delivers short-lived residues to a Si surface-barrier detector.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074920" y="161848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8"/>
          <p:cNvSpPr/>
          <p:nvPr/>
        </p:nvSpPr>
        <p:spPr>
          <a:xfrm>
            <a:off x="507492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15" name="Image 4" descr="/Users/Reid Hu/OrbitOS/70_Presentations/717_Learning Group-20260916/assets/eq/lu_proton_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733657"/>
            <a:ext cx="1497970" cy="171998"/>
          </a:xfrm>
          <a:prstGeom prst="rect">
            <a:avLst/>
          </a:prstGeom>
        </p:spPr>
      </p:pic>
      <p:pic>
        <p:nvPicPr>
          <p:cNvPr id="16" name="Image 5" descr="/Users/Reid Hu/OrbitOS/70_Presentations/717_Learning Group-20260916/assets/eq/lu_proton_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1984248"/>
            <a:ext cx="3383280" cy="338211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074920" y="257860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0"/>
          <p:cNvSpPr/>
          <p:nvPr/>
        </p:nvSpPr>
        <p:spPr>
          <a:xfrm>
            <a:off x="507492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1"/>
          <p:cNvSpPr/>
          <p:nvPr/>
        </p:nvSpPr>
        <p:spPr>
          <a:xfrm>
            <a:off x="5303520" y="26517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Escape bump</a:t>
            </a:r>
            <a:endParaRPr lang="en-US" sz="1300" dirty="0"/>
          </a:p>
        </p:txBody>
      </p:sp>
      <p:pic>
        <p:nvPicPr>
          <p:cNvPr id="20" name="Image 6" descr="/Users/Reid Hu/OrbitOS/70_Presentations/717_Learning Group-20260916/assets/eq/lu_alpha_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0" y="2944368"/>
            <a:ext cx="3175620" cy="37399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074920" y="3538728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3"/>
          <p:cNvSpPr/>
          <p:nvPr/>
        </p:nvSpPr>
        <p:spPr>
          <a:xfrm>
            <a:off x="5074920" y="353872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pic>
        <p:nvPicPr>
          <p:cNvPr id="23" name="Image 7" descr="/Users/Reid Hu/OrbitOS/70_Presentations/717_Learning Group-20260916/assets/eq/lu_half_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3652526"/>
            <a:ext cx="848014" cy="174741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30352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Implant time-tag gives the half-life event by event.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Genetic decay-chain tagging identified element 108 from just three atoms.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8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4_element108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640080"/>
            <a:ext cx="5486400" cy="3858768"/>
          </a:xfrm>
          <a:prstGeom prst="rect">
            <a:avLst/>
          </a:prstGeom>
        </p:spPr>
      </p:pic>
      <p:pic>
        <p:nvPicPr>
          <p:cNvPr id="8" name="Image 1" descr="/Users/Reid Hu/OrbitOS/70_Presentations/717_Learning Group-20260916/assets/eq/cap_h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584" y="4533184"/>
            <a:ext cx="2639568" cy="161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852160" y="64008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6"/>
          <p:cNvSpPr/>
          <p:nvPr/>
        </p:nvSpPr>
        <p:spPr>
          <a:xfrm>
            <a:off x="5852160" y="64008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Text 7"/>
          <p:cNvSpPr/>
          <p:nvPr/>
        </p:nvSpPr>
        <p:spPr>
          <a:xfrm>
            <a:off x="6053328" y="71323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Ungated</a:t>
            </a:r>
            <a:endParaRPr lang="en-US" sz="1300" dirty="0"/>
          </a:p>
        </p:txBody>
      </p:sp>
      <p:pic>
        <p:nvPicPr>
          <p:cNvPr id="12" name="Image 2" descr="/Users/Reid Hu/OrbitOS/70_Presentations/717_Learning Group-20260916/assets/eq/hs_ungated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005840"/>
            <a:ext cx="2368296" cy="34747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52160" y="160020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9"/>
          <p:cNvSpPr/>
          <p:nvPr/>
        </p:nvSpPr>
        <p:spPr>
          <a:xfrm>
            <a:off x="5852160" y="160020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0"/>
          <p:cNvSpPr/>
          <p:nvPr/>
        </p:nvSpPr>
        <p:spPr>
          <a:xfrm>
            <a:off x="6053328" y="16733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Implant-correlated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053328" y="196596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Decay must follow an implant in time and position; 2 of the 3 atoms remain.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852160" y="256032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3"/>
          <p:cNvSpPr/>
          <p:nvPr/>
        </p:nvSpPr>
        <p:spPr>
          <a:xfrm>
            <a:off x="5852160" y="2560320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4"/>
          <p:cNvSpPr/>
          <p:nvPr/>
        </p:nvSpPr>
        <p:spPr>
          <a:xfrm>
            <a:off x="6053328" y="26334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Heavy-mass window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053328" y="292608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TOF + implant-energy window keeps only heavy recoils (‘1st generation’ panel).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852160" y="3520440"/>
            <a:ext cx="297180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7"/>
          <p:cNvSpPr/>
          <p:nvPr/>
        </p:nvSpPr>
        <p:spPr>
          <a:xfrm>
            <a:off x="5852160" y="3520440"/>
            <a:ext cx="73152" cy="86868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Text 18"/>
          <p:cNvSpPr/>
          <p:nvPr/>
        </p:nvSpPr>
        <p:spPr>
          <a:xfrm>
            <a:off x="6053328" y="35935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Daughter generations</a:t>
            </a:r>
            <a:endParaRPr lang="en-US" sz="1300" dirty="0"/>
          </a:p>
        </p:txBody>
      </p:sp>
      <p:pic>
        <p:nvPicPr>
          <p:cNvPr id="24" name="Image 3" descr="/Users/Reid Hu/OrbitOS/70_Presentations/717_Learning Group-20260916/assets/eq/hs_daughter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886200"/>
            <a:ext cx="2538984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Recoil-gamma tagging reveals high-spin states of the mirror nucleus </a:t>
            </a:r>
            <a:r>
              <a:rPr lang="en-US" sz="1600" b="1" baseline="3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</a:t>
            </a: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9 / 10</a:t>
            </a:r>
            <a:endParaRPr lang="en-US" sz="1000" dirty="0"/>
          </a:p>
        </p:txBody>
      </p:sp>
      <p:pic>
        <p:nvPicPr>
          <p:cNvPr id="7" name="Image 0" descr="/Users/Reid Hu/OrbitOS/70_Presentations/717_Learning Group-20260916/assets/fig17_49mn.jpeg"/>
          <p:cNvPicPr>
            <a:picLocks noChangeAspect="1"/>
          </p:cNvPicPr>
          <p:nvPr/>
        </p:nvPicPr>
        <p:blipFill>
          <a:blip r:embed="rId3"/>
          <a:srcRect t="17857"/>
          <a:stretch/>
        </p:blipFill>
        <p:spPr>
          <a:xfrm>
            <a:off x="347472" y="857607"/>
            <a:ext cx="4572000" cy="3154680"/>
          </a:xfrm>
          <a:prstGeom prst="rect">
            <a:avLst/>
          </a:prstGeom>
        </p:spPr>
      </p:pic>
      <p:pic>
        <p:nvPicPr>
          <p:cNvPr id="8" name="Image 1" descr="/Users/Reid Hu/OrbitOS/70_Presentations/717_Learning Group-20260916/assets/eq/cap_m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46623"/>
            <a:ext cx="3590544" cy="161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0" y="65836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0" name="Shape 6"/>
          <p:cNvSpPr/>
          <p:nvPr/>
        </p:nvSpPr>
        <p:spPr>
          <a:xfrm>
            <a:off x="5029200" y="65836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Text 7"/>
          <p:cNvSpPr/>
          <p:nvPr/>
        </p:nvSpPr>
        <p:spPr>
          <a:xfrm>
            <a:off x="5257800" y="7315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Tag at the focal plane</a:t>
            </a:r>
            <a:endParaRPr lang="en-US" sz="1300" dirty="0"/>
          </a:p>
        </p:txBody>
      </p:sp>
      <p:pic>
        <p:nvPicPr>
          <p:cNvPr id="12" name="Image 2" descr="/Users/Reid Hu/OrbitOS/70_Presentations/717_Learning Group-20260916/assets/eq/mn_tag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024128"/>
            <a:ext cx="3325368" cy="3749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029200" y="161848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9"/>
          <p:cNvSpPr/>
          <p:nvPr/>
        </p:nvSpPr>
        <p:spPr>
          <a:xfrm>
            <a:off x="5029200" y="161848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0"/>
          <p:cNvSpPr/>
          <p:nvPr/>
        </p:nvSpPr>
        <p:spPr>
          <a:xfrm>
            <a:off x="5257800" y="169164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 suppressed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257800" y="198424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Coulomb excitation and target impurities drop out of the spectrum.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0" y="257860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8" name="Shape 13"/>
          <p:cNvSpPr/>
          <p:nvPr/>
        </p:nvSpPr>
        <p:spPr>
          <a:xfrm>
            <a:off x="5029200" y="257860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4"/>
          <p:cNvSpPr/>
          <p:nvPr/>
        </p:nvSpPr>
        <p:spPr>
          <a:xfrm>
            <a:off x="5257800" y="26517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Mirror nucleus</a:t>
            </a:r>
            <a:endParaRPr lang="en-US" sz="1300" dirty="0"/>
          </a:p>
        </p:txBody>
      </p:sp>
      <p:pic>
        <p:nvPicPr>
          <p:cNvPr id="20" name="Image 3" descr="/Users/Reid Hu/OrbitOS/70_Presentations/717_Learning Group-20260916/assets/eq/mn_drip_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944368"/>
            <a:ext cx="3395472" cy="20421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029200" y="3538728"/>
            <a:ext cx="3794760" cy="868680"/>
          </a:xfrm>
          <a:prstGeom prst="roundRect">
            <a:avLst>
              <a:gd name="adj" fmla="val 6316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22" name="Shape 16"/>
          <p:cNvSpPr/>
          <p:nvPr/>
        </p:nvSpPr>
        <p:spPr>
          <a:xfrm>
            <a:off x="5029200" y="3538728"/>
            <a:ext cx="73152" cy="868680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Text 17"/>
          <p:cNvSpPr/>
          <p:nvPr/>
        </p:nvSpPr>
        <p:spPr>
          <a:xfrm>
            <a:off x="5257800" y="3611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Daresbury</a:t>
            </a:r>
            <a:endParaRPr lang="en-US" sz="1300" dirty="0"/>
          </a:p>
        </p:txBody>
      </p:sp>
      <p:pic>
        <p:nvPicPr>
          <p:cNvPr id="24" name="Image 4" descr="/Users/Reid Hu/OrbitOS/70_Presentations/717_Learning Group-20260916/assets/eq/mn_why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904488"/>
            <a:ext cx="3212592" cy="3749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 not just use a mass spectrometer?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How does a filter survive the beam?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Without mass, how do we know what we caught?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4005071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594360" y="4096511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When is a velocity filter the wrong tool?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1208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filters are the most sensitive separators for low-energy fusion.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4864608"/>
            <a:ext cx="8458200" cy="13716"/>
          </a:xfrm>
          <a:prstGeom prst="rect">
            <a:avLst/>
          </a:prstGeom>
          <a:solidFill>
            <a:srgbClr val="0F2F5C"/>
          </a:solidFill>
          <a:ln w="12700">
            <a:solidFill>
              <a:srgbClr val="0F2F5C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48920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10 / 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502920" y="731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75688" y="731520"/>
            <a:ext cx="3685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when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06440" y="7315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ideal when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8412480" cy="676656"/>
          </a:xfrm>
          <a:prstGeom prst="rect">
            <a:avLst/>
          </a:prstGeom>
          <a:solidFill>
            <a:srgbClr val="E8F0F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73152" cy="676656"/>
          </a:xfrm>
          <a:prstGeom prst="rect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502920" y="1280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 filter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75688" y="128016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Coulomb-barrier fusion; highest transmission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128016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Mass must be resolved in flight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84708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7" name="Text 15"/>
          <p:cNvSpPr/>
          <p:nvPr/>
        </p:nvSpPr>
        <p:spPr>
          <a:xfrm>
            <a:off x="502920" y="20116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 / FMA</a:t>
            </a:r>
            <a:endParaRPr lang="en-US" sz="1300" dirty="0"/>
          </a:p>
        </p:txBody>
      </p:sp>
      <p:pic>
        <p:nvPicPr>
          <p:cNvPr id="18" name="Image 0" descr="/Users/Reid Hu/OrbitOS/70_Presentations/717_Learning Group-20260916/assets/eq/row_rm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688" y="2103806"/>
            <a:ext cx="1703802" cy="163220"/>
          </a:xfrm>
          <a:prstGeom prst="rect">
            <a:avLst/>
          </a:prstGeom>
        </p:spPr>
      </p:pic>
      <p:pic>
        <p:nvPicPr>
          <p:cNvPr id="19" name="Image 1" descr="/Users/Reid Hu/OrbitOS/70_Presentations/717_Learning Group-20260916/assets/eq/row_rms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103714"/>
            <a:ext cx="2339218" cy="16340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65760" y="257860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1" name="Text 17"/>
          <p:cNvSpPr/>
          <p:nvPr/>
        </p:nvSpPr>
        <p:spPr>
          <a:xfrm>
            <a:off x="502920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separator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075688" y="2743200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Pulsed beams; TOF phase</a:t>
            </a:r>
            <a:endParaRPr lang="en-US" sz="1200" dirty="0"/>
          </a:p>
        </p:txBody>
      </p:sp>
      <p:pic>
        <p:nvPicPr>
          <p:cNvPr id="23" name="Image 2" descr="/Users/Reid Hu/OrbitOS/70_Presentations/717_Learning Group-20260916/assets/eq/row_rf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835234"/>
            <a:ext cx="1796247" cy="163403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65760" y="331012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5" name="Text 20"/>
          <p:cNvSpPr/>
          <p:nvPr/>
        </p:nvSpPr>
        <p:spPr>
          <a:xfrm>
            <a:off x="502920" y="3474719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Gas-filled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2075688" y="3474719"/>
            <a:ext cx="3685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asymmetric reactions; actinide targets; high efficiency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806440" y="3474719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Scattering; no velocity resolution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65760" y="4041648"/>
            <a:ext cx="8412480" cy="676656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9" name="Text 24"/>
          <p:cNvSpPr/>
          <p:nvPr/>
        </p:nvSpPr>
        <p:spPr>
          <a:xfrm>
            <a:off x="502920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Fragment separator</a:t>
            </a:r>
            <a:endParaRPr lang="en-US" sz="1300" dirty="0"/>
          </a:p>
        </p:txBody>
      </p:sp>
      <p:pic>
        <p:nvPicPr>
          <p:cNvPr id="30" name="Image 3" descr="/Users/Reid Hu/OrbitOS/70_Presentations/717_Learning Group-20260916/assets/eq/row_fra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688" y="4303212"/>
            <a:ext cx="1754094" cy="1535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806440" y="42062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Wrong energy regime; degraders destroy slow beams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0700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Velocity-based separation yields zero charge dispersion.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charge states pass together, so cross sections below 10 pb become detectable.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Separated-field design keeps the beam off the condenser plates.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243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Condenser-first SHIP deflects the primary beam before it can hit the plates.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4" name="Shape 12"/>
          <p:cNvSpPr/>
          <p:nvPr/>
        </p:nvSpPr>
        <p:spPr>
          <a:xfrm>
            <a:off x="640080" y="3401568"/>
            <a:ext cx="502920" cy="502920"/>
          </a:xfrm>
          <a:prstGeom prst="ellipse">
            <a:avLst/>
          </a:prstGeom>
          <a:solidFill>
            <a:srgbClr val="0F2F5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640080" y="3456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310128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F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Decay tagging identifies single atoms.</a:t>
            </a:r>
            <a:endParaRPr lang="en-US" sz="1600" dirty="0"/>
          </a:p>
        </p:txBody>
      </p:sp>
      <p:pic>
        <p:nvPicPr>
          <p:cNvPr id="17" name="Image 0" descr="/Users/Reid Hu/OrbitOS/70_Presentations/717_Learning Group-20260916/assets/eq/contrib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35050"/>
            <a:ext cx="6446520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Group  ·  Zhiheng Hu  ·  29 Sep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2032</Words>
  <Application>Microsoft Macintosh PowerPoint</Application>
  <PresentationFormat>On-screen Show (16:9)</PresentationFormat>
  <Paragraphs>189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 Filters</dc:title>
  <dc:subject>Learning Group — Exp. Techniques NP Ch. 11 §III.B</dc:subject>
  <dc:creator>Zhiheng Hu</dc:creator>
  <cp:lastModifiedBy>HA139785@365mak.com</cp:lastModifiedBy>
  <cp:revision>29</cp:revision>
  <dcterms:created xsi:type="dcterms:W3CDTF">2026-09-27T03:10:36Z</dcterms:created>
  <dcterms:modified xsi:type="dcterms:W3CDTF">2026-09-28T15:08:21Z</dcterms:modified>
</cp:coreProperties>
</file>