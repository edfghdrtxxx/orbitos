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</p:sldIdLst>
  <p:notesMasterIdLst>
    <p:notesMasterId r:id="rId20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notesMaster" Target="notesMasters/notesMaster1.xml"/><Relationship Id="rId21" Type="http://schemas.openxmlformats.org/officeDocument/2006/relationships/presProps" Target="presProps.xml"/><Relationship Id="rId22" Type="http://schemas.openxmlformats.org/officeDocument/2006/relationships/viewProps" Target="viewProps.xml"/><Relationship Id="rId23" Type="http://schemas.openxmlformats.org/officeDocument/2006/relationships/theme" Target="theme/theme1.xml"/><Relationship Id="rId24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Welcome to the learning group. Today we cover Section III.B of Chapter 11 on velocity filters. I will show you why a filter that ignores mass is the most sensitive way to find superheavy elements.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We will start with the kinematic motivation, explain the advantage of zero dispersion, look at how SHIP is built, and finish with real discoveries.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Let's begin with why velocity is the natural observable for fusion.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When a projectile fuses completely with a target, the compound nucleus absorbs all the momentum. It recoils at the center-of-mass velocity, which is significantly slower than the unreacted beam.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the heavy compound nucleus carries large forward momentum, evaporating a few light particles barely deflects it. They are tightly focused forward.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So the residues have a distinct velocity. But why only measure velocity?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 standard mass separator uses magnetic and electric fields to disperse by A/q. But heavy ions emerge in a spread of charge states centered near q ≈ 20 — about five states carry the intensity. A mass separator keeps only one or two, losing most of the yield.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a pure velocity filter, the deflection condition is independent of charge. All charge states of the chosen velocity pass through, giving near-100% charge-state transmission and suppressing the unreacted beam by more than 10¹⁶. E here is the electric field, not kinetic energy.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How do we actually build a device to handle this intense unreacted beam?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This is SHIP at GSI. Notice it is not a crossed-field Wien filter. The electric condenser comes first. It deflects the primary beam away immediately, so the beam never hits the plates — no scattered background, no heat damage.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In contrast, Daresbury uses crossed E and B fields, followed by a magnetic spectrometer to refocus the energy spread.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What can we discover with such extreme beam suppression?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Because SHIP separates in under 2 microseconds, we can implant short-lived residues into silicon. Here is the first ground-state proton decay from Lutetium-151, cleanly isolated from the alpha background.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Out of 6 × 10¹⁷ projectiles over ten days, SHIP produced just three atoms of element 108. Because SHIP doesn't measure mass, we prove the isotope by watching it alpha-decay step-by-step into known daughters.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At Daresbury, they surround the target with gamma detectors. By only looking at gammas that are in coincidence with a recoil arriving at the focal plane, the Coulomb-excitation and fission background disappears.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Finally, let's put velocity filters in context with other devices.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Velocity filters are the best choice for Coulomb-barrier fusion where you need maximum transmission. If you need mass resolution in flight, use an RMS. If you have relativistic energies, use a fragment separator.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 summarize: velocity filters ignore mass to achieve 100% charge-state transmission; SHIP's separated fields survive particle-microampere beams; and this extreme sensitivity makes single-atom discoveries possible.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e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image" Target="../media/image-5-2.png"/><Relationship Id="rId3" Type="http://schemas.openxmlformats.org/officeDocument/2006/relationships/image" Target="../media/image-5-3.png"/><Relationship Id="rId4" Type="http://schemas.openxmlformats.org/officeDocument/2006/relationships/image" Target="../media/image-5-4.png"/><Relationship Id="rId5" Type="http://schemas.openxmlformats.org/officeDocument/2006/relationships/image" Target="../media/image-5-5.png"/><Relationship Id="rId6" Type="http://schemas.openxmlformats.org/officeDocument/2006/relationships/image" Target="../media/image-5-6.png"/><Relationship Id="rId7" Type="http://schemas.openxmlformats.org/officeDocument/2006/relationships/image" Target="../media/image-5-7.png"/><Relationship Id="rId8" Type="http://schemas.openxmlformats.org/officeDocument/2006/relationships/image" Target="../media/image-5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image" Target="../media/image-7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image" Target="../media/image-8-2.png"/><Relationship Id="rId3" Type="http://schemas.openxmlformats.org/officeDocument/2006/relationships/image" Target="../media/image-8-3.png"/><Relationship Id="rId4" Type="http://schemas.openxmlformats.org/officeDocument/2006/relationships/image" Target="../media/image-8-4.png"/><Relationship Id="rId5" Type="http://schemas.openxmlformats.org/officeDocument/2006/relationships/image" Target="../media/image-8-5.png"/><Relationship Id="rId6" Type="http://schemas.openxmlformats.org/officeDocument/2006/relationships/image" Target="../media/image-8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e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e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image" Target="../media/image-11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image" Target="../media/image-13-2.jpeg"/><Relationship Id="rId3" Type="http://schemas.openxmlformats.org/officeDocument/2006/relationships/image" Target="../media/image-13-3.png"/><Relationship Id="rId4" Type="http://schemas.openxmlformats.org/officeDocument/2006/relationships/image" Target="../media/image-13-4.png"/><Relationship Id="rId5" Type="http://schemas.openxmlformats.org/officeDocument/2006/relationships/image" Target="../media/image-13-5.png"/><Relationship Id="rId6" Type="http://schemas.openxmlformats.org/officeDocument/2006/relationships/image" Target="../media/image-13-6.png"/><Relationship Id="rId7" Type="http://schemas.openxmlformats.org/officeDocument/2006/relationships/image" Target="../media/image-13-7.png"/><Relationship Id="rId8" Type="http://schemas.openxmlformats.org/officeDocument/2006/relationships/image" Target="../media/image-13-8.png"/><Relationship Id="rId9" Type="http://schemas.openxmlformats.org/officeDocument/2006/relationships/slideLayout" Target="../slideLayouts/slideLayout1.xml"/><Relationship Id="rId10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eg"/><Relationship Id="rId2" Type="http://schemas.openxmlformats.org/officeDocument/2006/relationships/image" Target="../media/image-14-2.png"/><Relationship Id="rId3" Type="http://schemas.openxmlformats.org/officeDocument/2006/relationships/image" Target="../media/image-14-3.png"/><Relationship Id="rId4" Type="http://schemas.openxmlformats.org/officeDocument/2006/relationships/image" Target="../media/image-14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eg"/><Relationship Id="rId2" Type="http://schemas.openxmlformats.org/officeDocument/2006/relationships/image" Target="../media/image-15-2.png"/><Relationship Id="rId3" Type="http://schemas.openxmlformats.org/officeDocument/2006/relationships/image" Target="../media/image-15-3.png"/><Relationship Id="rId4" Type="http://schemas.openxmlformats.org/officeDocument/2006/relationships/image" Target="../media/image-15-4.png"/><Relationship Id="rId5" Type="http://schemas.openxmlformats.org/officeDocument/2006/relationships/image" Target="../media/image-15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png"/><Relationship Id="rId2" Type="http://schemas.openxmlformats.org/officeDocument/2006/relationships/image" Target="../media/image-17-2.png"/><Relationship Id="rId3" Type="http://schemas.openxmlformats.org/officeDocument/2006/relationships/image" Target="../media/image-17-3.png"/><Relationship Id="rId4" Type="http://schemas.openxmlformats.org/officeDocument/2006/relationships/image" Target="../media/image-17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9F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291840" cy="658368"/>
          </a:xfrm>
          <a:prstGeom prst="rect">
            <a:avLst/>
          </a:prstGeom>
          <a:solidFill>
            <a:srgbClr val="164994"/>
          </a:solidFill>
          <a:ln w="12700">
            <a:solidFill>
              <a:srgbClr val="16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182880" y="137160"/>
            <a:ext cx="2926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 ·  Group</a:t>
            </a:r>
            <a:endParaRPr lang="en-US" sz="1600" dirty="0"/>
          </a:p>
        </p:txBody>
      </p:sp>
      <p:pic>
        <p:nvPicPr>
          <p:cNvPr id="4" name="Image 0" descr="/Users/Reid Hu/OrbitOS/70_Presentations/717_Learning Group-20260916/assets/imp_logo.jpe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349240" y="18288"/>
            <a:ext cx="3611880" cy="640080"/>
          </a:xfrm>
          <a:prstGeom prst="rect">
            <a:avLst/>
          </a:prstGeom>
        </p:spPr>
      </p:pic>
      <p:sp>
        <p:nvSpPr>
          <p:cNvPr id="5" name="Shape 2"/>
          <p:cNvSpPr/>
          <p:nvPr/>
        </p:nvSpPr>
        <p:spPr>
          <a:xfrm>
            <a:off x="0" y="960120"/>
            <a:ext cx="9144000" cy="3246120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457200" y="1417320"/>
            <a:ext cx="82296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</a:t>
            </a:r>
            <a:endParaRPr lang="en-US" sz="3600" dirty="0"/>
          </a:p>
          <a:p>
            <a:pPr algn="ctr"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for heavy-ion fusion products</a:t>
            </a:r>
            <a:endParaRPr lang="en-US" sz="3600" dirty="0"/>
          </a:p>
        </p:txBody>
      </p:sp>
      <p:sp>
        <p:nvSpPr>
          <p:cNvPr id="7" name="Text 4"/>
          <p:cNvSpPr/>
          <p:nvPr/>
        </p:nvSpPr>
        <p:spPr>
          <a:xfrm>
            <a:off x="457200" y="3063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Zhiheng Hu</a:t>
            </a:r>
            <a:endParaRPr lang="en-US" sz="1800" dirty="0"/>
          </a:p>
        </p:txBody>
      </p:sp>
      <p:sp>
        <p:nvSpPr>
          <p:cNvPr id="8" name="Text 5"/>
          <p:cNvSpPr/>
          <p:nvPr/>
        </p:nvSpPr>
        <p:spPr>
          <a:xfrm>
            <a:off x="457200" y="3474720"/>
            <a:ext cx="82296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16 Sep, 2026  ·  Exp. Techniques NP Ch. 11 §III.B</a:t>
            </a:r>
            <a:endParaRPr lang="en-US" sz="13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1749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separate by velocity?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16733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Why is zero dispersion an advantage?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38658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How are velocity filters built?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998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What discoveries rely on this sensitivity?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8130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Where do velocity filters fit?</a:t>
            </a:r>
            <a:endParaRPr lang="en-US" sz="18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1749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365760" y="850392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4" name="Text 2"/>
          <p:cNvSpPr/>
          <p:nvPr/>
        </p:nvSpPr>
        <p:spPr>
          <a:xfrm>
            <a:off x="594360" y="941832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separate by velocity?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16733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Why is zero dispersion an advantage?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38658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How are velocity filters built?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998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What discoveries rely on this sensitivity?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38130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Where do velocity filters fit?</a:t>
            </a:r>
            <a:endParaRPr lang="en-US" sz="18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Complete fusion creates a large velocity mismatch.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eq/lead_vcm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648355"/>
            <a:ext cx="7451811" cy="202905"/>
          </a:xfrm>
          <a:prstGeom prst="rect">
            <a:avLst/>
          </a:prstGeom>
        </p:spPr>
      </p:pic>
      <p:sp>
        <p:nvSpPr>
          <p:cNvPr id="8" name="Shape 5"/>
          <p:cNvSpPr/>
          <p:nvPr/>
        </p:nvSpPr>
        <p:spPr>
          <a:xfrm>
            <a:off x="411480" y="914400"/>
            <a:ext cx="8321040" cy="2468880"/>
          </a:xfrm>
          <a:prstGeom prst="roundRect">
            <a:avLst>
              <a:gd name="adj" fmla="val 3704"/>
            </a:avLst>
          </a:prstGeom>
          <a:solidFill>
            <a:srgbClr val="E8F0FA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1" descr="/Users/Reid Hu/OrbitOS/70_Presentations/717_Learning Group-20260916/assets/eq/eq_er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969264"/>
            <a:ext cx="4703905" cy="1133856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285232" y="987552"/>
            <a:ext cx="3246120" cy="10789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Residue</a:t>
            </a:r>
            <a:pPr indent="0" marL="0">
              <a:buNone/>
            </a:pP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= heavy remnant of the compound nucleus after it evaporates a few light particles.</a:t>
            </a:r>
            <a:pPr indent="0" marL="0">
              <a:buNone/>
            </a:pPr>
            <a:r>
              <a:rPr lang="en-US" sz="1100" dirty="0">
                <a:solidFill>
                  <a:srgbClr val="00000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
</a:t>
            </a:r>
            <a:pPr indent="0" marL="0">
              <a:buNone/>
            </a:pPr>
            <a:r>
              <a:rPr lang="en-US" sz="1100" i="1" dirty="0">
                <a:solidFill>
                  <a:srgbClr val="0F2F5C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Er = (Ap/Ac) Ep</a:t>
            </a:r>
            <a:pPr indent="0" marL="0">
              <a:buNone/>
            </a:pPr>
            <a:r>
              <a:rPr lang="en-US" sz="1100" i="1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 — the residue’s kinetic energy under full momentum transfer: motion at v_cm, slower than the beam.</a:t>
            </a:r>
            <a:endParaRPr lang="en-US" sz="1100" dirty="0"/>
          </a:p>
        </p:txBody>
      </p:sp>
      <p:pic>
        <p:nvPicPr>
          <p:cNvPr id="11" name="Image 2" descr="/Users/Reid Hu/OrbitOS/70_Presentations/717_Learning Group-20260916/assets/eq/eq_vr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763403" y="2139696"/>
            <a:ext cx="5617194" cy="950976"/>
          </a:xfrm>
          <a:prstGeom prst="rect">
            <a:avLst/>
          </a:prstGeom>
        </p:spPr>
      </p:pic>
      <p:pic>
        <p:nvPicPr>
          <p:cNvPr id="12" name="Image 3" descr="/Users/Reid Hu/OrbitOS/70_Presentations/717_Learning Group-20260916/assets/eq/eq_eq2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104867" y="3118104"/>
            <a:ext cx="2934266" cy="182880"/>
          </a:xfrm>
          <a:prstGeom prst="rect">
            <a:avLst/>
          </a:prstGeom>
        </p:spPr>
      </p:pic>
      <p:sp>
        <p:nvSpPr>
          <p:cNvPr id="13" name="Shape 7"/>
          <p:cNvSpPr/>
          <p:nvPr/>
        </p:nvSpPr>
        <p:spPr>
          <a:xfrm>
            <a:off x="41148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4" name="Text 8"/>
          <p:cNvSpPr/>
          <p:nvPr/>
        </p:nvSpPr>
        <p:spPr>
          <a:xfrm>
            <a:off x="548640" y="35295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Fusion residues</a:t>
            </a:r>
            <a:endParaRPr lang="en-US" sz="1300" dirty="0"/>
          </a:p>
        </p:txBody>
      </p:sp>
      <p:pic>
        <p:nvPicPr>
          <p:cNvPr id="15" name="Image 4" descr="/Users/Reid Hu/OrbitOS/70_Presentations/717_Learning Group-20260916/assets/eq/kine_fusion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48640" y="3803904"/>
            <a:ext cx="2296058" cy="373807"/>
          </a:xfrm>
          <a:prstGeom prst="rect">
            <a:avLst/>
          </a:prstGeom>
        </p:spPr>
      </p:pic>
      <p:sp>
        <p:nvSpPr>
          <p:cNvPr id="16" name="Shape 9"/>
          <p:cNvSpPr/>
          <p:nvPr/>
        </p:nvSpPr>
        <p:spPr>
          <a:xfrm>
            <a:off x="324612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Text 10"/>
          <p:cNvSpPr/>
          <p:nvPr/>
        </p:nvSpPr>
        <p:spPr>
          <a:xfrm>
            <a:off x="3383280" y="35295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Unreacted beam</a:t>
            </a:r>
            <a:endParaRPr lang="en-US" sz="1300" dirty="0"/>
          </a:p>
        </p:txBody>
      </p:sp>
      <p:pic>
        <p:nvPicPr>
          <p:cNvPr id="18" name="Image 5" descr="/Users/Reid Hu/OrbitOS/70_Presentations/717_Learning Group-20260916/assets/eq/kine_beam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803904"/>
            <a:ext cx="2369302" cy="373990"/>
          </a:xfrm>
          <a:prstGeom prst="rect">
            <a:avLst/>
          </a:prstGeom>
        </p:spPr>
      </p:pic>
      <p:sp>
        <p:nvSpPr>
          <p:cNvPr id="19" name="Shape 11"/>
          <p:cNvSpPr/>
          <p:nvPr/>
        </p:nvSpPr>
        <p:spPr>
          <a:xfrm>
            <a:off x="6080760" y="3456432"/>
            <a:ext cx="2697480" cy="1207008"/>
          </a:xfrm>
          <a:prstGeom prst="roundRect">
            <a:avLst>
              <a:gd name="adj" fmla="val 6061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0" name="Text 12"/>
          <p:cNvSpPr/>
          <p:nvPr/>
        </p:nvSpPr>
        <p:spPr>
          <a:xfrm>
            <a:off x="6217920" y="352958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Other channels</a:t>
            </a:r>
            <a:endParaRPr lang="en-US" sz="1300" dirty="0"/>
          </a:p>
        </p:txBody>
      </p:sp>
      <p:sp>
        <p:nvSpPr>
          <p:cNvPr id="21" name="Text 13"/>
          <p:cNvSpPr/>
          <p:nvPr/>
        </p:nvSpPr>
        <p:spPr>
          <a:xfrm>
            <a:off x="6217920" y="3803904"/>
            <a:ext cx="2423160" cy="7498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Transfer stays near beam or target velocity; fission-after-fusion spreads over a wide lab-velocity range.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Evaporation residues are kinematically focused into a narrow forward cone.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/ 10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411480" y="621792"/>
            <a:ext cx="832104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heavy compound nucleus carries large forward momentum; a few evaporated nucleons barely deflect it.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11480" y="969264"/>
            <a:ext cx="8321040" cy="1792224"/>
          </a:xfrm>
          <a:prstGeom prst="roundRect">
            <a:avLst>
              <a:gd name="adj" fmla="val 5102"/>
            </a:avLst>
          </a:prstGeom>
          <a:solidFill>
            <a:srgbClr val="E8F0FA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pic>
        <p:nvPicPr>
          <p:cNvPr id="9" name="Image 0" descr="/Users/Reid Hu/OrbitOS/70_Presentations/717_Learning Group-20260916/assets/eq/eq_sigma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83426" y="1024128"/>
            <a:ext cx="6577149" cy="1353312"/>
          </a:xfrm>
          <a:prstGeom prst="rect">
            <a:avLst/>
          </a:prstGeom>
        </p:spPr>
      </p:pic>
      <p:pic>
        <p:nvPicPr>
          <p:cNvPr id="10" name="Image 1" descr="/Users/Reid Hu/OrbitOS/70_Presentations/717_Learning Group-20260916/assets/eq/eq_sigma_note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399773" y="2455804"/>
            <a:ext cx="344454" cy="172456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1148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1463040" y="2980944"/>
            <a:ext cx="457200" cy="457200"/>
          </a:xfrm>
          <a:prstGeom prst="ellipse">
            <a:avLst/>
          </a:prstGeom>
          <a:solidFill>
            <a:srgbClr val="174994"/>
          </a:solidFill>
          <a:ln/>
        </p:spPr>
      </p:sp>
      <p:pic>
        <p:nvPicPr>
          <p:cNvPr id="13" name="Image 2" descr="/Users/Reid Hu/OrbitOS/70_Presentations/717_Learning Group-20260916/assets/eq/chip_theta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627906" y="3138358"/>
            <a:ext cx="127467" cy="142372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548640" y="35112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Narrow cone</a:t>
            </a:r>
            <a:endParaRPr lang="en-US" sz="1400" dirty="0"/>
          </a:p>
        </p:txBody>
      </p:sp>
      <p:pic>
        <p:nvPicPr>
          <p:cNvPr id="15" name="Image 3" descr="/Users/Reid Hu/OrbitOS/70_Presentations/717_Learning Group-20260916/assets/eq/focus_theta_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3840480"/>
            <a:ext cx="2423160" cy="366345"/>
          </a:xfrm>
          <a:prstGeom prst="rect">
            <a:avLst/>
          </a:prstGeom>
        </p:spPr>
      </p:pic>
      <p:sp>
        <p:nvSpPr>
          <p:cNvPr id="16" name="Shape 10"/>
          <p:cNvSpPr/>
          <p:nvPr/>
        </p:nvSpPr>
        <p:spPr>
          <a:xfrm>
            <a:off x="324612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7" name="Shape 11"/>
          <p:cNvSpPr/>
          <p:nvPr/>
        </p:nvSpPr>
        <p:spPr>
          <a:xfrm>
            <a:off x="4297680" y="2980944"/>
            <a:ext cx="457200" cy="457200"/>
          </a:xfrm>
          <a:prstGeom prst="ellipse">
            <a:avLst/>
          </a:prstGeom>
          <a:solidFill>
            <a:srgbClr val="174994"/>
          </a:solidFill>
          <a:ln/>
        </p:spPr>
      </p:sp>
      <p:pic>
        <p:nvPicPr>
          <p:cNvPr id="18" name="Image 4" descr="/Users/Reid Hu/OrbitOS/70_Presentations/717_Learning Group-20260916/assets/eq/chip_omega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438086" y="3137032"/>
            <a:ext cx="176388" cy="145024"/>
          </a:xfrm>
          <a:prstGeom prst="rect">
            <a:avLst/>
          </a:prstGeom>
        </p:spPr>
      </p:pic>
      <p:sp>
        <p:nvSpPr>
          <p:cNvPr id="19" name="Text 12"/>
          <p:cNvSpPr/>
          <p:nvPr/>
        </p:nvSpPr>
        <p:spPr>
          <a:xfrm>
            <a:off x="3383280" y="35112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Small solid angle</a:t>
            </a:r>
            <a:endParaRPr lang="en-US" sz="1400" dirty="0"/>
          </a:p>
        </p:txBody>
      </p:sp>
      <p:pic>
        <p:nvPicPr>
          <p:cNvPr id="20" name="Image 5" descr="/Users/Reid Hu/OrbitOS/70_Presentations/717_Learning Group-20260916/assets/eq/focus_omega_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3383280" y="3840480"/>
            <a:ext cx="2423160" cy="371062"/>
          </a:xfrm>
          <a:prstGeom prst="rect">
            <a:avLst/>
          </a:prstGeom>
        </p:spPr>
      </p:pic>
      <p:sp>
        <p:nvSpPr>
          <p:cNvPr id="21" name="Shape 13"/>
          <p:cNvSpPr/>
          <p:nvPr/>
        </p:nvSpPr>
        <p:spPr>
          <a:xfrm>
            <a:off x="6080760" y="2871216"/>
            <a:ext cx="2697480" cy="1755648"/>
          </a:xfrm>
          <a:prstGeom prst="roundRect">
            <a:avLst>
              <a:gd name="adj" fmla="val 416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22" name="Shape 14"/>
          <p:cNvSpPr/>
          <p:nvPr/>
        </p:nvSpPr>
        <p:spPr>
          <a:xfrm>
            <a:off x="7132320" y="2980944"/>
            <a:ext cx="457200" cy="457200"/>
          </a:xfrm>
          <a:prstGeom prst="ellipse">
            <a:avLst/>
          </a:prstGeom>
          <a:solidFill>
            <a:srgbClr val="174994"/>
          </a:solidFill>
          <a:ln/>
        </p:spPr>
      </p:sp>
      <p:pic>
        <p:nvPicPr>
          <p:cNvPr id="23" name="Image 6" descr="/Users/Reid Hu/OrbitOS/70_Presentations/717_Learning Group-20260916/assets/eq/chip_eps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98009" y="3156509"/>
            <a:ext cx="125821" cy="106070"/>
          </a:xfrm>
          <a:prstGeom prst="rect">
            <a:avLst/>
          </a:prstGeom>
        </p:spPr>
      </p:pic>
      <p:sp>
        <p:nvSpPr>
          <p:cNvPr id="24" name="Text 15"/>
          <p:cNvSpPr/>
          <p:nvPr/>
        </p:nvSpPr>
        <p:spPr>
          <a:xfrm>
            <a:off x="6217920" y="3511296"/>
            <a:ext cx="242316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transmission</a:t>
            </a:r>
            <a:endParaRPr lang="en-US" sz="1400" dirty="0"/>
          </a:p>
        </p:txBody>
      </p:sp>
      <p:pic>
        <p:nvPicPr>
          <p:cNvPr id="25" name="Image 7" descr="/Users/Reid Hu/OrbitOS/70_Presentations/717_Learning Group-20260916/assets/eq/focus_eps_d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64783" y="3840480"/>
            <a:ext cx="2329434" cy="343449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1749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separate by velocity?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65760" y="1563624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5" name="Text 3"/>
          <p:cNvSpPr/>
          <p:nvPr/>
        </p:nvSpPr>
        <p:spPr>
          <a:xfrm>
            <a:off x="594360" y="1655064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Why is zero dispersion an advantage?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238658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How are velocity filters built?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998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What discoveries rely on this sensitivity?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38130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Where do velocity filters fit?</a:t>
            </a:r>
            <a:endParaRPr lang="en-US" sz="1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Mass separators lose most of the yield to charge-state splitting.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777240"/>
            <a:ext cx="4069080" cy="3794760"/>
          </a:xfrm>
          <a:prstGeom prst="rect">
            <a:avLst/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Shape 6"/>
          <p:cNvSpPr/>
          <p:nvPr/>
        </p:nvSpPr>
        <p:spPr>
          <a:xfrm>
            <a:off x="365760" y="777240"/>
            <a:ext cx="4069080" cy="502920"/>
          </a:xfrm>
          <a:prstGeom prst="rect">
            <a:avLst/>
          </a:prstGeom>
          <a:solidFill>
            <a:srgbClr val="5F6B73"/>
          </a:solidFill>
          <a:ln/>
        </p:spPr>
      </p:sp>
      <p:pic>
        <p:nvPicPr>
          <p:cNvPr id="9" name="Image 0" descr="/Users/Reid Hu/OrbitOS/70_Presentations/717_Learning Group-20260916/assets/eq/hdr_aq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46616" y="931362"/>
            <a:ext cx="1707368" cy="203820"/>
          </a:xfrm>
          <a:prstGeom prst="rect">
            <a:avLst/>
          </a:prstGeom>
        </p:spPr>
      </p:pic>
      <p:pic>
        <p:nvPicPr>
          <p:cNvPr id="10" name="Image 1" descr="/Users/Reid Hu/OrbitOS/70_Presentations/717_Learning Group-20260916/assets/eq/body_mass_sep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94360" y="1463040"/>
            <a:ext cx="3643244" cy="1574322"/>
          </a:xfrm>
          <a:prstGeom prst="rect">
            <a:avLst/>
          </a:prstGeom>
        </p:spPr>
      </p:pic>
      <p:sp>
        <p:nvSpPr>
          <p:cNvPr id="11" name="Shape 7"/>
          <p:cNvSpPr/>
          <p:nvPr/>
        </p:nvSpPr>
        <p:spPr>
          <a:xfrm>
            <a:off x="4709160" y="777240"/>
            <a:ext cx="4069080" cy="3794760"/>
          </a:xfrm>
          <a:prstGeom prst="rect">
            <a:avLst/>
          </a:prstGeom>
          <a:solidFill>
            <a:srgbClr val="E8F0FA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Shape 8"/>
          <p:cNvSpPr/>
          <p:nvPr/>
        </p:nvSpPr>
        <p:spPr>
          <a:xfrm>
            <a:off x="4709160" y="777240"/>
            <a:ext cx="4069080" cy="50292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3" name="Text 9"/>
          <p:cNvSpPr/>
          <p:nvPr/>
        </p:nvSpPr>
        <p:spPr>
          <a:xfrm>
            <a:off x="4709160" y="850392"/>
            <a:ext cx="4069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charge-state penalty</a:t>
            </a:r>
            <a:endParaRPr lang="en-US" sz="1600" dirty="0"/>
          </a:p>
        </p:txBody>
      </p:sp>
      <p:pic>
        <p:nvPicPr>
          <p:cNvPr id="14" name="Image 2" descr="/Users/Reid Hu/OrbitOS/70_Presentations/717_Learning Group-20260916/assets/eq/body_charge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0" y="1463040"/>
            <a:ext cx="3657600" cy="1110618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Pure velocity filters transmit all charge states and isotopes simultaneously.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411480" y="621792"/>
            <a:ext cx="8321040" cy="1938528"/>
          </a:xfrm>
          <a:prstGeom prst="roundRect">
            <a:avLst>
              <a:gd name="adj" fmla="val 4717"/>
            </a:avLst>
          </a:prstGeom>
          <a:solidFill>
            <a:srgbClr val="E8F0FA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pic>
        <p:nvPicPr>
          <p:cNvPr id="8" name="Image 0" descr="/Users/Reid Hu/OrbitOS/70_Presentations/717_Learning Group-20260916/assets/eq/eq_fe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248" y="667512"/>
            <a:ext cx="7509503" cy="1280160"/>
          </a:xfrm>
          <a:prstGeom prst="rect">
            <a:avLst/>
          </a:prstGeom>
        </p:spPr>
      </p:pic>
      <p:pic>
        <p:nvPicPr>
          <p:cNvPr id="9" name="Image 1" descr="/Users/Reid Hu/OrbitOS/70_Presentations/717_Learning Group-20260916/assets/eq/eq_ve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363404" y="1985894"/>
            <a:ext cx="4417192" cy="234452"/>
          </a:xfrm>
          <a:prstGeom prst="rect">
            <a:avLst/>
          </a:prstGeom>
        </p:spPr>
      </p:pic>
      <p:pic>
        <p:nvPicPr>
          <p:cNvPr id="10" name="Image 2" descr="/Users/Reid Hu/OrbitOS/70_Presentations/717_Learning Group-20260916/assets/eq/eq_qcancel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964954" y="2273884"/>
            <a:ext cx="5214092" cy="188824"/>
          </a:xfrm>
          <a:prstGeom prst="rect">
            <a:avLst/>
          </a:prstGeom>
        </p:spPr>
      </p:pic>
      <p:sp>
        <p:nvSpPr>
          <p:cNvPr id="11" name="Shape 6"/>
          <p:cNvSpPr/>
          <p:nvPr/>
        </p:nvSpPr>
        <p:spPr>
          <a:xfrm>
            <a:off x="41148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2" name="Text 7"/>
          <p:cNvSpPr/>
          <p:nvPr/>
        </p:nvSpPr>
        <p:spPr>
          <a:xfrm>
            <a:off x="54864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</a:t>
            </a:r>
            <a:endParaRPr lang="en-US" sz="1300" dirty="0"/>
          </a:p>
        </p:txBody>
      </p:sp>
      <p:pic>
        <p:nvPicPr>
          <p:cNvPr id="13" name="Image 3" descr="/Users/Reid Hu/OrbitOS/70_Presentations/717_Learning Group-20260916/assets/eq/power_allq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8640" y="2980944"/>
            <a:ext cx="2422063" cy="528615"/>
          </a:xfrm>
          <a:prstGeom prst="rect">
            <a:avLst/>
          </a:prstGeom>
        </p:spPr>
      </p:pic>
      <p:sp>
        <p:nvSpPr>
          <p:cNvPr id="14" name="Shape 8"/>
          <p:cNvSpPr/>
          <p:nvPr/>
        </p:nvSpPr>
        <p:spPr>
          <a:xfrm>
            <a:off x="324612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5" name="Text 9"/>
          <p:cNvSpPr/>
          <p:nvPr/>
        </p:nvSpPr>
        <p:spPr>
          <a:xfrm>
            <a:off x="338328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fusion isotopes</a:t>
            </a:r>
            <a:endParaRPr lang="en-US" sz="1300" dirty="0"/>
          </a:p>
        </p:txBody>
      </p:sp>
      <p:pic>
        <p:nvPicPr>
          <p:cNvPr id="16" name="Image 4" descr="/Users/Reid Hu/OrbitOS/70_Presentations/717_Learning Group-20260916/assets/eq/power_iso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383280" y="2980944"/>
            <a:ext cx="2423160" cy="553077"/>
          </a:xfrm>
          <a:prstGeom prst="rect">
            <a:avLst/>
          </a:prstGeom>
        </p:spPr>
      </p:pic>
      <p:sp>
        <p:nvSpPr>
          <p:cNvPr id="17" name="Shape 10"/>
          <p:cNvSpPr/>
          <p:nvPr/>
        </p:nvSpPr>
        <p:spPr>
          <a:xfrm>
            <a:off x="6080760" y="2633472"/>
            <a:ext cx="2697480" cy="1115568"/>
          </a:xfrm>
          <a:prstGeom prst="roundRect">
            <a:avLst>
              <a:gd name="adj" fmla="val 655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8" name="Text 11"/>
          <p:cNvSpPr/>
          <p:nvPr/>
        </p:nvSpPr>
        <p:spPr>
          <a:xfrm>
            <a:off x="6217920" y="2706624"/>
            <a:ext cx="242316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Beam rejection</a:t>
            </a:r>
            <a:endParaRPr lang="en-US" sz="1300" dirty="0"/>
          </a:p>
        </p:txBody>
      </p:sp>
      <p:pic>
        <p:nvPicPr>
          <p:cNvPr id="19" name="Image 5" descr="/Users/Reid Hu/OrbitOS/70_Presentations/717_Learning Group-20260916/assets/eq/power_beam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2980944"/>
            <a:ext cx="2297796" cy="373807"/>
          </a:xfrm>
          <a:prstGeom prst="rect">
            <a:avLst/>
          </a:prstGeom>
        </p:spPr>
      </p:pic>
      <p:sp>
        <p:nvSpPr>
          <p:cNvPr id="20" name="Shape 12"/>
          <p:cNvSpPr/>
          <p:nvPr/>
        </p:nvSpPr>
        <p:spPr>
          <a:xfrm>
            <a:off x="411480" y="3822192"/>
            <a:ext cx="8321040" cy="804672"/>
          </a:xfrm>
          <a:prstGeom prst="roundRect">
            <a:avLst>
              <a:gd name="adj" fmla="val 9091"/>
            </a:avLst>
          </a:prstGeom>
          <a:solidFill>
            <a:srgbClr val="174994"/>
          </a:solidFill>
          <a:ln/>
        </p:spPr>
      </p:sp>
      <p:sp>
        <p:nvSpPr>
          <p:cNvPr id="21" name="Text 13"/>
          <p:cNvSpPr/>
          <p:nvPr/>
        </p:nvSpPr>
        <p:spPr>
          <a:xfrm>
            <a:off x="594360" y="3931920"/>
            <a:ext cx="795528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Trade-off: the filter does not measure mass in flight. The isotope is identified later — by decay spectroscopy at the focal plane.</a:t>
            </a:r>
            <a:endParaRPr lang="en-US" sz="13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1749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separate by velocity?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16733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Why is zero dispersion an advantage?</a:t>
            </a:r>
            <a:endParaRPr lang="en-US" sz="1800" dirty="0"/>
          </a:p>
        </p:txBody>
      </p:sp>
      <p:sp>
        <p:nvSpPr>
          <p:cNvPr id="5" name="Shape 3"/>
          <p:cNvSpPr/>
          <p:nvPr/>
        </p:nvSpPr>
        <p:spPr>
          <a:xfrm>
            <a:off x="365760" y="2276856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6" name="Text 4"/>
          <p:cNvSpPr/>
          <p:nvPr/>
        </p:nvSpPr>
        <p:spPr>
          <a:xfrm>
            <a:off x="594360" y="2368296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How are velocity filters built?</a:t>
            </a:r>
            <a:endParaRPr lang="en-US" sz="1800" dirty="0"/>
          </a:p>
        </p:txBody>
      </p:sp>
      <p:sp>
        <p:nvSpPr>
          <p:cNvPr id="7" name="Text 5"/>
          <p:cNvSpPr/>
          <p:nvPr/>
        </p:nvSpPr>
        <p:spPr>
          <a:xfrm>
            <a:off x="594360" y="30998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What discoveries rely on this sensitivity?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38130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Where do velocity filters fit?</a:t>
            </a:r>
            <a:endParaRPr lang="en-US" sz="18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uses separated fields to protect its condenser plates.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2_ship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12  ·  SHIP (GSI) — plate condenser first, then dipoles; projectile dump before the focal plane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0" name="Text 7"/>
          <p:cNvSpPr/>
          <p:nvPr/>
        </p:nvSpPr>
        <p:spPr>
          <a:xfrm>
            <a:off x="47548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 first</a:t>
            </a:r>
            <a:endParaRPr lang="en-US" sz="1300" dirty="0"/>
          </a:p>
        </p:txBody>
      </p:sp>
      <p:pic>
        <p:nvPicPr>
          <p:cNvPr id="11" name="Image 1" descr="/Users/Reid Hu/OrbitOS/70_Presentations/717_Learning Group-20260916/assets/eq/ship_cond_b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3703320"/>
            <a:ext cx="2395637" cy="346832"/>
          </a:xfrm>
          <a:prstGeom prst="rect">
            <a:avLst/>
          </a:prstGeom>
        </p:spPr>
      </p:pic>
      <p:sp>
        <p:nvSpPr>
          <p:cNvPr id="12" name="Shape 8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9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a Wien filter</a:t>
            </a:r>
            <a:endParaRPr lang="en-US" sz="1300" dirty="0"/>
          </a:p>
        </p:txBody>
      </p:sp>
      <p:pic>
        <p:nvPicPr>
          <p:cNvPr id="14" name="Image 2" descr="/Users/Reid Hu/OrbitOS/70_Presentations/717_Learning Group-20260916/assets/eq/ship_wien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355848" y="3703320"/>
            <a:ext cx="2345802" cy="516910"/>
          </a:xfrm>
          <a:prstGeom prst="rect">
            <a:avLst/>
          </a:prstGeom>
        </p:spPr>
      </p:pic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6" name="Text 11"/>
          <p:cNvSpPr/>
          <p:nvPr/>
        </p:nvSpPr>
        <p:spPr>
          <a:xfrm>
            <a:off x="623620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High current</a:t>
            </a:r>
            <a:endParaRPr lang="en-US" sz="1300" dirty="0"/>
          </a:p>
        </p:txBody>
      </p:sp>
      <p:pic>
        <p:nvPicPr>
          <p:cNvPr id="17" name="Image 3" descr="/Users/Reid Hu/OrbitOS/70_Presentations/717_Learning Group-20260916/assets/eq/ship_current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3703320"/>
            <a:ext cx="2523744" cy="532102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The Daresbury separator uses crossed fields and energy refocusing.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6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5_daresbury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320040" y="621792"/>
            <a:ext cx="8503920" cy="2286000"/>
          </a:xfrm>
          <a:prstGeom prst="rect">
            <a:avLst/>
          </a:prstGeom>
        </p:spPr>
      </p:pic>
      <p:sp>
        <p:nvSpPr>
          <p:cNvPr id="8" name="Text 5"/>
          <p:cNvSpPr/>
          <p:nvPr/>
        </p:nvSpPr>
        <p:spPr>
          <a:xfrm>
            <a:off x="320040" y="2999232"/>
            <a:ext cx="85039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A96A0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Fig. 15  ·  Daresbury recoil separator — two crossed-field filters + DQQQ spectrometer</a:t>
            </a:r>
            <a:endParaRPr lang="en-US" sz="1000" dirty="0"/>
          </a:p>
        </p:txBody>
      </p:sp>
      <p:sp>
        <p:nvSpPr>
          <p:cNvPr id="9" name="Shape 6"/>
          <p:cNvSpPr/>
          <p:nvPr/>
        </p:nvSpPr>
        <p:spPr>
          <a:xfrm>
            <a:off x="36576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pic>
        <p:nvPicPr>
          <p:cNvPr id="10" name="Image 1" descr="/Users/Reid Hu/OrbitOS/70_Presentations/717_Learning Group-20260916/assets/eq/dar_exb_h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75488" y="3459998"/>
            <a:ext cx="1003828" cy="139172"/>
          </a:xfrm>
          <a:prstGeom prst="rect">
            <a:avLst/>
          </a:prstGeom>
        </p:spPr>
      </p:pic>
      <p:pic>
        <p:nvPicPr>
          <p:cNvPr id="11" name="Image 2" descr="/Users/Reid Hu/OrbitOS/70_Presentations/717_Learning Group-20260916/assets/eq/dar_exb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75488" y="3703320"/>
            <a:ext cx="2309957" cy="346832"/>
          </a:xfrm>
          <a:prstGeom prst="rect">
            <a:avLst/>
          </a:prstGeom>
        </p:spPr>
      </p:pic>
      <p:sp>
        <p:nvSpPr>
          <p:cNvPr id="12" name="Shape 7"/>
          <p:cNvSpPr/>
          <p:nvPr/>
        </p:nvSpPr>
        <p:spPr>
          <a:xfrm>
            <a:off x="324612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13" name="Text 8"/>
          <p:cNvSpPr/>
          <p:nvPr/>
        </p:nvSpPr>
        <p:spPr>
          <a:xfrm>
            <a:off x="3355848" y="3383280"/>
            <a:ext cx="2523744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DQQQ spectrometer</a:t>
            </a:r>
            <a:endParaRPr lang="en-US" sz="1300" dirty="0"/>
          </a:p>
        </p:txBody>
      </p:sp>
      <p:sp>
        <p:nvSpPr>
          <p:cNvPr id="14" name="Text 9"/>
          <p:cNvSpPr/>
          <p:nvPr/>
        </p:nvSpPr>
        <p:spPr>
          <a:xfrm>
            <a:off x="3355848" y="3703320"/>
            <a:ext cx="2523744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 magnetic spectrometer after the filters refocuses the energy spread at the focal plane.</a:t>
            </a:r>
            <a:endParaRPr lang="en-US" sz="1100" dirty="0"/>
          </a:p>
        </p:txBody>
      </p:sp>
      <p:sp>
        <p:nvSpPr>
          <p:cNvPr id="15" name="Shape 10"/>
          <p:cNvSpPr/>
          <p:nvPr/>
        </p:nvSpPr>
        <p:spPr>
          <a:xfrm>
            <a:off x="6126480" y="3291840"/>
            <a:ext cx="2743200" cy="1325880"/>
          </a:xfrm>
          <a:prstGeom prst="roundRect">
            <a:avLst>
              <a:gd name="adj" fmla="val 5517"/>
            </a:avLst>
          </a:prstGeom>
          <a:solidFill>
            <a:srgbClr val="F7F9FC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pic>
        <p:nvPicPr>
          <p:cNvPr id="16" name="Image 3" descr="/Users/Reid Hu/OrbitOS/70_Presentations/717_Learning Group-20260916/assets/eq/dar_gamma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36208" y="3447242"/>
            <a:ext cx="1210940" cy="164683"/>
          </a:xfrm>
          <a:prstGeom prst="rect">
            <a:avLst/>
          </a:prstGeom>
        </p:spPr>
      </p:pic>
      <p:pic>
        <p:nvPicPr>
          <p:cNvPr id="17" name="Image 4" descr="/Users/Reid Hu/OrbitOS/70_Presentations/717_Learning Group-20260916/assets/eq/dar_gamma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3703320"/>
            <a:ext cx="2444008" cy="488655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749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separate by velocity?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16733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Why is zero dispersion an advantage?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38658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How are velocity filters built?</a:t>
            </a:r>
            <a:endParaRPr lang="en-US" sz="1800" dirty="0"/>
          </a:p>
        </p:txBody>
      </p:sp>
      <p:sp>
        <p:nvSpPr>
          <p:cNvPr id="6" name="Shape 4"/>
          <p:cNvSpPr/>
          <p:nvPr/>
        </p:nvSpPr>
        <p:spPr>
          <a:xfrm>
            <a:off x="365760" y="2990088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7" name="Text 5"/>
          <p:cNvSpPr/>
          <p:nvPr/>
        </p:nvSpPr>
        <p:spPr>
          <a:xfrm>
            <a:off x="594360" y="3081528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What discoveries rely on this sensitivity?</a:t>
            </a:r>
            <a:endParaRPr lang="en-US" sz="1800" dirty="0"/>
          </a:p>
        </p:txBody>
      </p:sp>
      <p:sp>
        <p:nvSpPr>
          <p:cNvPr id="8" name="Text 6"/>
          <p:cNvSpPr/>
          <p:nvPr/>
        </p:nvSpPr>
        <p:spPr>
          <a:xfrm>
            <a:off x="594360" y="3813048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Where do velocity filters fit?</a:t>
            </a:r>
            <a:endParaRPr lang="en-US" sz="18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pic>
        <p:nvPicPr>
          <p:cNvPr id="3" name="Image 0" descr="/Users/Reid Hu/OrbitOS/70_Presentations/717_Learning Group-20260916/assets/eq/hdr_lu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11480" y="134508"/>
            <a:ext cx="5422392" cy="261336"/>
          </a:xfrm>
          <a:prstGeom prst="rect">
            <a:avLst/>
          </a:prstGeom>
        </p:spPr>
      </p:pic>
      <p:sp>
        <p:nvSpPr>
          <p:cNvPr id="4" name="Shape 1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2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3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7 / 10</a:t>
            </a:r>
            <a:endParaRPr lang="en-US" sz="1000" dirty="0"/>
          </a:p>
        </p:txBody>
      </p:sp>
      <p:pic>
        <p:nvPicPr>
          <p:cNvPr id="7" name="Image 1" descr="/Users/Reid Hu/OrbitOS/70_Presentations/717_Learning Group-20260916/assets/fig13_151lu.jpeg">    </p:cNvPr>
          <p:cNvPicPr>
            <a:picLocks noChangeAspect="1"/>
          </p:cNvPicPr>
          <p:nvPr/>
        </p:nvPicPr>
        <p:blipFill>
          <a:blip r:embed="rId2"/>
          <a:srcRect l="0" r="0" t="0" b="0"/>
          <a:stretch/>
        </p:blipFill>
        <p:spPr>
          <a:xfrm>
            <a:off x="256032" y="658368"/>
            <a:ext cx="4709160" cy="3840480"/>
          </a:xfrm>
          <a:prstGeom prst="rect">
            <a:avLst/>
          </a:prstGeom>
        </p:spPr>
      </p:pic>
      <p:pic>
        <p:nvPicPr>
          <p:cNvPr id="8" name="Image 2" descr="/Users/Reid Hu/OrbitOS/70_Presentations/717_Learning Group-20260916/assets/eq/cap_lu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67830" y="4533184"/>
            <a:ext cx="2085564" cy="159929"/>
          </a:xfrm>
          <a:prstGeom prst="rect">
            <a:avLst/>
          </a:prstGeom>
        </p:spPr>
      </p:pic>
      <p:sp>
        <p:nvSpPr>
          <p:cNvPr id="9" name="Shape 4"/>
          <p:cNvSpPr/>
          <p:nvPr/>
        </p:nvSpPr>
        <p:spPr>
          <a:xfrm>
            <a:off x="5074920" y="65836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0" name="Shape 5"/>
          <p:cNvSpPr/>
          <p:nvPr/>
        </p:nvSpPr>
        <p:spPr>
          <a:xfrm>
            <a:off x="5074920" y="65836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pic>
        <p:nvPicPr>
          <p:cNvPr id="11" name="Image 3" descr="/Users/Reid Hu/OrbitOS/70_Presentations/717_Learning Group-20260916/assets/eq/lu_flight_h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303520" y="773354"/>
            <a:ext cx="1280434" cy="172364"/>
          </a:xfrm>
          <a:prstGeom prst="rect">
            <a:avLst/>
          </a:prstGeom>
        </p:spPr>
      </p:pic>
      <p:sp>
        <p:nvSpPr>
          <p:cNvPr id="12" name="Text 6"/>
          <p:cNvSpPr/>
          <p:nvPr/>
        </p:nvSpPr>
        <p:spPr>
          <a:xfrm>
            <a:off x="5303520" y="102412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SHIP delivers short-lived residues to a Si surface-barrier detector.</a:t>
            </a:r>
            <a:endParaRPr lang="en-US" sz="1200" dirty="0"/>
          </a:p>
        </p:txBody>
      </p:sp>
      <p:sp>
        <p:nvSpPr>
          <p:cNvPr id="13" name="Shape 7"/>
          <p:cNvSpPr/>
          <p:nvPr/>
        </p:nvSpPr>
        <p:spPr>
          <a:xfrm>
            <a:off x="5074920" y="161848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4" name="Shape 8"/>
          <p:cNvSpPr/>
          <p:nvPr/>
        </p:nvSpPr>
        <p:spPr>
          <a:xfrm>
            <a:off x="5074920" y="161848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pic>
        <p:nvPicPr>
          <p:cNvPr id="15" name="Image 4" descr="/Users/Reid Hu/OrbitOS/70_Presentations/717_Learning Group-20260916/assets/eq/lu_proton_h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0" y="1733657"/>
            <a:ext cx="1489466" cy="171999"/>
          </a:xfrm>
          <a:prstGeom prst="rect">
            <a:avLst/>
          </a:prstGeom>
        </p:spPr>
      </p:pic>
      <p:pic>
        <p:nvPicPr>
          <p:cNvPr id="16" name="Image 5" descr="/Users/Reid Hu/OrbitOS/70_Presentations/717_Learning Group-20260916/assets/eq/lu_proton_b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0" y="1984248"/>
            <a:ext cx="3383280" cy="338211"/>
          </a:xfrm>
          <a:prstGeom prst="rect">
            <a:avLst/>
          </a:prstGeom>
        </p:spPr>
      </p:pic>
      <p:sp>
        <p:nvSpPr>
          <p:cNvPr id="17" name="Shape 9"/>
          <p:cNvSpPr/>
          <p:nvPr/>
        </p:nvSpPr>
        <p:spPr>
          <a:xfrm>
            <a:off x="5074920" y="257860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8" name="Shape 10"/>
          <p:cNvSpPr/>
          <p:nvPr/>
        </p:nvSpPr>
        <p:spPr>
          <a:xfrm>
            <a:off x="5074920" y="257860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9" name="Text 11"/>
          <p:cNvSpPr/>
          <p:nvPr/>
        </p:nvSpPr>
        <p:spPr>
          <a:xfrm>
            <a:off x="5303520" y="2651760"/>
            <a:ext cx="33832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Escape bump</a:t>
            </a:r>
            <a:endParaRPr lang="en-US" sz="1300" dirty="0"/>
          </a:p>
        </p:txBody>
      </p:sp>
      <p:pic>
        <p:nvPicPr>
          <p:cNvPr id="20" name="Image 6" descr="/Users/Reid Hu/OrbitOS/70_Presentations/717_Learning Group-20260916/assets/eq/lu_alpha_b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0" y="2944368"/>
            <a:ext cx="3175620" cy="373990"/>
          </a:xfrm>
          <a:prstGeom prst="rect">
            <a:avLst/>
          </a:prstGeom>
        </p:spPr>
      </p:pic>
      <p:sp>
        <p:nvSpPr>
          <p:cNvPr id="21" name="Shape 12"/>
          <p:cNvSpPr/>
          <p:nvPr/>
        </p:nvSpPr>
        <p:spPr>
          <a:xfrm>
            <a:off x="5074920" y="3538728"/>
            <a:ext cx="374904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22" name="Shape 13"/>
          <p:cNvSpPr/>
          <p:nvPr/>
        </p:nvSpPr>
        <p:spPr>
          <a:xfrm>
            <a:off x="5074920" y="353872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pic>
        <p:nvPicPr>
          <p:cNvPr id="23" name="Image 7" descr="/Users/Reid Hu/OrbitOS/70_Presentations/717_Learning Group-20260916/assets/eq/lu_half_h.png">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303520" y="3644753"/>
            <a:ext cx="872703" cy="190287"/>
          </a:xfrm>
          <a:prstGeom prst="rect">
            <a:avLst/>
          </a:prstGeom>
        </p:spPr>
      </p:pic>
      <p:sp>
        <p:nvSpPr>
          <p:cNvPr id="24" name="Text 14"/>
          <p:cNvSpPr/>
          <p:nvPr/>
        </p:nvSpPr>
        <p:spPr>
          <a:xfrm>
            <a:off x="5303520" y="3904488"/>
            <a:ext cx="33832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Implant time-tag gives the half-life event by event.</a:t>
            </a:r>
            <a:endParaRPr lang="en-US" sz="12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Genetic decay-chain tagging isolated Element 108 from just three atoms.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8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4_element108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01168" y="640080"/>
            <a:ext cx="5486400" cy="3858768"/>
          </a:xfrm>
          <a:prstGeom prst="rect">
            <a:avLst/>
          </a:prstGeom>
        </p:spPr>
      </p:pic>
      <p:pic>
        <p:nvPicPr>
          <p:cNvPr id="8" name="Image 1" descr="/Users/Reid Hu/OrbitOS/70_Presentations/717_Learning Group-20260916/assets/eq/cap_hs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494907" y="4533184"/>
            <a:ext cx="2898922" cy="159929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852160" y="64008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0" name="Shape 6"/>
          <p:cNvSpPr/>
          <p:nvPr/>
        </p:nvSpPr>
        <p:spPr>
          <a:xfrm>
            <a:off x="5852160" y="640080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1" name="Text 7"/>
          <p:cNvSpPr/>
          <p:nvPr/>
        </p:nvSpPr>
        <p:spPr>
          <a:xfrm>
            <a:off x="6053328" y="71323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  Ungated</a:t>
            </a:r>
            <a:endParaRPr lang="en-US" sz="1300" dirty="0"/>
          </a:p>
        </p:txBody>
      </p:sp>
      <p:pic>
        <p:nvPicPr>
          <p:cNvPr id="12" name="Image 2" descr="/Users/Reid Hu/OrbitOS/70_Presentations/717_Learning Group-20260916/assets/eq/hs_ungated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3328" y="1005840"/>
            <a:ext cx="2156064" cy="320131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852160" y="160020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4" name="Shape 9"/>
          <p:cNvSpPr/>
          <p:nvPr/>
        </p:nvSpPr>
        <p:spPr>
          <a:xfrm>
            <a:off x="5852160" y="1600200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5" name="Text 10"/>
          <p:cNvSpPr/>
          <p:nvPr/>
        </p:nvSpPr>
        <p:spPr>
          <a:xfrm>
            <a:off x="6053328" y="167335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  Implant-correlated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6053328" y="196596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Decay must match a prior implant in time and position.</a:t>
            </a:r>
            <a:endParaRPr lang="en-US" sz="1000" dirty="0"/>
          </a:p>
        </p:txBody>
      </p:sp>
      <p:sp>
        <p:nvSpPr>
          <p:cNvPr id="17" name="Shape 12"/>
          <p:cNvSpPr/>
          <p:nvPr/>
        </p:nvSpPr>
        <p:spPr>
          <a:xfrm>
            <a:off x="5852160" y="256032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5852160" y="2560320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9" name="Text 14"/>
          <p:cNvSpPr/>
          <p:nvPr/>
        </p:nvSpPr>
        <p:spPr>
          <a:xfrm>
            <a:off x="6053328" y="263347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  Heavy-mass window</a:t>
            </a:r>
            <a:endParaRPr lang="en-US" sz="1300" dirty="0"/>
          </a:p>
        </p:txBody>
      </p:sp>
      <p:sp>
        <p:nvSpPr>
          <p:cNvPr id="20" name="Text 15"/>
          <p:cNvSpPr/>
          <p:nvPr/>
        </p:nvSpPr>
        <p:spPr>
          <a:xfrm>
            <a:off x="6053328" y="2926080"/>
            <a:ext cx="2633472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TOF + implant energy select heavy-mass recoils; 2 of 3 atoms survive.</a:t>
            </a:r>
            <a:endParaRPr lang="en-US" sz="1000" dirty="0"/>
          </a:p>
        </p:txBody>
      </p:sp>
      <p:sp>
        <p:nvSpPr>
          <p:cNvPr id="21" name="Shape 16"/>
          <p:cNvSpPr/>
          <p:nvPr/>
        </p:nvSpPr>
        <p:spPr>
          <a:xfrm>
            <a:off x="5852160" y="3520440"/>
            <a:ext cx="297180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22" name="Shape 17"/>
          <p:cNvSpPr/>
          <p:nvPr/>
        </p:nvSpPr>
        <p:spPr>
          <a:xfrm>
            <a:off x="5852160" y="3520440"/>
            <a:ext cx="73152" cy="868680"/>
          </a:xfrm>
          <a:prstGeom prst="rect">
            <a:avLst/>
          </a:prstGeom>
          <a:solidFill>
            <a:srgbClr val="E85D4C"/>
          </a:solidFill>
          <a:ln/>
        </p:spPr>
      </p:sp>
      <p:sp>
        <p:nvSpPr>
          <p:cNvPr id="23" name="Text 18"/>
          <p:cNvSpPr/>
          <p:nvPr/>
        </p:nvSpPr>
        <p:spPr>
          <a:xfrm>
            <a:off x="6053328" y="3593592"/>
            <a:ext cx="2633472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  Daughter generations</a:t>
            </a:r>
            <a:endParaRPr lang="en-US" sz="1300" dirty="0"/>
          </a:p>
        </p:txBody>
      </p:sp>
      <p:pic>
        <p:nvPicPr>
          <p:cNvPr id="24" name="Image 3" descr="/Users/Reid Hu/OrbitOS/70_Presentations/717_Learning Group-20260916/assets/eq/hs_daughter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053328" y="3886200"/>
            <a:ext cx="2528865" cy="320131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Recoil-gamma tagging reveals nuclear structure at the proton drip line.</a:t>
            </a:r>
            <a:endParaRPr lang="en-US" sz="16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9 / 10</a:t>
            </a:r>
            <a:endParaRPr lang="en-US" sz="1000" dirty="0"/>
          </a:p>
        </p:txBody>
      </p:sp>
      <p:pic>
        <p:nvPicPr>
          <p:cNvPr id="7" name="Image 0" descr="/Users/Reid Hu/OrbitOS/70_Presentations/717_Learning Group-20260916/assets/fig17_49mn.jpeg">    </p:cNvPr>
          <p:cNvPicPr>
            <a:picLocks noChangeAspect="1"/>
          </p:cNvPicPr>
          <p:nvPr/>
        </p:nvPicPr>
        <p:blipFill>
          <a:blip r:embed="rId1"/>
          <a:srcRect l="0" r="0" t="0" b="0"/>
          <a:stretch/>
        </p:blipFill>
        <p:spPr>
          <a:xfrm>
            <a:off x="274320" y="658368"/>
            <a:ext cx="4572000" cy="3840480"/>
          </a:xfrm>
          <a:prstGeom prst="rect">
            <a:avLst/>
          </a:prstGeom>
        </p:spPr>
      </p:pic>
      <p:pic>
        <p:nvPicPr>
          <p:cNvPr id="8" name="Image 1" descr="/Users/Reid Hu/OrbitOS/70_Presentations/717_Learning Group-20260916/assets/eq/cap_m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42497" y="4533184"/>
            <a:ext cx="2835646" cy="159929"/>
          </a:xfrm>
          <a:prstGeom prst="rect">
            <a:avLst/>
          </a:prstGeom>
        </p:spPr>
      </p:pic>
      <p:sp>
        <p:nvSpPr>
          <p:cNvPr id="9" name="Shape 5"/>
          <p:cNvSpPr/>
          <p:nvPr/>
        </p:nvSpPr>
        <p:spPr>
          <a:xfrm>
            <a:off x="5029200" y="65836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0" name="Shape 6"/>
          <p:cNvSpPr/>
          <p:nvPr/>
        </p:nvSpPr>
        <p:spPr>
          <a:xfrm>
            <a:off x="5029200" y="65836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1" name="Text 7"/>
          <p:cNvSpPr/>
          <p:nvPr/>
        </p:nvSpPr>
        <p:spPr>
          <a:xfrm>
            <a:off x="5257800" y="73152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Tag at the focal plane</a:t>
            </a:r>
            <a:endParaRPr lang="en-US" sz="1300" dirty="0"/>
          </a:p>
        </p:txBody>
      </p:sp>
      <p:pic>
        <p:nvPicPr>
          <p:cNvPr id="12" name="Image 2" descr="/Users/Reid Hu/OrbitOS/70_Presentations/717_Learning Group-20260916/assets/eq/mn_tag_b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257800" y="1024128"/>
            <a:ext cx="2443734" cy="373990"/>
          </a:xfrm>
          <a:prstGeom prst="rect">
            <a:avLst/>
          </a:prstGeom>
        </p:spPr>
      </p:pic>
      <p:sp>
        <p:nvSpPr>
          <p:cNvPr id="13" name="Shape 8"/>
          <p:cNvSpPr/>
          <p:nvPr/>
        </p:nvSpPr>
        <p:spPr>
          <a:xfrm>
            <a:off x="5029200" y="161848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4" name="Shape 9"/>
          <p:cNvSpPr/>
          <p:nvPr/>
        </p:nvSpPr>
        <p:spPr>
          <a:xfrm>
            <a:off x="5029200" y="161848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5" name="Text 10"/>
          <p:cNvSpPr/>
          <p:nvPr/>
        </p:nvSpPr>
        <p:spPr>
          <a:xfrm>
            <a:off x="5257800" y="169164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Background suppressed</a:t>
            </a:r>
            <a:endParaRPr lang="en-US" sz="1300" dirty="0"/>
          </a:p>
        </p:txBody>
      </p:sp>
      <p:sp>
        <p:nvSpPr>
          <p:cNvPr id="16" name="Text 11"/>
          <p:cNvSpPr/>
          <p:nvPr/>
        </p:nvSpPr>
        <p:spPr>
          <a:xfrm>
            <a:off x="5257800" y="1984248"/>
            <a:ext cx="3429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 excitation, fission, and target impurities drop out of the spectrum.</a:t>
            </a:r>
            <a:endParaRPr lang="en-US" sz="1200" dirty="0"/>
          </a:p>
        </p:txBody>
      </p:sp>
      <p:sp>
        <p:nvSpPr>
          <p:cNvPr id="17" name="Shape 12"/>
          <p:cNvSpPr/>
          <p:nvPr/>
        </p:nvSpPr>
        <p:spPr>
          <a:xfrm>
            <a:off x="5029200" y="257860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18" name="Shape 13"/>
          <p:cNvSpPr/>
          <p:nvPr/>
        </p:nvSpPr>
        <p:spPr>
          <a:xfrm>
            <a:off x="5029200" y="257860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9" name="Text 14"/>
          <p:cNvSpPr/>
          <p:nvPr/>
        </p:nvSpPr>
        <p:spPr>
          <a:xfrm>
            <a:off x="5257800" y="265176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Drip-line structure</a:t>
            </a:r>
            <a:endParaRPr lang="en-US" sz="1300" dirty="0"/>
          </a:p>
        </p:txBody>
      </p:sp>
      <p:pic>
        <p:nvPicPr>
          <p:cNvPr id="20" name="Image 3" descr="/Users/Reid Hu/OrbitOS/70_Presentations/717_Learning Group-20260916/assets/eq/mn_drip_b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257800" y="2944368"/>
            <a:ext cx="3400196" cy="388254"/>
          </a:xfrm>
          <a:prstGeom prst="rect">
            <a:avLst/>
          </a:prstGeom>
        </p:spPr>
      </p:pic>
      <p:sp>
        <p:nvSpPr>
          <p:cNvPr id="21" name="Shape 15"/>
          <p:cNvSpPr/>
          <p:nvPr/>
        </p:nvSpPr>
        <p:spPr>
          <a:xfrm>
            <a:off x="5029200" y="3538728"/>
            <a:ext cx="3794760" cy="868680"/>
          </a:xfrm>
          <a:prstGeom prst="roundRect">
            <a:avLst>
              <a:gd name="adj" fmla="val 6316"/>
            </a:avLst>
          </a:prstGeom>
          <a:solidFill>
            <a:srgbClr val="F7F9FC"/>
          </a:solidFill>
          <a:ln/>
        </p:spPr>
      </p:sp>
      <p:sp>
        <p:nvSpPr>
          <p:cNvPr id="22" name="Shape 16"/>
          <p:cNvSpPr/>
          <p:nvPr/>
        </p:nvSpPr>
        <p:spPr>
          <a:xfrm>
            <a:off x="5029200" y="3538728"/>
            <a:ext cx="73152" cy="868680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23" name="Text 17"/>
          <p:cNvSpPr/>
          <p:nvPr/>
        </p:nvSpPr>
        <p:spPr>
          <a:xfrm>
            <a:off x="5257800" y="3611880"/>
            <a:ext cx="3429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Why Daresbury</a:t>
            </a:r>
            <a:endParaRPr lang="en-US" sz="1300" dirty="0"/>
          </a:p>
        </p:txBody>
      </p:sp>
      <p:pic>
        <p:nvPicPr>
          <p:cNvPr id="24" name="Image 4" descr="/Users/Reid Hu/OrbitOS/70_Presentations/717_Learning Group-20260916/assets/eq/mn_why_b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257800" y="3904488"/>
            <a:ext cx="3048244" cy="343266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1749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11480" y="256032"/>
            <a:ext cx="3657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Outline</a:t>
            </a:r>
            <a:endParaRPr lang="en-US" sz="2800" dirty="0"/>
          </a:p>
        </p:txBody>
      </p:sp>
      <p:sp>
        <p:nvSpPr>
          <p:cNvPr id="3" name="Text 1"/>
          <p:cNvSpPr/>
          <p:nvPr/>
        </p:nvSpPr>
        <p:spPr>
          <a:xfrm>
            <a:off x="594360" y="960120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1. Why separate by velocity?</a:t>
            </a:r>
            <a:endParaRPr lang="en-US" sz="1800" dirty="0"/>
          </a:p>
        </p:txBody>
      </p:sp>
      <p:sp>
        <p:nvSpPr>
          <p:cNvPr id="4" name="Text 2"/>
          <p:cNvSpPr/>
          <p:nvPr/>
        </p:nvSpPr>
        <p:spPr>
          <a:xfrm>
            <a:off x="594360" y="1673352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2. Why is zero dispersion an advantage?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594360" y="2386584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3. How are velocity filters built?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594360" y="3099816"/>
            <a:ext cx="7680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4. What discoveries rely on this sensitivity?</a:t>
            </a:r>
            <a:endParaRPr lang="en-US" sz="1800" dirty="0"/>
          </a:p>
        </p:txBody>
      </p:sp>
      <p:sp>
        <p:nvSpPr>
          <p:cNvPr id="7" name="Shape 5"/>
          <p:cNvSpPr/>
          <p:nvPr/>
        </p:nvSpPr>
        <p:spPr>
          <a:xfrm>
            <a:off x="365760" y="3703320"/>
            <a:ext cx="8046720" cy="566928"/>
          </a:xfrm>
          <a:prstGeom prst="roundRect">
            <a:avLst>
              <a:gd name="adj" fmla="val 12903"/>
            </a:avLst>
          </a:prstGeom>
          <a:solidFill>
            <a:srgbClr val="FFFFFF"/>
          </a:solidFill>
          <a:ln/>
          <a:effectLst>
            <a:outerShdw sx="100000" sy="100000" kx="0" ky="0" algn="bl" rotWithShape="0" blurRad="101600" dist="25400" dir="8100000">
              <a:srgbClr val="00000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594360" y="3794760"/>
            <a:ext cx="7680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5. Where do velocity filters fit?</a:t>
            </a:r>
            <a:endParaRPr lang="en-US" sz="18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521208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3" name="Text 1"/>
          <p:cNvSpPr/>
          <p:nvPr/>
        </p:nvSpPr>
        <p:spPr>
          <a:xfrm>
            <a:off x="411480" y="73152"/>
            <a:ext cx="83210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filters fill a unique niche for low-energy fusion.</a:t>
            </a:r>
            <a:endParaRPr lang="en-US" sz="1800" dirty="0"/>
          </a:p>
        </p:txBody>
      </p:sp>
      <p:sp>
        <p:nvSpPr>
          <p:cNvPr id="4" name="Shape 2"/>
          <p:cNvSpPr/>
          <p:nvPr/>
        </p:nvSpPr>
        <p:spPr>
          <a:xfrm>
            <a:off x="347472" y="4864608"/>
            <a:ext cx="8458200" cy="13716"/>
          </a:xfrm>
          <a:prstGeom prst="rect">
            <a:avLst/>
          </a:prstGeom>
          <a:solidFill>
            <a:srgbClr val="174994"/>
          </a:solidFill>
          <a:ln w="12700">
            <a:solidFill>
              <a:srgbClr val="174994"/>
            </a:solidFill>
            <a:prstDash val="solid"/>
          </a:ln>
        </p:spPr>
      </p:sp>
      <p:sp>
        <p:nvSpPr>
          <p:cNvPr id="5" name="Text 3"/>
          <p:cNvSpPr/>
          <p:nvPr/>
        </p:nvSpPr>
        <p:spPr>
          <a:xfrm>
            <a:off x="457200" y="4892040"/>
            <a:ext cx="68580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</a:t>
            </a:r>
            <a:endParaRPr lang="en-US" sz="1000" dirty="0"/>
          </a:p>
        </p:txBody>
      </p:sp>
      <p:sp>
        <p:nvSpPr>
          <p:cNvPr id="6" name="Text 4"/>
          <p:cNvSpPr/>
          <p:nvPr/>
        </p:nvSpPr>
        <p:spPr>
          <a:xfrm>
            <a:off x="7680960" y="4892040"/>
            <a:ext cx="109728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B73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10 / 10</a:t>
            </a:r>
            <a:endParaRPr lang="en-US" sz="1000" dirty="0"/>
          </a:p>
        </p:txBody>
      </p:sp>
      <p:sp>
        <p:nvSpPr>
          <p:cNvPr id="7" name="Shape 5"/>
          <p:cNvSpPr/>
          <p:nvPr/>
        </p:nvSpPr>
        <p:spPr>
          <a:xfrm>
            <a:off x="365760" y="685800"/>
            <a:ext cx="8412480" cy="384048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8" name="Text 6"/>
          <p:cNvSpPr/>
          <p:nvPr/>
        </p:nvSpPr>
        <p:spPr>
          <a:xfrm>
            <a:off x="502920" y="731520"/>
            <a:ext cx="19202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Device</a:t>
            </a:r>
            <a:endParaRPr lang="en-US" sz="1400" dirty="0"/>
          </a:p>
        </p:txBody>
      </p:sp>
      <p:sp>
        <p:nvSpPr>
          <p:cNvPr id="9" name="Text 7"/>
          <p:cNvSpPr/>
          <p:nvPr/>
        </p:nvSpPr>
        <p:spPr>
          <a:xfrm>
            <a:off x="2468880" y="731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Use when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23560" y="731520"/>
            <a:ext cx="30175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Not when</a:t>
            </a:r>
            <a:endParaRPr lang="en-US" sz="1400" dirty="0"/>
          </a:p>
        </p:txBody>
      </p:sp>
      <p:sp>
        <p:nvSpPr>
          <p:cNvPr id="11" name="Shape 9"/>
          <p:cNvSpPr/>
          <p:nvPr/>
        </p:nvSpPr>
        <p:spPr>
          <a:xfrm>
            <a:off x="365760" y="1115568"/>
            <a:ext cx="8412480" cy="603504"/>
          </a:xfrm>
          <a:prstGeom prst="rect">
            <a:avLst/>
          </a:prstGeom>
          <a:solidFill>
            <a:srgbClr val="E8F0FA"/>
          </a:solidFill>
          <a:ln/>
        </p:spPr>
      </p:sp>
      <p:sp>
        <p:nvSpPr>
          <p:cNvPr id="12" name="Shape 10"/>
          <p:cNvSpPr/>
          <p:nvPr/>
        </p:nvSpPr>
        <p:spPr>
          <a:xfrm>
            <a:off x="365760" y="1115568"/>
            <a:ext cx="73152" cy="603504"/>
          </a:xfrm>
          <a:prstGeom prst="rect">
            <a:avLst/>
          </a:prstGeom>
          <a:solidFill>
            <a:srgbClr val="174994"/>
          </a:solidFill>
          <a:ln/>
        </p:spPr>
      </p:sp>
      <p:sp>
        <p:nvSpPr>
          <p:cNvPr id="13" name="Text 11"/>
          <p:cNvSpPr/>
          <p:nvPr/>
        </p:nvSpPr>
        <p:spPr>
          <a:xfrm>
            <a:off x="502920" y="1243584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 filter</a:t>
            </a:r>
            <a:endParaRPr lang="en-US" sz="1300" dirty="0"/>
          </a:p>
        </p:txBody>
      </p:sp>
      <p:sp>
        <p:nvSpPr>
          <p:cNvPr id="14" name="Text 12"/>
          <p:cNvSpPr/>
          <p:nvPr/>
        </p:nvSpPr>
        <p:spPr>
          <a:xfrm>
            <a:off x="2468880" y="124358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Coulomb-barrier fusion; highest transmission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623560" y="1243584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No in-flight mass ID — decay spectroscopy afterward</a:t>
            </a:r>
            <a:endParaRPr lang="en-US" sz="1200" dirty="0"/>
          </a:p>
        </p:txBody>
      </p:sp>
      <p:sp>
        <p:nvSpPr>
          <p:cNvPr id="16" name="Shape 14"/>
          <p:cNvSpPr/>
          <p:nvPr/>
        </p:nvSpPr>
        <p:spPr>
          <a:xfrm>
            <a:off x="365760" y="1773936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17" name="Text 15"/>
          <p:cNvSpPr/>
          <p:nvPr/>
        </p:nvSpPr>
        <p:spPr>
          <a:xfrm>
            <a:off x="502920" y="1901952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RMS / FMA</a:t>
            </a:r>
            <a:endParaRPr lang="en-US" sz="1300" dirty="0"/>
          </a:p>
        </p:txBody>
      </p:sp>
      <p:pic>
        <p:nvPicPr>
          <p:cNvPr id="18" name="Image 0" descr="/Users/Reid Hu/OrbitOS/70_Presentations/717_Learning Group-20260916/assets/eq/row_rms_w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68880" y="1994078"/>
            <a:ext cx="1703802" cy="163220"/>
          </a:xfrm>
          <a:prstGeom prst="rect">
            <a:avLst/>
          </a:prstGeom>
        </p:spPr>
      </p:pic>
      <p:pic>
        <p:nvPicPr>
          <p:cNvPr id="19" name="Image 1" descr="/Users/Reid Hu/OrbitOS/70_Presentations/717_Learning Group-20260916/assets/eq/row_rms_n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623560" y="1993986"/>
            <a:ext cx="2339218" cy="163403"/>
          </a:xfrm>
          <a:prstGeom prst="rect">
            <a:avLst/>
          </a:prstGeom>
        </p:spPr>
      </p:pic>
      <p:sp>
        <p:nvSpPr>
          <p:cNvPr id="20" name="Shape 16"/>
          <p:cNvSpPr/>
          <p:nvPr/>
        </p:nvSpPr>
        <p:spPr>
          <a:xfrm>
            <a:off x="365760" y="2432304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1" name="Text 17"/>
          <p:cNvSpPr/>
          <p:nvPr/>
        </p:nvSpPr>
        <p:spPr>
          <a:xfrm>
            <a:off x="502920" y="2560320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RF separator</a:t>
            </a:r>
            <a:endParaRPr lang="en-US" sz="1300" dirty="0"/>
          </a:p>
        </p:txBody>
      </p:sp>
      <p:sp>
        <p:nvSpPr>
          <p:cNvPr id="22" name="Text 18"/>
          <p:cNvSpPr/>
          <p:nvPr/>
        </p:nvSpPr>
        <p:spPr>
          <a:xfrm>
            <a:off x="2468880" y="2560320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Pulsed beams; TOF phase</a:t>
            </a:r>
            <a:endParaRPr lang="en-US" sz="1200" dirty="0"/>
          </a:p>
        </p:txBody>
      </p:sp>
      <p:pic>
        <p:nvPicPr>
          <p:cNvPr id="23" name="Image 2" descr="/Users/Reid Hu/OrbitOS/70_Presentations/717_Learning Group-20260916/assets/eq/row_rf_n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623560" y="2652354"/>
            <a:ext cx="1796247" cy="163403"/>
          </a:xfrm>
          <a:prstGeom prst="rect">
            <a:avLst/>
          </a:prstGeom>
        </p:spPr>
      </p:pic>
      <p:sp>
        <p:nvSpPr>
          <p:cNvPr id="24" name="Shape 19"/>
          <p:cNvSpPr/>
          <p:nvPr/>
        </p:nvSpPr>
        <p:spPr>
          <a:xfrm>
            <a:off x="365760" y="3090672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5" name="Text 20"/>
          <p:cNvSpPr/>
          <p:nvPr/>
        </p:nvSpPr>
        <p:spPr>
          <a:xfrm>
            <a:off x="502920" y="3218688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Gas-filled</a:t>
            </a:r>
            <a:endParaRPr lang="en-US" sz="1300" dirty="0"/>
          </a:p>
        </p:txBody>
      </p:sp>
      <p:sp>
        <p:nvSpPr>
          <p:cNvPr id="26" name="Text 21"/>
          <p:cNvSpPr/>
          <p:nvPr/>
        </p:nvSpPr>
        <p:spPr>
          <a:xfrm>
            <a:off x="2468880" y="32186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Very asymmetric reactions; actinide targets; high efficiency</a:t>
            </a:r>
            <a:endParaRPr lang="en-US" sz="1200" dirty="0"/>
          </a:p>
        </p:txBody>
      </p:sp>
      <p:sp>
        <p:nvSpPr>
          <p:cNvPr id="27" name="Text 22"/>
          <p:cNvSpPr/>
          <p:nvPr/>
        </p:nvSpPr>
        <p:spPr>
          <a:xfrm>
            <a:off x="5623560" y="3218688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Scattering; no velocity resolution</a:t>
            </a:r>
            <a:endParaRPr lang="en-US" sz="1200" dirty="0"/>
          </a:p>
        </p:txBody>
      </p:sp>
      <p:sp>
        <p:nvSpPr>
          <p:cNvPr id="28" name="Shape 23"/>
          <p:cNvSpPr/>
          <p:nvPr/>
        </p:nvSpPr>
        <p:spPr>
          <a:xfrm>
            <a:off x="365760" y="3749040"/>
            <a:ext cx="8412480" cy="603504"/>
          </a:xfrm>
          <a:prstGeom prst="rect">
            <a:avLst/>
          </a:prstGeom>
          <a:solidFill>
            <a:srgbClr val="F7F9FC"/>
          </a:solidFill>
          <a:ln/>
        </p:spPr>
      </p:sp>
      <p:sp>
        <p:nvSpPr>
          <p:cNvPr id="29" name="Text 24"/>
          <p:cNvSpPr/>
          <p:nvPr/>
        </p:nvSpPr>
        <p:spPr>
          <a:xfrm>
            <a:off x="502920" y="3877056"/>
            <a:ext cx="192024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Fragment separator</a:t>
            </a:r>
            <a:endParaRPr lang="en-US" sz="1300" dirty="0"/>
          </a:p>
        </p:txBody>
      </p:sp>
      <p:pic>
        <p:nvPicPr>
          <p:cNvPr id="30" name="Image 3" descr="/Users/Reid Hu/OrbitOS/70_Presentations/717_Learning Group-20260916/assets/eq/row_frag_w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468880" y="3974028"/>
            <a:ext cx="1754094" cy="153528"/>
          </a:xfrm>
          <a:prstGeom prst="rect">
            <a:avLst/>
          </a:prstGeom>
        </p:spPr>
      </p:pic>
      <p:sp>
        <p:nvSpPr>
          <p:cNvPr id="31" name="Text 25"/>
          <p:cNvSpPr/>
          <p:nvPr/>
        </p:nvSpPr>
        <p:spPr>
          <a:xfrm>
            <a:off x="5623560" y="3877056"/>
            <a:ext cx="3017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Wrong energy regime; degraders destroy slow beams</a:t>
            </a:r>
            <a:endParaRPr lang="en-US" sz="12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174994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411480"/>
            <a:ext cx="82296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Contributions</a:t>
            </a:r>
            <a:endParaRPr lang="en-US" sz="2800" dirty="0"/>
          </a:p>
        </p:txBody>
      </p:sp>
      <p:sp>
        <p:nvSpPr>
          <p:cNvPr id="3" name="Shape 1"/>
          <p:cNvSpPr/>
          <p:nvPr/>
        </p:nvSpPr>
        <p:spPr>
          <a:xfrm>
            <a:off x="457200" y="109728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4" name="Shape 2"/>
          <p:cNvSpPr/>
          <p:nvPr/>
        </p:nvSpPr>
        <p:spPr>
          <a:xfrm>
            <a:off x="640080" y="1298448"/>
            <a:ext cx="502920" cy="502920"/>
          </a:xfrm>
          <a:prstGeom prst="ellipse">
            <a:avLst/>
          </a:prstGeom>
          <a:solidFill>
            <a:srgbClr val="174994"/>
          </a:solidFill>
          <a:ln/>
        </p:spPr>
      </p:sp>
      <p:sp>
        <p:nvSpPr>
          <p:cNvPr id="5" name="Text 3"/>
          <p:cNvSpPr/>
          <p:nvPr/>
        </p:nvSpPr>
        <p:spPr>
          <a:xfrm>
            <a:off x="640080" y="135331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1</a:t>
            </a:r>
            <a:endParaRPr lang="en-US" sz="1800" dirty="0"/>
          </a:p>
        </p:txBody>
      </p:sp>
      <p:sp>
        <p:nvSpPr>
          <p:cNvPr id="6" name="Text 4"/>
          <p:cNvSpPr/>
          <p:nvPr/>
        </p:nvSpPr>
        <p:spPr>
          <a:xfrm>
            <a:off x="1371600" y="120700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Velocity-based separation yields zero charge dispersion.</a:t>
            </a:r>
            <a:endParaRPr lang="en-US" sz="1600" dirty="0"/>
          </a:p>
        </p:txBody>
      </p:sp>
      <p:sp>
        <p:nvSpPr>
          <p:cNvPr id="7" name="Text 5"/>
          <p:cNvSpPr/>
          <p:nvPr/>
        </p:nvSpPr>
        <p:spPr>
          <a:xfrm>
            <a:off x="1371600" y="157276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All charge states of the fusion velocity are transmitted together.</a:t>
            </a:r>
            <a:endParaRPr lang="en-US" sz="1300" dirty="0"/>
          </a:p>
        </p:txBody>
      </p:sp>
      <p:sp>
        <p:nvSpPr>
          <p:cNvPr id="8" name="Shape 6"/>
          <p:cNvSpPr/>
          <p:nvPr/>
        </p:nvSpPr>
        <p:spPr>
          <a:xfrm>
            <a:off x="457200" y="214884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9" name="Shape 7"/>
          <p:cNvSpPr/>
          <p:nvPr/>
        </p:nvSpPr>
        <p:spPr>
          <a:xfrm>
            <a:off x="640080" y="2350008"/>
            <a:ext cx="502920" cy="502920"/>
          </a:xfrm>
          <a:prstGeom prst="ellipse">
            <a:avLst/>
          </a:prstGeom>
          <a:solidFill>
            <a:srgbClr val="174994"/>
          </a:solidFill>
          <a:ln/>
        </p:spPr>
      </p:sp>
      <p:sp>
        <p:nvSpPr>
          <p:cNvPr id="10" name="Text 8"/>
          <p:cNvSpPr/>
          <p:nvPr/>
        </p:nvSpPr>
        <p:spPr>
          <a:xfrm>
            <a:off x="640080" y="240487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2</a:t>
            </a:r>
            <a:endParaRPr lang="en-US" sz="1800" dirty="0"/>
          </a:p>
        </p:txBody>
      </p:sp>
      <p:sp>
        <p:nvSpPr>
          <p:cNvPr id="11" name="Text 9"/>
          <p:cNvSpPr/>
          <p:nvPr/>
        </p:nvSpPr>
        <p:spPr>
          <a:xfrm>
            <a:off x="1371600" y="225856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Separated-field design keeps the beam off the condenser plates.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1371600" y="2624328"/>
            <a:ext cx="704088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dirty="0">
                <a:solidFill>
                  <a:srgbClr val="1A2332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Condenser-first SHIP dumps the primary beam before it can hit the plates.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457200" y="3200400"/>
            <a:ext cx="8229600" cy="9144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/>
        </p:spPr>
      </p:sp>
      <p:sp>
        <p:nvSpPr>
          <p:cNvPr id="14" name="Shape 12"/>
          <p:cNvSpPr/>
          <p:nvPr/>
        </p:nvSpPr>
        <p:spPr>
          <a:xfrm>
            <a:off x="640080" y="3401568"/>
            <a:ext cx="502920" cy="502920"/>
          </a:xfrm>
          <a:prstGeom prst="ellipse">
            <a:avLst/>
          </a:prstGeom>
          <a:solidFill>
            <a:srgbClr val="174994"/>
          </a:solidFill>
          <a:ln/>
        </p:spPr>
      </p:sp>
      <p:sp>
        <p:nvSpPr>
          <p:cNvPr id="15" name="Text 13"/>
          <p:cNvSpPr/>
          <p:nvPr/>
        </p:nvSpPr>
        <p:spPr>
          <a:xfrm>
            <a:off x="640080" y="3456432"/>
            <a:ext cx="5029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3</a:t>
            </a:r>
            <a:endParaRPr lang="en-US" sz="1800" dirty="0"/>
          </a:p>
        </p:txBody>
      </p:sp>
      <p:sp>
        <p:nvSpPr>
          <p:cNvPr id="16" name="Text 14"/>
          <p:cNvSpPr/>
          <p:nvPr/>
        </p:nvSpPr>
        <p:spPr>
          <a:xfrm>
            <a:off x="1371600" y="3310128"/>
            <a:ext cx="70408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4994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Enables picobarn sensitivity through decay tagging.</a:t>
            </a:r>
            <a:endParaRPr lang="en-US" sz="1600" dirty="0"/>
          </a:p>
        </p:txBody>
      </p:sp>
      <p:pic>
        <p:nvPicPr>
          <p:cNvPr id="17" name="Image 0" descr="/Users/Reid Hu/OrbitOS/70_Presentations/717_Learning Group-20260916/assets/eq/contrib_decay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371600" y="3735050"/>
            <a:ext cx="6394491" cy="201717"/>
          </a:xfrm>
          <a:prstGeom prst="rect">
            <a:avLst/>
          </a:prstGeom>
        </p:spPr>
      </p:pic>
      <p:sp>
        <p:nvSpPr>
          <p:cNvPr id="18" name="Text 15"/>
          <p:cNvSpPr/>
          <p:nvPr/>
        </p:nvSpPr>
        <p:spPr>
          <a:xfrm>
            <a:off x="457200" y="4434840"/>
            <a:ext cx="82296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dirty="0">
                <a:solidFill>
                  <a:srgbClr val="A8C4E8"/>
                </a:solidFill>
                <a:latin typeface="Times New Roman" pitchFamily="34" charset="0"/>
                <a:ea typeface="Times New Roman" pitchFamily="34" charset="-122"/>
                <a:cs typeface="Times New Roman" pitchFamily="34" charset="-120"/>
              </a:rPr>
              <a:t>Learning Group  ·  Zhiheng Hu  ·  16 Sep 2026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Times New Roman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Times New Roman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18</Slides>
  <Notes>18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18</vt:i4>
      </vt:variant>
    </vt:vector>
  </HeadingPairs>
  <TitlesOfParts>
    <vt:vector size="2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Velocity Filters</dc:title>
  <dc:subject>Learning Group — Exp. Techniques NP Ch. 11 §III.B</dc:subject>
  <dc:creator>Zhiheng Hu</dc:creator>
  <cp:lastModifiedBy>Zhiheng Hu</cp:lastModifiedBy>
  <cp:revision>1</cp:revision>
  <dcterms:created xsi:type="dcterms:W3CDTF">2026-09-17T01:30:05Z</dcterms:created>
  <dcterms:modified xsi:type="dcterms:W3CDTF">2026-09-17T01:30:05Z</dcterms:modified>
</cp:coreProperties>
</file>