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4" r:id="rId3"/>
    <p:sldId id="257" r:id="rId4"/>
    <p:sldId id="258" r:id="rId5"/>
    <p:sldId id="275" r:id="rId6"/>
    <p:sldId id="259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6446"/>
    <p:restoredTop sz="96932"/>
  </p:normalViewPr>
  <p:slideViewPr>
    <p:cSldViewPr snapToGrid="0" snapToObjects="1">
      <p:cViewPr>
        <p:scale>
          <a:sx n="174" d="100"/>
          <a:sy n="174" d="100"/>
        </p:scale>
        <p:origin x="400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5704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the learning group. Today we cover velocity filters from Chapter 11. I will show you why a filter that ignores mass is the most sensitive way to find superheavy elements.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At GSI, SHIP ran an iron beam on a lead target for ten days: 6 × 10¹⁷ projectiles. Three atoms of element 108 came out — flying in the same direction as the beam. How would you pick those three out? That is the job of a separator, and today's device does it by velocity.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Here is the plan: four questions, and each answer raises the next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First of four. A mass spectrometer is the tool we all learned. Why not use one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245F7-AB87-0E55-ACAE-506182E70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C84A9-353C-769C-7243-104E380FC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B9A7F9-A192-6298-8C4D-1F55C4006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Recall how a mass spectrometer works: a magnet bends each ion by momentum over charge. Here is the catch. In complete fusion, the compound nucleus takes the full projectile momentum, so to a magnet the residue looks almost like the beam — the book shows their magnetic rigidities nearly coincide (Fig. 9).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77850-BAE1-5AAB-2464-2C755CC4BE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7039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But that momentum now sits on a much heavier nucleus, so it moves at the </a:t>
            </a:r>
            <a:r>
              <a:rPr dirty="0" err="1"/>
              <a:t>centre</a:t>
            </a:r>
            <a:r>
              <a:rPr dirty="0"/>
              <a:t>-of-mass velocity: for iron on lead, about a fifth of the beam speed. Same momentum, lower speed — that is our handle.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Evaporation is how the hot compound nucleus cools down: it boils off a few neutrons, protons or alphas. Each one kicks the residue in a random direction. Random kicks add in quadrature, and the 3 keeps the part along one axis. Compare that with the projectile momentum in the denominator: a heavy beam makes it large, so the residues stay in a narrow forward cone.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But a magnet is not the whole story: recoil mass separators add electric fields, and they do separate residues from the beam. Their catch is the charge state. They disperse by A/q, and heavy ions emerge in a spread of charge states </a:t>
            </a:r>
            <a:r>
              <a:rPr dirty="0" err="1"/>
              <a:t>centred</a:t>
            </a:r>
            <a:r>
              <a:rPr dirty="0"/>
              <a:t> near q ≈ 20 — about five states carry the intensity. A mass separator keeps only one or two, losing most of the yield. On the left, schematically: one residue species arrives in about five charge states; the separator transmits the navy one, and the grey ones are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Second time, same idea: same momentum, lower speed. In a pure velocity filter, the condition v = E/B does not contain the charge. All charge states of the chosen velocity pass through, giving near-100% charge-state transmission and, at SHIP, suppressing </a:t>
            </a:r>
            <a:r>
              <a:rPr dirty="0" err="1"/>
              <a:t>unretarded</a:t>
            </a:r>
            <a:r>
              <a:rPr dirty="0"/>
              <a:t> projectiles by more than 10¹⁶. E here is the electric field, not kinetic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Second of four. For element 108, about 2 × 10¹⁷ projectiles hit the target for every atom caught. How does the filter survive that beam?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SHIP at GSI. Notice it is not a crossed-field Wien filter. The electric condenser comes first. It deflects the primary beam away immediately, so the beam never hits the plates — no scattered background, no heat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contrast, Daresbury uses crossed E and B fields, followed by a magnetic spectrometer to refocus the energy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Third of four. Back to the trade-off from slide 8: the filter never measures mass in flight. So how do we know what we caught?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SHIP separates in under 2 microseconds, we can implant short-lived residues into silicon. Here is the first ground-state proton decay from Lutetium-151, cleanly isolated from the alpha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Back to the three atoms from the start. Out of 6 × 10¹⁷ projectiles over ten days, SHIP produced just three atoms of element 108. Because SHIP does not measure mass, we prove the isotope by watching it alpha-decay step by step into known daughters.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At Daresbury, they surround the target with gamma detectors. By only looking at gammas coincident with a mass-selected recoil at the focal plane, the Coulomb-excitation and target-impurity background disappears.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Last of four: when is a velocity filter the wrong tool?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Velocity filters are the best choice for Coulomb-barrier fusion where you need maximum transmission. If you need mass resolution in flight, use an RMS. If you have relativistic energies, use a fragment separator.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summarize: the charge cancels out of the velocity condition, so velocity filters pass every charge state together; SHIP's separated fields survive particle-microampere beams; and this extreme sensitivity makes single-atom discoveries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2"/>
          </p:nvPr>
        </p:nvSpPr>
        <p:spPr>
          <a:xfrm>
            <a:off x="3840480" y="4892040"/>
            <a:ext cx="1463040" cy="201168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marL="0" indent="0" algn="ctr">
              <a:buNone/>
              <a:defRPr sz="100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r>
              <a:rPr lang="en-US" dirty="0"/>
              <a:t>29 Sep 2026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6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200" dirty="0"/>
          </a:p>
        </p:txBody>
      </p:sp>
      <p:pic>
        <p:nvPicPr>
          <p:cNvPr id="6" name="Image 1" descr="/Users/Reid Hu/OrbitOS/70_Presentations/717_Learning Group-20260916/assets/ship_fig12_rubbing_sepa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761488"/>
            <a:ext cx="3520440" cy="23317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0352" y="1078992"/>
            <a:ext cx="5806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Filters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heavy-ion fusion products</a:t>
            </a:r>
            <a:endParaRPr lang="en-US" sz="3400" dirty="0"/>
          </a:p>
        </p:txBody>
      </p:sp>
      <p:sp>
        <p:nvSpPr>
          <p:cNvPr id="8" name="Text 4"/>
          <p:cNvSpPr/>
          <p:nvPr/>
        </p:nvSpPr>
        <p:spPr>
          <a:xfrm>
            <a:off x="548640" y="3401568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Zhiheng Hu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48640" y="3822192"/>
            <a:ext cx="5806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29 </a:t>
            </a:r>
            <a:r>
              <a:rPr lang="en-US" sz="13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 2026  ·  Exp. Techniques NP Ch. 11</a:t>
            </a:r>
            <a:endParaRPr lang="en-US" sz="13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014226-D832-0957-69DE-6D35897CD387}"/>
              </a:ext>
            </a:extLst>
          </p:cNvPr>
          <p:cNvGrpSpPr/>
          <p:nvPr/>
        </p:nvGrpSpPr>
        <p:grpSpPr>
          <a:xfrm>
            <a:off x="6336792" y="129586"/>
            <a:ext cx="2734056" cy="566928"/>
            <a:chOff x="5797296" y="356616"/>
            <a:chExt cx="2734056" cy="566928"/>
          </a:xfrm>
        </p:grpSpPr>
        <p:pic>
          <p:nvPicPr>
            <p:cNvPr id="11" name="Image 0" descr="/Users/Reid Hu/OrbitOS/70_Presentations/717_Learning Group-20260916/assets/imp_mark_white.png">
              <a:extLst>
                <a:ext uri="{FF2B5EF4-FFF2-40B4-BE49-F238E27FC236}">
                  <a16:creationId xmlns:a16="http://schemas.microsoft.com/office/drawing/2014/main" id="{F60E45DF-AB2C-E06F-E1D0-3236767CC7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97296" y="356616"/>
              <a:ext cx="530352" cy="566928"/>
            </a:xfrm>
            <a:prstGeom prst="rect">
              <a:avLst/>
            </a:prstGeom>
          </p:spPr>
        </p:pic>
        <p:sp>
          <p:nvSpPr>
            <p:cNvPr id="12" name="Text 2">
              <a:extLst>
                <a:ext uri="{FF2B5EF4-FFF2-40B4-BE49-F238E27FC236}">
                  <a16:creationId xmlns:a16="http://schemas.microsoft.com/office/drawing/2014/main" id="{3946F8EA-4915-5A58-5D95-5A38FCC85A08}"/>
                </a:ext>
              </a:extLst>
            </p:cNvPr>
            <p:cNvSpPr/>
            <p:nvPr/>
          </p:nvSpPr>
          <p:spPr>
            <a:xfrm>
              <a:off x="6473952" y="365760"/>
              <a:ext cx="205740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Institute of Modern Physics</a:t>
              </a:r>
              <a:endParaRPr lang="en-US" sz="1150" dirty="0"/>
            </a:p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Chinese Academy of Sciences</a:t>
              </a:r>
              <a:endParaRPr lang="en-US" sz="115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 days of beam produced three atoms of hassium (element 108).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62179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Fusion residues leave the target in the beam direction, inside the unreacted beam.</a:t>
            </a:r>
            <a:endParaRPr lang="en-US" sz="1300" dirty="0"/>
          </a:p>
        </p:txBody>
      </p:sp>
      <p:sp>
        <p:nvSpPr>
          <p:cNvPr id="9" name="Text 9"/>
          <p:cNvSpPr txBox="1"/>
          <p:nvPr/>
        </p:nvSpPr>
        <p:spPr>
          <a:xfrm>
            <a:off x="1160342" y="3473005"/>
            <a:ext cx="681106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650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× 10</a:t>
            </a:r>
            <a:r>
              <a:rPr lang="en-US" sz="2650" baseline="30000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r>
              <a:rPr lang="en-US" sz="2650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projectiles  →  3 atoms of element 108</a:t>
            </a:r>
            <a:endParaRPr lang="en-US" sz="2650" dirty="0"/>
          </a:p>
        </p:txBody>
      </p:sp>
      <p:sp>
        <p:nvSpPr>
          <p:cNvPr id="10" name="Text 5"/>
          <p:cNvSpPr/>
          <p:nvPr/>
        </p:nvSpPr>
        <p:spPr>
          <a:xfrm>
            <a:off x="320040" y="411209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(GSI): iron beam on a lead target for 240 h (Ch. 11, Fig. 14)  ·  Illustration: blue = beam, red = fusion residues</a:t>
            </a:r>
            <a:endParaRPr lang="en-US" sz="1000" dirty="0"/>
          </a:p>
        </p:txBody>
      </p:sp>
      <p:grpSp>
        <p:nvGrpSpPr>
          <p:cNvPr id="15" name="Stakes figure + role labels"/>
          <p:cNvGrpSpPr/>
          <p:nvPr/>
        </p:nvGrpSpPr>
        <p:grpSpPr>
          <a:xfrm>
            <a:off x="73804" y="994910"/>
            <a:ext cx="8658716" cy="2467965"/>
            <a:chOff x="73804" y="994910"/>
            <a:chExt cx="8658716" cy="2467965"/>
          </a:xfrm>
        </p:grpSpPr>
        <p:pic>
          <p:nvPicPr>
            <p:cNvPr id="8" name="Picture 7" descr="stakes_beam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1480" y="1280160"/>
              <a:ext cx="8321040" cy="2063843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C96EC0F-B8A1-EDCE-4A35-F0327527C86A}"/>
                </a:ext>
              </a:extLst>
            </p:cNvPr>
            <p:cNvSpPr txBox="1"/>
            <p:nvPr/>
          </p:nvSpPr>
          <p:spPr>
            <a:xfrm>
              <a:off x="73804" y="3093543"/>
              <a:ext cx="1579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/>
                <a:t>Projectile: </a:t>
              </a:r>
              <a:r>
                <a:rPr lang="en-JP" baseline="30000" dirty="0"/>
                <a:t>58</a:t>
              </a:r>
              <a:r>
                <a:rPr lang="en-JP" dirty="0"/>
                <a:t>Fe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402BA1C-ADF4-6AEB-B014-10BC22733E20}"/>
                </a:ext>
              </a:extLst>
            </p:cNvPr>
            <p:cNvSpPr txBox="1"/>
            <p:nvPr/>
          </p:nvSpPr>
          <p:spPr>
            <a:xfrm>
              <a:off x="457200" y="994910"/>
              <a:ext cx="1389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/>
                <a:t>Target: </a:t>
              </a:r>
              <a:r>
                <a:rPr lang="en-JP" baseline="30000" dirty="0"/>
                <a:t>208</a:t>
              </a:r>
              <a:r>
                <a:rPr lang="en-JP" dirty="0"/>
                <a:t>Pb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43637" y="1298448"/>
              <a:ext cx="16310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/>
                <a:t>Residue: </a:t>
              </a:r>
              <a:r>
                <a:rPr lang="en-JP" baseline="30000" dirty="0"/>
                <a:t>265</a:t>
              </a:r>
              <a:r>
                <a:rPr lang="en-JP" dirty="0"/>
                <a:t>108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91859" y="2761488"/>
              <a:ext cx="11346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/>
                <a:t>Ejectile: n</a:t>
              </a:r>
            </a:p>
          </p:txBody>
        </p:sp>
      </p:grpSp>
      <p:sp>
        <p:nvSpPr>
          <p:cNvPr id="16" name="Date Placeholder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1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306323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5039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594360" y="9418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063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D8F59-0B42-9C6C-4C7E-C66CDB800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7C89379-E562-6001-FFEA-A837ECD71135}"/>
              </a:ext>
            </a:extLst>
          </p:cNvPr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24E546-098F-4E7B-B7FC-50B26DF00DC8}"/>
              </a:ext>
            </a:extLst>
          </p:cNvPr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magnet cannot separate the residues from the beam.</a:t>
            </a:r>
            <a:endParaRPr lang="en-US" sz="1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416291B-A032-22E8-2D0D-B2BDC8A145CA}"/>
              </a:ext>
            </a:extLst>
          </p:cNvPr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AEAC1DB-352F-37C6-FD37-988506CCA57A}"/>
              </a:ext>
            </a:extLst>
          </p:cNvPr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31581C4-6D18-9B11-0712-1CF77C687E69}"/>
              </a:ext>
            </a:extLst>
          </p:cNvPr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1 / 11</a:t>
            </a:r>
            <a:endParaRPr lang="en-US" sz="1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A8CF638-64F5-14BC-2E98-03FC4A6F4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96" y="548804"/>
            <a:ext cx="3296652" cy="4045891"/>
          </a:xfrm>
          <a:prstGeom prst="rect">
            <a:avLst/>
          </a:prstGeom>
        </p:spPr>
      </p:pic>
      <p:pic>
        <p:nvPicPr>
          <p:cNvPr id="27" name="Picture 26" descr="eq_rigidity.png">
            <a:extLst>
              <a:ext uri="{FF2B5EF4-FFF2-40B4-BE49-F238E27FC236}">
                <a16:creationId xmlns:a16="http://schemas.microsoft.com/office/drawing/2014/main" id="{4852F821-EBAE-AEA7-1C8B-A042EA6D6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86395"/>
            <a:ext cx="3691158" cy="1414302"/>
          </a:xfrm>
          <a:prstGeom prst="rect">
            <a:avLst/>
          </a:prstGeom>
        </p:spPr>
      </p:pic>
      <p:sp>
        <p:nvSpPr>
          <p:cNvPr id="29" name="Text 29"/>
          <p:cNvSpPr txBox="1"/>
          <p:nvPr/>
        </p:nvSpPr>
        <p:spPr>
          <a:xfrm>
            <a:off x="5802554" y="3226097"/>
            <a:ext cx="1217798" cy="187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Eq. 9  · 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≈ 1</a:t>
            </a:r>
            <a:endParaRPr lang="en-US" sz="1200" dirty="0"/>
          </a:p>
        </p:txBody>
      </p:sp>
      <p:sp>
        <p:nvSpPr>
          <p:cNvPr id="30" name="Text 29"/>
          <p:cNvSpPr/>
          <p:nvPr/>
        </p:nvSpPr>
        <p:spPr>
          <a:xfrm>
            <a:off x="239151" y="4604415"/>
            <a:ext cx="5309849" cy="1871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9  ·  Magnetic rigidity at constant momentum near the Coulomb barrier, vs recoil mass.</a:t>
            </a:r>
            <a:endParaRPr lang="en-US" sz="1000" dirty="0"/>
          </a:p>
        </p:txBody>
      </p:sp>
      <p:sp>
        <p:nvSpPr>
          <p:cNvPr id="31" name="Date Placeholder 3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  <p:extLst>
      <p:ext uri="{BB962C8B-B14F-4D97-AF65-F5344CB8AC3E}">
        <p14:creationId xmlns:p14="http://schemas.microsoft.com/office/powerpoint/2010/main" val="1730819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But the residues are much slower than the beam.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2 / 11</a:t>
            </a:r>
            <a:endParaRPr lang="en-US" sz="1000" dirty="0"/>
          </a:p>
        </p:txBody>
      </p:sp>
      <p:sp>
        <p:nvSpPr>
          <p:cNvPr id="7" name="Text 7"/>
          <p:cNvSpPr txBox="1"/>
          <p:nvPr/>
        </p:nvSpPr>
        <p:spPr>
          <a:xfrm>
            <a:off x="433862" y="610586"/>
            <a:ext cx="8321040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Fusion: projectile (A</a:t>
            </a:r>
            <a:r>
              <a:rPr lang="en-US" sz="1300" i="1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+ target at rest (A</a:t>
            </a:r>
            <a:r>
              <a:rPr lang="en-US" sz="1300" i="1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</a:t>
            </a: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compound nucleus (A</a:t>
            </a:r>
            <a:r>
              <a:rPr lang="en-US" sz="1300" i="1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</a:t>
            </a: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residue + a few evaporated n, p, α.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914400"/>
            <a:ext cx="8321040" cy="2468880"/>
          </a:xfrm>
          <a:prstGeom prst="roundRect">
            <a:avLst>
              <a:gd name="adj" fmla="val 3704"/>
            </a:avLst>
          </a:prstGeom>
          <a:solidFill>
            <a:srgbClr val="E8F0FA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9" name="Image 1" descr="/Users/Reid Hu/OrbitOS/70_Presentations/717_Learning Group-20260916/assets/eq/eq_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5" y="1094333"/>
            <a:ext cx="4471416" cy="944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85232" y="1040451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Residue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heavy remnant of the compound nucleus after it evaporates a few light particles.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2. 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Er = (A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p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/A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c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) E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p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 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the residue’s kinetic energy under full momentum transfer: motion at v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cm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slower than the beam.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3. 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t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 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 </a:t>
            </a:r>
            <a:r>
              <a:rPr lang="en-US" sz="1100" i="1" baseline="30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208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Pb: 208.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4. </a:t>
            </a:r>
            <a:r>
              <a:rPr lang="en-US" sz="1100" b="1" i="1" dirty="0" err="1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v</a:t>
            </a:r>
            <a:r>
              <a:rPr lang="en-US" sz="1100" b="1" i="1" baseline="-25000" dirty="0" err="1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cm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 = (A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p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/A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c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) </a:t>
            </a:r>
            <a:r>
              <a:rPr lang="en-US" sz="1100" b="1" i="1" dirty="0" err="1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v</a:t>
            </a:r>
            <a:r>
              <a:rPr lang="en-US" sz="1100" b="1" i="1" baseline="-25000" dirty="0" err="1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p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so Δv/v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1 − A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/A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A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/A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the heavier the target, the slower the residue (</a:t>
            </a:r>
            <a:r>
              <a:rPr lang="en-US" sz="1100" i="1" baseline="30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58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 + </a:t>
            </a:r>
            <a:r>
              <a:rPr lang="en-US" sz="1100" i="1" baseline="30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208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Pb: Δv/v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208/266 ≈ 0.78).</a:t>
            </a:r>
            <a:endParaRPr lang="en-US" sz="1100" dirty="0"/>
          </a:p>
        </p:txBody>
      </p:sp>
      <p:pic>
        <p:nvPicPr>
          <p:cNvPr id="11" name="Image 2" descr="/Users/Reid Hu/OrbitOS/70_Presentations/717_Learning Group-20260916/assets/eq/eq_v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52" y="2227758"/>
            <a:ext cx="3404616" cy="762000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999805" y="3078220"/>
            <a:ext cx="365150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Eq. 2  ·  complete momentum transfer  · 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41148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Text 8"/>
          <p:cNvSpPr/>
          <p:nvPr/>
        </p:nvSpPr>
        <p:spPr>
          <a:xfrm>
            <a:off x="548640" y="38404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Fusion residues</a:t>
            </a:r>
            <a:endParaRPr lang="en-US" sz="1300" dirty="0"/>
          </a:p>
        </p:txBody>
      </p:sp>
      <p:sp>
        <p:nvSpPr>
          <p:cNvPr id="15" name="Text 15"/>
          <p:cNvSpPr txBox="1"/>
          <p:nvPr/>
        </p:nvSpPr>
        <p:spPr>
          <a:xfrm>
            <a:off x="551658" y="4082318"/>
            <a:ext cx="2423160" cy="37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Travel at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200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cm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This is the velocity the filter is tuned to pass.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324612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7" name="Text 10"/>
          <p:cNvSpPr/>
          <p:nvPr/>
        </p:nvSpPr>
        <p:spPr>
          <a:xfrm>
            <a:off x="3383280" y="38404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Unreacted beam</a:t>
            </a:r>
            <a:endParaRPr lang="en-US" sz="1300" dirty="0"/>
          </a:p>
        </p:txBody>
      </p:sp>
      <p:sp>
        <p:nvSpPr>
          <p:cNvPr id="18" name="Text 18"/>
          <p:cNvSpPr txBox="1"/>
          <p:nvPr/>
        </p:nvSpPr>
        <p:spPr>
          <a:xfrm>
            <a:off x="3380262" y="4082318"/>
            <a:ext cx="2423160" cy="373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Stays near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200" i="1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The mismatch Δ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set only by the mass ratio.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608076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0" name="Text 12"/>
          <p:cNvSpPr/>
          <p:nvPr/>
        </p:nvSpPr>
        <p:spPr>
          <a:xfrm>
            <a:off x="6217920" y="38404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 channels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6217920" y="410565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 stays near beam or target velocity; fission-after-fusion spreads over a wide lab-velocity range.</a:t>
            </a:r>
            <a:endParaRPr lang="en-US" sz="1200" dirty="0"/>
          </a:p>
        </p:txBody>
      </p:sp>
      <p:sp>
        <p:nvSpPr>
          <p:cNvPr id="22" name="Oval 21"/>
          <p:cNvSpPr/>
          <p:nvPr/>
        </p:nvSpPr>
        <p:spPr>
          <a:xfrm>
            <a:off x="1490472" y="3511296"/>
            <a:ext cx="310896" cy="310896"/>
          </a:xfrm>
          <a:prstGeom prst="ellipse">
            <a:avLst/>
          </a:prstGeom>
          <a:solidFill>
            <a:srgbClr val="0F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1">
                <a:solidFill>
                  <a:srgbClr val="FFFFFF"/>
                </a:solidFill>
                <a:latin typeface="Times New Roman"/>
              </a:rPr>
              <a:t>vᵣ</a:t>
            </a:r>
          </a:p>
        </p:txBody>
      </p:sp>
      <p:sp>
        <p:nvSpPr>
          <p:cNvPr id="23" name="Oval 22"/>
          <p:cNvSpPr/>
          <p:nvPr/>
        </p:nvSpPr>
        <p:spPr>
          <a:xfrm>
            <a:off x="4325112" y="3511296"/>
            <a:ext cx="310896" cy="310896"/>
          </a:xfrm>
          <a:prstGeom prst="ellipse">
            <a:avLst/>
          </a:prstGeom>
          <a:solidFill>
            <a:srgbClr val="0F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1">
                <a:solidFill>
                  <a:srgbClr val="FFFFFF"/>
                </a:solidFill>
                <a:latin typeface="Times New Roman"/>
              </a:rPr>
              <a:t>vₚ</a:t>
            </a:r>
          </a:p>
        </p:txBody>
      </p:sp>
      <p:sp>
        <p:nvSpPr>
          <p:cNvPr id="24" name="Oval 23"/>
          <p:cNvSpPr/>
          <p:nvPr/>
        </p:nvSpPr>
        <p:spPr>
          <a:xfrm>
            <a:off x="7159752" y="3511296"/>
            <a:ext cx="310896" cy="310896"/>
          </a:xfrm>
          <a:prstGeom prst="ellipse">
            <a:avLst/>
          </a:prstGeom>
          <a:solidFill>
            <a:srgbClr val="0F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1">
                <a:solidFill>
                  <a:srgbClr val="FFFFFF"/>
                </a:solidFill>
                <a:latin typeface="Times New Roman"/>
              </a:rPr>
              <a:t>Δv</a:t>
            </a:r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residues are kinematically focused into a narrow forward cone.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3 / 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62179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heavy projectile brings large forward momentum; a few evaporated particles barely deflect the residue.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97730" y="969264"/>
            <a:ext cx="8321040" cy="1792224"/>
          </a:xfrm>
          <a:prstGeom prst="roundRect">
            <a:avLst>
              <a:gd name="adj" fmla="val 5102"/>
            </a:avLst>
          </a:prstGeom>
          <a:solidFill>
            <a:srgbClr val="E8F0FA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9" name="Image 0" descr="/Users/Reid Hu/OrbitOS/70_Presentations/717_Learning Group-20260916/assets/eq/eq_sig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904" y="1063833"/>
            <a:ext cx="3685032" cy="139598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2517247" y="2478186"/>
            <a:ext cx="618774" cy="17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Eq. 5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1148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2" name="Shape 8"/>
          <p:cNvSpPr/>
          <p:nvPr/>
        </p:nvSpPr>
        <p:spPr>
          <a:xfrm>
            <a:off x="1463040" y="3131820"/>
            <a:ext cx="457200" cy="45720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3" name="Text 13"/>
          <p:cNvSpPr txBox="1"/>
          <p:nvPr/>
        </p:nvSpPr>
        <p:spPr>
          <a:xfrm>
            <a:off x="1460022" y="3220242"/>
            <a:ext cx="457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548640" y="36621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Narrow cone</a:t>
            </a:r>
            <a:endParaRPr lang="en-US" sz="1400" dirty="0"/>
          </a:p>
        </p:txBody>
      </p:sp>
      <p:sp>
        <p:nvSpPr>
          <p:cNvPr id="15" name="Text 15"/>
          <p:cNvSpPr txBox="1"/>
          <p:nvPr/>
        </p:nvSpPr>
        <p:spPr>
          <a:xfrm>
            <a:off x="554766" y="3968018"/>
            <a:ext cx="2423160" cy="373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lab emission half-angle; Ω &lt; 5 msr gives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dirty="0">
                <a:solidFill>
                  <a:srgbClr val="1A23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≲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2.3°.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324612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7" name="Shape 11"/>
          <p:cNvSpPr/>
          <p:nvPr/>
        </p:nvSpPr>
        <p:spPr>
          <a:xfrm>
            <a:off x="4297680" y="3131820"/>
            <a:ext cx="457200" cy="45720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8" name="Text 18"/>
          <p:cNvSpPr txBox="1"/>
          <p:nvPr/>
        </p:nvSpPr>
        <p:spPr>
          <a:xfrm>
            <a:off x="4294571" y="3207990"/>
            <a:ext cx="457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</a:t>
            </a:r>
            <a:endParaRPr lang="en-US" sz="1400" dirty="0"/>
          </a:p>
        </p:txBody>
      </p:sp>
      <p:sp>
        <p:nvSpPr>
          <p:cNvPr id="19" name="Text 12"/>
          <p:cNvSpPr/>
          <p:nvPr/>
        </p:nvSpPr>
        <p:spPr>
          <a:xfrm>
            <a:off x="3383280" y="36621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solid angle</a:t>
            </a:r>
            <a:endParaRPr lang="en-US" sz="1400" dirty="0"/>
          </a:p>
        </p:txBody>
      </p:sp>
      <p:sp>
        <p:nvSpPr>
          <p:cNvPr id="20" name="Text 20"/>
          <p:cNvSpPr txBox="1"/>
          <p:nvPr/>
        </p:nvSpPr>
        <p:spPr>
          <a:xfrm>
            <a:off x="3381726" y="3968018"/>
            <a:ext cx="2423160" cy="34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Forward cone below 5 msr for beams with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&gt; 40 near the Coulomb barrier.</a:t>
            </a:r>
            <a:endParaRPr lang="en-US" sz="1200" dirty="0"/>
          </a:p>
        </p:txBody>
      </p:sp>
      <p:sp>
        <p:nvSpPr>
          <p:cNvPr id="21" name="Shape 13"/>
          <p:cNvSpPr/>
          <p:nvPr/>
        </p:nvSpPr>
        <p:spPr>
          <a:xfrm>
            <a:off x="608076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4"/>
          <p:cNvSpPr/>
          <p:nvPr/>
        </p:nvSpPr>
        <p:spPr>
          <a:xfrm>
            <a:off x="7132320" y="3131820"/>
            <a:ext cx="457200" cy="45720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23"/>
          <p:cNvSpPr txBox="1"/>
          <p:nvPr/>
        </p:nvSpPr>
        <p:spPr>
          <a:xfrm>
            <a:off x="7129211" y="3192810"/>
            <a:ext cx="457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ε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6217920" y="36621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transmission</a:t>
            </a:r>
            <a:endParaRPr lang="en-US" sz="1400" dirty="0"/>
          </a:p>
        </p:txBody>
      </p:sp>
      <p:sp>
        <p:nvSpPr>
          <p:cNvPr id="25" name="Text 25"/>
          <p:cNvSpPr txBox="1"/>
          <p:nvPr/>
        </p:nvSpPr>
        <p:spPr>
          <a:xfrm>
            <a:off x="6217920" y="3968018"/>
            <a:ext cx="2423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 barrier, heavy projectiles give separation efficiencies of 10%–100%.</a:t>
            </a:r>
            <a:endParaRPr lang="en-US" sz="1200" dirty="0"/>
          </a:p>
        </p:txBody>
      </p:sp>
      <p:sp>
        <p:nvSpPr>
          <p:cNvPr id="26" name="Aside Evaporation"/>
          <p:cNvSpPr/>
          <p:nvPr/>
        </p:nvSpPr>
        <p:spPr>
          <a:xfrm>
            <a:off x="5261756" y="1401532"/>
            <a:ext cx="30563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how the hot compound nucleus cools: it emits a few light particles (n, p, α).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 3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each emission kicks the residue in a random direction. The squared kicks add up, and x, y and z share the sum equally; σ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the spread along one axis, so σ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baseline="30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gets a third.</a:t>
            </a:r>
            <a:endParaRPr lang="en-US" sz="1100" dirty="0"/>
          </a:p>
        </p:txBody>
      </p:sp>
      <p:sp>
        <p:nvSpPr>
          <p:cNvPr id="27" name="Date Placeholder 2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separators lose most of the yield to charge-state splitting.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4 / 11</a:t>
            </a:r>
            <a:endParaRPr lang="en-US" sz="1000" dirty="0"/>
          </a:p>
        </p:txBody>
      </p:sp>
      <p:sp>
        <p:nvSpPr>
          <p:cNvPr id="7" name="Bar q18"/>
          <p:cNvSpPr/>
          <p:nvPr/>
        </p:nvSpPr>
        <p:spPr>
          <a:xfrm>
            <a:off x="722375" y="3234689"/>
            <a:ext cx="548640" cy="697230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5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5" y="2987801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sp>
        <p:nvSpPr>
          <p:cNvPr id="10" name="Bar q19"/>
          <p:cNvSpPr/>
          <p:nvPr/>
        </p:nvSpPr>
        <p:spPr>
          <a:xfrm>
            <a:off x="1527048" y="2119122"/>
            <a:ext cx="548640" cy="1812798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35607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1872234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sp>
        <p:nvSpPr>
          <p:cNvPr id="13" name="Bar q20"/>
          <p:cNvSpPr/>
          <p:nvPr/>
        </p:nvSpPr>
        <p:spPr>
          <a:xfrm>
            <a:off x="2331720" y="1143000"/>
            <a:ext cx="548640" cy="2788920"/>
          </a:xfrm>
          <a:prstGeom prst="rect">
            <a:avLst/>
          </a:prstGeom>
          <a:solidFill>
            <a:srgbClr val="0F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240279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39" y="896112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2F5C"/>
                </a:solidFill>
                <a:latin typeface="Times New Roman"/>
              </a:rPr>
              <a:t>kept</a:t>
            </a:r>
          </a:p>
        </p:txBody>
      </p:sp>
      <p:sp>
        <p:nvSpPr>
          <p:cNvPr id="16" name="Bar q21"/>
          <p:cNvSpPr/>
          <p:nvPr/>
        </p:nvSpPr>
        <p:spPr>
          <a:xfrm>
            <a:off x="3136391" y="2119122"/>
            <a:ext cx="548640" cy="1812798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44951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1" y="1872234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sp>
        <p:nvSpPr>
          <p:cNvPr id="19" name="Bar q22"/>
          <p:cNvSpPr/>
          <p:nvPr/>
        </p:nvSpPr>
        <p:spPr>
          <a:xfrm>
            <a:off x="3941063" y="3234689"/>
            <a:ext cx="548640" cy="697230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49624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8183" y="2987801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5" y="3931920"/>
            <a:ext cx="4133089" cy="0"/>
          </a:xfrm>
          <a:prstGeom prst="line">
            <a:avLst/>
          </a:prstGeom>
          <a:ln w="9525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 23"/>
          <p:cNvSpPr txBox="1"/>
          <p:nvPr/>
        </p:nvSpPr>
        <p:spPr>
          <a:xfrm>
            <a:off x="2018127" y="4209796"/>
            <a:ext cx="1172718" cy="163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ionic charge q</a:t>
            </a:r>
            <a:endParaRPr lang="en-US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334350" y="4505422"/>
            <a:ext cx="4540270" cy="140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Schematic  ·  one residue species spread over about five charge states (Ch. 11 §III.A)</a:t>
            </a:r>
            <a:endParaRPr lang="en-US" sz="1000" dirty="0"/>
          </a:p>
        </p:txBody>
      </p:sp>
      <p:sp>
        <p:nvSpPr>
          <p:cNvPr id="25" name="Shape 4"/>
          <p:cNvSpPr/>
          <p:nvPr/>
        </p:nvSpPr>
        <p:spPr>
          <a:xfrm>
            <a:off x="5074920" y="65836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6" name="Shape 5"/>
          <p:cNvSpPr/>
          <p:nvPr/>
        </p:nvSpPr>
        <p:spPr>
          <a:xfrm>
            <a:off x="5074920" y="65836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7" name="Text 11"/>
          <p:cNvSpPr/>
          <p:nvPr/>
        </p:nvSpPr>
        <p:spPr>
          <a:xfrm>
            <a:off x="5303520" y="731519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Sorts by mass-over-charge</a:t>
            </a:r>
            <a:endParaRPr lang="en-US" sz="1300" dirty="0"/>
          </a:p>
        </p:txBody>
      </p:sp>
      <p:sp>
        <p:nvSpPr>
          <p:cNvPr id="28" name="Text 28"/>
          <p:cNvSpPr txBox="1"/>
          <p:nvPr/>
        </p:nvSpPr>
        <p:spPr>
          <a:xfrm>
            <a:off x="5328920" y="1000790"/>
            <a:ext cx="3383280" cy="37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Electric and magnetic fields send each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to its own focal-plane position.</a:t>
            </a:r>
            <a:endParaRPr lang="en-US" sz="1200" dirty="0"/>
          </a:p>
        </p:txBody>
      </p:sp>
      <p:sp>
        <p:nvSpPr>
          <p:cNvPr id="29" name="Shape 4"/>
          <p:cNvSpPr/>
          <p:nvPr/>
        </p:nvSpPr>
        <p:spPr>
          <a:xfrm>
            <a:off x="5074920" y="161848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30" name="Shape 5"/>
          <p:cNvSpPr/>
          <p:nvPr/>
        </p:nvSpPr>
        <p:spPr>
          <a:xfrm>
            <a:off x="5074920" y="161848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31" name="Text 11"/>
          <p:cNvSpPr/>
          <p:nvPr/>
        </p:nvSpPr>
        <p:spPr>
          <a:xfrm>
            <a:off x="5303520" y="16916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five charge states</a:t>
            </a:r>
            <a:endParaRPr lang="en-US" sz="1300" dirty="0"/>
          </a:p>
        </p:txBody>
      </p:sp>
      <p:sp>
        <p:nvSpPr>
          <p:cNvPr id="32" name="Text 32"/>
          <p:cNvSpPr txBox="1"/>
          <p:nvPr/>
        </p:nvSpPr>
        <p:spPr>
          <a:xfrm>
            <a:off x="5328920" y="1960910"/>
            <a:ext cx="3383280" cy="343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recoils leave the target with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≈ 20, spread over about five states.</a:t>
            </a:r>
            <a:endParaRPr lang="en-US" sz="1200" dirty="0"/>
          </a:p>
        </p:txBody>
      </p:sp>
      <p:sp>
        <p:nvSpPr>
          <p:cNvPr id="33" name="Shape 4"/>
          <p:cNvSpPr/>
          <p:nvPr/>
        </p:nvSpPr>
        <p:spPr>
          <a:xfrm>
            <a:off x="5074920" y="257860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34" name="Shape 5"/>
          <p:cNvSpPr/>
          <p:nvPr/>
        </p:nvSpPr>
        <p:spPr>
          <a:xfrm>
            <a:off x="5074920" y="257860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35" name="Text 11"/>
          <p:cNvSpPr/>
          <p:nvPr/>
        </p:nvSpPr>
        <p:spPr>
          <a:xfrm>
            <a:off x="5303520" y="2651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charge not known in advance</a:t>
            </a:r>
            <a:endParaRPr lang="en-US" sz="1300" dirty="0"/>
          </a:p>
        </p:txBody>
      </p:sp>
      <p:sp>
        <p:nvSpPr>
          <p:cNvPr id="36" name="Text 36"/>
          <p:cNvSpPr txBox="1"/>
          <p:nvPr/>
        </p:nvSpPr>
        <p:spPr>
          <a:xfrm>
            <a:off x="5325902" y="2921030"/>
            <a:ext cx="3383280" cy="373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an unknown superheavy, even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q̄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uncertain: the separator may sit on the wrong peak.</a:t>
            </a:r>
            <a:endParaRPr lang="en-US" sz="1200" dirty="0"/>
          </a:p>
        </p:txBody>
      </p:sp>
      <p:sp>
        <p:nvSpPr>
          <p:cNvPr id="37" name="Shape 4"/>
          <p:cNvSpPr/>
          <p:nvPr/>
        </p:nvSpPr>
        <p:spPr>
          <a:xfrm>
            <a:off x="5074920" y="353872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38" name="Shape 5"/>
          <p:cNvSpPr/>
          <p:nvPr/>
        </p:nvSpPr>
        <p:spPr>
          <a:xfrm>
            <a:off x="5074920" y="3538728"/>
            <a:ext cx="73152" cy="868680"/>
          </a:xfrm>
          <a:prstGeom prst="rect">
            <a:avLst/>
          </a:prstGeom>
          <a:solidFill>
            <a:srgbClr val="E85D4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39" name="Text 11"/>
          <p:cNvSpPr/>
          <p:nvPr/>
        </p:nvSpPr>
        <p:spPr>
          <a:xfrm>
            <a:off x="5303520" y="36118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of the yield is lost</a:t>
            </a:r>
            <a:endParaRPr lang="en-US" sz="1300" dirty="0"/>
          </a:p>
        </p:txBody>
      </p:sp>
      <p:sp>
        <p:nvSpPr>
          <p:cNvPr id="40" name="Text 6"/>
          <p:cNvSpPr/>
          <p:nvPr/>
        </p:nvSpPr>
        <p:spPr>
          <a:xfrm>
            <a:off x="5303520" y="39044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one or two states reach the focal plane; the others are thrown away.</a:t>
            </a:r>
            <a:endParaRPr lang="en-US" sz="1200" dirty="0"/>
          </a:p>
        </p:txBody>
      </p:sp>
      <p:sp>
        <p:nvSpPr>
          <p:cNvPr id="41" name="Date Placeholder 4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Pure velocity filters transmit all charge states and isotopes simultaneously.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5 / 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621792"/>
            <a:ext cx="8321040" cy="1938528"/>
          </a:xfrm>
          <a:prstGeom prst="roundRect">
            <a:avLst>
              <a:gd name="adj" fmla="val 4717"/>
            </a:avLst>
          </a:prstGeom>
          <a:solidFill>
            <a:srgbClr val="E8F0FA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8" name="Image 0" descr="/Users/Reid Hu/OrbitOS/70_Presentations/717_Learning Group-20260916/assets/eq/eq_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7967" y="920637"/>
            <a:ext cx="5309616" cy="731520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2223226" y="1950304"/>
            <a:ext cx="4691512" cy="234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undeflected </a:t>
            </a:r>
            <a:r>
              <a:rPr lang="en-US" sz="1600" dirty="0">
                <a:solidFill>
                  <a:srgbClr val="174994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⇔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   (independent of 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600" dirty="0"/>
          </a:p>
        </p:txBody>
      </p:sp>
      <p:sp>
        <p:nvSpPr>
          <p:cNvPr id="10" name="Text 10"/>
          <p:cNvSpPr txBox="1"/>
          <p:nvPr/>
        </p:nvSpPr>
        <p:spPr>
          <a:xfrm>
            <a:off x="414498" y="2250546"/>
            <a:ext cx="8321040" cy="188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forces scale with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so charge cancels. Mass never enters the balance condition.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1148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2" name="Text 7"/>
          <p:cNvSpPr/>
          <p:nvPr/>
        </p:nvSpPr>
        <p:spPr>
          <a:xfrm>
            <a:off x="54864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charge states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577058" y="2957606"/>
            <a:ext cx="2423160" cy="528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of the chosen velocity follows the same trajectory. Near-100% charge transmission.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324612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5" name="Text 9"/>
          <p:cNvSpPr/>
          <p:nvPr/>
        </p:nvSpPr>
        <p:spPr>
          <a:xfrm>
            <a:off x="338328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fusion isotopes</a:t>
            </a:r>
            <a:endParaRPr lang="en-US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3408680" y="2957606"/>
            <a:ext cx="2423160" cy="553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Any complete-fusion residue in the velocity window is collected — no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splitting.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08076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 dirty="0"/>
          </a:p>
        </p:txBody>
      </p:sp>
      <p:sp>
        <p:nvSpPr>
          <p:cNvPr id="18" name="Text 11"/>
          <p:cNvSpPr/>
          <p:nvPr/>
        </p:nvSpPr>
        <p:spPr>
          <a:xfrm>
            <a:off x="621792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Beam rejection</a:t>
            </a:r>
            <a:endParaRPr lang="en-US" sz="1300" dirty="0"/>
          </a:p>
        </p:txBody>
      </p:sp>
      <p:sp>
        <p:nvSpPr>
          <p:cNvPr id="19" name="Text 19"/>
          <p:cNvSpPr txBox="1"/>
          <p:nvPr/>
        </p:nvSpPr>
        <p:spPr>
          <a:xfrm>
            <a:off x="6243320" y="2957606"/>
            <a:ext cx="242316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suppresses full-energy projectiles by &gt;10</a:t>
            </a: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scattered ones by up to 10</a:t>
            </a: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Shape 12"/>
          <p:cNvSpPr/>
          <p:nvPr/>
        </p:nvSpPr>
        <p:spPr>
          <a:xfrm>
            <a:off x="411480" y="3822192"/>
            <a:ext cx="8394192" cy="804672"/>
          </a:xfrm>
          <a:prstGeom prst="roundRect">
            <a:avLst>
              <a:gd name="adj" fmla="val 9091"/>
            </a:avLst>
          </a:prstGeom>
          <a:solidFill>
            <a:srgbClr val="0F2F5C"/>
          </a:solidFill>
          <a:ln/>
          <a:effectLst>
            <a:outerShdw blurRad="101600" dist="25400" dir="8100000" algn="ctr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 dirty="0"/>
          </a:p>
        </p:txBody>
      </p:sp>
      <p:sp>
        <p:nvSpPr>
          <p:cNvPr id="21" name="Text 13"/>
          <p:cNvSpPr/>
          <p:nvPr/>
        </p:nvSpPr>
        <p:spPr>
          <a:xfrm>
            <a:off x="594360" y="3931920"/>
            <a:ext cx="7955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Trade-off: no mass dispersion. SHIP identifies isotopes by decay; Daresbury adds a spectrometer for mass.</a:t>
            </a:r>
            <a:endParaRPr lang="en-US" sz="1300" dirty="0"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594360" y="199339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063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uses separated fields to protect its condenser plates.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6 / 11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2_ship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621792"/>
            <a:ext cx="8503920" cy="2286000"/>
          </a:xfrm>
          <a:prstGeom prst="rect">
            <a:avLst/>
          </a:prstGeom>
        </p:spPr>
      </p:pic>
      <p:sp>
        <p:nvSpPr>
          <p:cNvPr id="20" name="Highlight SHIP"/>
          <p:cNvSpPr/>
          <p:nvPr/>
        </p:nvSpPr>
        <p:spPr>
          <a:xfrm>
            <a:off x="385176" y="864246"/>
            <a:ext cx="5779047" cy="2015836"/>
          </a:xfrm>
          <a:custGeom>
            <a:avLst/>
            <a:gdLst/>
            <a:ahLst/>
            <a:cxnLst/>
            <a:rect l="0" t="0" r="r" b="b"/>
            <a:pathLst>
              <a:path w="5779047" h="2015836">
                <a:moveTo>
                  <a:pt x="0" y="0"/>
                </a:moveTo>
                <a:lnTo>
                  <a:pt x="5779047" y="0"/>
                </a:lnTo>
                <a:lnTo>
                  <a:pt x="5779047" y="1385455"/>
                </a:lnTo>
                <a:lnTo>
                  <a:pt x="5652393" y="1385455"/>
                </a:lnTo>
                <a:lnTo>
                  <a:pt x="5652393" y="2015836"/>
                </a:lnTo>
                <a:lnTo>
                  <a:pt x="0" y="2015836"/>
                </a:lnTo>
                <a:close/>
              </a:path>
            </a:pathLst>
          </a:custGeom>
          <a:solidFill>
            <a:srgbClr val="A8C4E8">
              <a:alpha val="28000"/>
            </a:srgbClr>
          </a:solidFill>
          <a:ln w="22225">
            <a:solidFill>
              <a:srgbClr val="0F2F5C"/>
            </a:solidFill>
            <a:miter lim="800000"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Tag SHIP"/>
          <p:cNvSpPr/>
          <p:nvPr/>
        </p:nvSpPr>
        <p:spPr>
          <a:xfrm>
            <a:off x="494904" y="768234"/>
            <a:ext cx="566928" cy="192024"/>
          </a:xfrm>
          <a:prstGeom prst="roundRect">
            <a:avLst>
              <a:gd name="adj" fmla="val 50000"/>
            </a:avLst>
          </a:prstGeom>
          <a:solidFill>
            <a:srgbClr val="0F2F5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20040" y="29992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12  ·  SHIP (GSI) and the separator NASE: the plate condenser comes first; dipoles send the projectile beam to the dump.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Text 7"/>
          <p:cNvSpPr/>
          <p:nvPr/>
        </p:nvSpPr>
        <p:spPr>
          <a:xfrm>
            <a:off x="47548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Condenser first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503906" y="3683000"/>
            <a:ext cx="2523744" cy="346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-field deflects the primary beam at once. The beam never strikes the plates.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4612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3" name="Text 9"/>
          <p:cNvSpPr/>
          <p:nvPr/>
        </p:nvSpPr>
        <p:spPr>
          <a:xfrm>
            <a:off x="335584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a Wien filter</a:t>
            </a:r>
            <a:endParaRPr lang="en-US" sz="1300" dirty="0"/>
          </a:p>
        </p:txBody>
      </p:sp>
      <p:sp>
        <p:nvSpPr>
          <p:cNvPr id="14" name="Text 14"/>
          <p:cNvSpPr txBox="1"/>
          <p:nvPr/>
        </p:nvSpPr>
        <p:spPr>
          <a:xfrm>
            <a:off x="3381248" y="3697127"/>
            <a:ext cx="2523744" cy="48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Separated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then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low-dispersion stages give high transmission.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2648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6" name="Text 11"/>
          <p:cNvSpPr/>
          <p:nvPr/>
        </p:nvSpPr>
        <p:spPr>
          <a:xfrm>
            <a:off x="623620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current</a:t>
            </a:r>
            <a:endParaRPr lang="en-US" sz="1300" dirty="0"/>
          </a:p>
        </p:txBody>
      </p:sp>
      <p:sp>
        <p:nvSpPr>
          <p:cNvPr id="17" name="Text 17"/>
          <p:cNvSpPr txBox="1"/>
          <p:nvPr/>
        </p:nvSpPr>
        <p:spPr>
          <a:xfrm>
            <a:off x="6261608" y="3683000"/>
            <a:ext cx="2523744" cy="532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Survives particle-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μ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beams (</a:t>
            </a:r>
            <a:r>
              <a:rPr lang="en-US" sz="1100" dirty="0">
                <a:solidFill>
                  <a:srgbClr val="1A23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∼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10</a:t>
            </a:r>
            <a:r>
              <a:rPr lang="en-US" sz="11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ions/s). Scattered beam is stopped on stage-2 diaphragms.</a:t>
            </a:r>
            <a:endParaRPr lang="en-US" sz="1100" dirty="0"/>
          </a:p>
        </p:txBody>
      </p:sp>
      <p:sp>
        <p:nvSpPr>
          <p:cNvPr id="18" name="Date Placeholder 1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Daresbury separator uses crossed fields and energy refocusing.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7 / 11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5_daresbury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621792"/>
            <a:ext cx="8503920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9992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15  ·  Daresbury recoil separator: two crossed-field filters followed by a DQQQ spectrometer.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Text 10"/>
          <p:cNvSpPr txBox="1"/>
          <p:nvPr/>
        </p:nvSpPr>
        <p:spPr>
          <a:xfrm>
            <a:off x="485170" y="3423869"/>
            <a:ext cx="1278148" cy="139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Crossed </a:t>
            </a:r>
            <a:r>
              <a:rPr lang="en-US" sz="1300" b="1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× </a:t>
            </a:r>
            <a:r>
              <a:rPr lang="en-US" sz="1300" b="1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503906" y="3683000"/>
            <a:ext cx="2523744" cy="346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Wien filters: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occupy the same chamber, unlike SHIP's separated fields.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324612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3" name="Text 8"/>
          <p:cNvSpPr/>
          <p:nvPr/>
        </p:nvSpPr>
        <p:spPr>
          <a:xfrm>
            <a:off x="335584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DQQQ spectrometer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355848" y="3703320"/>
            <a:ext cx="2523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magnetic spectrometer after the filters refocuses the energy spread at the focal plane.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2648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6" name="Text 16"/>
          <p:cNvSpPr txBox="1"/>
          <p:nvPr/>
        </p:nvSpPr>
        <p:spPr>
          <a:xfrm>
            <a:off x="6264178" y="3389808"/>
            <a:ext cx="1485260" cy="164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array at target</a:t>
            </a:r>
            <a:endParaRPr lang="en-US" sz="1300" dirty="0"/>
          </a:p>
        </p:txBody>
      </p:sp>
      <p:sp>
        <p:nvSpPr>
          <p:cNvPr id="17" name="Text 17"/>
          <p:cNvSpPr txBox="1"/>
          <p:nvPr/>
        </p:nvSpPr>
        <p:spPr>
          <a:xfrm>
            <a:off x="6264626" y="3683000"/>
            <a:ext cx="2523744" cy="48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high-efficiency germanium array around the target enables prompt recoil-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coincidences.</a:t>
            </a:r>
            <a:endParaRPr lang="en-US" sz="1100" dirty="0"/>
          </a:p>
        </p:txBody>
      </p:sp>
      <p:sp>
        <p:nvSpPr>
          <p:cNvPr id="18" name="Date Placeholder 1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95351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7" name="Text 5"/>
          <p:cNvSpPr/>
          <p:nvPr/>
        </p:nvSpPr>
        <p:spPr>
          <a:xfrm>
            <a:off x="594360" y="304495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3"/>
          <p:cNvSpPr txBox="1"/>
          <p:nvPr/>
        </p:nvSpPr>
        <p:spPr>
          <a:xfrm>
            <a:off x="423642" y="24414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found the first ground-state proton emitter, </a:t>
            </a:r>
            <a:r>
              <a:rPr lang="en-US" sz="1800" b="1" baseline="3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151</a:t>
            </a: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Lu.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2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8 / 11</a:t>
            </a:r>
            <a:endParaRPr lang="en-US" sz="1000" dirty="0"/>
          </a:p>
        </p:txBody>
      </p:sp>
      <p:pic>
        <p:nvPicPr>
          <p:cNvPr id="7" name="Image 1" descr="/Users/Reid Hu/OrbitOS/70_Presentations/717_Learning Group-20260916/assets/fig13_151lu.jpeg"/>
          <p:cNvPicPr>
            <a:picLocks noChangeAspect="1"/>
          </p:cNvPicPr>
          <p:nvPr/>
        </p:nvPicPr>
        <p:blipFill>
          <a:blip r:embed="rId3"/>
          <a:srcRect l="15396" r="4992"/>
          <a:stretch>
            <a:fillRect/>
          </a:stretch>
        </p:blipFill>
        <p:spPr>
          <a:xfrm>
            <a:off x="75570" y="692674"/>
            <a:ext cx="4843902" cy="367063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76884" y="4506290"/>
            <a:ext cx="3267456" cy="161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 13  ·  Implant-decay spectrum  ·  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96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Ru(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58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Ni, p2n)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151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Lu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5074920" y="65836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Shape 5"/>
          <p:cNvSpPr/>
          <p:nvPr/>
        </p:nvSpPr>
        <p:spPr>
          <a:xfrm>
            <a:off x="5074920" y="65836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1" name="Text 11"/>
          <p:cNvSpPr txBox="1"/>
          <p:nvPr/>
        </p:nvSpPr>
        <p:spPr>
          <a:xfrm>
            <a:off x="5316220" y="734208"/>
            <a:ext cx="1515983" cy="172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Flight time &lt; 2 µs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5303520" y="10241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delivers short-lived residues to a Si surface-barrier detector.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5074920" y="161848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Shape 8"/>
          <p:cNvSpPr/>
          <p:nvPr/>
        </p:nvSpPr>
        <p:spPr>
          <a:xfrm>
            <a:off x="5074920" y="161848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5"/>
          <p:cNvSpPr txBox="1"/>
          <p:nvPr/>
        </p:nvSpPr>
        <p:spPr>
          <a:xfrm>
            <a:off x="5316220" y="1694511"/>
            <a:ext cx="1772290" cy="171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1.23 MeV proton line</a:t>
            </a:r>
            <a:endParaRPr lang="en-US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5328920" y="1960910"/>
            <a:ext cx="3438144" cy="338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Sharp isolated peak: ground-state proton emission from </a:t>
            </a: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151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Lu.</a:t>
            </a:r>
            <a:endParaRPr lang="en-US" sz="1200" dirty="0"/>
          </a:p>
        </p:txBody>
      </p:sp>
      <p:sp>
        <p:nvSpPr>
          <p:cNvPr id="17" name="Shape 9"/>
          <p:cNvSpPr/>
          <p:nvPr/>
        </p:nvSpPr>
        <p:spPr>
          <a:xfrm>
            <a:off x="5074920" y="257860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Shape 10"/>
          <p:cNvSpPr/>
          <p:nvPr/>
        </p:nvSpPr>
        <p:spPr>
          <a:xfrm>
            <a:off x="5074920" y="257860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9" name="Text 11"/>
          <p:cNvSpPr/>
          <p:nvPr/>
        </p:nvSpPr>
        <p:spPr>
          <a:xfrm>
            <a:off x="5303520" y="2651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Escape bump</a:t>
            </a:r>
            <a:endParaRPr lang="en-US" sz="1300" dirty="0"/>
          </a:p>
        </p:txBody>
      </p:sp>
      <p:sp>
        <p:nvSpPr>
          <p:cNvPr id="20" name="Text 20"/>
          <p:cNvSpPr txBox="1"/>
          <p:nvPr/>
        </p:nvSpPr>
        <p:spPr>
          <a:xfrm>
            <a:off x="5328920" y="2921030"/>
            <a:ext cx="3383280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Broad shelf from backward-emitted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particles that deposit only part of their energy.</a:t>
            </a:r>
            <a:endParaRPr lang="en-US" sz="1200" dirty="0"/>
          </a:p>
        </p:txBody>
      </p:sp>
      <p:sp>
        <p:nvSpPr>
          <p:cNvPr id="21" name="Shape 12"/>
          <p:cNvSpPr/>
          <p:nvPr/>
        </p:nvSpPr>
        <p:spPr>
          <a:xfrm>
            <a:off x="5074920" y="353872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3"/>
          <p:cNvSpPr/>
          <p:nvPr/>
        </p:nvSpPr>
        <p:spPr>
          <a:xfrm>
            <a:off x="5074920" y="353872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23"/>
          <p:cNvSpPr txBox="1"/>
          <p:nvPr/>
        </p:nvSpPr>
        <p:spPr>
          <a:xfrm>
            <a:off x="5316220" y="3610362"/>
            <a:ext cx="1122334" cy="174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300" b="1" baseline="-25000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1/2</a:t>
            </a: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0.08 s</a:t>
            </a:r>
            <a:endParaRPr lang="en-US" sz="1300" dirty="0"/>
          </a:p>
        </p:txBody>
      </p:sp>
      <p:sp>
        <p:nvSpPr>
          <p:cNvPr id="24" name="Text 14"/>
          <p:cNvSpPr/>
          <p:nvPr/>
        </p:nvSpPr>
        <p:spPr>
          <a:xfrm>
            <a:off x="5303520" y="39044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Implant time-tag gives the half-life event by event.</a:t>
            </a:r>
            <a:endParaRPr lang="en-US" sz="1200" dirty="0"/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Genetic decay-chain tagging identified element 108 from just three atoms.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9 / 11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4_element108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640080"/>
            <a:ext cx="5486400" cy="3858768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484315" y="4506290"/>
            <a:ext cx="2913888" cy="161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 14  ·  Four-tier </a:t>
            </a:r>
            <a:r>
              <a:rPr lang="en-US" sz="1000" i="1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gating  ·  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208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Pb(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58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Fe, n)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265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108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852160" y="64008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Shape 6"/>
          <p:cNvSpPr/>
          <p:nvPr/>
        </p:nvSpPr>
        <p:spPr>
          <a:xfrm>
            <a:off x="5852160" y="640080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1" name="Text 7"/>
          <p:cNvSpPr/>
          <p:nvPr/>
        </p:nvSpPr>
        <p:spPr>
          <a:xfrm>
            <a:off x="6053328" y="71323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 Ungated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078728" y="985520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spectrum between beam pulses — background dominates.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852160" y="160020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Shape 9"/>
          <p:cNvSpPr/>
          <p:nvPr/>
        </p:nvSpPr>
        <p:spPr>
          <a:xfrm>
            <a:off x="5852160" y="1600200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0"/>
          <p:cNvSpPr/>
          <p:nvPr/>
        </p:nvSpPr>
        <p:spPr>
          <a:xfrm>
            <a:off x="6053328" y="167335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 Implant-correlated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053328" y="196596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Decay must follow an implant in time and position; 2 of the 3 atoms remain.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852160" y="256032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Shape 13"/>
          <p:cNvSpPr/>
          <p:nvPr/>
        </p:nvSpPr>
        <p:spPr>
          <a:xfrm>
            <a:off x="5852160" y="2560320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9" name="Text 14"/>
          <p:cNvSpPr/>
          <p:nvPr/>
        </p:nvSpPr>
        <p:spPr>
          <a:xfrm>
            <a:off x="6053328" y="263347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 Heavy-mass window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053328" y="292608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TOF + implant-energy window keeps only heavy recoils (‘1st generation’ panel).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852160" y="352044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7"/>
          <p:cNvSpPr/>
          <p:nvPr/>
        </p:nvSpPr>
        <p:spPr>
          <a:xfrm>
            <a:off x="5852160" y="3520440"/>
            <a:ext cx="73152" cy="868680"/>
          </a:xfrm>
          <a:prstGeom prst="rect">
            <a:avLst/>
          </a:prstGeom>
          <a:solidFill>
            <a:srgbClr val="E85D4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18"/>
          <p:cNvSpPr/>
          <p:nvPr/>
        </p:nvSpPr>
        <p:spPr>
          <a:xfrm>
            <a:off x="6053328" y="359359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 Daughter generations</a:t>
            </a:r>
            <a:endParaRPr lang="en-US" sz="1300" dirty="0"/>
          </a:p>
        </p:txBody>
      </p:sp>
      <p:sp>
        <p:nvSpPr>
          <p:cNvPr id="24" name="Text 24"/>
          <p:cNvSpPr txBox="1"/>
          <p:nvPr/>
        </p:nvSpPr>
        <p:spPr>
          <a:xfrm>
            <a:off x="6078728" y="3865880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does not resolve the mass;</a:t>
            </a:r>
            <a:br>
              <a:rPr lang="en-US" sz="1100" dirty="0"/>
            </a:b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parent–daughter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steps identify the isotope.</a:t>
            </a:r>
            <a:endParaRPr lang="en-US" sz="1100" dirty="0"/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Recoil-gamma tagging reveals high-spin states of the mirror nucleus </a:t>
            </a:r>
            <a:r>
              <a:rPr lang="en-US" sz="1800" b="1" baseline="3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49</a:t>
            </a: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10 / 11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7_49mn.jpeg"/>
          <p:cNvPicPr>
            <a:picLocks noChangeAspect="1"/>
          </p:cNvPicPr>
          <p:nvPr/>
        </p:nvPicPr>
        <p:blipFill>
          <a:blip r:embed="rId3"/>
          <a:srcRect t="17857"/>
          <a:stretch/>
        </p:blipFill>
        <p:spPr>
          <a:xfrm>
            <a:off x="347472" y="857607"/>
            <a:ext cx="4572000" cy="315468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697931" y="4019638"/>
            <a:ext cx="3864864" cy="161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 17  ·  Recoil-correlated prompt </a:t>
            </a:r>
            <a:r>
              <a:rPr lang="en-US" sz="1000" i="1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spectrum  ·  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C(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Ca, p2n)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49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Mn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65836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Shape 6"/>
          <p:cNvSpPr/>
          <p:nvPr/>
        </p:nvSpPr>
        <p:spPr>
          <a:xfrm>
            <a:off x="5029200" y="65836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1" name="Text 7"/>
          <p:cNvSpPr/>
          <p:nvPr/>
        </p:nvSpPr>
        <p:spPr>
          <a:xfrm>
            <a:off x="5257800" y="7315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Tag at the focal plane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5280182" y="1000790"/>
            <a:ext cx="3429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 only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rays in coincidence with a mass-selected recoil at the focal plane.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029200" y="161848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Shape 9"/>
          <p:cNvSpPr/>
          <p:nvPr/>
        </p:nvSpPr>
        <p:spPr>
          <a:xfrm>
            <a:off x="5029200" y="161848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0"/>
          <p:cNvSpPr/>
          <p:nvPr/>
        </p:nvSpPr>
        <p:spPr>
          <a:xfrm>
            <a:off x="5257800" y="169164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Background suppressed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257800" y="198424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Coulomb excitation and target impurities drop out of the spectrum.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0" y="257860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Shape 13"/>
          <p:cNvSpPr/>
          <p:nvPr/>
        </p:nvSpPr>
        <p:spPr>
          <a:xfrm>
            <a:off x="5029200" y="257860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9" name="Text 14"/>
          <p:cNvSpPr/>
          <p:nvPr/>
        </p:nvSpPr>
        <p:spPr>
          <a:xfrm>
            <a:off x="5257800" y="2651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Mirror nucleus</a:t>
            </a:r>
            <a:endParaRPr lang="en-US" sz="1300" dirty="0"/>
          </a:p>
        </p:txBody>
      </p:sp>
      <p:sp>
        <p:nvSpPr>
          <p:cNvPr id="20" name="Text 20"/>
          <p:cNvSpPr txBox="1"/>
          <p:nvPr/>
        </p:nvSpPr>
        <p:spPr>
          <a:xfrm>
            <a:off x="5280182" y="2924048"/>
            <a:ext cx="3429000" cy="20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49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Mn is </a:t>
            </a: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49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 with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swapped (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25,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24).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029200" y="353872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6"/>
          <p:cNvSpPr/>
          <p:nvPr/>
        </p:nvSpPr>
        <p:spPr>
          <a:xfrm>
            <a:off x="5029200" y="353872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17"/>
          <p:cNvSpPr/>
          <p:nvPr/>
        </p:nvSpPr>
        <p:spPr>
          <a:xfrm>
            <a:off x="5257800" y="36118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Daresbury</a:t>
            </a:r>
            <a:endParaRPr lang="en-US" sz="1300" dirty="0"/>
          </a:p>
        </p:txBody>
      </p:sp>
      <p:sp>
        <p:nvSpPr>
          <p:cNvPr id="24" name="Text 24"/>
          <p:cNvSpPr txBox="1"/>
          <p:nvPr/>
        </p:nvSpPr>
        <p:spPr>
          <a:xfrm>
            <a:off x="5277074" y="3881150"/>
            <a:ext cx="3429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spectrometer selects recoils by mass;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 detectors surround the target.</a:t>
            </a:r>
            <a:endParaRPr lang="en-US" sz="1200" dirty="0"/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3063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4005071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8" name="Text 6"/>
          <p:cNvSpPr/>
          <p:nvPr/>
        </p:nvSpPr>
        <p:spPr>
          <a:xfrm>
            <a:off x="594360" y="4096511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filters are the most sensitive separators for low-energy fusion.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11 / 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8" name="Text 6"/>
          <p:cNvSpPr/>
          <p:nvPr/>
        </p:nvSpPr>
        <p:spPr>
          <a:xfrm>
            <a:off x="502920" y="7315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Device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75688" y="731520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when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06440" y="73152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ideal when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8412480" cy="676656"/>
          </a:xfrm>
          <a:prstGeom prst="rect">
            <a:avLst/>
          </a:prstGeom>
          <a:solidFill>
            <a:srgbClr val="E8F0FA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2" name="Shape 10"/>
          <p:cNvSpPr/>
          <p:nvPr/>
        </p:nvSpPr>
        <p:spPr>
          <a:xfrm>
            <a:off x="365760" y="1115568"/>
            <a:ext cx="73152" cy="676656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502920" y="12801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75688" y="128016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Coulomb-barrier fusion; highest transmission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06440" y="12801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must be resolved in flight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8412480" cy="676656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7" name="Text 15"/>
          <p:cNvSpPr/>
          <p:nvPr/>
        </p:nvSpPr>
        <p:spPr>
          <a:xfrm>
            <a:off x="502920" y="20116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RMS / FMA</a:t>
            </a:r>
            <a:endParaRPr lang="en-US" sz="1300" dirty="0"/>
          </a:p>
        </p:txBody>
      </p:sp>
      <p:sp>
        <p:nvSpPr>
          <p:cNvPr id="18" name="Text 18"/>
          <p:cNvSpPr txBox="1"/>
          <p:nvPr/>
        </p:nvSpPr>
        <p:spPr>
          <a:xfrm>
            <a:off x="2082262" y="2070786"/>
            <a:ext cx="1978122" cy="1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Need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at the focal plane</a:t>
            </a:r>
            <a:endParaRPr lang="en-US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5819140" y="2070694"/>
            <a:ext cx="2613538" cy="163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Charge-state splitting; need to know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q̄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65760" y="2578608"/>
            <a:ext cx="8412480" cy="676656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1" name="Text 17"/>
          <p:cNvSpPr/>
          <p:nvPr/>
        </p:nvSpPr>
        <p:spPr>
          <a:xfrm>
            <a:off x="502920" y="27432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RF separator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2075688" y="274320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Pulsed beams; TOF phase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5813014" y="2802214"/>
            <a:ext cx="2070567" cy="163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Needs sharp ns beam pulsing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65760" y="3310128"/>
            <a:ext cx="8412480" cy="676656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5" name="Text 20"/>
          <p:cNvSpPr/>
          <p:nvPr/>
        </p:nvSpPr>
        <p:spPr>
          <a:xfrm>
            <a:off x="502920" y="3474719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Gas-filled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2075688" y="3474719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asymmetric reactions; actinide targets; high efficiency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806440" y="3474719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Scattering; no velocity resolution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65760" y="4041648"/>
            <a:ext cx="8412480" cy="676656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9" name="Text 24"/>
          <p:cNvSpPr/>
          <p:nvPr/>
        </p:nvSpPr>
        <p:spPr>
          <a:xfrm>
            <a:off x="502920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Fragment separator</a:t>
            </a:r>
            <a:endParaRPr lang="en-US" sz="1300" dirty="0"/>
          </a:p>
        </p:txBody>
      </p:sp>
      <p:sp>
        <p:nvSpPr>
          <p:cNvPr id="30" name="Text 30"/>
          <p:cNvSpPr txBox="1"/>
          <p:nvPr/>
        </p:nvSpPr>
        <p:spPr>
          <a:xfrm>
            <a:off x="2085370" y="4267174"/>
            <a:ext cx="2028414" cy="1535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Relativistic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dirty="0">
                <a:solidFill>
                  <a:srgbClr val="1A23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≳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100 MeV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806440" y="42062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Wrong energy regime; degraders destroy slow beams</a:t>
            </a:r>
            <a:endParaRPr lang="en-US" sz="1200" dirty="0"/>
          </a:p>
        </p:txBody>
      </p:sp>
      <p:sp>
        <p:nvSpPr>
          <p:cNvPr id="32" name="Date Placeholder 3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Summaries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502920" cy="50292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20700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Velocity-based separation yields zero charge dispersion.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57276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charge states pass together, so cross sections below 10 pb become detectable.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9" name="Shape 7"/>
          <p:cNvSpPr/>
          <p:nvPr/>
        </p:nvSpPr>
        <p:spPr>
          <a:xfrm>
            <a:off x="640080" y="2350008"/>
            <a:ext cx="502920" cy="50292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640080" y="24048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Separated-field design keeps the beam off the condenser plates.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62432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Condenser-first SHIP deflects the primary beam before it can hit the plates.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4" name="Shape 12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3"/>
          <p:cNvSpPr/>
          <p:nvPr/>
        </p:nvSpPr>
        <p:spPr>
          <a:xfrm>
            <a:off x="640080" y="34564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31012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Decay tagging identifies single atoms.</a:t>
            </a:r>
            <a:endParaRPr lang="en-US" sz="1600" dirty="0"/>
          </a:p>
        </p:txBody>
      </p:sp>
      <p:sp>
        <p:nvSpPr>
          <p:cNvPr id="17" name="Text 17"/>
          <p:cNvSpPr txBox="1"/>
          <p:nvPr/>
        </p:nvSpPr>
        <p:spPr>
          <a:xfrm>
            <a:off x="1390874" y="3711712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does not resolve the mass; parent–daughter 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chains proved element 108 from three atoms.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  ·  Zhiheng Hu  ·  29 Sep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800</TotalTime>
  <Words>2547</Words>
  <Application>Microsoft Macintosh PowerPoint</Application>
  <PresentationFormat>On-screen Show (16:9)</PresentationFormat>
  <Paragraphs>251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Velocity Filters</dc:title>
  <dc:subject>Learning Group — Exp. Techniques NP Ch. 11 §III.B</dc:subject>
  <dc:creator>Zhiheng Hu</dc:creator>
  <cp:lastModifiedBy>HA139785@365mak.com</cp:lastModifiedBy>
  <cp:revision>39</cp:revision>
  <dcterms:created xsi:type="dcterms:W3CDTF">2026-09-27T03:10:36Z</dcterms:created>
  <dcterms:modified xsi:type="dcterms:W3CDTF">2026-09-29T05:25:45Z</dcterms:modified>
</cp:coreProperties>
</file>