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74" r:id="rId3"/>
    <p:sldId id="257" r:id="rId4"/>
    <p:sldId id="258" r:id="rId5"/>
    <p:sldId id="259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01"/>
    <p:restoredTop sz="89773"/>
  </p:normalViewPr>
  <p:slideViewPr>
    <p:cSldViewPr snapToGrid="0" snapToObjects="1">
      <p:cViewPr varScale="1">
        <p:scale>
          <a:sx n="169" d="100"/>
          <a:sy n="169" d="100"/>
        </p:scale>
        <p:origin x="208" y="4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57041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to the learning group. Today we cover velocity filters from Chapter 11. I will show you why a filter that ignores mass is the most sensitive way to find superheavy elements.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At GSI, SHIP ran an iron beam on a lead target for ten days: 6 × 10¹⁷ projectiles. Three atoms of element 108 came out — flying in the same direction as the beam. How would you pick those three out? That is the job of a separator, and today's device does it by velocity.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Here is the plan: four questions, and each answer raises the next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First of four. A mass spectrometer is the tool we all learned. Why not use one here?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Recall how a mass spectrometer works: a magnet bends each ion by momentum over charge. Here is the catch. In complete fusion, the compound nucleus takes the full projectile momentum, so to a magnet the residue looks almost like the beam — the book shows their magnetic rigidities nearly coincide (Fig. 9). But that momentum now sits on a much heavier nucleus, so it moves at the </a:t>
            </a:r>
            <a:r>
              <a:rPr dirty="0" err="1"/>
              <a:t>centre</a:t>
            </a:r>
            <a:r>
              <a:rPr dirty="0"/>
              <a:t>-of-mass velocity: for iron on lead, about a fifth of the beam speed. Same momentum, lower speed — that is our handle.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Evaporation is how the hot compound nucleus cools down: it boils off a few neutrons, protons or alphas. Each one kicks the residue in a random direction. Random kicks add in quadrature, and the 3 keeps the part along one axis. Compare that with the projectile momentum in the denominator: a heavy beam makes it large, so the residues stay in a narrow forward cone.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But a magnet is not the whole story: recoil mass separators add electric fields, and they do separate residues from the beam. Their catch is the charge state. They disperse by A/q, and heavy ions emerge in a spread of charge states centred near q ≈ 20 — about five states carry the intensity. A mass separator keeps only one or two, losing most of the yield. On the left, schematically: one residue species arrives in about five charge states; the separator transmits the navy one, and the grey ones are lost.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Second time, same idea: same momentum, lower speed. In a pure velocity filter, the condition v = E/B does not contain the charge. All charge states of the chosen velocity pass through, giving near-100% charge-state transmission and, at SHIP, suppressing unretarded projectiles by more than 10¹⁶. E here is the electric field, not kinetic energy.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Second of four. For element 108, about 2 × 10¹⁷ projectiles hit the target for every atom caught. How does the filter survive that beam?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SHIP at GSI. Notice it is not a crossed-field Wien filter. The electric condenser comes first. It deflects the primary beam away immediately, so the beam never hits the plates — no scattered background, no heat damage.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contrast, Daresbury uses crossed E and B fields, followed by a magnetic spectrometer to refocus the energy spread.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Third of four. Back to the trade-off from slide 8: the filter never measures mass in flight. So how do we know what we caught?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Because SHIP separates in under 2 microseconds, we can implant short-lived residues into silicon. Here is the first ground-state proton decay from Lutetium-151, cleanly isolated from the alpha background.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Back to the three atoms from the start. Out of 6 × 10¹⁷ projectiles over ten days, SHIP produced just three atoms of element 108. Because SHIP does not measure mass, we prove the isotope by watching it alpha-decay step by step into known daughters.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At Daresbury, they surround the target with gamma detectors. By only looking at gammas coincident with a mass-selected recoil at the focal plane, the Coulomb-excitation and target-impurity background disappears.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Last of four: when is a velocity filter the wrong tool?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Velocity filters are the best choice for Coulomb-barrier fusion where you need maximum transmission. If you need mass resolution in flight, use an RMS. If you have relativistic energies, use a fragment separator.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summarize: velocity filters ignore mass to achieve 100% charge-state transmission; SHIP's separated fields survive particle-microampere beams; and this extreme sensitivity makes single-atom discoveries possible.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9" Type="http://schemas.openxmlformats.org/officeDocument/2006/relationships/image" Target="../media/image6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9" Type="http://schemas.openxmlformats.org/officeDocument/2006/relationships/image" Target="../media/image17.png"/><Relationship Id="rId10" Type="http://schemas.openxmlformats.org/officeDocument/2006/relationships/image" Target="../media/image18.png"/><Relationship Id="rId11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Relationship Id="rId8" Type="http://schemas.openxmlformats.org/officeDocument/2006/relationships/image" Target="../media/image2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0.jpeg"/><Relationship Id="rId4" Type="http://schemas.openxmlformats.org/officeDocument/2006/relationships/image" Target="../media/image31.png"/><Relationship Id="rId6" Type="http://schemas.openxmlformats.org/officeDocument/2006/relationships/image" Target="../media/image33.png"/><Relationship Id="rId7" Type="http://schemas.openxmlformats.org/officeDocument/2006/relationships/image" Target="../media/image1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4.jpe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3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9.png"/><Relationship Id="rId4" Type="http://schemas.openxmlformats.org/officeDocument/2006/relationships/image" Target="../media/image40.jpeg"/><Relationship Id="rId5" Type="http://schemas.openxmlformats.org/officeDocument/2006/relationships/image" Target="../media/image41.png"/><Relationship Id="rId6" Type="http://schemas.openxmlformats.org/officeDocument/2006/relationships/image" Target="../media/image42.png"/><Relationship Id="rId7" Type="http://schemas.openxmlformats.org/officeDocument/2006/relationships/image" Target="../media/image43.png"/><Relationship Id="rId8" Type="http://schemas.openxmlformats.org/officeDocument/2006/relationships/image" Target="../media/image44.png"/><Relationship Id="rId9" Type="http://schemas.openxmlformats.org/officeDocument/2006/relationships/image" Target="../media/image45.png"/><Relationship Id="rId11" Type="http://schemas.openxmlformats.org/officeDocument/2006/relationships/image" Target="../media/image3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7.jpeg"/><Relationship Id="rId4" Type="http://schemas.openxmlformats.org/officeDocument/2006/relationships/image" Target="../media/image48.png"/><Relationship Id="rId5" Type="http://schemas.openxmlformats.org/officeDocument/2006/relationships/image" Target="../media/image49.png"/><Relationship Id="rId6" Type="http://schemas.openxmlformats.org/officeDocument/2006/relationships/image" Target="../media/image5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1.jpeg"/><Relationship Id="rId4" Type="http://schemas.openxmlformats.org/officeDocument/2006/relationships/image" Target="../media/image52.png"/><Relationship Id="rId5" Type="http://schemas.openxmlformats.org/officeDocument/2006/relationships/image" Target="../media/image53.png"/><Relationship Id="rId6" Type="http://schemas.openxmlformats.org/officeDocument/2006/relationships/image" Target="../media/image54.png"/><Relationship Id="rId7" Type="http://schemas.openxmlformats.org/officeDocument/2006/relationships/image" Target="../media/image5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6.png"/><Relationship Id="rId4" Type="http://schemas.openxmlformats.org/officeDocument/2006/relationships/image" Target="../media/image57.png"/><Relationship Id="rId5" Type="http://schemas.openxmlformats.org/officeDocument/2006/relationships/image" Target="../media/image58.png"/><Relationship Id="rId6" Type="http://schemas.openxmlformats.org/officeDocument/2006/relationships/image" Target="../media/image5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F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60" dirty="0">
                <a:solidFill>
                  <a:srgbClr val="A8C4E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GROUP</a:t>
            </a:r>
            <a:endParaRPr lang="en-US" sz="1200" dirty="0"/>
          </a:p>
        </p:txBody>
      </p:sp>
      <p:pic>
        <p:nvPicPr>
          <p:cNvPr id="6" name="Image 1" descr="/Users/Reid Hu/OrbitOS/70_Presentations/717_Learning Group-20260916/assets/ship_fig12_rubbing_separa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2761488"/>
            <a:ext cx="3520440" cy="23317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30352" y="1078992"/>
            <a:ext cx="5806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Velocity Filters</a:t>
            </a:r>
            <a:endParaRPr lang="en-US" sz="3400" dirty="0"/>
          </a:p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 heavy-ion fusion products</a:t>
            </a:r>
            <a:endParaRPr lang="en-US" sz="3400" dirty="0"/>
          </a:p>
        </p:txBody>
      </p:sp>
      <p:sp>
        <p:nvSpPr>
          <p:cNvPr id="8" name="Text 4"/>
          <p:cNvSpPr/>
          <p:nvPr/>
        </p:nvSpPr>
        <p:spPr>
          <a:xfrm>
            <a:off x="548640" y="3401568"/>
            <a:ext cx="5806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Zhiheng Hu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548640" y="3822192"/>
            <a:ext cx="5806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>
                <a:solidFill>
                  <a:srgbClr val="A8C4E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29 </a:t>
            </a:r>
            <a:r>
              <a:rPr lang="en-US" sz="1300" dirty="0">
                <a:solidFill>
                  <a:srgbClr val="A8C4E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Sep 2026  ·  Exp. Techniques NP Ch. 11</a:t>
            </a:r>
            <a:endParaRPr lang="en-US" sz="130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D014226-D832-0957-69DE-6D35897CD387}"/>
              </a:ext>
            </a:extLst>
          </p:cNvPr>
          <p:cNvGrpSpPr/>
          <p:nvPr/>
        </p:nvGrpSpPr>
        <p:grpSpPr>
          <a:xfrm>
            <a:off x="6336792" y="129586"/>
            <a:ext cx="2734056" cy="566928"/>
            <a:chOff x="5797296" y="356616"/>
            <a:chExt cx="2734056" cy="566928"/>
          </a:xfrm>
        </p:grpSpPr>
        <p:pic>
          <p:nvPicPr>
            <p:cNvPr id="11" name="Image 0" descr="/Users/Reid Hu/OrbitOS/70_Presentations/717_Learning Group-20260916/assets/imp_mark_white.png">
              <a:extLst>
                <a:ext uri="{FF2B5EF4-FFF2-40B4-BE49-F238E27FC236}">
                  <a16:creationId xmlns:a16="http://schemas.microsoft.com/office/drawing/2014/main" id="{F60E45DF-AB2C-E06F-E1D0-3236767CC75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797296" y="356616"/>
              <a:ext cx="530352" cy="566928"/>
            </a:xfrm>
            <a:prstGeom prst="rect">
              <a:avLst/>
            </a:prstGeom>
          </p:spPr>
        </p:pic>
        <p:sp>
          <p:nvSpPr>
            <p:cNvPr id="12" name="Text 2">
              <a:extLst>
                <a:ext uri="{FF2B5EF4-FFF2-40B4-BE49-F238E27FC236}">
                  <a16:creationId xmlns:a16="http://schemas.microsoft.com/office/drawing/2014/main" id="{3946F8EA-4915-5A58-5D95-5A38FCC85A08}"/>
                </a:ext>
              </a:extLst>
            </p:cNvPr>
            <p:cNvSpPr/>
            <p:nvPr/>
          </p:nvSpPr>
          <p:spPr>
            <a:xfrm>
              <a:off x="6473952" y="365760"/>
              <a:ext cx="205740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FFFFFF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Institute of Modern Physics</a:t>
              </a:r>
              <a:endParaRPr lang="en-US" sz="1150" dirty="0"/>
            </a:p>
            <a:p>
              <a:pPr marL="0" indent="0">
                <a:buNone/>
              </a:pPr>
              <a:r>
                <a:rPr lang="en-US" sz="1150" b="1" dirty="0">
                  <a:solidFill>
                    <a:srgbClr val="FFFFFF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Chinese Academy of Sciences</a:t>
              </a:r>
              <a:endParaRPr lang="en-US" sz="1150"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21208"/>
          </a:xfrm>
          <a:prstGeom prst="rect">
            <a:avLst/>
          </a:prstGeom>
          <a:solidFill>
            <a:srgbClr val="0F2F5C"/>
          </a:solidFill>
          <a:ln w="12700">
            <a:solidFill>
              <a:srgbClr val="0F2F5C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3" name="Text 1"/>
          <p:cNvSpPr/>
          <p:nvPr/>
        </p:nvSpPr>
        <p:spPr>
          <a:xfrm>
            <a:off x="411480" y="73152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Ten days of beam produced three atoms of element 108.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47472" y="4864608"/>
            <a:ext cx="8458200" cy="13716"/>
          </a:xfrm>
          <a:prstGeom prst="rect">
            <a:avLst/>
          </a:prstGeom>
          <a:solidFill>
            <a:srgbClr val="0F2F5C"/>
          </a:solidFill>
          <a:ln w="12700">
            <a:solidFill>
              <a:srgbClr val="0F2F5C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5" name="Text 3"/>
          <p:cNvSpPr/>
          <p:nvPr/>
        </p:nvSpPr>
        <p:spPr>
          <a:xfrm>
            <a:off x="457200" y="489204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Group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269480" y="489204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Background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621792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A233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Fusion residues leave the target in the beam direction, inside the unreacted beam.</a:t>
            </a:r>
            <a:endParaRPr lang="en-US" sz="1300" dirty="0"/>
          </a:p>
        </p:txBody>
      </p:sp>
      <p:pic>
        <p:nvPicPr>
          <p:cNvPr id="9" name="Picture 8" descr="stakes_sta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3628" y="3545171"/>
            <a:ext cx="6536743" cy="40233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20040" y="4112099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96A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SHIP (GSI): iron beam on a lead target for 240 h (Ch. 11, Fig. 14)  ·  Illustration: blue = beam, red = fusion residues</a:t>
            </a:r>
            <a:endParaRPr lang="en-US" sz="1000" dirty="0"/>
          </a:p>
        </p:txBody>
      </p:sp>
      <p:grpSp>
        <p:nvGrpSpPr>
          <p:cNvPr id="15" name="Stakes figure + role labels"/>
          <p:cNvGrpSpPr/>
          <p:nvPr/>
        </p:nvGrpSpPr>
        <p:grpSpPr>
          <a:xfrm>
            <a:off x="73804" y="994910"/>
            <a:ext cx="8658716" cy="2467965"/>
            <a:chOff x="73804" y="994910"/>
            <a:chExt cx="8658716" cy="2467965"/>
          </a:xfrm>
        </p:grpSpPr>
        <p:pic>
          <p:nvPicPr>
            <p:cNvPr id="8" name="Picture 7" descr="stakes_beam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11480" y="1280160"/>
              <a:ext cx="8321040" cy="2063843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C96EC0F-B8A1-EDCE-4A35-F0327527C86A}"/>
                </a:ext>
              </a:extLst>
            </p:cNvPr>
            <p:cNvSpPr txBox="1"/>
            <p:nvPr/>
          </p:nvSpPr>
          <p:spPr>
            <a:xfrm>
              <a:off x="73804" y="3093543"/>
              <a:ext cx="15798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JP" dirty="0"/>
                <a:t>Projectile: </a:t>
              </a:r>
              <a:r>
                <a:rPr lang="en-JP" baseline="30000" dirty="0"/>
                <a:t>58</a:t>
              </a:r>
              <a:r>
                <a:rPr lang="en-JP" dirty="0"/>
                <a:t>Fe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402BA1C-ADF4-6AEB-B014-10BC22733E20}"/>
                </a:ext>
              </a:extLst>
            </p:cNvPr>
            <p:cNvSpPr txBox="1"/>
            <p:nvPr/>
          </p:nvSpPr>
          <p:spPr>
            <a:xfrm>
              <a:off x="457200" y="994910"/>
              <a:ext cx="13894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JP" dirty="0"/>
                <a:t>Target: </a:t>
              </a:r>
              <a:r>
                <a:rPr lang="en-JP" baseline="30000" dirty="0"/>
                <a:t>208</a:t>
              </a:r>
              <a:r>
                <a:rPr lang="en-JP" dirty="0"/>
                <a:t>Pb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243637" y="1298448"/>
              <a:ext cx="163106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JP" dirty="0"/>
                <a:t>Residue: </a:t>
              </a:r>
              <a:r>
                <a:rPr lang="en-JP" baseline="30000" dirty="0"/>
                <a:t>265</a:t>
              </a:r>
              <a:r>
                <a:rPr lang="en-JP" dirty="0"/>
                <a:t>108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491859" y="2761488"/>
              <a:ext cx="11346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JP" dirty="0"/>
                <a:t>Ejectile: n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2F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Outline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960119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8C4E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Why not just use a mass spectrometer?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94360" y="20116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8C4E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How does a filter survive the beam?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94360" y="3063239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8C4E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Without mass, how do we know what we caught?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4360" y="4114799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8C4E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When is a velocity filter the wrong tool?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F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50392"/>
            <a:ext cx="80467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JP"/>
          </a:p>
        </p:txBody>
      </p:sp>
      <p:sp>
        <p:nvSpPr>
          <p:cNvPr id="5" name="Text 3"/>
          <p:cNvSpPr/>
          <p:nvPr/>
        </p:nvSpPr>
        <p:spPr>
          <a:xfrm>
            <a:off x="594360" y="941832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F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Why not just use a mass spectrometer?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94360" y="20116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8C4E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How does a filter survive the beam?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4360" y="30632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8C4E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Without mass, how do we know what we caught?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4360" y="4114799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8C4E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When is a velocity filter the wrong tool?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21208"/>
          </a:xfrm>
          <a:prstGeom prst="rect">
            <a:avLst/>
          </a:prstGeom>
          <a:solidFill>
            <a:srgbClr val="0F2F5C"/>
          </a:solidFill>
          <a:ln w="12700">
            <a:solidFill>
              <a:srgbClr val="0F2F5C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3" name="Text 1"/>
          <p:cNvSpPr/>
          <p:nvPr/>
        </p:nvSpPr>
        <p:spPr>
          <a:xfrm>
            <a:off x="411480" y="73152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Residues share the beam’s momentum but not its speed, so a magnet fails.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47472" y="4864608"/>
            <a:ext cx="8458200" cy="13716"/>
          </a:xfrm>
          <a:prstGeom prst="rect">
            <a:avLst/>
          </a:prstGeom>
          <a:solidFill>
            <a:srgbClr val="0F2F5C"/>
          </a:solidFill>
          <a:ln w="12700">
            <a:solidFill>
              <a:srgbClr val="0F2F5C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5" name="Text 3"/>
          <p:cNvSpPr/>
          <p:nvPr/>
        </p:nvSpPr>
        <p:spPr>
          <a:xfrm>
            <a:off x="457200" y="489204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Group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269480" y="489204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Content 1 / 10</a:t>
            </a:r>
            <a:endParaRPr lang="en-US" sz="1000" dirty="0"/>
          </a:p>
        </p:txBody>
      </p:sp>
      <p:pic>
        <p:nvPicPr>
          <p:cNvPr id="7" name="Image 0" descr="/Users/Reid Hu/OrbitOS/70_Presentations/717_Learning Group-20260916/assets/eq/lead_vc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37032"/>
            <a:ext cx="7187184" cy="22555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11480" y="914400"/>
            <a:ext cx="8321040" cy="2468880"/>
          </a:xfrm>
          <a:prstGeom prst="roundRect">
            <a:avLst>
              <a:gd name="adj" fmla="val 3704"/>
            </a:avLst>
          </a:prstGeom>
          <a:solidFill>
            <a:srgbClr val="E8F0FA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JP"/>
          </a:p>
        </p:txBody>
      </p:sp>
      <p:pic>
        <p:nvPicPr>
          <p:cNvPr id="9" name="Image 1" descr="/Users/Reid Hu/OrbitOS/70_Presentations/717_Learning Group-20260916/assets/eq/eq_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865" y="1094333"/>
            <a:ext cx="4471416" cy="9448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285232" y="987552"/>
            <a:ext cx="3246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b="1" i="1" dirty="0">
                <a:solidFill>
                  <a:srgbClr val="0F2F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Residue</a:t>
            </a:r>
            <a:r>
              <a:rPr lang="en-US" sz="1100" i="1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heavy remnant of the compound nucleus after it evaporates a few light particles.</a:t>
            </a: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
</a:t>
            </a:r>
            <a:r>
              <a:rPr lang="en-US" sz="1100" i="1" dirty="0">
                <a:solidFill>
                  <a:srgbClr val="0F2F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</a:t>
            </a:r>
            <a:r>
              <a:rPr lang="en-US" sz="1100" i="1" baseline="-25000" dirty="0">
                <a:solidFill>
                  <a:srgbClr val="0F2F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</a:t>
            </a:r>
            <a:r>
              <a:rPr lang="en-US" sz="1100" i="1" dirty="0">
                <a:solidFill>
                  <a:srgbClr val="0F2F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(A</a:t>
            </a:r>
            <a:r>
              <a:rPr lang="en-US" sz="1100" i="1" baseline="-25000" dirty="0">
                <a:solidFill>
                  <a:srgbClr val="0F2F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</a:t>
            </a:r>
            <a:r>
              <a:rPr lang="en-US" sz="1100" i="1" dirty="0">
                <a:solidFill>
                  <a:srgbClr val="0F2F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/A</a:t>
            </a:r>
            <a:r>
              <a:rPr lang="en-US" sz="1100" i="1" baseline="-25000" dirty="0">
                <a:solidFill>
                  <a:srgbClr val="0F2F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r>
              <a:rPr lang="en-US" sz="1100" i="1" dirty="0">
                <a:solidFill>
                  <a:srgbClr val="0F2F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 E</a:t>
            </a:r>
            <a:r>
              <a:rPr lang="en-US" sz="1100" i="1" baseline="-25000" dirty="0">
                <a:solidFill>
                  <a:srgbClr val="0F2F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</a:t>
            </a:r>
            <a:r>
              <a:rPr lang="en-US" sz="1100" i="1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— the residue’s kinetic energy under full momentum transfer: motion at v</a:t>
            </a:r>
            <a:r>
              <a:rPr lang="en-US" sz="1100" i="1" baseline="-25000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cm</a:t>
            </a:r>
            <a:r>
              <a:rPr lang="en-US" sz="1100" i="1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slower than the beam.</a:t>
            </a: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
</a:t>
            </a:r>
            <a:r>
              <a:rPr lang="en-US" sz="1100" i="1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</a:t>
            </a:r>
            <a:r>
              <a:rPr lang="en-US" sz="1100" i="1" dirty="0" baseline="-2500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r>
              <a:rPr lang="en-US" sz="1100" i="1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mass number of the target nucleus (</a:t>
            </a:r>
            <a:r>
              <a:rPr lang="en-US" sz="1100" i="1" dirty="0" baseline="3000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208</a:t>
            </a:r>
            <a:r>
              <a:rPr lang="en-US" sz="1100" i="1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Pb: 208).</a:t>
            </a: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
</a:t>
            </a:r>
            <a:r>
              <a:rPr lang="en-US" sz="1100" i="1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</a:t>
            </a:r>
            <a:r>
              <a:rPr lang="en-US" sz="1100" i="1" dirty="0" baseline="-2500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cm</a:t>
            </a:r>
            <a:r>
              <a:rPr lang="en-US" sz="1100" i="1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(A</a:t>
            </a:r>
            <a:r>
              <a:rPr lang="en-US" sz="1100" i="1" dirty="0" baseline="-2500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</a:t>
            </a:r>
            <a:r>
              <a:rPr lang="en-US" sz="1100" i="1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/A</a:t>
            </a:r>
            <a:r>
              <a:rPr lang="en-US" sz="1100" i="1" dirty="0" baseline="-2500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r>
              <a:rPr lang="en-US" sz="1100" i="1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 v</a:t>
            </a:r>
            <a:r>
              <a:rPr lang="en-US" sz="1100" i="1" dirty="0" baseline="-2500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</a:t>
            </a:r>
            <a:r>
              <a:rPr lang="en-US" sz="1100" i="1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so Δv/v</a:t>
            </a:r>
            <a:r>
              <a:rPr lang="en-US" sz="1100" i="1" dirty="0" baseline="-2500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</a:t>
            </a:r>
            <a:r>
              <a:rPr lang="en-US" sz="1100" i="1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1 − A</a:t>
            </a:r>
            <a:r>
              <a:rPr lang="en-US" sz="1100" i="1" dirty="0" baseline="-2500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</a:t>
            </a:r>
            <a:r>
              <a:rPr lang="en-US" sz="1100" i="1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/A</a:t>
            </a:r>
            <a:r>
              <a:rPr lang="en-US" sz="1100" i="1" dirty="0" baseline="-2500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r>
              <a:rPr lang="en-US" sz="1100" i="1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A</a:t>
            </a:r>
            <a:r>
              <a:rPr lang="en-US" sz="1100" i="1" dirty="0" baseline="-2500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r>
              <a:rPr lang="en-US" sz="1100" i="1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/A</a:t>
            </a:r>
            <a:r>
              <a:rPr lang="en-US" sz="1100" i="1" dirty="0" baseline="-2500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r>
              <a:rPr lang="en-US" sz="1100" i="1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the heavier the target, the slower the residue (</a:t>
            </a:r>
            <a:r>
              <a:rPr lang="en-US" sz="1100" i="1" dirty="0" baseline="3000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58</a:t>
            </a:r>
            <a:r>
              <a:rPr lang="en-US" sz="1100" i="1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 + </a:t>
            </a:r>
            <a:r>
              <a:rPr lang="en-US" sz="1100" i="1" dirty="0" baseline="3000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208</a:t>
            </a:r>
            <a:r>
              <a:rPr lang="en-US" sz="1100" i="1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Pb: Δv/v</a:t>
            </a:r>
            <a:r>
              <a:rPr lang="en-US" sz="1100" i="1" dirty="0" baseline="-2500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</a:t>
            </a:r>
            <a:r>
              <a:rPr lang="en-US" sz="1100" i="1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208/266 ≈ 0.78).</a:t>
            </a:r>
            <a:endParaRPr lang="en-US" sz="1100" dirty="0"/>
          </a:p>
        </p:txBody>
      </p:sp>
      <p:pic>
        <p:nvPicPr>
          <p:cNvPr id="11" name="Image 2" descr="/Users/Reid Hu/OrbitOS/70_Presentations/717_Learning Group-20260916/assets/eq/eq_v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952" y="2227758"/>
            <a:ext cx="3404616" cy="762000"/>
          </a:xfrm>
          <a:prstGeom prst="rect">
            <a:avLst/>
          </a:prstGeom>
        </p:spPr>
      </p:pic>
      <p:pic>
        <p:nvPicPr>
          <p:cNvPr id="12" name="Image 3" descr="/Users/Reid Hu/OrbitOS/70_Presentations/717_Learning Group-20260916/assets/eq/eq_eq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3000" y="3101558"/>
            <a:ext cx="3377184" cy="213360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411480" y="3456432"/>
            <a:ext cx="2697480" cy="1207008"/>
          </a:xfrm>
          <a:prstGeom prst="roundRect">
            <a:avLst>
              <a:gd name="adj" fmla="val 6061"/>
            </a:avLst>
          </a:prstGeom>
          <a:solidFill>
            <a:srgbClr val="F7F9FC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JP"/>
          </a:p>
        </p:txBody>
      </p:sp>
      <p:sp>
        <p:nvSpPr>
          <p:cNvPr id="14" name="Text 8"/>
          <p:cNvSpPr/>
          <p:nvPr/>
        </p:nvSpPr>
        <p:spPr>
          <a:xfrm>
            <a:off x="548640" y="3840480"/>
            <a:ext cx="2423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2F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Fusion residues</a:t>
            </a:r>
            <a:endParaRPr lang="en-US" sz="1300" dirty="0"/>
          </a:p>
        </p:txBody>
      </p:sp>
      <p:pic>
        <p:nvPicPr>
          <p:cNvPr id="15" name="Image 4" descr="/Users/Reid Hu/OrbitOS/70_Presentations/717_Learning Group-20260916/assets/eq/kine_fusion_b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2191" y="4105656"/>
            <a:ext cx="2296058" cy="37380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3246120" y="3456432"/>
            <a:ext cx="2697480" cy="1207008"/>
          </a:xfrm>
          <a:prstGeom prst="roundRect">
            <a:avLst>
              <a:gd name="adj" fmla="val 6061"/>
            </a:avLst>
          </a:prstGeom>
          <a:solidFill>
            <a:srgbClr val="F7F9FC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JP"/>
          </a:p>
        </p:txBody>
      </p:sp>
      <p:sp>
        <p:nvSpPr>
          <p:cNvPr id="17" name="Text 10"/>
          <p:cNvSpPr/>
          <p:nvPr/>
        </p:nvSpPr>
        <p:spPr>
          <a:xfrm>
            <a:off x="3383280" y="3840480"/>
            <a:ext cx="2423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2F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Unreacted beam</a:t>
            </a:r>
            <a:endParaRPr lang="en-US" sz="1300" dirty="0"/>
          </a:p>
        </p:txBody>
      </p:sp>
      <p:pic>
        <p:nvPicPr>
          <p:cNvPr id="18" name="Image 5" descr="/Users/Reid Hu/OrbitOS/70_Presentations/717_Learning Group-20260916/assets/eq/kine_beam_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10209" y="4105656"/>
            <a:ext cx="2369301" cy="373989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6080760" y="3456432"/>
            <a:ext cx="2697480" cy="1207008"/>
          </a:xfrm>
          <a:prstGeom prst="roundRect">
            <a:avLst>
              <a:gd name="adj" fmla="val 6061"/>
            </a:avLst>
          </a:prstGeom>
          <a:solidFill>
            <a:srgbClr val="F7F9FC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JP"/>
          </a:p>
        </p:txBody>
      </p:sp>
      <p:sp>
        <p:nvSpPr>
          <p:cNvPr id="20" name="Text 12"/>
          <p:cNvSpPr/>
          <p:nvPr/>
        </p:nvSpPr>
        <p:spPr>
          <a:xfrm>
            <a:off x="6217920" y="3840480"/>
            <a:ext cx="2423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2F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Other channels</a:t>
            </a:r>
            <a:endParaRPr lang="en-US" sz="1300" dirty="0"/>
          </a:p>
        </p:txBody>
      </p:sp>
      <p:sp>
        <p:nvSpPr>
          <p:cNvPr id="21" name="Text 13"/>
          <p:cNvSpPr/>
          <p:nvPr/>
        </p:nvSpPr>
        <p:spPr>
          <a:xfrm>
            <a:off x="6217920" y="4105656"/>
            <a:ext cx="2423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233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Transfer stays near beam or target velocity; fission-after-fusion spreads over a wide lab-velocity range.</a:t>
            </a:r>
            <a:endParaRPr lang="en-US" sz="1200" dirty="0"/>
          </a:p>
        </p:txBody>
      </p:sp>
      <p:sp>
        <p:nvSpPr>
          <p:cNvPr id="22" name="Oval 21"/>
          <p:cNvSpPr/>
          <p:nvPr/>
        </p:nvSpPr>
        <p:spPr>
          <a:xfrm>
            <a:off x="1490472" y="3511296"/>
            <a:ext cx="310896" cy="310896"/>
          </a:xfrm>
          <a:prstGeom prst="ellipse">
            <a:avLst/>
          </a:prstGeom>
          <a:solidFill>
            <a:srgbClr val="0F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 i="1">
                <a:solidFill>
                  <a:srgbClr val="FFFFFF"/>
                </a:solidFill>
                <a:latin typeface="Times New Roman"/>
              </a:rPr>
              <a:t>vᵣ</a:t>
            </a:r>
          </a:p>
        </p:txBody>
      </p:sp>
      <p:sp>
        <p:nvSpPr>
          <p:cNvPr id="23" name="Oval 22"/>
          <p:cNvSpPr/>
          <p:nvPr/>
        </p:nvSpPr>
        <p:spPr>
          <a:xfrm>
            <a:off x="4325112" y="3511296"/>
            <a:ext cx="310896" cy="310896"/>
          </a:xfrm>
          <a:prstGeom prst="ellipse">
            <a:avLst/>
          </a:prstGeom>
          <a:solidFill>
            <a:srgbClr val="0F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 i="1">
                <a:solidFill>
                  <a:srgbClr val="FFFFFF"/>
                </a:solidFill>
                <a:latin typeface="Times New Roman"/>
              </a:rPr>
              <a:t>vₚ</a:t>
            </a:r>
          </a:p>
        </p:txBody>
      </p:sp>
      <p:sp>
        <p:nvSpPr>
          <p:cNvPr id="24" name="Oval 23"/>
          <p:cNvSpPr/>
          <p:nvPr/>
        </p:nvSpPr>
        <p:spPr>
          <a:xfrm>
            <a:off x="7159752" y="3511296"/>
            <a:ext cx="310896" cy="310896"/>
          </a:xfrm>
          <a:prstGeom prst="ellipse">
            <a:avLst/>
          </a:prstGeom>
          <a:solidFill>
            <a:srgbClr val="0F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 i="1">
                <a:solidFill>
                  <a:srgbClr val="FFFFFF"/>
                </a:solidFill>
                <a:latin typeface="Times New Roman"/>
              </a:rPr>
              <a:t>Δv</a:t>
            </a:r>
          </a:p>
        </p:txBody>
      </p:sp>
      <p:sp>
        <p:nvSpPr>
          <p:cNvPr id="25" name="User note (keep until confirmed)"/>
          <p:cNvSpPr txBox="1"/>
          <p:nvPr/>
        </p:nvSpPr>
        <p:spPr>
          <a:xfrm>
            <a:off x="5285232" y="2395728"/>
            <a:ext cx="3310128" cy="1005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dirty="0"/>
              <a:t>What is A_t?</a:t>
            </a:r>
            <a:br>
              <a:rPr lang="en-JP" dirty="0"/>
            </a:br>
            <a:r>
              <a:rPr lang="en-JP" dirty="0"/>
              <a:t>You have not explained</a:t>
            </a:r>
          </a:p>
          <a:p>
            <a:pPr>
              <a:spcBef>
                <a:spcPts val="400"/>
              </a:spcBef>
            </a:pPr>
            <a:r>
              <a:rPr lang="en-JP" dirty="0" sz="1100" i="1">
                <a:solidFill>
                  <a:srgbClr val="0F2F5C"/>
                </a:solidFill>
              </a:rPr>
              <a:t>↳ </a:t>
            </a:r>
            <a:r>
              <a:rPr lang="en-JP" dirty="0" sz="1100" i="1">
                <a:solidFill>
                  <a:srgbClr val="0F2F5C"/>
                </a:solidFill>
              </a:rPr>
              <a:t>A</a:t>
            </a:r>
            <a:r>
              <a:rPr lang="en-JP" dirty="0" sz="1100" i="1" baseline="-25000">
                <a:solidFill>
                  <a:srgbClr val="0F2F5C"/>
                </a:solidFill>
              </a:rPr>
              <a:t>t</a:t>
            </a:r>
            <a:r>
              <a:rPr lang="en-JP" dirty="0" sz="1100" i="1">
                <a:solidFill>
                  <a:srgbClr val="0F2F5C"/>
                </a:solidFill>
              </a:rPr>
              <a:t> = target mass number (</a:t>
            </a:r>
            <a:r>
              <a:rPr lang="en-JP" dirty="0" sz="1100" i="1" baseline="30000">
                <a:solidFill>
                  <a:srgbClr val="0F2F5C"/>
                </a:solidFill>
              </a:rPr>
              <a:t>208</a:t>
            </a:r>
            <a:r>
              <a:rPr lang="en-JP" dirty="0" sz="1100" i="1">
                <a:solidFill>
                  <a:srgbClr val="0F2F5C"/>
                </a:solidFill>
              </a:rPr>
              <a:t>Pb: 208). From v</a:t>
            </a:r>
            <a:r>
              <a:rPr lang="en-JP" dirty="0" sz="1100" i="1" baseline="-25000">
                <a:solidFill>
                  <a:srgbClr val="0F2F5C"/>
                </a:solidFill>
              </a:rPr>
              <a:t>cm</a:t>
            </a:r>
            <a:r>
              <a:rPr lang="en-JP" dirty="0" sz="1100" i="1">
                <a:solidFill>
                  <a:srgbClr val="0F2F5C"/>
                </a:solidFill>
              </a:rPr>
              <a:t> = (A</a:t>
            </a:r>
            <a:r>
              <a:rPr lang="en-JP" dirty="0" sz="1100" i="1" baseline="-25000">
                <a:solidFill>
                  <a:srgbClr val="0F2F5C"/>
                </a:solidFill>
              </a:rPr>
              <a:t>p</a:t>
            </a:r>
            <a:r>
              <a:rPr lang="en-JP" dirty="0" sz="1100" i="1">
                <a:solidFill>
                  <a:srgbClr val="0F2F5C"/>
                </a:solidFill>
              </a:rPr>
              <a:t>/A</a:t>
            </a:r>
            <a:r>
              <a:rPr lang="en-JP" dirty="0" sz="1100" i="1" baseline="-25000">
                <a:solidFill>
                  <a:srgbClr val="0F2F5C"/>
                </a:solidFill>
              </a:rPr>
              <a:t>c</a:t>
            </a:r>
            <a:r>
              <a:rPr lang="en-JP" dirty="0" sz="1100" i="1">
                <a:solidFill>
                  <a:srgbClr val="0F2F5C"/>
                </a:solidFill>
              </a:rPr>
              <a:t>) v</a:t>
            </a:r>
            <a:r>
              <a:rPr lang="en-JP" dirty="0" sz="1100" i="1" baseline="-25000">
                <a:solidFill>
                  <a:srgbClr val="0F2F5C"/>
                </a:solidFill>
              </a:rPr>
              <a:t>p</a:t>
            </a:r>
            <a:r>
              <a:rPr lang="en-JP" dirty="0" sz="1100" i="1">
                <a:solidFill>
                  <a:srgbClr val="0F2F5C"/>
                </a:solidFill>
              </a:rPr>
              <a:t>, Δv/v</a:t>
            </a:r>
            <a:r>
              <a:rPr lang="en-JP" dirty="0" sz="1100" i="1" baseline="-25000">
                <a:solidFill>
                  <a:srgbClr val="0F2F5C"/>
                </a:solidFill>
              </a:rPr>
              <a:t>p</a:t>
            </a:r>
            <a:r>
              <a:rPr lang="en-JP" dirty="0" sz="1100" i="1">
                <a:solidFill>
                  <a:srgbClr val="0F2F5C"/>
                </a:solidFill>
              </a:rPr>
              <a:t> = A</a:t>
            </a:r>
            <a:r>
              <a:rPr lang="en-JP" dirty="0" sz="1100" i="1" baseline="-25000">
                <a:solidFill>
                  <a:srgbClr val="0F2F5C"/>
                </a:solidFill>
              </a:rPr>
              <a:t>t</a:t>
            </a:r>
            <a:r>
              <a:rPr lang="en-JP" dirty="0" sz="1100" i="1">
                <a:solidFill>
                  <a:srgbClr val="0F2F5C"/>
                </a:solidFill>
              </a:rPr>
              <a:t>/A</a:t>
            </a:r>
            <a:r>
              <a:rPr lang="en-JP" dirty="0" sz="1100" i="1" baseline="-25000">
                <a:solidFill>
                  <a:srgbClr val="0F2F5C"/>
                </a:solidFill>
              </a:rPr>
              <a:t>c</a:t>
            </a:r>
            <a:r>
              <a:rPr lang="en-JP" dirty="0" sz="1100" i="1">
                <a:solidFill>
                  <a:srgbClr val="0F2F5C"/>
                </a:solidFill>
              </a:rPr>
              <a:t>; now in the aside.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21208"/>
          </a:xfrm>
          <a:prstGeom prst="rect">
            <a:avLst/>
          </a:prstGeom>
          <a:solidFill>
            <a:srgbClr val="0F2F5C"/>
          </a:solidFill>
          <a:ln w="12700">
            <a:solidFill>
              <a:srgbClr val="0F2F5C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3" name="Text 1"/>
          <p:cNvSpPr/>
          <p:nvPr/>
        </p:nvSpPr>
        <p:spPr>
          <a:xfrm>
            <a:off x="411480" y="73152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Evaporation residues are kinematically focused into a narrow forward cone.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47472" y="4864608"/>
            <a:ext cx="8458200" cy="13716"/>
          </a:xfrm>
          <a:prstGeom prst="rect">
            <a:avLst/>
          </a:prstGeom>
          <a:solidFill>
            <a:srgbClr val="0F2F5C"/>
          </a:solidFill>
          <a:ln w="12700">
            <a:solidFill>
              <a:srgbClr val="0F2F5C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5" name="Text 3"/>
          <p:cNvSpPr/>
          <p:nvPr/>
        </p:nvSpPr>
        <p:spPr>
          <a:xfrm>
            <a:off x="457200" y="489204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Group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269480" y="489204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Content 2 / 10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621792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A233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heavy projectile brings large forward momentum; a few evaporated particles barely deflect the residue.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969264"/>
            <a:ext cx="8321040" cy="1792224"/>
          </a:xfrm>
          <a:prstGeom prst="roundRect">
            <a:avLst>
              <a:gd name="adj" fmla="val 5102"/>
            </a:avLst>
          </a:prstGeom>
          <a:solidFill>
            <a:srgbClr val="E8F0FA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JP"/>
          </a:p>
        </p:txBody>
      </p:sp>
      <p:pic>
        <p:nvPicPr>
          <p:cNvPr id="9" name="Image 0" descr="/Users/Reid Hu/OrbitOS/70_Presentations/717_Learning Group-20260916/assets/eq/eq_sig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63833"/>
            <a:ext cx="3685032" cy="1395984"/>
          </a:xfrm>
          <a:prstGeom prst="rect">
            <a:avLst/>
          </a:prstGeom>
        </p:spPr>
      </p:pic>
      <p:pic>
        <p:nvPicPr>
          <p:cNvPr id="10" name="Image 1" descr="/Users/Reid Hu/OrbitOS/70_Presentations/717_Learning Group-20260916/assets/eq/eq_sigma_no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1252" y="2501524"/>
            <a:ext cx="344454" cy="172456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11480" y="2871216"/>
            <a:ext cx="2697480" cy="1755648"/>
          </a:xfrm>
          <a:prstGeom prst="roundRect">
            <a:avLst>
              <a:gd name="adj" fmla="val 4167"/>
            </a:avLst>
          </a:prstGeom>
          <a:solidFill>
            <a:srgbClr val="F7F9FC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JP"/>
          </a:p>
        </p:txBody>
      </p:sp>
      <p:sp>
        <p:nvSpPr>
          <p:cNvPr id="12" name="Shape 8"/>
          <p:cNvSpPr/>
          <p:nvPr/>
        </p:nvSpPr>
        <p:spPr>
          <a:xfrm>
            <a:off x="1463040" y="3131820"/>
            <a:ext cx="457200" cy="457200"/>
          </a:xfrm>
          <a:prstGeom prst="ellipse">
            <a:avLst/>
          </a:prstGeom>
          <a:solidFill>
            <a:srgbClr val="0F2F5C"/>
          </a:solidFill>
          <a:ln/>
        </p:spPr>
        <p:txBody>
          <a:bodyPr/>
          <a:lstStyle/>
          <a:p>
            <a:endParaRPr lang="en-JP"/>
          </a:p>
        </p:txBody>
      </p:sp>
      <p:pic>
        <p:nvPicPr>
          <p:cNvPr id="13" name="Image 2" descr="/Users/Reid Hu/OrbitOS/70_Presentations/717_Learning Group-20260916/assets/eq/chip_thet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7906" y="3289234"/>
            <a:ext cx="127467" cy="14237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48640" y="366217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2F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Narrow cone</a:t>
            </a:r>
            <a:endParaRPr lang="en-US" sz="1400" dirty="0"/>
          </a:p>
        </p:txBody>
      </p:sp>
      <p:pic>
        <p:nvPicPr>
          <p:cNvPr id="15" name="Image 3" descr="/Users/Reid Hu/OrbitOS/70_Presentations/717_Learning Group-20260916/assets/eq/focus_theta_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9953" y="3991356"/>
            <a:ext cx="2440533" cy="373989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3246120" y="2871216"/>
            <a:ext cx="2697480" cy="1755648"/>
          </a:xfrm>
          <a:prstGeom prst="roundRect">
            <a:avLst>
              <a:gd name="adj" fmla="val 4167"/>
            </a:avLst>
          </a:prstGeom>
          <a:solidFill>
            <a:srgbClr val="F7F9FC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JP"/>
          </a:p>
        </p:txBody>
      </p:sp>
      <p:sp>
        <p:nvSpPr>
          <p:cNvPr id="17" name="Shape 11"/>
          <p:cNvSpPr/>
          <p:nvPr/>
        </p:nvSpPr>
        <p:spPr>
          <a:xfrm>
            <a:off x="4297680" y="3131820"/>
            <a:ext cx="457200" cy="457200"/>
          </a:xfrm>
          <a:prstGeom prst="ellipse">
            <a:avLst/>
          </a:prstGeom>
          <a:solidFill>
            <a:srgbClr val="0F2F5C"/>
          </a:solidFill>
          <a:ln/>
        </p:spPr>
        <p:txBody>
          <a:bodyPr/>
          <a:lstStyle/>
          <a:p>
            <a:endParaRPr lang="en-JP"/>
          </a:p>
        </p:txBody>
      </p:sp>
      <p:pic>
        <p:nvPicPr>
          <p:cNvPr id="18" name="Image 4" descr="/Users/Reid Hu/OrbitOS/70_Presentations/717_Learning Group-20260916/assets/eq/chip_omeg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38086" y="3287908"/>
            <a:ext cx="176388" cy="145024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383280" y="366217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2F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Small solid angle</a:t>
            </a:r>
            <a:endParaRPr lang="en-US" sz="1400" dirty="0"/>
          </a:p>
        </p:txBody>
      </p:sp>
      <p:pic>
        <p:nvPicPr>
          <p:cNvPr id="20" name="Image 5" descr="/Users/Reid Hu/OrbitOS/70_Presentations/717_Learning Group-20260916/assets/eq/focus_omega_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1294" y="3991356"/>
            <a:ext cx="2387132" cy="343540"/>
          </a:xfrm>
          <a:prstGeom prst="rect">
            <a:avLst/>
          </a:prstGeom>
        </p:spPr>
      </p:pic>
      <p:sp>
        <p:nvSpPr>
          <p:cNvPr id="21" name="Shape 13"/>
          <p:cNvSpPr/>
          <p:nvPr/>
        </p:nvSpPr>
        <p:spPr>
          <a:xfrm>
            <a:off x="6080760" y="2871216"/>
            <a:ext cx="2697480" cy="1755648"/>
          </a:xfrm>
          <a:prstGeom prst="roundRect">
            <a:avLst>
              <a:gd name="adj" fmla="val 4167"/>
            </a:avLst>
          </a:prstGeom>
          <a:solidFill>
            <a:srgbClr val="F7F9FC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JP"/>
          </a:p>
        </p:txBody>
      </p:sp>
      <p:sp>
        <p:nvSpPr>
          <p:cNvPr id="22" name="Shape 14"/>
          <p:cNvSpPr/>
          <p:nvPr/>
        </p:nvSpPr>
        <p:spPr>
          <a:xfrm>
            <a:off x="7132320" y="3131820"/>
            <a:ext cx="457200" cy="457200"/>
          </a:xfrm>
          <a:prstGeom prst="ellipse">
            <a:avLst/>
          </a:prstGeom>
          <a:solidFill>
            <a:srgbClr val="0F2F5C"/>
          </a:solidFill>
          <a:ln/>
        </p:spPr>
        <p:txBody>
          <a:bodyPr/>
          <a:lstStyle/>
          <a:p>
            <a:endParaRPr lang="en-JP"/>
          </a:p>
        </p:txBody>
      </p:sp>
      <p:pic>
        <p:nvPicPr>
          <p:cNvPr id="23" name="Image 6" descr="/Users/Reid Hu/OrbitOS/70_Presentations/717_Learning Group-20260916/assets/eq/chip_ep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98009" y="3307385"/>
            <a:ext cx="125821" cy="10607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6217920" y="366217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2F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High transmission</a:t>
            </a:r>
            <a:endParaRPr lang="en-US" sz="1400" dirty="0"/>
          </a:p>
        </p:txBody>
      </p:sp>
      <p:pic>
        <p:nvPicPr>
          <p:cNvPr id="25" name="Image 7" descr="/Users/Reid Hu/OrbitOS/70_Presentations/717_Learning Group-20260916/assets/eq/focus_eps_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22492" y="3991356"/>
            <a:ext cx="2414016" cy="374904"/>
          </a:xfrm>
          <a:prstGeom prst="rect">
            <a:avLst/>
          </a:prstGeom>
        </p:spPr>
      </p:pic>
      <p:sp>
        <p:nvSpPr>
          <p:cNvPr id="26" name="Aside Evaporation"/>
          <p:cNvSpPr/>
          <p:nvPr/>
        </p:nvSpPr>
        <p:spPr>
          <a:xfrm>
            <a:off x="4572000" y="1060704"/>
            <a:ext cx="3977639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0F2F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Evaporation</a:t>
            </a:r>
            <a:r>
              <a:rPr lang="en-US" sz="1100" i="1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how the hot compound nucleus cools: it emits a few light particles (n, p, α).</a:t>
            </a: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
</a:t>
            </a:r>
            <a:r>
              <a:rPr lang="en-US" sz="1100" i="1" dirty="0">
                <a:solidFill>
                  <a:srgbClr val="0F2F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Random kicks</a:t>
            </a:r>
            <a:r>
              <a:rPr lang="en-US" sz="1100" i="1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— each emission recoils the residue in a random direction; the kicks add in quadrature and split equally over x, y and z, so dividing by 3 keeps one axis.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21208"/>
          </a:xfrm>
          <a:prstGeom prst="rect">
            <a:avLst/>
          </a:prstGeom>
          <a:solidFill>
            <a:srgbClr val="0F2F5C"/>
          </a:solidFill>
          <a:ln w="12700">
            <a:solidFill>
              <a:srgbClr val="0F2F5C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3" name="Text 1"/>
          <p:cNvSpPr/>
          <p:nvPr/>
        </p:nvSpPr>
        <p:spPr>
          <a:xfrm>
            <a:off x="411480" y="73152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Mass separators lose most of the yield to charge-state splitting.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47472" y="4864608"/>
            <a:ext cx="8458200" cy="13716"/>
          </a:xfrm>
          <a:prstGeom prst="rect">
            <a:avLst/>
          </a:prstGeom>
          <a:solidFill>
            <a:srgbClr val="0F2F5C"/>
          </a:solidFill>
          <a:ln w="12700">
            <a:solidFill>
              <a:srgbClr val="0F2F5C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5" name="Text 3"/>
          <p:cNvSpPr/>
          <p:nvPr/>
        </p:nvSpPr>
        <p:spPr>
          <a:xfrm>
            <a:off x="457200" y="489204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Group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269480" y="489204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Content 3 / 10</a:t>
            </a:r>
            <a:endParaRPr lang="en-US" sz="1000" dirty="0"/>
          </a:p>
        </p:txBody>
      </p:sp>
      <p:sp>
        <p:nvSpPr>
          <p:cNvPr id="7" name="Bar q18"/>
          <p:cNvSpPr/>
          <p:nvPr/>
        </p:nvSpPr>
        <p:spPr>
          <a:xfrm>
            <a:off x="722375" y="3234689"/>
            <a:ext cx="548640" cy="697230"/>
          </a:xfrm>
          <a:prstGeom prst="rect">
            <a:avLst/>
          </a:prstGeom>
          <a:solidFill>
            <a:srgbClr val="B8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0935" y="3977639"/>
            <a:ext cx="731520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0" i="0">
                <a:solidFill>
                  <a:srgbClr val="1A2332"/>
                </a:solidFill>
                <a:latin typeface="Times New Roman"/>
              </a:rPr>
              <a:t>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495" y="2987801"/>
            <a:ext cx="914400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0" i="0">
                <a:solidFill>
                  <a:srgbClr val="5F6B73"/>
                </a:solidFill>
                <a:latin typeface="Times New Roman"/>
              </a:rPr>
              <a:t>lost</a:t>
            </a:r>
          </a:p>
        </p:txBody>
      </p:sp>
      <p:sp>
        <p:nvSpPr>
          <p:cNvPr id="10" name="Bar q19"/>
          <p:cNvSpPr/>
          <p:nvPr/>
        </p:nvSpPr>
        <p:spPr>
          <a:xfrm>
            <a:off x="1527048" y="2119122"/>
            <a:ext cx="548640" cy="1812798"/>
          </a:xfrm>
          <a:prstGeom prst="rect">
            <a:avLst/>
          </a:prstGeom>
          <a:solidFill>
            <a:srgbClr val="B8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435607" y="3977639"/>
            <a:ext cx="731520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0" i="0">
                <a:solidFill>
                  <a:srgbClr val="1A2332"/>
                </a:solidFill>
                <a:latin typeface="Times New Roman"/>
              </a:rPr>
              <a:t>19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44168" y="1872234"/>
            <a:ext cx="914400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0" i="0">
                <a:solidFill>
                  <a:srgbClr val="5F6B73"/>
                </a:solidFill>
                <a:latin typeface="Times New Roman"/>
              </a:rPr>
              <a:t>lost</a:t>
            </a:r>
          </a:p>
        </p:txBody>
      </p:sp>
      <p:sp>
        <p:nvSpPr>
          <p:cNvPr id="13" name="Bar q20"/>
          <p:cNvSpPr/>
          <p:nvPr/>
        </p:nvSpPr>
        <p:spPr>
          <a:xfrm>
            <a:off x="2331720" y="1143000"/>
            <a:ext cx="548640" cy="2788920"/>
          </a:xfrm>
          <a:prstGeom prst="rect">
            <a:avLst/>
          </a:prstGeom>
          <a:solidFill>
            <a:srgbClr val="0F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240279" y="3977639"/>
            <a:ext cx="731520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0" i="0">
                <a:solidFill>
                  <a:srgbClr val="1A2332"/>
                </a:solidFill>
                <a:latin typeface="Times New Roman"/>
              </a:rPr>
              <a:t>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8839" y="896112"/>
            <a:ext cx="914400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0F2F5C"/>
                </a:solidFill>
                <a:latin typeface="Times New Roman"/>
              </a:rPr>
              <a:t>kept</a:t>
            </a:r>
          </a:p>
        </p:txBody>
      </p:sp>
      <p:sp>
        <p:nvSpPr>
          <p:cNvPr id="16" name="Bar q21"/>
          <p:cNvSpPr/>
          <p:nvPr/>
        </p:nvSpPr>
        <p:spPr>
          <a:xfrm>
            <a:off x="3136391" y="2119122"/>
            <a:ext cx="548640" cy="1812798"/>
          </a:xfrm>
          <a:prstGeom prst="rect">
            <a:avLst/>
          </a:prstGeom>
          <a:solidFill>
            <a:srgbClr val="B8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044951" y="3977639"/>
            <a:ext cx="731520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0" i="0">
                <a:solidFill>
                  <a:srgbClr val="1A2332"/>
                </a:solidFill>
                <a:latin typeface="Times New Roman"/>
              </a:rPr>
              <a:t>21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53511" y="1872234"/>
            <a:ext cx="914400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0" i="0">
                <a:solidFill>
                  <a:srgbClr val="5F6B73"/>
                </a:solidFill>
                <a:latin typeface="Times New Roman"/>
              </a:rPr>
              <a:t>lost</a:t>
            </a:r>
          </a:p>
        </p:txBody>
      </p:sp>
      <p:sp>
        <p:nvSpPr>
          <p:cNvPr id="19" name="Bar q22"/>
          <p:cNvSpPr/>
          <p:nvPr/>
        </p:nvSpPr>
        <p:spPr>
          <a:xfrm>
            <a:off x="3941063" y="3234689"/>
            <a:ext cx="548640" cy="697230"/>
          </a:xfrm>
          <a:prstGeom prst="rect">
            <a:avLst/>
          </a:prstGeom>
          <a:solidFill>
            <a:srgbClr val="B8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849624" y="3977639"/>
            <a:ext cx="731520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0" i="0">
                <a:solidFill>
                  <a:srgbClr val="1A2332"/>
                </a:solidFill>
                <a:latin typeface="Times New Roman"/>
              </a:rPr>
              <a:t>22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58183" y="2987801"/>
            <a:ext cx="914400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0" i="0">
                <a:solidFill>
                  <a:srgbClr val="5F6B73"/>
                </a:solidFill>
                <a:latin typeface="Times New Roman"/>
              </a:rPr>
              <a:t>lost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39495" y="3931920"/>
            <a:ext cx="4133089" cy="0"/>
          </a:xfrm>
          <a:prstGeom prst="line">
            <a:avLst/>
          </a:prstGeom>
          <a:ln w="9525">
            <a:solidFill>
              <a:srgbClr val="5F6B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3" name="Picture 22" descr="s7_ax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6841" y="4242816"/>
            <a:ext cx="898398" cy="163403"/>
          </a:xfrm>
          <a:prstGeom prst="rect">
            <a:avLst/>
          </a:prstGeom>
        </p:spPr>
      </p:pic>
      <p:pic>
        <p:nvPicPr>
          <p:cNvPr id="24" name="Picture 23" descr="cap_s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064" y="4535424"/>
            <a:ext cx="4265950" cy="140451"/>
          </a:xfrm>
          <a:prstGeom prst="rect">
            <a:avLst/>
          </a:prstGeom>
        </p:spPr>
      </p:pic>
      <p:sp>
        <p:nvSpPr>
          <p:cNvPr id="25" name="Shape 4"/>
          <p:cNvSpPr/>
          <p:nvPr/>
        </p:nvSpPr>
        <p:spPr>
          <a:xfrm>
            <a:off x="5074920" y="658368"/>
            <a:ext cx="3749040" cy="868680"/>
          </a:xfrm>
          <a:prstGeom prst="roundRect">
            <a:avLst>
              <a:gd name="adj" fmla="val 6316"/>
            </a:avLst>
          </a:prstGeom>
          <a:solidFill>
            <a:srgbClr val="F7F9FC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JP"/>
          </a:p>
        </p:txBody>
      </p:sp>
      <p:sp>
        <p:nvSpPr>
          <p:cNvPr id="26" name="Shape 5"/>
          <p:cNvSpPr/>
          <p:nvPr/>
        </p:nvSpPr>
        <p:spPr>
          <a:xfrm>
            <a:off x="5074920" y="658368"/>
            <a:ext cx="73152" cy="868680"/>
          </a:xfrm>
          <a:prstGeom prst="rect">
            <a:avLst/>
          </a:prstGeom>
          <a:solidFill>
            <a:srgbClr val="0F2F5C"/>
          </a:solidFill>
          <a:ln/>
        </p:spPr>
        <p:txBody>
          <a:bodyPr/>
          <a:lstStyle/>
          <a:p>
            <a:endParaRPr lang="en-JP"/>
          </a:p>
        </p:txBody>
      </p:sp>
      <p:sp>
        <p:nvSpPr>
          <p:cNvPr id="27" name="Text 11"/>
          <p:cNvSpPr/>
          <p:nvPr/>
        </p:nvSpPr>
        <p:spPr>
          <a:xfrm>
            <a:off x="5303520" y="731519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F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Sorts by mass-over-charge</a:t>
            </a:r>
            <a:endParaRPr lang="en-US" sz="1300" dirty="0"/>
          </a:p>
        </p:txBody>
      </p:sp>
      <p:pic>
        <p:nvPicPr>
          <p:cNvPr id="28" name="Picture 27" descr="s7_sort_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0" y="1024128"/>
            <a:ext cx="3297783" cy="373806"/>
          </a:xfrm>
          <a:prstGeom prst="rect">
            <a:avLst/>
          </a:prstGeom>
        </p:spPr>
      </p:pic>
      <p:sp>
        <p:nvSpPr>
          <p:cNvPr id="29" name="Shape 4"/>
          <p:cNvSpPr/>
          <p:nvPr/>
        </p:nvSpPr>
        <p:spPr>
          <a:xfrm>
            <a:off x="5074920" y="1618488"/>
            <a:ext cx="3749040" cy="868680"/>
          </a:xfrm>
          <a:prstGeom prst="roundRect">
            <a:avLst>
              <a:gd name="adj" fmla="val 6316"/>
            </a:avLst>
          </a:prstGeom>
          <a:solidFill>
            <a:srgbClr val="F7F9FC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JP"/>
          </a:p>
        </p:txBody>
      </p:sp>
      <p:sp>
        <p:nvSpPr>
          <p:cNvPr id="30" name="Shape 5"/>
          <p:cNvSpPr/>
          <p:nvPr/>
        </p:nvSpPr>
        <p:spPr>
          <a:xfrm>
            <a:off x="5074920" y="1618488"/>
            <a:ext cx="73152" cy="868680"/>
          </a:xfrm>
          <a:prstGeom prst="rect">
            <a:avLst/>
          </a:prstGeom>
          <a:solidFill>
            <a:srgbClr val="0F2F5C"/>
          </a:solidFill>
          <a:ln/>
        </p:spPr>
        <p:txBody>
          <a:bodyPr/>
          <a:lstStyle/>
          <a:p>
            <a:endParaRPr lang="en-JP"/>
          </a:p>
        </p:txBody>
      </p:sp>
      <p:sp>
        <p:nvSpPr>
          <p:cNvPr id="31" name="Text 11"/>
          <p:cNvSpPr/>
          <p:nvPr/>
        </p:nvSpPr>
        <p:spPr>
          <a:xfrm>
            <a:off x="5303520" y="169164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F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About five charge states</a:t>
            </a:r>
            <a:endParaRPr lang="en-US" sz="1300" dirty="0"/>
          </a:p>
        </p:txBody>
      </p:sp>
      <p:pic>
        <p:nvPicPr>
          <p:cNvPr id="32" name="Picture 31" descr="s7_five_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3520" y="1984248"/>
            <a:ext cx="3390138" cy="343265"/>
          </a:xfrm>
          <a:prstGeom prst="rect">
            <a:avLst/>
          </a:prstGeom>
        </p:spPr>
      </p:pic>
      <p:sp>
        <p:nvSpPr>
          <p:cNvPr id="33" name="Shape 4"/>
          <p:cNvSpPr/>
          <p:nvPr/>
        </p:nvSpPr>
        <p:spPr>
          <a:xfrm>
            <a:off x="5074920" y="2578608"/>
            <a:ext cx="3749040" cy="868680"/>
          </a:xfrm>
          <a:prstGeom prst="roundRect">
            <a:avLst>
              <a:gd name="adj" fmla="val 6316"/>
            </a:avLst>
          </a:prstGeom>
          <a:solidFill>
            <a:srgbClr val="F7F9FC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JP"/>
          </a:p>
        </p:txBody>
      </p:sp>
      <p:sp>
        <p:nvSpPr>
          <p:cNvPr id="34" name="Shape 5"/>
          <p:cNvSpPr/>
          <p:nvPr/>
        </p:nvSpPr>
        <p:spPr>
          <a:xfrm>
            <a:off x="5074920" y="2578608"/>
            <a:ext cx="73152" cy="868680"/>
          </a:xfrm>
          <a:prstGeom prst="rect">
            <a:avLst/>
          </a:prstGeom>
          <a:solidFill>
            <a:srgbClr val="0F2F5C"/>
          </a:solidFill>
          <a:ln/>
        </p:spPr>
        <p:txBody>
          <a:bodyPr/>
          <a:lstStyle/>
          <a:p>
            <a:endParaRPr lang="en-JP"/>
          </a:p>
        </p:txBody>
      </p:sp>
      <p:sp>
        <p:nvSpPr>
          <p:cNvPr id="35" name="Text 11"/>
          <p:cNvSpPr/>
          <p:nvPr/>
        </p:nvSpPr>
        <p:spPr>
          <a:xfrm>
            <a:off x="5303520" y="265176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F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Mean charge not known in advance</a:t>
            </a:r>
            <a:endParaRPr lang="en-US" sz="1300" dirty="0"/>
          </a:p>
        </p:txBody>
      </p:sp>
      <p:pic>
        <p:nvPicPr>
          <p:cNvPr id="36" name="Picture 35" descr="s7_qbar_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03520" y="2944368"/>
            <a:ext cx="3263767" cy="373989"/>
          </a:xfrm>
          <a:prstGeom prst="rect">
            <a:avLst/>
          </a:prstGeom>
        </p:spPr>
      </p:pic>
      <p:sp>
        <p:nvSpPr>
          <p:cNvPr id="37" name="Shape 4"/>
          <p:cNvSpPr/>
          <p:nvPr/>
        </p:nvSpPr>
        <p:spPr>
          <a:xfrm>
            <a:off x="5074920" y="3538728"/>
            <a:ext cx="3749040" cy="868680"/>
          </a:xfrm>
          <a:prstGeom prst="roundRect">
            <a:avLst>
              <a:gd name="adj" fmla="val 6316"/>
            </a:avLst>
          </a:prstGeom>
          <a:solidFill>
            <a:srgbClr val="F7F9FC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JP"/>
          </a:p>
        </p:txBody>
      </p:sp>
      <p:sp>
        <p:nvSpPr>
          <p:cNvPr id="38" name="Shape 5"/>
          <p:cNvSpPr/>
          <p:nvPr/>
        </p:nvSpPr>
        <p:spPr>
          <a:xfrm>
            <a:off x="5074920" y="3538728"/>
            <a:ext cx="73152" cy="868680"/>
          </a:xfrm>
          <a:prstGeom prst="rect">
            <a:avLst/>
          </a:prstGeom>
          <a:solidFill>
            <a:srgbClr val="E85D4C"/>
          </a:solidFill>
          <a:ln/>
        </p:spPr>
        <p:txBody>
          <a:bodyPr/>
          <a:lstStyle/>
          <a:p>
            <a:endParaRPr lang="en-JP"/>
          </a:p>
        </p:txBody>
      </p:sp>
      <p:sp>
        <p:nvSpPr>
          <p:cNvPr id="39" name="Text 11"/>
          <p:cNvSpPr/>
          <p:nvPr/>
        </p:nvSpPr>
        <p:spPr>
          <a:xfrm>
            <a:off x="5303520" y="361188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F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Most of the yield is lost</a:t>
            </a:r>
            <a:endParaRPr lang="en-US" sz="1300" dirty="0"/>
          </a:p>
        </p:txBody>
      </p:sp>
      <p:sp>
        <p:nvSpPr>
          <p:cNvPr id="40" name="Text 6"/>
          <p:cNvSpPr/>
          <p:nvPr/>
        </p:nvSpPr>
        <p:spPr>
          <a:xfrm>
            <a:off x="5303520" y="390448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Only one or two states reach the focal plane; the others are thrown away.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21208"/>
          </a:xfrm>
          <a:prstGeom prst="rect">
            <a:avLst/>
          </a:prstGeom>
          <a:solidFill>
            <a:srgbClr val="0F2F5C"/>
          </a:solidFill>
          <a:ln w="12700">
            <a:solidFill>
              <a:srgbClr val="0F2F5C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3" name="Text 1"/>
          <p:cNvSpPr/>
          <p:nvPr/>
        </p:nvSpPr>
        <p:spPr>
          <a:xfrm>
            <a:off x="411480" y="73152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Pure velocity filters transmit all charge states and isotopes simultaneously.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47472" y="4864608"/>
            <a:ext cx="8458200" cy="13716"/>
          </a:xfrm>
          <a:prstGeom prst="rect">
            <a:avLst/>
          </a:prstGeom>
          <a:solidFill>
            <a:srgbClr val="0F2F5C"/>
          </a:solidFill>
          <a:ln w="12700">
            <a:solidFill>
              <a:srgbClr val="0F2F5C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5" name="Text 3"/>
          <p:cNvSpPr/>
          <p:nvPr/>
        </p:nvSpPr>
        <p:spPr>
          <a:xfrm>
            <a:off x="457200" y="489204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Group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269480" y="489204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Content 4 / 10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" y="621792"/>
            <a:ext cx="8321040" cy="1938528"/>
          </a:xfrm>
          <a:prstGeom prst="roundRect">
            <a:avLst>
              <a:gd name="adj" fmla="val 4717"/>
            </a:avLst>
          </a:prstGeom>
          <a:solidFill>
            <a:srgbClr val="E8F0FA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JP"/>
          </a:p>
        </p:txBody>
      </p:sp>
      <p:pic>
        <p:nvPicPr>
          <p:cNvPr id="8" name="Image 0" descr="/Users/Reid Hu/OrbitOS/70_Presentations/717_Learning Group-20260916/assets/eq/eq_f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7967" y="920637"/>
            <a:ext cx="5309616" cy="731520"/>
          </a:xfrm>
          <a:prstGeom prst="rect">
            <a:avLst/>
          </a:prstGeom>
        </p:spPr>
      </p:pic>
      <p:pic>
        <p:nvPicPr>
          <p:cNvPr id="9" name="Image 1" descr="/Users/Reid Hu/OrbitOS/70_Presentations/717_Learning Group-20260916/assets/eq/eq_ve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3404" y="1985894"/>
            <a:ext cx="4417192" cy="234452"/>
          </a:xfrm>
          <a:prstGeom prst="rect">
            <a:avLst/>
          </a:prstGeom>
        </p:spPr>
      </p:pic>
      <p:pic>
        <p:nvPicPr>
          <p:cNvPr id="10" name="Image 2" descr="/Users/Reid Hu/OrbitOS/70_Presentations/717_Learning Group-20260916/assets/eq/eq_qcance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4954" y="2273884"/>
            <a:ext cx="5214092" cy="188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411480" y="2633472"/>
            <a:ext cx="2697480" cy="1115568"/>
          </a:xfrm>
          <a:prstGeom prst="roundRect">
            <a:avLst>
              <a:gd name="adj" fmla="val 6557"/>
            </a:avLst>
          </a:prstGeom>
          <a:solidFill>
            <a:srgbClr val="F7F9FC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JP"/>
          </a:p>
        </p:txBody>
      </p:sp>
      <p:sp>
        <p:nvSpPr>
          <p:cNvPr id="12" name="Text 7"/>
          <p:cNvSpPr/>
          <p:nvPr/>
        </p:nvSpPr>
        <p:spPr>
          <a:xfrm>
            <a:off x="548640" y="270662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F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All charge states</a:t>
            </a:r>
            <a:endParaRPr lang="en-US" sz="1300" dirty="0"/>
          </a:p>
        </p:txBody>
      </p:sp>
      <p:pic>
        <p:nvPicPr>
          <p:cNvPr id="13" name="Image 3" descr="/Users/Reid Hu/OrbitOS/70_Presentations/717_Learning Group-20260916/assets/eq/power_allq_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2980944"/>
            <a:ext cx="2422063" cy="528615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3246120" y="2633472"/>
            <a:ext cx="2697480" cy="1115568"/>
          </a:xfrm>
          <a:prstGeom prst="roundRect">
            <a:avLst>
              <a:gd name="adj" fmla="val 6557"/>
            </a:avLst>
          </a:prstGeom>
          <a:solidFill>
            <a:srgbClr val="F7F9FC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JP"/>
          </a:p>
        </p:txBody>
      </p:sp>
      <p:sp>
        <p:nvSpPr>
          <p:cNvPr id="15" name="Text 9"/>
          <p:cNvSpPr/>
          <p:nvPr/>
        </p:nvSpPr>
        <p:spPr>
          <a:xfrm>
            <a:off x="3383280" y="270662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F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All fusion isotopes</a:t>
            </a:r>
            <a:endParaRPr lang="en-US" sz="1300" dirty="0"/>
          </a:p>
        </p:txBody>
      </p:sp>
      <p:pic>
        <p:nvPicPr>
          <p:cNvPr id="16" name="Image 4" descr="/Users/Reid Hu/OrbitOS/70_Presentations/717_Learning Group-20260916/assets/eq/power_iso_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83280" y="2980944"/>
            <a:ext cx="2423160" cy="553077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6080760" y="2633472"/>
            <a:ext cx="2697480" cy="1115568"/>
          </a:xfrm>
          <a:prstGeom prst="roundRect">
            <a:avLst>
              <a:gd name="adj" fmla="val 6557"/>
            </a:avLst>
          </a:prstGeom>
          <a:solidFill>
            <a:srgbClr val="F7F9FC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JP"/>
          </a:p>
        </p:txBody>
      </p:sp>
      <p:sp>
        <p:nvSpPr>
          <p:cNvPr id="18" name="Text 11"/>
          <p:cNvSpPr/>
          <p:nvPr/>
        </p:nvSpPr>
        <p:spPr>
          <a:xfrm>
            <a:off x="6217920" y="270662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F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Beam rejection</a:t>
            </a:r>
            <a:endParaRPr lang="en-US" sz="1300" dirty="0"/>
          </a:p>
        </p:txBody>
      </p:sp>
      <p:pic>
        <p:nvPicPr>
          <p:cNvPr id="19" name="Image 5" descr="/Users/Reid Hu/OrbitOS/70_Presentations/717_Learning Group-20260916/assets/eq/power_beam_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7920" y="2980944"/>
            <a:ext cx="2447544" cy="560832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411480" y="3822192"/>
            <a:ext cx="8321040" cy="804672"/>
          </a:xfrm>
          <a:prstGeom prst="roundRect">
            <a:avLst>
              <a:gd name="adj" fmla="val 9091"/>
            </a:avLst>
          </a:prstGeom>
          <a:solidFill>
            <a:srgbClr val="0F2F5C"/>
          </a:solidFill>
          <a:ln/>
        </p:spPr>
        <p:txBody>
          <a:bodyPr/>
          <a:lstStyle/>
          <a:p>
            <a:endParaRPr lang="en-JP" dirty="0"/>
          </a:p>
        </p:txBody>
      </p:sp>
      <p:sp>
        <p:nvSpPr>
          <p:cNvPr id="21" name="Text 13"/>
          <p:cNvSpPr/>
          <p:nvPr/>
        </p:nvSpPr>
        <p:spPr>
          <a:xfrm>
            <a:off x="594360" y="3931920"/>
            <a:ext cx="7955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Trade-off: no mass dispersion. SHIP identifies isotopes by decay; Daresbury adds a spectrometer for mass.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F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Outline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9601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8C4E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Why not just use a mass spectrometer?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901952"/>
            <a:ext cx="80467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JP"/>
          </a:p>
        </p:txBody>
      </p:sp>
      <p:sp>
        <p:nvSpPr>
          <p:cNvPr id="6" name="Text 4"/>
          <p:cNvSpPr/>
          <p:nvPr/>
        </p:nvSpPr>
        <p:spPr>
          <a:xfrm>
            <a:off x="594360" y="1993392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F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How does a filter survive the beam?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4360" y="30632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8C4E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Without mass, how do we know what we caught?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4360" y="4114799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8C4E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When is a velocity filter the wrong tool?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21208"/>
          </a:xfrm>
          <a:prstGeom prst="rect">
            <a:avLst/>
          </a:prstGeom>
          <a:solidFill>
            <a:srgbClr val="0F2F5C"/>
          </a:solidFill>
          <a:ln w="12700">
            <a:solidFill>
              <a:srgbClr val="0F2F5C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3" name="Text 1"/>
          <p:cNvSpPr/>
          <p:nvPr/>
        </p:nvSpPr>
        <p:spPr>
          <a:xfrm>
            <a:off x="411480" y="73152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SHIP uses separated fields to protect its condenser plates.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47472" y="4864608"/>
            <a:ext cx="8458200" cy="13716"/>
          </a:xfrm>
          <a:prstGeom prst="rect">
            <a:avLst/>
          </a:prstGeom>
          <a:solidFill>
            <a:srgbClr val="0F2F5C"/>
          </a:solidFill>
          <a:ln w="12700">
            <a:solidFill>
              <a:srgbClr val="0F2F5C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5" name="Text 3"/>
          <p:cNvSpPr/>
          <p:nvPr/>
        </p:nvSpPr>
        <p:spPr>
          <a:xfrm>
            <a:off x="457200" y="489204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Group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269480" y="489204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Content 5 / 10</a:t>
            </a:r>
            <a:endParaRPr lang="en-US" sz="1000" dirty="0"/>
          </a:p>
        </p:txBody>
      </p:sp>
      <p:pic>
        <p:nvPicPr>
          <p:cNvPr id="7" name="Image 0" descr="/Users/Reid Hu/OrbitOS/70_Presentations/717_Learning Group-20260916/assets/fig12_ship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621792"/>
            <a:ext cx="8503920" cy="22860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0040" y="299923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96A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Fig. 12  ·  SHIP (GSI) and the separator NASE: the plate condenser comes first; dipoles send the projectile beam to the dump.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65760" y="3291840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F7F9FC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JP"/>
          </a:p>
        </p:txBody>
      </p:sp>
      <p:sp>
        <p:nvSpPr>
          <p:cNvPr id="10" name="Text 7"/>
          <p:cNvSpPr/>
          <p:nvPr/>
        </p:nvSpPr>
        <p:spPr>
          <a:xfrm>
            <a:off x="475488" y="3383280"/>
            <a:ext cx="2523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F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Condenser first</a:t>
            </a:r>
            <a:endParaRPr lang="en-US" sz="1300" dirty="0"/>
          </a:p>
        </p:txBody>
      </p:sp>
      <p:pic>
        <p:nvPicPr>
          <p:cNvPr id="11" name="Image 1" descr="/Users/Reid Hu/OrbitOS/70_Presentations/717_Learning Group-20260916/assets/eq/ship_cond_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3703320"/>
            <a:ext cx="2395637" cy="34683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246120" y="3291840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F7F9FC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JP"/>
          </a:p>
        </p:txBody>
      </p:sp>
      <p:sp>
        <p:nvSpPr>
          <p:cNvPr id="13" name="Text 9"/>
          <p:cNvSpPr/>
          <p:nvPr/>
        </p:nvSpPr>
        <p:spPr>
          <a:xfrm>
            <a:off x="3355848" y="3383280"/>
            <a:ext cx="2523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F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Not a Wien filter</a:t>
            </a:r>
            <a:endParaRPr lang="en-US" sz="1300" dirty="0"/>
          </a:p>
        </p:txBody>
      </p:sp>
      <p:pic>
        <p:nvPicPr>
          <p:cNvPr id="14" name="Image 2" descr="/Users/Reid Hu/OrbitOS/70_Presentations/717_Learning Group-20260916/assets/eq/ship_wien_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55848" y="3717447"/>
            <a:ext cx="2345801" cy="488655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6126480" y="3291840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F7F9FC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JP"/>
          </a:p>
        </p:txBody>
      </p:sp>
      <p:sp>
        <p:nvSpPr>
          <p:cNvPr id="16" name="Text 11"/>
          <p:cNvSpPr/>
          <p:nvPr/>
        </p:nvSpPr>
        <p:spPr>
          <a:xfrm>
            <a:off x="6236208" y="3383280"/>
            <a:ext cx="2523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F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High current</a:t>
            </a:r>
            <a:endParaRPr lang="en-US" sz="1300" dirty="0"/>
          </a:p>
        </p:txBody>
      </p:sp>
      <p:pic>
        <p:nvPicPr>
          <p:cNvPr id="17" name="Image 3" descr="/Users/Reid Hu/OrbitOS/70_Presentations/717_Learning Group-20260916/assets/eq/ship_current_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6208" y="3703320"/>
            <a:ext cx="2523744" cy="53210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21208"/>
          </a:xfrm>
          <a:prstGeom prst="rect">
            <a:avLst/>
          </a:prstGeom>
          <a:solidFill>
            <a:srgbClr val="0F2F5C"/>
          </a:solidFill>
          <a:ln w="12700">
            <a:solidFill>
              <a:srgbClr val="0F2F5C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3" name="Text 1"/>
          <p:cNvSpPr/>
          <p:nvPr/>
        </p:nvSpPr>
        <p:spPr>
          <a:xfrm>
            <a:off x="411480" y="73152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Daresbury separator uses crossed fields and energy refocusing.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47472" y="4864608"/>
            <a:ext cx="8458200" cy="13716"/>
          </a:xfrm>
          <a:prstGeom prst="rect">
            <a:avLst/>
          </a:prstGeom>
          <a:solidFill>
            <a:srgbClr val="0F2F5C"/>
          </a:solidFill>
          <a:ln w="12700">
            <a:solidFill>
              <a:srgbClr val="0F2F5C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5" name="Text 3"/>
          <p:cNvSpPr/>
          <p:nvPr/>
        </p:nvSpPr>
        <p:spPr>
          <a:xfrm>
            <a:off x="457200" y="489204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Group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269480" y="489204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Content 6 / 10</a:t>
            </a:r>
            <a:endParaRPr lang="en-US" sz="1000" dirty="0"/>
          </a:p>
        </p:txBody>
      </p:sp>
      <p:pic>
        <p:nvPicPr>
          <p:cNvPr id="7" name="Image 0" descr="/Users/Reid Hu/OrbitOS/70_Presentations/717_Learning Group-20260916/assets/fig15_daresbury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621792"/>
            <a:ext cx="8503920" cy="22860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0040" y="299923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96A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Fig. 15  ·  Daresbury recoil separator: two crossed-field filters followed by a DQQQ spectrometer.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65760" y="3291840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F7F9FC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JP"/>
          </a:p>
        </p:txBody>
      </p:sp>
      <p:pic>
        <p:nvPicPr>
          <p:cNvPr id="10" name="Image 1" descr="/Users/Reid Hu/OrbitOS/70_Presentations/717_Learning Group-20260916/assets/eq/dar_exb_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3459998"/>
            <a:ext cx="1003828" cy="139172"/>
          </a:xfrm>
          <a:prstGeom prst="rect">
            <a:avLst/>
          </a:prstGeom>
        </p:spPr>
      </p:pic>
      <p:pic>
        <p:nvPicPr>
          <p:cNvPr id="11" name="Image 2" descr="/Users/Reid Hu/OrbitOS/70_Presentations/717_Learning Group-20260916/assets/eq/dar_exb_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" y="3703320"/>
            <a:ext cx="2309957" cy="346832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3246120" y="3291840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F7F9FC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JP"/>
          </a:p>
        </p:txBody>
      </p:sp>
      <p:sp>
        <p:nvSpPr>
          <p:cNvPr id="13" name="Text 8"/>
          <p:cNvSpPr/>
          <p:nvPr/>
        </p:nvSpPr>
        <p:spPr>
          <a:xfrm>
            <a:off x="3355848" y="3383280"/>
            <a:ext cx="2523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F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DQQQ spectrometer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3355848" y="3703320"/>
            <a:ext cx="2523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magnetic spectrometer after the filters refocuses the energy spread at the focal plane.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6126480" y="3291840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F7F9FC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JP"/>
          </a:p>
        </p:txBody>
      </p:sp>
      <p:pic>
        <p:nvPicPr>
          <p:cNvPr id="16" name="Image 3" descr="/Users/Reid Hu/OrbitOS/70_Presentations/717_Learning Group-20260916/assets/eq/dar_gamma_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6208" y="3447242"/>
            <a:ext cx="1210940" cy="164683"/>
          </a:xfrm>
          <a:prstGeom prst="rect">
            <a:avLst/>
          </a:prstGeom>
        </p:spPr>
      </p:pic>
      <p:pic>
        <p:nvPicPr>
          <p:cNvPr id="17" name="Image 4" descr="/Users/Reid Hu/OrbitOS/70_Presentations/717_Learning Group-20260916/assets/eq/dar_gamma_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36208" y="3703320"/>
            <a:ext cx="2444008" cy="48865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2F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Outline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9601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8C4E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Why not just use a mass spectrometer?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94360" y="20116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8C4E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How does a filter survive the beam?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2953512"/>
            <a:ext cx="80467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JP"/>
          </a:p>
        </p:txBody>
      </p:sp>
      <p:sp>
        <p:nvSpPr>
          <p:cNvPr id="7" name="Text 5"/>
          <p:cNvSpPr/>
          <p:nvPr/>
        </p:nvSpPr>
        <p:spPr>
          <a:xfrm>
            <a:off x="594360" y="3044952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F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Without mass, how do we know what we caught?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4360" y="4114799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8C4E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When is a velocity filter the wrong tool?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21208"/>
          </a:xfrm>
          <a:prstGeom prst="rect">
            <a:avLst/>
          </a:prstGeom>
          <a:solidFill>
            <a:srgbClr val="0F2F5C"/>
          </a:solidFill>
          <a:ln w="12700">
            <a:solidFill>
              <a:srgbClr val="0F2F5C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pic>
        <p:nvPicPr>
          <p:cNvPr id="3" name="Image 0" descr="/Users/Reid Hu/OrbitOS/70_Presentations/717_Learning Group-20260916/assets/eq/hdr_l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34508"/>
            <a:ext cx="5422392" cy="26133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47472" y="4864608"/>
            <a:ext cx="8458200" cy="13716"/>
          </a:xfrm>
          <a:prstGeom prst="rect">
            <a:avLst/>
          </a:prstGeom>
          <a:solidFill>
            <a:srgbClr val="0F2F5C"/>
          </a:solidFill>
          <a:ln w="12700">
            <a:solidFill>
              <a:srgbClr val="0F2F5C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5" name="Text 2"/>
          <p:cNvSpPr/>
          <p:nvPr/>
        </p:nvSpPr>
        <p:spPr>
          <a:xfrm>
            <a:off x="457200" y="489204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Group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7269480" y="489204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Content 7 / 10</a:t>
            </a:r>
            <a:endParaRPr lang="en-US" sz="1000" dirty="0"/>
          </a:p>
        </p:txBody>
      </p:sp>
      <p:pic>
        <p:nvPicPr>
          <p:cNvPr id="7" name="Image 1" descr="/Users/Reid Hu/OrbitOS/70_Presentations/717_Learning Group-20260916/assets/fig13_151lu.jpeg"/>
          <p:cNvPicPr>
            <a:picLocks noChangeAspect="1"/>
          </p:cNvPicPr>
          <p:nvPr/>
        </p:nvPicPr>
        <p:blipFill>
          <a:blip r:embed="rId4"/>
          <a:srcRect l="15396" r="4992"/>
          <a:stretch>
            <a:fillRect/>
          </a:stretch>
        </p:blipFill>
        <p:spPr>
          <a:xfrm>
            <a:off x="256940" y="658368"/>
            <a:ext cx="4473160" cy="3840480"/>
          </a:xfrm>
          <a:prstGeom prst="rect">
            <a:avLst/>
          </a:prstGeom>
        </p:spPr>
      </p:pic>
      <p:pic>
        <p:nvPicPr>
          <p:cNvPr id="8" name="Image 2" descr="/Users/Reid Hu/OrbitOS/70_Presentations/717_Learning Group-20260916/assets/eq/cap_lu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4044" y="4533184"/>
            <a:ext cx="2993136" cy="161544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5074920" y="658368"/>
            <a:ext cx="3749040" cy="868680"/>
          </a:xfrm>
          <a:prstGeom prst="roundRect">
            <a:avLst>
              <a:gd name="adj" fmla="val 6316"/>
            </a:avLst>
          </a:prstGeom>
          <a:solidFill>
            <a:srgbClr val="F7F9FC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JP"/>
          </a:p>
        </p:txBody>
      </p:sp>
      <p:sp>
        <p:nvSpPr>
          <p:cNvPr id="10" name="Shape 5"/>
          <p:cNvSpPr/>
          <p:nvPr/>
        </p:nvSpPr>
        <p:spPr>
          <a:xfrm>
            <a:off x="5074920" y="658368"/>
            <a:ext cx="73152" cy="868680"/>
          </a:xfrm>
          <a:prstGeom prst="rect">
            <a:avLst/>
          </a:prstGeom>
          <a:solidFill>
            <a:srgbClr val="0F2F5C"/>
          </a:solidFill>
          <a:ln/>
        </p:spPr>
        <p:txBody>
          <a:bodyPr/>
          <a:lstStyle/>
          <a:p>
            <a:endParaRPr lang="en-JP"/>
          </a:p>
        </p:txBody>
      </p:sp>
      <p:pic>
        <p:nvPicPr>
          <p:cNvPr id="11" name="Image 3" descr="/Users/Reid Hu/OrbitOS/70_Presentations/717_Learning Group-20260916/assets/eq/lu_flight_h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03520" y="773354"/>
            <a:ext cx="1241663" cy="17236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303520" y="102412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SHIP delivers short-lived residues to a Si surface-barrier detector.</a:t>
            </a:r>
            <a:endParaRPr lang="en-US" sz="1200" dirty="0"/>
          </a:p>
        </p:txBody>
      </p:sp>
      <p:sp>
        <p:nvSpPr>
          <p:cNvPr id="13" name="Shape 7"/>
          <p:cNvSpPr/>
          <p:nvPr/>
        </p:nvSpPr>
        <p:spPr>
          <a:xfrm>
            <a:off x="5074920" y="1618488"/>
            <a:ext cx="3749040" cy="868680"/>
          </a:xfrm>
          <a:prstGeom prst="roundRect">
            <a:avLst>
              <a:gd name="adj" fmla="val 6316"/>
            </a:avLst>
          </a:prstGeom>
          <a:solidFill>
            <a:srgbClr val="F7F9FC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JP"/>
          </a:p>
        </p:txBody>
      </p:sp>
      <p:sp>
        <p:nvSpPr>
          <p:cNvPr id="14" name="Shape 8"/>
          <p:cNvSpPr/>
          <p:nvPr/>
        </p:nvSpPr>
        <p:spPr>
          <a:xfrm>
            <a:off x="5074920" y="1618488"/>
            <a:ext cx="73152" cy="868680"/>
          </a:xfrm>
          <a:prstGeom prst="rect">
            <a:avLst/>
          </a:prstGeom>
          <a:solidFill>
            <a:srgbClr val="0F2F5C"/>
          </a:solidFill>
          <a:ln/>
        </p:spPr>
        <p:txBody>
          <a:bodyPr/>
          <a:lstStyle/>
          <a:p>
            <a:endParaRPr lang="en-JP"/>
          </a:p>
        </p:txBody>
      </p:sp>
      <p:pic>
        <p:nvPicPr>
          <p:cNvPr id="15" name="Image 4" descr="/Users/Reid Hu/OrbitOS/70_Presentations/717_Learning Group-20260916/assets/eq/lu_proton_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3520" y="1733657"/>
            <a:ext cx="1497970" cy="171998"/>
          </a:xfrm>
          <a:prstGeom prst="rect">
            <a:avLst/>
          </a:prstGeom>
        </p:spPr>
      </p:pic>
      <p:pic>
        <p:nvPicPr>
          <p:cNvPr id="16" name="Image 5" descr="/Users/Reid Hu/OrbitOS/70_Presentations/717_Learning Group-20260916/assets/eq/lu_proton_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03520" y="1984248"/>
            <a:ext cx="3383280" cy="338211"/>
          </a:xfrm>
          <a:prstGeom prst="rect">
            <a:avLst/>
          </a:prstGeom>
        </p:spPr>
      </p:pic>
      <p:sp>
        <p:nvSpPr>
          <p:cNvPr id="17" name="Shape 9"/>
          <p:cNvSpPr/>
          <p:nvPr/>
        </p:nvSpPr>
        <p:spPr>
          <a:xfrm>
            <a:off x="5074920" y="2578608"/>
            <a:ext cx="3749040" cy="868680"/>
          </a:xfrm>
          <a:prstGeom prst="roundRect">
            <a:avLst>
              <a:gd name="adj" fmla="val 6316"/>
            </a:avLst>
          </a:prstGeom>
          <a:solidFill>
            <a:srgbClr val="F7F9FC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JP"/>
          </a:p>
        </p:txBody>
      </p:sp>
      <p:sp>
        <p:nvSpPr>
          <p:cNvPr id="18" name="Shape 10"/>
          <p:cNvSpPr/>
          <p:nvPr/>
        </p:nvSpPr>
        <p:spPr>
          <a:xfrm>
            <a:off x="5074920" y="2578608"/>
            <a:ext cx="73152" cy="868680"/>
          </a:xfrm>
          <a:prstGeom prst="rect">
            <a:avLst/>
          </a:prstGeom>
          <a:solidFill>
            <a:srgbClr val="0F2F5C"/>
          </a:solidFill>
          <a:ln/>
        </p:spPr>
        <p:txBody>
          <a:bodyPr/>
          <a:lstStyle/>
          <a:p>
            <a:endParaRPr lang="en-JP"/>
          </a:p>
        </p:txBody>
      </p:sp>
      <p:sp>
        <p:nvSpPr>
          <p:cNvPr id="19" name="Text 11"/>
          <p:cNvSpPr/>
          <p:nvPr/>
        </p:nvSpPr>
        <p:spPr>
          <a:xfrm>
            <a:off x="5303520" y="265176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F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Escape bump</a:t>
            </a:r>
            <a:endParaRPr lang="en-US" sz="1300" dirty="0"/>
          </a:p>
        </p:txBody>
      </p:sp>
      <p:pic>
        <p:nvPicPr>
          <p:cNvPr id="20" name="Image 6" descr="/Users/Reid Hu/OrbitOS/70_Presentations/717_Learning Group-20260916/assets/eq/lu_alpha_b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03520" y="2944368"/>
            <a:ext cx="3175620" cy="373990"/>
          </a:xfrm>
          <a:prstGeom prst="rect">
            <a:avLst/>
          </a:prstGeom>
        </p:spPr>
      </p:pic>
      <p:sp>
        <p:nvSpPr>
          <p:cNvPr id="21" name="Shape 12"/>
          <p:cNvSpPr/>
          <p:nvPr/>
        </p:nvSpPr>
        <p:spPr>
          <a:xfrm>
            <a:off x="5074920" y="3538728"/>
            <a:ext cx="3749040" cy="868680"/>
          </a:xfrm>
          <a:prstGeom prst="roundRect">
            <a:avLst>
              <a:gd name="adj" fmla="val 6316"/>
            </a:avLst>
          </a:prstGeom>
          <a:solidFill>
            <a:srgbClr val="F7F9FC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JP"/>
          </a:p>
        </p:txBody>
      </p:sp>
      <p:sp>
        <p:nvSpPr>
          <p:cNvPr id="22" name="Shape 13"/>
          <p:cNvSpPr/>
          <p:nvPr/>
        </p:nvSpPr>
        <p:spPr>
          <a:xfrm>
            <a:off x="5074920" y="3538728"/>
            <a:ext cx="73152" cy="868680"/>
          </a:xfrm>
          <a:prstGeom prst="rect">
            <a:avLst/>
          </a:prstGeom>
          <a:solidFill>
            <a:srgbClr val="0F2F5C"/>
          </a:solidFill>
          <a:ln/>
        </p:spPr>
        <p:txBody>
          <a:bodyPr/>
          <a:lstStyle/>
          <a:p>
            <a:endParaRPr lang="en-JP"/>
          </a:p>
        </p:txBody>
      </p:sp>
      <p:pic>
        <p:nvPicPr>
          <p:cNvPr id="23" name="Image 7" descr="/Users/Reid Hu/OrbitOS/70_Presentations/717_Learning Group-20260916/assets/eq/lu_half_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03520" y="3652526"/>
            <a:ext cx="848014" cy="174741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5303520" y="390448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Implant time-tag gives the half-life event by event.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21208"/>
          </a:xfrm>
          <a:prstGeom prst="rect">
            <a:avLst/>
          </a:prstGeom>
          <a:solidFill>
            <a:srgbClr val="0F2F5C"/>
          </a:solidFill>
          <a:ln w="12700">
            <a:solidFill>
              <a:srgbClr val="0F2F5C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3" name="Text 1"/>
          <p:cNvSpPr/>
          <p:nvPr/>
        </p:nvSpPr>
        <p:spPr>
          <a:xfrm>
            <a:off x="411480" y="73152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Genetic decay-chain tagging identified element 108 from just three atoms.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47472" y="4864608"/>
            <a:ext cx="8458200" cy="13716"/>
          </a:xfrm>
          <a:prstGeom prst="rect">
            <a:avLst/>
          </a:prstGeom>
          <a:solidFill>
            <a:srgbClr val="0F2F5C"/>
          </a:solidFill>
          <a:ln w="12700">
            <a:solidFill>
              <a:srgbClr val="0F2F5C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5" name="Text 3"/>
          <p:cNvSpPr/>
          <p:nvPr/>
        </p:nvSpPr>
        <p:spPr>
          <a:xfrm>
            <a:off x="457200" y="489204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Group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269480" y="489204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Content 8 / 10</a:t>
            </a:r>
            <a:endParaRPr lang="en-US" sz="1000" dirty="0"/>
          </a:p>
        </p:txBody>
      </p:sp>
      <p:pic>
        <p:nvPicPr>
          <p:cNvPr id="7" name="Image 0" descr="/Users/Reid Hu/OrbitOS/70_Presentations/717_Learning Group-20260916/assets/fig14_element108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01168" y="640080"/>
            <a:ext cx="5486400" cy="3858768"/>
          </a:xfrm>
          <a:prstGeom prst="rect">
            <a:avLst/>
          </a:prstGeom>
        </p:spPr>
      </p:pic>
      <p:pic>
        <p:nvPicPr>
          <p:cNvPr id="8" name="Image 1" descr="/Users/Reid Hu/OrbitOS/70_Presentations/717_Learning Group-20260916/assets/eq/cap_h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4584" y="4533184"/>
            <a:ext cx="2639568" cy="16154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852160" y="640080"/>
            <a:ext cx="2971800" cy="868680"/>
          </a:xfrm>
          <a:prstGeom prst="roundRect">
            <a:avLst>
              <a:gd name="adj" fmla="val 6316"/>
            </a:avLst>
          </a:prstGeom>
          <a:solidFill>
            <a:srgbClr val="F7F9FC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JP"/>
          </a:p>
        </p:txBody>
      </p:sp>
      <p:sp>
        <p:nvSpPr>
          <p:cNvPr id="10" name="Shape 6"/>
          <p:cNvSpPr/>
          <p:nvPr/>
        </p:nvSpPr>
        <p:spPr>
          <a:xfrm>
            <a:off x="5852160" y="640080"/>
            <a:ext cx="73152" cy="868680"/>
          </a:xfrm>
          <a:prstGeom prst="rect">
            <a:avLst/>
          </a:prstGeom>
          <a:solidFill>
            <a:srgbClr val="0F2F5C"/>
          </a:solidFill>
          <a:ln/>
        </p:spPr>
        <p:txBody>
          <a:bodyPr/>
          <a:lstStyle/>
          <a:p>
            <a:endParaRPr lang="en-JP"/>
          </a:p>
        </p:txBody>
      </p:sp>
      <p:sp>
        <p:nvSpPr>
          <p:cNvPr id="11" name="Text 7"/>
          <p:cNvSpPr/>
          <p:nvPr/>
        </p:nvSpPr>
        <p:spPr>
          <a:xfrm>
            <a:off x="6053328" y="713232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F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  Ungated</a:t>
            </a:r>
            <a:endParaRPr lang="en-US" sz="1300" dirty="0"/>
          </a:p>
        </p:txBody>
      </p:sp>
      <p:pic>
        <p:nvPicPr>
          <p:cNvPr id="12" name="Image 2" descr="/Users/Reid Hu/OrbitOS/70_Presentations/717_Learning Group-20260916/assets/eq/hs_ungated_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3328" y="1005840"/>
            <a:ext cx="2368296" cy="347472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5852160" y="1600200"/>
            <a:ext cx="2971800" cy="868680"/>
          </a:xfrm>
          <a:prstGeom prst="roundRect">
            <a:avLst>
              <a:gd name="adj" fmla="val 6316"/>
            </a:avLst>
          </a:prstGeom>
          <a:solidFill>
            <a:srgbClr val="F7F9FC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JP"/>
          </a:p>
        </p:txBody>
      </p:sp>
      <p:sp>
        <p:nvSpPr>
          <p:cNvPr id="14" name="Shape 9"/>
          <p:cNvSpPr/>
          <p:nvPr/>
        </p:nvSpPr>
        <p:spPr>
          <a:xfrm>
            <a:off x="5852160" y="1600200"/>
            <a:ext cx="73152" cy="868680"/>
          </a:xfrm>
          <a:prstGeom prst="rect">
            <a:avLst/>
          </a:prstGeom>
          <a:solidFill>
            <a:srgbClr val="0F2F5C"/>
          </a:solidFill>
          <a:ln/>
        </p:spPr>
        <p:txBody>
          <a:bodyPr/>
          <a:lstStyle/>
          <a:p>
            <a:endParaRPr lang="en-JP"/>
          </a:p>
        </p:txBody>
      </p:sp>
      <p:sp>
        <p:nvSpPr>
          <p:cNvPr id="15" name="Text 10"/>
          <p:cNvSpPr/>
          <p:nvPr/>
        </p:nvSpPr>
        <p:spPr>
          <a:xfrm>
            <a:off x="6053328" y="1673352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F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  Implant-correlated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6053328" y="1965960"/>
            <a:ext cx="2633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Decay must follow an implant in time and position; 2 of the 3 atoms remain.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5852160" y="2560320"/>
            <a:ext cx="2971800" cy="868680"/>
          </a:xfrm>
          <a:prstGeom prst="roundRect">
            <a:avLst>
              <a:gd name="adj" fmla="val 6316"/>
            </a:avLst>
          </a:prstGeom>
          <a:solidFill>
            <a:srgbClr val="F7F9FC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JP"/>
          </a:p>
        </p:txBody>
      </p:sp>
      <p:sp>
        <p:nvSpPr>
          <p:cNvPr id="18" name="Shape 13"/>
          <p:cNvSpPr/>
          <p:nvPr/>
        </p:nvSpPr>
        <p:spPr>
          <a:xfrm>
            <a:off x="5852160" y="2560320"/>
            <a:ext cx="73152" cy="868680"/>
          </a:xfrm>
          <a:prstGeom prst="rect">
            <a:avLst/>
          </a:prstGeom>
          <a:solidFill>
            <a:srgbClr val="0F2F5C"/>
          </a:solidFill>
          <a:ln/>
        </p:spPr>
        <p:txBody>
          <a:bodyPr/>
          <a:lstStyle/>
          <a:p>
            <a:endParaRPr lang="en-JP"/>
          </a:p>
        </p:txBody>
      </p:sp>
      <p:sp>
        <p:nvSpPr>
          <p:cNvPr id="19" name="Text 14"/>
          <p:cNvSpPr/>
          <p:nvPr/>
        </p:nvSpPr>
        <p:spPr>
          <a:xfrm>
            <a:off x="6053328" y="2633472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F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  Heavy-mass window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053328" y="2926080"/>
            <a:ext cx="2633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TOF + implant-energy window keeps only heavy recoils (‘1st generation’ panel).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5852160" y="3520440"/>
            <a:ext cx="2971800" cy="868680"/>
          </a:xfrm>
          <a:prstGeom prst="roundRect">
            <a:avLst>
              <a:gd name="adj" fmla="val 6316"/>
            </a:avLst>
          </a:prstGeom>
          <a:solidFill>
            <a:srgbClr val="F7F9FC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JP"/>
          </a:p>
        </p:txBody>
      </p:sp>
      <p:sp>
        <p:nvSpPr>
          <p:cNvPr id="22" name="Shape 17"/>
          <p:cNvSpPr/>
          <p:nvPr/>
        </p:nvSpPr>
        <p:spPr>
          <a:xfrm>
            <a:off x="5852160" y="3520440"/>
            <a:ext cx="73152" cy="868680"/>
          </a:xfrm>
          <a:prstGeom prst="rect">
            <a:avLst/>
          </a:prstGeom>
          <a:solidFill>
            <a:srgbClr val="E85D4C"/>
          </a:solidFill>
          <a:ln/>
        </p:spPr>
        <p:txBody>
          <a:bodyPr/>
          <a:lstStyle/>
          <a:p>
            <a:endParaRPr lang="en-JP"/>
          </a:p>
        </p:txBody>
      </p:sp>
      <p:sp>
        <p:nvSpPr>
          <p:cNvPr id="23" name="Text 18"/>
          <p:cNvSpPr/>
          <p:nvPr/>
        </p:nvSpPr>
        <p:spPr>
          <a:xfrm>
            <a:off x="6053328" y="3593592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F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  Daughter generations</a:t>
            </a:r>
            <a:endParaRPr lang="en-US" sz="1300" dirty="0"/>
          </a:p>
        </p:txBody>
      </p:sp>
      <p:pic>
        <p:nvPicPr>
          <p:cNvPr id="24" name="Image 3" descr="/Users/Reid Hu/OrbitOS/70_Presentations/717_Learning Group-20260916/assets/eq/hs_daughter_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53328" y="3886200"/>
            <a:ext cx="2538984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21208"/>
          </a:xfrm>
          <a:prstGeom prst="rect">
            <a:avLst/>
          </a:prstGeom>
          <a:solidFill>
            <a:srgbClr val="0F2F5C"/>
          </a:solidFill>
          <a:ln w="12700">
            <a:solidFill>
              <a:srgbClr val="0F2F5C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3" name="Text 1"/>
          <p:cNvSpPr/>
          <p:nvPr/>
        </p:nvSpPr>
        <p:spPr>
          <a:xfrm>
            <a:off x="411480" y="73152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Recoil-gamma tagging reveals high-spin states of the mirror nucleus </a:t>
            </a:r>
            <a:r>
              <a:rPr lang="en-US" sz="1600" b="1" baseline="300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49</a:t>
            </a: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Mn.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47472" y="4864608"/>
            <a:ext cx="8458200" cy="13716"/>
          </a:xfrm>
          <a:prstGeom prst="rect">
            <a:avLst/>
          </a:prstGeom>
          <a:solidFill>
            <a:srgbClr val="0F2F5C"/>
          </a:solidFill>
          <a:ln w="12700">
            <a:solidFill>
              <a:srgbClr val="0F2F5C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5" name="Text 3"/>
          <p:cNvSpPr/>
          <p:nvPr/>
        </p:nvSpPr>
        <p:spPr>
          <a:xfrm>
            <a:off x="457200" y="489204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Group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269480" y="489204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Content 9 / 10</a:t>
            </a:r>
            <a:endParaRPr lang="en-US" sz="1000" dirty="0"/>
          </a:p>
        </p:txBody>
      </p:sp>
      <p:pic>
        <p:nvPicPr>
          <p:cNvPr id="7" name="Image 0" descr="/Users/Reid Hu/OrbitOS/70_Presentations/717_Learning Group-20260916/assets/fig17_49mn.jpeg"/>
          <p:cNvPicPr>
            <a:picLocks noChangeAspect="1"/>
          </p:cNvPicPr>
          <p:nvPr/>
        </p:nvPicPr>
        <p:blipFill>
          <a:blip r:embed="rId3"/>
          <a:srcRect t="17857"/>
          <a:stretch/>
        </p:blipFill>
        <p:spPr>
          <a:xfrm>
            <a:off x="347472" y="857607"/>
            <a:ext cx="4572000" cy="3154680"/>
          </a:xfrm>
          <a:prstGeom prst="rect">
            <a:avLst/>
          </a:prstGeom>
        </p:spPr>
      </p:pic>
      <p:pic>
        <p:nvPicPr>
          <p:cNvPr id="8" name="Image 1" descr="/Users/Reid Hu/OrbitOS/70_Presentations/717_Learning Group-20260916/assets/eq/cap_m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4046623"/>
            <a:ext cx="3590544" cy="16154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029200" y="658368"/>
            <a:ext cx="3794760" cy="868680"/>
          </a:xfrm>
          <a:prstGeom prst="roundRect">
            <a:avLst>
              <a:gd name="adj" fmla="val 6316"/>
            </a:avLst>
          </a:prstGeom>
          <a:solidFill>
            <a:srgbClr val="F7F9FC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JP"/>
          </a:p>
        </p:txBody>
      </p:sp>
      <p:sp>
        <p:nvSpPr>
          <p:cNvPr id="10" name="Shape 6"/>
          <p:cNvSpPr/>
          <p:nvPr/>
        </p:nvSpPr>
        <p:spPr>
          <a:xfrm>
            <a:off x="5029200" y="658368"/>
            <a:ext cx="73152" cy="868680"/>
          </a:xfrm>
          <a:prstGeom prst="rect">
            <a:avLst/>
          </a:prstGeom>
          <a:solidFill>
            <a:srgbClr val="0F2F5C"/>
          </a:solidFill>
          <a:ln/>
        </p:spPr>
        <p:txBody>
          <a:bodyPr/>
          <a:lstStyle/>
          <a:p>
            <a:endParaRPr lang="en-JP"/>
          </a:p>
        </p:txBody>
      </p:sp>
      <p:sp>
        <p:nvSpPr>
          <p:cNvPr id="11" name="Text 7"/>
          <p:cNvSpPr/>
          <p:nvPr/>
        </p:nvSpPr>
        <p:spPr>
          <a:xfrm>
            <a:off x="5257800" y="73152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F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Tag at the focal plane</a:t>
            </a:r>
            <a:endParaRPr lang="en-US" sz="1300" dirty="0"/>
          </a:p>
        </p:txBody>
      </p:sp>
      <p:pic>
        <p:nvPicPr>
          <p:cNvPr id="12" name="Image 2" descr="/Users/Reid Hu/OrbitOS/70_Presentations/717_Learning Group-20260916/assets/eq/mn_tag_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7800" y="1024128"/>
            <a:ext cx="3325368" cy="374904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5029200" y="1618488"/>
            <a:ext cx="3794760" cy="868680"/>
          </a:xfrm>
          <a:prstGeom prst="roundRect">
            <a:avLst>
              <a:gd name="adj" fmla="val 6316"/>
            </a:avLst>
          </a:prstGeom>
          <a:solidFill>
            <a:srgbClr val="F7F9FC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JP"/>
          </a:p>
        </p:txBody>
      </p:sp>
      <p:sp>
        <p:nvSpPr>
          <p:cNvPr id="14" name="Shape 9"/>
          <p:cNvSpPr/>
          <p:nvPr/>
        </p:nvSpPr>
        <p:spPr>
          <a:xfrm>
            <a:off x="5029200" y="1618488"/>
            <a:ext cx="73152" cy="868680"/>
          </a:xfrm>
          <a:prstGeom prst="rect">
            <a:avLst/>
          </a:prstGeom>
          <a:solidFill>
            <a:srgbClr val="0F2F5C"/>
          </a:solidFill>
          <a:ln/>
        </p:spPr>
        <p:txBody>
          <a:bodyPr/>
          <a:lstStyle/>
          <a:p>
            <a:endParaRPr lang="en-JP"/>
          </a:p>
        </p:txBody>
      </p:sp>
      <p:sp>
        <p:nvSpPr>
          <p:cNvPr id="15" name="Text 10"/>
          <p:cNvSpPr/>
          <p:nvPr/>
        </p:nvSpPr>
        <p:spPr>
          <a:xfrm>
            <a:off x="5257800" y="169164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F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Background suppressed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5257800" y="1984248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Coulomb excitation and target impurities drop out of the spectrum.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5029200" y="2578608"/>
            <a:ext cx="3794760" cy="868680"/>
          </a:xfrm>
          <a:prstGeom prst="roundRect">
            <a:avLst>
              <a:gd name="adj" fmla="val 6316"/>
            </a:avLst>
          </a:prstGeom>
          <a:solidFill>
            <a:srgbClr val="F7F9FC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JP"/>
          </a:p>
        </p:txBody>
      </p:sp>
      <p:sp>
        <p:nvSpPr>
          <p:cNvPr id="18" name="Shape 13"/>
          <p:cNvSpPr/>
          <p:nvPr/>
        </p:nvSpPr>
        <p:spPr>
          <a:xfrm>
            <a:off x="5029200" y="2578608"/>
            <a:ext cx="73152" cy="868680"/>
          </a:xfrm>
          <a:prstGeom prst="rect">
            <a:avLst/>
          </a:prstGeom>
          <a:solidFill>
            <a:srgbClr val="0F2F5C"/>
          </a:solidFill>
          <a:ln/>
        </p:spPr>
        <p:txBody>
          <a:bodyPr/>
          <a:lstStyle/>
          <a:p>
            <a:endParaRPr lang="en-JP"/>
          </a:p>
        </p:txBody>
      </p:sp>
      <p:sp>
        <p:nvSpPr>
          <p:cNvPr id="19" name="Text 14"/>
          <p:cNvSpPr/>
          <p:nvPr/>
        </p:nvSpPr>
        <p:spPr>
          <a:xfrm>
            <a:off x="5257800" y="265176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F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Mirror nucleus</a:t>
            </a:r>
            <a:endParaRPr lang="en-US" sz="1300" dirty="0"/>
          </a:p>
        </p:txBody>
      </p:sp>
      <p:pic>
        <p:nvPicPr>
          <p:cNvPr id="20" name="Image 3" descr="/Users/Reid Hu/OrbitOS/70_Presentations/717_Learning Group-20260916/assets/eq/mn_drip_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7800" y="2944368"/>
            <a:ext cx="3395472" cy="204216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5029200" y="3538728"/>
            <a:ext cx="3794760" cy="868680"/>
          </a:xfrm>
          <a:prstGeom prst="roundRect">
            <a:avLst>
              <a:gd name="adj" fmla="val 6316"/>
            </a:avLst>
          </a:prstGeom>
          <a:solidFill>
            <a:srgbClr val="F7F9FC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JP"/>
          </a:p>
        </p:txBody>
      </p:sp>
      <p:sp>
        <p:nvSpPr>
          <p:cNvPr id="22" name="Shape 16"/>
          <p:cNvSpPr/>
          <p:nvPr/>
        </p:nvSpPr>
        <p:spPr>
          <a:xfrm>
            <a:off x="5029200" y="3538728"/>
            <a:ext cx="73152" cy="868680"/>
          </a:xfrm>
          <a:prstGeom prst="rect">
            <a:avLst/>
          </a:prstGeom>
          <a:solidFill>
            <a:srgbClr val="0F2F5C"/>
          </a:solidFill>
          <a:ln/>
        </p:spPr>
        <p:txBody>
          <a:bodyPr/>
          <a:lstStyle/>
          <a:p>
            <a:endParaRPr lang="en-JP"/>
          </a:p>
        </p:txBody>
      </p:sp>
      <p:sp>
        <p:nvSpPr>
          <p:cNvPr id="23" name="Text 17"/>
          <p:cNvSpPr/>
          <p:nvPr/>
        </p:nvSpPr>
        <p:spPr>
          <a:xfrm>
            <a:off x="5257800" y="361188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F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Daresbury</a:t>
            </a:r>
            <a:endParaRPr lang="en-US" sz="1300" dirty="0"/>
          </a:p>
        </p:txBody>
      </p:sp>
      <p:pic>
        <p:nvPicPr>
          <p:cNvPr id="24" name="Image 4" descr="/Users/Reid Hu/OrbitOS/70_Presentations/717_Learning Group-20260916/assets/eq/mn_why_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57800" y="3904488"/>
            <a:ext cx="3212592" cy="37490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2F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Outline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9601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8C4E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Why not just use a mass spectrometer?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94360" y="20116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8C4E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How does a filter survive the beam?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94360" y="30632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8C4E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Without mass, how do we know what we caught?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65760" y="4005071"/>
            <a:ext cx="80467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JP"/>
          </a:p>
        </p:txBody>
      </p:sp>
      <p:sp>
        <p:nvSpPr>
          <p:cNvPr id="8" name="Text 6"/>
          <p:cNvSpPr/>
          <p:nvPr/>
        </p:nvSpPr>
        <p:spPr>
          <a:xfrm>
            <a:off x="594360" y="4096511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F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When is a velocity filter the wrong tool?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21208"/>
          </a:xfrm>
          <a:prstGeom prst="rect">
            <a:avLst/>
          </a:prstGeom>
          <a:solidFill>
            <a:srgbClr val="0F2F5C"/>
          </a:solidFill>
          <a:ln w="12700">
            <a:solidFill>
              <a:srgbClr val="0F2F5C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3" name="Text 1"/>
          <p:cNvSpPr/>
          <p:nvPr/>
        </p:nvSpPr>
        <p:spPr>
          <a:xfrm>
            <a:off x="411480" y="73152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Velocity filters are the most sensitive separators for low-energy fusion.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47472" y="4864608"/>
            <a:ext cx="8458200" cy="13716"/>
          </a:xfrm>
          <a:prstGeom prst="rect">
            <a:avLst/>
          </a:prstGeom>
          <a:solidFill>
            <a:srgbClr val="0F2F5C"/>
          </a:solidFill>
          <a:ln w="12700">
            <a:solidFill>
              <a:srgbClr val="0F2F5C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5" name="Text 3"/>
          <p:cNvSpPr/>
          <p:nvPr/>
        </p:nvSpPr>
        <p:spPr>
          <a:xfrm>
            <a:off x="457200" y="489204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Group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269480" y="489204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Content 10 / 10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685800"/>
            <a:ext cx="8412480" cy="384048"/>
          </a:xfrm>
          <a:prstGeom prst="rect">
            <a:avLst/>
          </a:prstGeom>
          <a:solidFill>
            <a:srgbClr val="0F2F5C"/>
          </a:solidFill>
          <a:ln/>
        </p:spPr>
        <p:txBody>
          <a:bodyPr/>
          <a:lstStyle/>
          <a:p>
            <a:endParaRPr lang="en-JP"/>
          </a:p>
        </p:txBody>
      </p:sp>
      <p:sp>
        <p:nvSpPr>
          <p:cNvPr id="8" name="Text 6"/>
          <p:cNvSpPr/>
          <p:nvPr/>
        </p:nvSpPr>
        <p:spPr>
          <a:xfrm>
            <a:off x="502920" y="73152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Device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075688" y="731520"/>
            <a:ext cx="3685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 when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806440" y="731520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Not ideal when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1115568"/>
            <a:ext cx="8412480" cy="676656"/>
          </a:xfrm>
          <a:prstGeom prst="rect">
            <a:avLst/>
          </a:prstGeom>
          <a:solidFill>
            <a:srgbClr val="E8F0FA"/>
          </a:solidFill>
          <a:ln/>
        </p:spPr>
        <p:txBody>
          <a:bodyPr/>
          <a:lstStyle/>
          <a:p>
            <a:endParaRPr lang="en-JP"/>
          </a:p>
        </p:txBody>
      </p:sp>
      <p:sp>
        <p:nvSpPr>
          <p:cNvPr id="12" name="Shape 10"/>
          <p:cNvSpPr/>
          <p:nvPr/>
        </p:nvSpPr>
        <p:spPr>
          <a:xfrm>
            <a:off x="365760" y="1115568"/>
            <a:ext cx="73152" cy="676656"/>
          </a:xfrm>
          <a:prstGeom prst="rect">
            <a:avLst/>
          </a:prstGeom>
          <a:solidFill>
            <a:srgbClr val="0F2F5C"/>
          </a:solidFill>
          <a:ln/>
        </p:spPr>
        <p:txBody>
          <a:bodyPr/>
          <a:lstStyle/>
          <a:p>
            <a:endParaRPr lang="en-JP"/>
          </a:p>
        </p:txBody>
      </p:sp>
      <p:sp>
        <p:nvSpPr>
          <p:cNvPr id="13" name="Text 11"/>
          <p:cNvSpPr/>
          <p:nvPr/>
        </p:nvSpPr>
        <p:spPr>
          <a:xfrm>
            <a:off x="502920" y="128016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F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Velocity filter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075688" y="1280160"/>
            <a:ext cx="3685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Coulomb-barrier fusion; highest transmission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806440" y="1280160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Mass must be resolved in flight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1847088"/>
            <a:ext cx="8412480" cy="676656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lstStyle/>
          <a:p>
            <a:endParaRPr lang="en-JP"/>
          </a:p>
        </p:txBody>
      </p:sp>
      <p:sp>
        <p:nvSpPr>
          <p:cNvPr id="17" name="Text 15"/>
          <p:cNvSpPr/>
          <p:nvPr/>
        </p:nvSpPr>
        <p:spPr>
          <a:xfrm>
            <a:off x="502920" y="201168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F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RMS / FMA</a:t>
            </a:r>
            <a:endParaRPr lang="en-US" sz="1300" dirty="0"/>
          </a:p>
        </p:txBody>
      </p:sp>
      <p:pic>
        <p:nvPicPr>
          <p:cNvPr id="18" name="Image 0" descr="/Users/Reid Hu/OrbitOS/70_Presentations/717_Learning Group-20260916/assets/eq/row_rms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5688" y="2103806"/>
            <a:ext cx="1703802" cy="163220"/>
          </a:xfrm>
          <a:prstGeom prst="rect">
            <a:avLst/>
          </a:prstGeom>
        </p:spPr>
      </p:pic>
      <p:pic>
        <p:nvPicPr>
          <p:cNvPr id="19" name="Image 1" descr="/Users/Reid Hu/OrbitOS/70_Presentations/717_Learning Group-20260916/assets/eq/row_rms_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0" y="2103714"/>
            <a:ext cx="2339218" cy="163403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365760" y="2578608"/>
            <a:ext cx="8412480" cy="676656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lstStyle/>
          <a:p>
            <a:endParaRPr lang="en-JP"/>
          </a:p>
        </p:txBody>
      </p:sp>
      <p:sp>
        <p:nvSpPr>
          <p:cNvPr id="21" name="Text 17"/>
          <p:cNvSpPr/>
          <p:nvPr/>
        </p:nvSpPr>
        <p:spPr>
          <a:xfrm>
            <a:off x="502920" y="27432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F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RF separator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2075688" y="2743200"/>
            <a:ext cx="3685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Pulsed beams; TOF phase</a:t>
            </a:r>
            <a:endParaRPr lang="en-US" sz="1200" dirty="0"/>
          </a:p>
        </p:txBody>
      </p:sp>
      <p:pic>
        <p:nvPicPr>
          <p:cNvPr id="23" name="Image 2" descr="/Users/Reid Hu/OrbitOS/70_Presentations/717_Learning Group-20260916/assets/eq/row_rf_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6440" y="2835234"/>
            <a:ext cx="1796247" cy="163403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365760" y="3310128"/>
            <a:ext cx="8412480" cy="676656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lstStyle/>
          <a:p>
            <a:endParaRPr lang="en-JP"/>
          </a:p>
        </p:txBody>
      </p:sp>
      <p:sp>
        <p:nvSpPr>
          <p:cNvPr id="25" name="Text 20"/>
          <p:cNvSpPr/>
          <p:nvPr/>
        </p:nvSpPr>
        <p:spPr>
          <a:xfrm>
            <a:off x="502920" y="3474719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F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Gas-filled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2075688" y="3474719"/>
            <a:ext cx="3685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Very asymmetric reactions; actinide targets; high efficiency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5806440" y="3474719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Scattering; no velocity resolution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365760" y="4041648"/>
            <a:ext cx="8412480" cy="676656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lstStyle/>
          <a:p>
            <a:endParaRPr lang="en-JP"/>
          </a:p>
        </p:txBody>
      </p:sp>
      <p:sp>
        <p:nvSpPr>
          <p:cNvPr id="29" name="Text 24"/>
          <p:cNvSpPr/>
          <p:nvPr/>
        </p:nvSpPr>
        <p:spPr>
          <a:xfrm>
            <a:off x="502920" y="42062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F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Fragment separator</a:t>
            </a:r>
            <a:endParaRPr lang="en-US" sz="1300" dirty="0"/>
          </a:p>
        </p:txBody>
      </p:sp>
      <p:pic>
        <p:nvPicPr>
          <p:cNvPr id="30" name="Image 3" descr="/Users/Reid Hu/OrbitOS/70_Presentations/717_Learning Group-20260916/assets/eq/row_frag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75688" y="4303212"/>
            <a:ext cx="1754094" cy="153528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5806440" y="4206240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Wrong energy regime; degraders destroy slow beams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2F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Contributions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JP"/>
          </a:p>
        </p:txBody>
      </p:sp>
      <p:sp>
        <p:nvSpPr>
          <p:cNvPr id="4" name="Shape 2"/>
          <p:cNvSpPr/>
          <p:nvPr/>
        </p:nvSpPr>
        <p:spPr>
          <a:xfrm>
            <a:off x="640080" y="1298448"/>
            <a:ext cx="502920" cy="502920"/>
          </a:xfrm>
          <a:prstGeom prst="ellipse">
            <a:avLst/>
          </a:prstGeom>
          <a:solidFill>
            <a:srgbClr val="0F2F5C"/>
          </a:solidFill>
          <a:ln/>
        </p:spPr>
        <p:txBody>
          <a:bodyPr/>
          <a:lstStyle/>
          <a:p>
            <a:endParaRPr lang="en-JP"/>
          </a:p>
        </p:txBody>
      </p:sp>
      <p:sp>
        <p:nvSpPr>
          <p:cNvPr id="5" name="Text 3"/>
          <p:cNvSpPr/>
          <p:nvPr/>
        </p:nvSpPr>
        <p:spPr>
          <a:xfrm>
            <a:off x="640080" y="135331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1207008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F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Velocity-based separation yields zero charge dispersion.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572768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3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All charge states pass together, so cross sections below 10 pb become detectable.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JP"/>
          </a:p>
        </p:txBody>
      </p:sp>
      <p:sp>
        <p:nvSpPr>
          <p:cNvPr id="9" name="Shape 7"/>
          <p:cNvSpPr/>
          <p:nvPr/>
        </p:nvSpPr>
        <p:spPr>
          <a:xfrm>
            <a:off x="640080" y="2350008"/>
            <a:ext cx="502920" cy="502920"/>
          </a:xfrm>
          <a:prstGeom prst="ellipse">
            <a:avLst/>
          </a:prstGeom>
          <a:solidFill>
            <a:srgbClr val="0F2F5C"/>
          </a:solidFill>
          <a:ln/>
        </p:spPr>
        <p:txBody>
          <a:bodyPr/>
          <a:lstStyle/>
          <a:p>
            <a:endParaRPr lang="en-JP"/>
          </a:p>
        </p:txBody>
      </p:sp>
      <p:sp>
        <p:nvSpPr>
          <p:cNvPr id="10" name="Text 8"/>
          <p:cNvSpPr/>
          <p:nvPr/>
        </p:nvSpPr>
        <p:spPr>
          <a:xfrm>
            <a:off x="640080" y="240487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2258568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F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Separated-field design keeps the beam off the condenser plates.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2624328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3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Condenser-first SHIP deflects the primary beam before it can hit the plates.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20040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JP"/>
          </a:p>
        </p:txBody>
      </p:sp>
      <p:sp>
        <p:nvSpPr>
          <p:cNvPr id="14" name="Shape 12"/>
          <p:cNvSpPr/>
          <p:nvPr/>
        </p:nvSpPr>
        <p:spPr>
          <a:xfrm>
            <a:off x="640080" y="3401568"/>
            <a:ext cx="502920" cy="502920"/>
          </a:xfrm>
          <a:prstGeom prst="ellipse">
            <a:avLst/>
          </a:prstGeom>
          <a:solidFill>
            <a:srgbClr val="0F2F5C"/>
          </a:solidFill>
          <a:ln/>
        </p:spPr>
        <p:txBody>
          <a:bodyPr/>
          <a:lstStyle/>
          <a:p>
            <a:endParaRPr lang="en-JP"/>
          </a:p>
        </p:txBody>
      </p:sp>
      <p:sp>
        <p:nvSpPr>
          <p:cNvPr id="15" name="Text 13"/>
          <p:cNvSpPr/>
          <p:nvPr/>
        </p:nvSpPr>
        <p:spPr>
          <a:xfrm>
            <a:off x="640080" y="345643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71600" y="3310128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F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Decay tagging identifies single atoms.</a:t>
            </a:r>
            <a:endParaRPr lang="en-US" sz="1600" dirty="0"/>
          </a:p>
        </p:txBody>
      </p:sp>
      <p:pic>
        <p:nvPicPr>
          <p:cNvPr id="17" name="Image 0" descr="/Users/Reid Hu/OrbitOS/70_Presentations/717_Learning Group-20260916/assets/eq/contrib_dec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3735050"/>
            <a:ext cx="6446520" cy="20116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8C4E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Group  ·  Zhiheng Hu  ·  29 Sep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imes New Roma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302</TotalTime>
  <Words>1843</Words>
  <Application>Microsoft Macintosh PowerPoint</Application>
  <PresentationFormat>On-screen Show (16:9)</PresentationFormat>
  <Paragraphs>180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Velocity Filters</dc:title>
  <dc:subject>Learning Group — Exp. Techniques NP Ch. 11 §III.B</dc:subject>
  <dc:creator>Zhiheng Hu</dc:creator>
  <cp:lastModifiedBy>HA139785@365mak.com</cp:lastModifiedBy>
  <cp:revision>11</cp:revision>
  <dcterms:created xsi:type="dcterms:W3CDTF">2026-09-27T03:10:36Z</dcterms:created>
  <dcterms:modified xsi:type="dcterms:W3CDTF">2026-09-28T09:26:13Z</dcterms:modified>
</cp:coreProperties>
</file>