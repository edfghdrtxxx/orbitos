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
  </p:notesMasterIdLst>
  <p:sldIdLst>
    <p:sldId id="394" r:id="rId2"/>
    <p:sldId id="395" r:id="rId3"/>
    <p:sldId id="396" r:id="rId4"/>
    <p:sldId id="397" r:id="rId5"/>
    <p:sldId id="398" r:id="rId6"/>
    <p:sldId id="399" r:id="rId7"/>
    <p:sldId id="400" r:id="rId8"/>
  </p:sldIdLst>
  <p:sldSz cx="9144000" cy="5143500" type="screen16x9"/>
  <p:notesSz cx="6858000" cy="9144000"/>
  <p:custDataLst>
    <p:tags r:id="rId1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57" autoAdjust="0"/>
    <p:restoredTop sz="97528" autoAdjust="0"/>
  </p:normalViewPr>
  <p:slideViewPr>
    <p:cSldViewPr snapToGrid="0" snapToObjects="1" showGuides="1">
      <p:cViewPr>
        <p:scale>
          <a:sx n="154" d="100"/>
          <a:sy n="154" d="100"/>
        </p:scale>
        <p:origin x="204" y="912"/>
      </p:cViewPr>
      <p:guideLst>
        <p:guide orient="horz" pos="2194"/>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2026/7/1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I will briefly introduce the context and the configuration of the new experiment, Previously, we conducted classification and regression studies using an isotropic alpha source, in which the number of tracks ranges from 1 to 4. After successfully determine the track multiplicity and angles for each event, the next step is to perform energy regression to figure out the ability boundary of each approach further. To this end, we will compare 5 approaches: three traditional algorithms, namely Hough, RANSAC, and Hierarchical Cluster, and two ML approaches, namely Standard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ResNet</a:t>
            </a:r>
            <a:r>
              <a:rPr lang="en-US" dirty="0">
                <a:latin typeface="Times New Roman" panose="02020603050405020304" pitchFamily="18" charset="0"/>
                <a:cs typeface="Times New Roman" panose="02020603050405020304" pitchFamily="18" charset="0"/>
                <a:sym typeface="Times New Roman" panose="02020603050405020304" pitchFamily="18" charset="0"/>
              </a:rPr>
              <a:t> and Cross-Attention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ResNet</a:t>
            </a:r>
            <a:r>
              <a:rPr lang="en-US" dirty="0">
                <a:latin typeface="Times New Roman" panose="02020603050405020304" pitchFamily="18" charset="0"/>
                <a:cs typeface="Times New Roman" panose="02020603050405020304" pitchFamily="18" charset="0"/>
                <a:sym typeface="Times New Roman" panose="02020603050405020304" pitchFamily="18" charset="0"/>
              </a:rPr>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Use this as the visual preview before the metric table: the CNN panels stay close to the diagonal, while the range-based baselines show broader scatter and saturation-like structure. Then move to the next slide for the quantitative RMSE, MAE, and missing-track summary.</a:t>
            </a:r>
            <a:endParaRPr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This checks whether the gain is only an average effect. The energy-binned plot shows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CrossAttention</a:t>
            </a:r>
            <a:r>
              <a:rPr lang="en-US" dirty="0">
                <a:latin typeface="Times New Roman" panose="02020603050405020304" pitchFamily="18" charset="0"/>
                <a:cs typeface="Times New Roman" panose="02020603050405020304" pitchFamily="18" charset="0"/>
                <a:sym typeface="Times New Roman" panose="02020603050405020304" pitchFamily="18" charset="0"/>
              </a:rPr>
              <a:t> remaining competitive across bins, with the advantage most visible in the low-energy region. The physics caveat is that high-energy tracks are harder because clipping becomes more frequent.</a:t>
            </a:r>
            <a:endParaRPr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CBE46-2172-7B65-D4FB-E1FB0E23570D}"/>
            </a:ext>
          </a:extLst>
        </p:cNvPr>
        <p:cNvGrpSpPr/>
        <p:nvPr/>
      </p:nvGrpSpPr>
      <p:grpSpPr>
        <a:xfrm>
          <a:off x="0" y="0"/>
          <a:ext cx="0" cy="0"/>
          <a:chOff x="0" y="0"/>
          <a:chExt cx="0" cy="0"/>
        </a:xfrm>
      </p:grpSpPr>
      <p:sp>
        <p:nvSpPr>
          <p:cNvPr id="2" name="Notes">
            <a:extLst>
              <a:ext uri="{FF2B5EF4-FFF2-40B4-BE49-F238E27FC236}">
                <a16:creationId xmlns:a16="http://schemas.microsoft.com/office/drawing/2014/main" id="{3DA60710-42BB-3C7B-017B-89A2F9CE9696}"/>
              </a:ext>
            </a:extLst>
          </p:cNvPr>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This checks whether the gain is only an average effect. The energy-binned plot shows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CrossAttention</a:t>
            </a:r>
            <a:r>
              <a:rPr lang="en-US" dirty="0">
                <a:latin typeface="Times New Roman" panose="02020603050405020304" pitchFamily="18" charset="0"/>
                <a:cs typeface="Times New Roman" panose="02020603050405020304" pitchFamily="18" charset="0"/>
                <a:sym typeface="Times New Roman" panose="02020603050405020304" pitchFamily="18" charset="0"/>
              </a:rPr>
              <a:t> remaining competitive across bins, with the advantage most visible in the low-energy region. The physics caveat is that high-energy tracks are harder because clipping becomes more frequent.</a:t>
            </a:r>
            <a:endParaRPr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2713044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BFBD4-0EAA-1396-ECFD-C27D360AAEEB}"/>
            </a:ext>
          </a:extLst>
        </p:cNvPr>
        <p:cNvGrpSpPr/>
        <p:nvPr/>
      </p:nvGrpSpPr>
      <p:grpSpPr>
        <a:xfrm>
          <a:off x="0" y="0"/>
          <a:ext cx="0" cy="0"/>
          <a:chOff x="0" y="0"/>
          <a:chExt cx="0" cy="0"/>
        </a:xfrm>
      </p:grpSpPr>
      <p:sp>
        <p:nvSpPr>
          <p:cNvPr id="2" name="Notes">
            <a:extLst>
              <a:ext uri="{FF2B5EF4-FFF2-40B4-BE49-F238E27FC236}">
                <a16:creationId xmlns:a16="http://schemas.microsoft.com/office/drawing/2014/main" id="{87FA0723-58B9-73FB-7C65-A617723360BB}"/>
              </a:ext>
            </a:extLst>
          </p:cNvPr>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This checks whether the gain is only an average effect. The energy-binned plot shows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CrossAttention</a:t>
            </a:r>
            <a:r>
              <a:rPr lang="en-US" dirty="0">
                <a:latin typeface="Times New Roman" panose="02020603050405020304" pitchFamily="18" charset="0"/>
                <a:cs typeface="Times New Roman" panose="02020603050405020304" pitchFamily="18" charset="0"/>
                <a:sym typeface="Times New Roman" panose="02020603050405020304" pitchFamily="18" charset="0"/>
              </a:rPr>
              <a:t> remaining competitive across bins, with the advantage most visible in the low-energy region. The physics caveat is that high-energy tracks are harder because clipping becomes more frequent.</a:t>
            </a:r>
            <a:endParaRPr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42083861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B2E91-9026-4F3A-E22F-AE0CFAFB635B}"/>
            </a:ext>
          </a:extLst>
        </p:cNvPr>
        <p:cNvGrpSpPr/>
        <p:nvPr/>
      </p:nvGrpSpPr>
      <p:grpSpPr>
        <a:xfrm>
          <a:off x="0" y="0"/>
          <a:ext cx="0" cy="0"/>
          <a:chOff x="0" y="0"/>
          <a:chExt cx="0" cy="0"/>
        </a:xfrm>
      </p:grpSpPr>
      <p:sp>
        <p:nvSpPr>
          <p:cNvPr id="2" name="Notes">
            <a:extLst>
              <a:ext uri="{FF2B5EF4-FFF2-40B4-BE49-F238E27FC236}">
                <a16:creationId xmlns:a16="http://schemas.microsoft.com/office/drawing/2014/main" id="{41B60E35-3CCC-B56B-C96B-6A33C9F01504}"/>
              </a:ext>
            </a:extLst>
          </p:cNvPr>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This checks whether the gain is only an average effect. The energy-binned plot shows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CrossAttention</a:t>
            </a:r>
            <a:r>
              <a:rPr lang="en-US" dirty="0">
                <a:latin typeface="Times New Roman" panose="02020603050405020304" pitchFamily="18" charset="0"/>
                <a:cs typeface="Times New Roman" panose="02020603050405020304" pitchFamily="18" charset="0"/>
                <a:sym typeface="Times New Roman" panose="02020603050405020304" pitchFamily="18" charset="0"/>
              </a:rPr>
              <a:t> remaining competitive across bins, with the advantage most visible in the low-energy region. The physics caveat is that high-energy tracks are harder because clipping becomes more frequent.</a:t>
            </a:r>
            <a:endParaRPr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10575685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3DA17-9A9B-2279-EA02-A4B120D015BE}"/>
            </a:ext>
          </a:extLst>
        </p:cNvPr>
        <p:cNvGrpSpPr/>
        <p:nvPr/>
      </p:nvGrpSpPr>
      <p:grpSpPr>
        <a:xfrm>
          <a:off x="0" y="0"/>
          <a:ext cx="0" cy="0"/>
          <a:chOff x="0" y="0"/>
          <a:chExt cx="0" cy="0"/>
        </a:xfrm>
      </p:grpSpPr>
      <p:sp>
        <p:nvSpPr>
          <p:cNvPr id="2" name="Notes">
            <a:extLst>
              <a:ext uri="{FF2B5EF4-FFF2-40B4-BE49-F238E27FC236}">
                <a16:creationId xmlns:a16="http://schemas.microsoft.com/office/drawing/2014/main" id="{73C03341-EFC2-D6E1-0F97-84F0275DCB07}"/>
              </a:ext>
            </a:extLst>
          </p:cNvPr>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This checks whether the gain is only an average effect. The energy-binned plot shows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CrossAttention</a:t>
            </a:r>
            <a:r>
              <a:rPr lang="en-US" dirty="0">
                <a:latin typeface="Times New Roman" panose="02020603050405020304" pitchFamily="18" charset="0"/>
                <a:cs typeface="Times New Roman" panose="02020603050405020304" pitchFamily="18" charset="0"/>
                <a:sym typeface="Times New Roman" panose="02020603050405020304" pitchFamily="18" charset="0"/>
              </a:rPr>
              <a:t> remaining competitive across bins, with the advantage most visible in the low-energy region. The physics caveat is that high-energy tracks are harder because clipping becomes more frequent.</a:t>
            </a:r>
            <a:endParaRPr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1584901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Times New Roman" panose="02020603050405020304"/>
          <a:ea typeface="Times New Roman" panose="02020603050405020304"/>
          <a:cs typeface="Times New Roman" panose="02020603050405020304"/>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Times New Roman" panose="02020603050405020304"/>
          <a:ea typeface="Times New Roman" panose="02020603050405020304"/>
          <a:cs typeface="Times New Roman" panose="02020603050405020304"/>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Times New Roman" panose="02020603050405020304"/>
          <a:ea typeface="Times New Roman" panose="02020603050405020304"/>
          <a:cs typeface="Times New Roman" panose="02020603050405020304"/>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Times New Roman" panose="02020603050405020304"/>
          <a:ea typeface="Times New Roman" panose="02020603050405020304"/>
          <a:cs typeface="Times New Roman" panose="02020603050405020304"/>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9pPr>
    </p:bodyStyle>
    <p:otherStyle>
      <a:defPPr>
        <a:defRPr lang="en-US"/>
      </a:defPPr>
      <a:lvl1pPr marL="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1pPr>
      <a:lvl2pPr marL="4572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2pPr>
      <a:lvl3pPr marL="9144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3pPr>
      <a:lvl4pPr marL="13716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4pPr>
      <a:lvl5pPr marL="18288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5pPr>
      <a:lvl6pPr marL="22860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6pPr>
      <a:lvl7pPr marL="27432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7pPr>
      <a:lvl8pPr marL="32004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8pPr>
      <a:lvl9pPr marL="36576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9" name="Footer"/>
          <p:cNvSpPr txBox="1"/>
          <p:nvPr/>
        </p:nvSpPr>
        <p:spPr>
          <a:xfrm>
            <a:off x="457200" y="4826000"/>
            <a:ext cx="6858000" cy="228600"/>
          </a:xfrm>
          <a:prstGeom prst="rect">
            <a:avLst/>
          </a:prstGeom>
          <a:noFill/>
        </p:spPr>
        <p:txBody>
          <a:bodyPr vertOverflow="overflow" vert="horz" wrap="square" rtlCol="0" anchor="t">
            <a:noAutofit/>
          </a:bodyPr>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Experiment setup: common image input, two regression routes</a:t>
            </a:r>
            <a:endPar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5"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1 / 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Rectangle 1">
            <a:extLst>
              <a:ext uri="{FF2B5EF4-FFF2-40B4-BE49-F238E27FC236}">
                <a16:creationId xmlns:a16="http://schemas.microsoft.com/office/drawing/2014/main" id="{3BB4A592-916D-DF83-E3B6-CA08B3F8D44D}"/>
              </a:ext>
            </a:extLst>
          </p:cNvPr>
          <p:cNvSpPr/>
          <p:nvPr/>
        </p:nvSpPr>
        <p:spPr>
          <a:xfrm>
            <a:off x="457200" y="1441450"/>
            <a:ext cx="3657600" cy="2673350"/>
          </a:xfrm>
          <a:prstGeom prst="rect">
            <a:avLst/>
          </a:prstGeom>
          <a:noFill/>
          <a:ln w="12700" cap="flat" cmpd="sng" algn="ctr">
            <a:solidFill>
              <a:srgbClr val="BBBBB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Oval 2">
            <a:extLst>
              <a:ext uri="{FF2B5EF4-FFF2-40B4-BE49-F238E27FC236}">
                <a16:creationId xmlns:a16="http://schemas.microsoft.com/office/drawing/2014/main" id="{82053F0C-D1CC-463C-FE14-1B5B57256BA3}"/>
              </a:ext>
            </a:extLst>
          </p:cNvPr>
          <p:cNvSpPr/>
          <p:nvPr/>
        </p:nvSpPr>
        <p:spPr>
          <a:xfrm>
            <a:off x="704851" y="2535324"/>
            <a:ext cx="382270" cy="420430"/>
          </a:xfrm>
          <a:prstGeom prst="ellipse">
            <a:avLst/>
          </a:prstGeom>
          <a:solidFill>
            <a:srgbClr val="1F3A5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B7AB3D68-F391-1C86-C810-6162B06F4BDC}"/>
              </a:ext>
            </a:extLst>
          </p:cNvPr>
          <p:cNvSpPr txBox="1"/>
          <p:nvPr/>
        </p:nvSpPr>
        <p:spPr>
          <a:xfrm>
            <a:off x="558800" y="2965450"/>
            <a:ext cx="1016000" cy="203200"/>
          </a:xfrm>
          <a:prstGeom prst="rect">
            <a:avLst/>
          </a:prstGeom>
          <a:noFill/>
        </p:spPr>
        <p:txBody>
          <a:bodyPr vertOverflow="overflow" vert="horz" wrap="square" rtlCol="0" anchor="t">
            <a:noAutofit/>
          </a:bodyPr>
          <a:lstStyle/>
          <a:p>
            <a:pPr algn="l"/>
            <a:r>
              <a:rPr lang="el-GR" sz="1100">
                <a:solidFill>
                  <a:srgbClr val="888888"/>
                </a:solidFill>
                <a:latin typeface="Times New Roman"/>
                <a:cs typeface="Times New Roman"/>
              </a:rPr>
              <a:t>alpha </a:t>
            </a:r>
            <a:r>
              <a:rPr lang="en-US" sz="1100">
                <a:solidFill>
                  <a:srgbClr val="888888"/>
                </a:solidFill>
                <a:latin typeface="Times New Roman"/>
                <a:cs typeface="Times New Roman"/>
              </a:rPr>
              <a:t>source</a:t>
            </a:r>
          </a:p>
        </p:txBody>
      </p:sp>
      <p:sp>
        <p:nvSpPr>
          <p:cNvPr id="5" name="Rectangle 4">
            <a:extLst>
              <a:ext uri="{FF2B5EF4-FFF2-40B4-BE49-F238E27FC236}">
                <a16:creationId xmlns:a16="http://schemas.microsoft.com/office/drawing/2014/main" id="{E1ADAD91-FF79-0265-8CCA-5E1802799D41}"/>
              </a:ext>
            </a:extLst>
          </p:cNvPr>
          <p:cNvSpPr/>
          <p:nvPr/>
        </p:nvSpPr>
        <p:spPr>
          <a:xfrm rot="-1129483">
            <a:off x="951651" y="2247900"/>
            <a:ext cx="1571412" cy="25400"/>
          </a:xfrm>
          <a:prstGeom prst="rect">
            <a:avLst/>
          </a:prstGeom>
          <a:solidFill>
            <a:srgbClr val="7B9EA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3002A660-F399-ECC5-785A-F6823E37B00C}"/>
              </a:ext>
            </a:extLst>
          </p:cNvPr>
          <p:cNvSpPr txBox="1"/>
          <p:nvPr/>
        </p:nvSpPr>
        <p:spPr>
          <a:xfrm>
            <a:off x="2536612" y="1611866"/>
            <a:ext cx="1117600" cy="279400"/>
          </a:xfrm>
          <a:prstGeom prst="rect">
            <a:avLst/>
          </a:prstGeom>
          <a:noFill/>
        </p:spPr>
        <p:txBody>
          <a:bodyPr vertOverflow="overflow" vert="horz" wrap="square" rtlCol="0" anchor="ctr" anchorCtr="0">
            <a:noAutofit/>
          </a:bodyPr>
          <a:lstStyle/>
          <a:p>
            <a:pPr algn="l"/>
            <a:r>
              <a:rPr lang="en-US" b="1">
                <a:solidFill>
                  <a:srgbClr val="7B9EA8"/>
                </a:solidFill>
                <a:latin typeface="Times New Roman"/>
                <a:cs typeface="Times New Roman"/>
              </a:rPr>
              <a:t>E1 = ?  MeV</a:t>
            </a:r>
          </a:p>
        </p:txBody>
      </p:sp>
      <p:sp>
        <p:nvSpPr>
          <p:cNvPr id="7" name="Rectangle 6">
            <a:extLst>
              <a:ext uri="{FF2B5EF4-FFF2-40B4-BE49-F238E27FC236}">
                <a16:creationId xmlns:a16="http://schemas.microsoft.com/office/drawing/2014/main" id="{401182ED-4CF6-256F-2373-D7CAEE5CEFE2}"/>
              </a:ext>
            </a:extLst>
          </p:cNvPr>
          <p:cNvSpPr/>
          <p:nvPr/>
        </p:nvSpPr>
        <p:spPr>
          <a:xfrm rot="107816">
            <a:off x="1081191" y="2774950"/>
            <a:ext cx="1727200" cy="25400"/>
          </a:xfrm>
          <a:prstGeom prst="rect">
            <a:avLst/>
          </a:prstGeom>
          <a:solidFill>
            <a:srgbClr val="C75146"/>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D7261160-E0B2-FC35-75BC-BAFB8E6F384D}"/>
              </a:ext>
            </a:extLst>
          </p:cNvPr>
          <p:cNvSpPr txBox="1"/>
          <p:nvPr/>
        </p:nvSpPr>
        <p:spPr>
          <a:xfrm>
            <a:off x="2811780" y="2701935"/>
            <a:ext cx="1117600" cy="279400"/>
          </a:xfrm>
          <a:prstGeom prst="rect">
            <a:avLst/>
          </a:prstGeom>
          <a:noFill/>
        </p:spPr>
        <p:txBody>
          <a:bodyPr vertOverflow="overflow" vert="horz" wrap="square" rtlCol="0" anchor="ctr" anchorCtr="0">
            <a:noAutofit/>
          </a:bodyPr>
          <a:lstStyle/>
          <a:p>
            <a:pPr algn="l"/>
            <a:r>
              <a:rPr lang="en-US" b="1" dirty="0">
                <a:solidFill>
                  <a:srgbClr val="C75146"/>
                </a:solidFill>
                <a:latin typeface="Times New Roman"/>
                <a:cs typeface="Times New Roman"/>
              </a:rPr>
              <a:t>E2 = ?  MeV</a:t>
            </a:r>
          </a:p>
        </p:txBody>
      </p:sp>
      <p:sp>
        <p:nvSpPr>
          <p:cNvPr id="12" name="Rectangle 11">
            <a:extLst>
              <a:ext uri="{FF2B5EF4-FFF2-40B4-BE49-F238E27FC236}">
                <a16:creationId xmlns:a16="http://schemas.microsoft.com/office/drawing/2014/main" id="{11EE3B74-C0B5-320C-2B30-CB007E049B7B}"/>
              </a:ext>
            </a:extLst>
          </p:cNvPr>
          <p:cNvSpPr/>
          <p:nvPr/>
        </p:nvSpPr>
        <p:spPr>
          <a:xfrm rot="1278347">
            <a:off x="944880" y="3219450"/>
            <a:ext cx="1456264" cy="25400"/>
          </a:xfrm>
          <a:prstGeom prst="rect">
            <a:avLst/>
          </a:prstGeom>
          <a:solidFill>
            <a:srgbClr val="44444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4365F4CB-75F8-6212-70D6-9513AD6FD9ED}"/>
              </a:ext>
            </a:extLst>
          </p:cNvPr>
          <p:cNvSpPr txBox="1"/>
          <p:nvPr/>
        </p:nvSpPr>
        <p:spPr>
          <a:xfrm>
            <a:off x="2394372" y="3624665"/>
            <a:ext cx="1117600" cy="279400"/>
          </a:xfrm>
          <a:prstGeom prst="rect">
            <a:avLst/>
          </a:prstGeom>
          <a:noFill/>
        </p:spPr>
        <p:txBody>
          <a:bodyPr vertOverflow="overflow" vert="horz" wrap="square" rtlCol="0" anchor="ctr" anchorCtr="0">
            <a:noAutofit/>
          </a:bodyPr>
          <a:lstStyle/>
          <a:p>
            <a:pPr algn="l"/>
            <a:r>
              <a:rPr lang="en-US" b="1" dirty="0">
                <a:solidFill>
                  <a:srgbClr val="444444"/>
                </a:solidFill>
                <a:latin typeface="Times New Roman"/>
                <a:cs typeface="Times New Roman"/>
              </a:rPr>
              <a:t>E3 = ?  MeV</a:t>
            </a:r>
          </a:p>
        </p:txBody>
      </p:sp>
      <p:sp>
        <p:nvSpPr>
          <p:cNvPr id="14" name="Subtitle">
            <a:extLst>
              <a:ext uri="{FF2B5EF4-FFF2-40B4-BE49-F238E27FC236}">
                <a16:creationId xmlns:a16="http://schemas.microsoft.com/office/drawing/2014/main" id="{0F2E144D-DA2C-5270-41E5-EB5B5FDA707C}"/>
              </a:ext>
            </a:extLst>
          </p:cNvPr>
          <p:cNvSpPr txBox="1"/>
          <p:nvPr/>
        </p:nvSpPr>
        <p:spPr>
          <a:xfrm>
            <a:off x="457200" y="685200"/>
            <a:ext cx="3657600" cy="508000"/>
          </a:xfrm>
          <a:prstGeom prst="rect">
            <a:avLst/>
          </a:prstGeom>
          <a:noFill/>
        </p:spPr>
        <p:txBody>
          <a:bodyPr vertOverflow="overflow" vert="horz" wrap="square" rtlCol="0" anchor="t">
            <a:noAutofit/>
          </a:bodyPr>
          <a:lstStyle/>
          <a:p>
            <a:pPr marL="171450" indent="-171450" algn="l">
              <a:buFont typeface="Wingdings" panose="05000000000000000000" pitchFamily="2" charset="2"/>
              <a:buChar char="Ø"/>
            </a:pPr>
            <a:r>
              <a:rPr lang="en-US" sz="1200" dirty="0">
                <a:latin typeface="Times New Roman"/>
                <a:cs typeface="Times New Roman"/>
              </a:rPr>
              <a:t>180,000 test events</a:t>
            </a:r>
          </a:p>
          <a:p>
            <a:pPr marL="171450" indent="-171450" algn="l">
              <a:buFont typeface="Wingdings" panose="05000000000000000000" pitchFamily="2" charset="2"/>
              <a:buChar char="Ø"/>
            </a:pPr>
            <a:r>
              <a:rPr lang="en-US" sz="1200" dirty="0">
                <a:latin typeface="Times New Roman"/>
                <a:cs typeface="Times New Roman"/>
              </a:rPr>
              <a:t>1-4 alpha tracks per event </a:t>
            </a:r>
          </a:p>
          <a:p>
            <a:pPr marL="171450" indent="-171450" algn="l">
              <a:buFont typeface="Wingdings" panose="05000000000000000000" pitchFamily="2" charset="2"/>
              <a:buChar char="Ø"/>
            </a:pPr>
            <a:r>
              <a:rPr lang="en-US" sz="1200" dirty="0">
                <a:latin typeface="Times New Roman"/>
                <a:cs typeface="Times New Roman"/>
              </a:rPr>
              <a:t>truth E ~ U[0.3, 4.0] MeV</a:t>
            </a:r>
          </a:p>
        </p:txBody>
      </p:sp>
      <p:sp>
        <p:nvSpPr>
          <p:cNvPr id="15" name="CaptionStrip">
            <a:extLst>
              <a:ext uri="{FF2B5EF4-FFF2-40B4-BE49-F238E27FC236}">
                <a16:creationId xmlns:a16="http://schemas.microsoft.com/office/drawing/2014/main" id="{D857DBAF-E2AB-D5A8-2227-51D46B296C92}"/>
              </a:ext>
            </a:extLst>
          </p:cNvPr>
          <p:cNvSpPr txBox="1"/>
          <p:nvPr/>
        </p:nvSpPr>
        <p:spPr>
          <a:xfrm>
            <a:off x="4457700" y="545073"/>
            <a:ext cx="4343400" cy="558800"/>
          </a:xfrm>
          <a:prstGeom prst="rect">
            <a:avLst/>
          </a:prstGeom>
          <a:noFill/>
        </p:spPr>
        <p:txBody>
          <a:bodyPr vertOverflow="overflow" vert="horz" wrap="square" rtlCol="0" anchor="t">
            <a:noAutofit/>
          </a:bodyPr>
          <a:lstStyle/>
          <a:p>
            <a:pPr algn="l"/>
            <a:r>
              <a:rPr lang="en-US" sz="1050" dirty="0">
                <a:latin typeface="Times New Roman"/>
                <a:cs typeface="Times New Roman"/>
              </a:rPr>
              <a:t>Five methods compared on the same image: </a:t>
            </a:r>
          </a:p>
          <a:p>
            <a:pPr marL="171450" indent="-171450" algn="l">
              <a:buFont typeface="Wingdings" panose="05000000000000000000" pitchFamily="2" charset="2"/>
              <a:buChar char="Ø"/>
            </a:pPr>
            <a:r>
              <a:rPr lang="en-US" sz="1050" dirty="0">
                <a:latin typeface="Times New Roman"/>
                <a:cs typeface="Times New Roman"/>
              </a:rPr>
              <a:t>Cross-Attention and </a:t>
            </a:r>
            <a:r>
              <a:rPr lang="en-US" sz="1050" dirty="0" err="1">
                <a:latin typeface="Times New Roman"/>
                <a:cs typeface="Times New Roman"/>
              </a:rPr>
              <a:t>ResNet</a:t>
            </a:r>
            <a:r>
              <a:rPr lang="en-US" sz="1050" dirty="0">
                <a:latin typeface="Times New Roman"/>
                <a:cs typeface="Times New Roman"/>
              </a:rPr>
              <a:t> predict E directly (without reconstructing tracks at all)</a:t>
            </a:r>
          </a:p>
          <a:p>
            <a:pPr marL="171450" indent="-171450" algn="l">
              <a:buFont typeface="Wingdings" panose="05000000000000000000" pitchFamily="2" charset="2"/>
              <a:buChar char="Ø"/>
            </a:pPr>
            <a:r>
              <a:rPr lang="en-US" sz="1050" dirty="0">
                <a:latin typeface="Times New Roman"/>
                <a:cs typeface="Times New Roman"/>
              </a:rPr>
              <a:t>RANSAC, Hough, and Hierarchical Clustering reconstruct the track first, then convert range to energy via SRIM</a:t>
            </a:r>
            <a:r>
              <a:rPr lang="en-US" sz="1050" i="1" dirty="0">
                <a:solidFill>
                  <a:srgbClr val="555555"/>
                </a:solidFill>
                <a:latin typeface="Times New Roman"/>
                <a:cs typeface="Times New Roman"/>
              </a:rPr>
              <a:t>.</a:t>
            </a:r>
          </a:p>
          <a:p>
            <a:pPr marL="171450" indent="-171450" algn="l">
              <a:buFont typeface="Wingdings" panose="05000000000000000000" pitchFamily="2" charset="2"/>
              <a:buChar char="Ø"/>
            </a:pPr>
            <a:r>
              <a:rPr lang="en-US" sz="1050" b="1" i="1" dirty="0">
                <a:solidFill>
                  <a:srgbClr val="C00000"/>
                </a:solidFill>
                <a:latin typeface="Times New Roman"/>
                <a:cs typeface="Times New Roman"/>
              </a:rPr>
              <a:t>Objective: To compare the performance of CNNs with that of  traditional algorithms(RANSAC, Hough, and Hierarchical Clustering)</a:t>
            </a:r>
          </a:p>
        </p:txBody>
      </p:sp>
      <p:sp>
        <p:nvSpPr>
          <p:cNvPr id="16" name="SchemBox300">
            <a:extLst>
              <a:ext uri="{FF2B5EF4-FFF2-40B4-BE49-F238E27FC236}">
                <a16:creationId xmlns:a16="http://schemas.microsoft.com/office/drawing/2014/main" id="{703113D1-CDB4-F770-4FB8-269A9E221CD3}"/>
              </a:ext>
            </a:extLst>
          </p:cNvPr>
          <p:cNvSpPr/>
          <p:nvPr/>
        </p:nvSpPr>
        <p:spPr>
          <a:xfrm>
            <a:off x="4914900" y="1809750"/>
            <a:ext cx="3556000" cy="352425"/>
          </a:xfrm>
          <a:prstGeom prst="rect">
            <a:avLst/>
          </a:prstGeom>
          <a:solidFill>
            <a:srgbClr val="E8EEF7"/>
          </a:solidFill>
          <a:ln w="9525">
            <a:solidFill>
              <a:srgbClr val="1F3A5F"/>
            </a:solidFill>
          </a:ln>
        </p:spPr>
        <p:txBody>
          <a:bodyPr wrap="square" lIns="36000" tIns="18000" rIns="36000" bIns="18000" anchor="ctr"/>
          <a:lstStyle/>
          <a:p>
            <a:pPr algn="ctr">
              <a:buNone/>
            </a:pPr>
            <a:r>
              <a:rPr lang="en-US" sz="1000" b="1" dirty="0">
                <a:solidFill>
                  <a:srgbClr val="1F3A5F"/>
                </a:solidFill>
                <a:latin typeface="Times New Roman"/>
                <a:cs typeface="Times New Roman"/>
              </a:rPr>
              <a:t>GAP + flatten  (B, 512)</a:t>
            </a:r>
          </a:p>
          <a:p>
            <a:pPr algn="ctr">
              <a:buNone/>
            </a:pPr>
            <a:r>
              <a:rPr lang="en-US" sz="750" i="1" dirty="0">
                <a:solidFill>
                  <a:srgbClr val="1F3A5F"/>
                </a:solidFill>
                <a:latin typeface="Times New Roman"/>
                <a:cs typeface="Times New Roman"/>
              </a:rPr>
              <a:t>Mod. ResNet-18: conv1=3x3 s1, no maxpool; layer4 -&gt; (B,512,10,6)</a:t>
            </a:r>
          </a:p>
        </p:txBody>
      </p:sp>
      <p:sp>
        <p:nvSpPr>
          <p:cNvPr id="17" name="Arrow301">
            <a:extLst>
              <a:ext uri="{FF2B5EF4-FFF2-40B4-BE49-F238E27FC236}">
                <a16:creationId xmlns:a16="http://schemas.microsoft.com/office/drawing/2014/main" id="{20404C57-42C2-9C96-E24D-E8B3209F18F6}"/>
              </a:ext>
            </a:extLst>
          </p:cNvPr>
          <p:cNvSpPr/>
          <p:nvPr/>
        </p:nvSpPr>
        <p:spPr>
          <a:xfrm>
            <a:off x="6642100" y="2168525"/>
            <a:ext cx="101600" cy="101600"/>
          </a:xfrm>
          <a:prstGeom prst="downArrow">
            <a:avLst>
              <a:gd name="adj1" fmla="val 50000"/>
              <a:gd name="adj2" fmla="val 50000"/>
            </a:avLst>
          </a:prstGeom>
          <a:solidFill>
            <a:srgbClr val="1F3A5F"/>
          </a:solidFill>
          <a:ln>
            <a:noFill/>
          </a:ln>
        </p:spPr>
        <p:txBody>
          <a:bodyPr/>
          <a:lstStyle/>
          <a:p>
            <a:endParaRPr lang="en-US"/>
          </a:p>
        </p:txBody>
      </p:sp>
      <p:sp>
        <p:nvSpPr>
          <p:cNvPr id="18" name="SchemBox302">
            <a:extLst>
              <a:ext uri="{FF2B5EF4-FFF2-40B4-BE49-F238E27FC236}">
                <a16:creationId xmlns:a16="http://schemas.microsoft.com/office/drawing/2014/main" id="{E1757E0A-3765-D70B-EF7A-AB7FA9C4CFC0}"/>
              </a:ext>
            </a:extLst>
          </p:cNvPr>
          <p:cNvSpPr/>
          <p:nvPr/>
        </p:nvSpPr>
        <p:spPr>
          <a:xfrm>
            <a:off x="4914900" y="2276475"/>
            <a:ext cx="3556000" cy="355600"/>
          </a:xfrm>
          <a:prstGeom prst="rect">
            <a:avLst/>
          </a:prstGeom>
          <a:solidFill>
            <a:srgbClr val="E8EEF7"/>
          </a:solidFill>
          <a:ln w="9525">
            <a:solidFill>
              <a:srgbClr val="1F3A5F"/>
            </a:solidFill>
          </a:ln>
        </p:spPr>
        <p:txBody>
          <a:bodyPr wrap="square" lIns="36000" tIns="18000" rIns="36000" bIns="18000" anchor="ctr"/>
          <a:lstStyle/>
          <a:p>
            <a:pPr algn="ctr">
              <a:buNone/>
            </a:pPr>
            <a:r>
              <a:rPr lang="en-US" sz="1000" b="1" dirty="0">
                <a:solidFill>
                  <a:srgbClr val="1F3A5F"/>
                </a:solidFill>
                <a:latin typeface="Times New Roman"/>
                <a:cs typeface="Times New Roman"/>
              </a:rPr>
              <a:t>Linear (512 -&gt; 128)</a:t>
            </a:r>
          </a:p>
          <a:p>
            <a:pPr algn="ctr">
              <a:buNone/>
            </a:pPr>
            <a:r>
              <a:rPr lang="en-US" sz="750" i="1" dirty="0">
                <a:solidFill>
                  <a:srgbClr val="1F3A5F"/>
                </a:solidFill>
                <a:latin typeface="Times New Roman"/>
                <a:cs typeface="Times New Roman"/>
              </a:rPr>
              <a:t>classifier_hidden_dim from config</a:t>
            </a:r>
          </a:p>
        </p:txBody>
      </p:sp>
      <p:sp>
        <p:nvSpPr>
          <p:cNvPr id="19" name="Arrow303">
            <a:extLst>
              <a:ext uri="{FF2B5EF4-FFF2-40B4-BE49-F238E27FC236}">
                <a16:creationId xmlns:a16="http://schemas.microsoft.com/office/drawing/2014/main" id="{1E66E836-B5DA-3D9C-634C-0F82C75A95A1}"/>
              </a:ext>
            </a:extLst>
          </p:cNvPr>
          <p:cNvSpPr/>
          <p:nvPr/>
        </p:nvSpPr>
        <p:spPr>
          <a:xfrm>
            <a:off x="6642100" y="2635250"/>
            <a:ext cx="101600" cy="111125"/>
          </a:xfrm>
          <a:prstGeom prst="downArrow">
            <a:avLst>
              <a:gd name="adj1" fmla="val 50000"/>
              <a:gd name="adj2" fmla="val 50000"/>
            </a:avLst>
          </a:prstGeom>
          <a:solidFill>
            <a:srgbClr val="1F3A5F"/>
          </a:solidFill>
          <a:ln>
            <a:noFill/>
          </a:ln>
        </p:spPr>
        <p:txBody>
          <a:bodyPr/>
          <a:lstStyle/>
          <a:p>
            <a:endParaRPr lang="en-US"/>
          </a:p>
        </p:txBody>
      </p:sp>
      <p:sp>
        <p:nvSpPr>
          <p:cNvPr id="26" name="SchemBox304">
            <a:extLst>
              <a:ext uri="{FF2B5EF4-FFF2-40B4-BE49-F238E27FC236}">
                <a16:creationId xmlns:a16="http://schemas.microsoft.com/office/drawing/2014/main" id="{3EC2B4A8-566B-AFF5-2805-9050D0A3FBBF}"/>
              </a:ext>
            </a:extLst>
          </p:cNvPr>
          <p:cNvSpPr/>
          <p:nvPr/>
        </p:nvSpPr>
        <p:spPr>
          <a:xfrm>
            <a:off x="5676900" y="2749550"/>
            <a:ext cx="2032000" cy="254000"/>
          </a:xfrm>
          <a:prstGeom prst="rect">
            <a:avLst/>
          </a:prstGeom>
          <a:solidFill>
            <a:srgbClr val="E8EEF7"/>
          </a:solidFill>
          <a:ln w="9525">
            <a:solidFill>
              <a:srgbClr val="1F3A5F"/>
            </a:solidFill>
          </a:ln>
        </p:spPr>
        <p:txBody>
          <a:bodyPr wrap="square" lIns="36000" tIns="18000" rIns="36000" bIns="18000" anchor="ctr"/>
          <a:lstStyle/>
          <a:p>
            <a:pPr algn="ctr">
              <a:buNone/>
            </a:pPr>
            <a:r>
              <a:rPr lang="en-US" sz="1000" b="1" dirty="0" err="1">
                <a:solidFill>
                  <a:srgbClr val="1F3A5F"/>
                </a:solidFill>
                <a:latin typeface="Times New Roman"/>
                <a:cs typeface="Times New Roman"/>
              </a:rPr>
              <a:t>ReLU</a:t>
            </a:r>
            <a:endParaRPr lang="en-US" sz="1000" b="1" dirty="0">
              <a:solidFill>
                <a:srgbClr val="1F3A5F"/>
              </a:solidFill>
              <a:latin typeface="Times New Roman"/>
              <a:cs typeface="Times New Roman"/>
            </a:endParaRPr>
          </a:p>
        </p:txBody>
      </p:sp>
      <p:sp>
        <p:nvSpPr>
          <p:cNvPr id="28" name="Arrow305">
            <a:extLst>
              <a:ext uri="{FF2B5EF4-FFF2-40B4-BE49-F238E27FC236}">
                <a16:creationId xmlns:a16="http://schemas.microsoft.com/office/drawing/2014/main" id="{5525E66D-877A-868A-8736-005E725489A3}"/>
              </a:ext>
            </a:extLst>
          </p:cNvPr>
          <p:cNvSpPr/>
          <p:nvPr/>
        </p:nvSpPr>
        <p:spPr>
          <a:xfrm>
            <a:off x="6642100" y="3009900"/>
            <a:ext cx="101600" cy="114300"/>
          </a:xfrm>
          <a:prstGeom prst="downArrow">
            <a:avLst>
              <a:gd name="adj1" fmla="val 50000"/>
              <a:gd name="adj2" fmla="val 50000"/>
            </a:avLst>
          </a:prstGeom>
          <a:solidFill>
            <a:srgbClr val="1F3A5F"/>
          </a:solidFill>
          <a:ln>
            <a:noFill/>
          </a:ln>
        </p:spPr>
        <p:txBody>
          <a:bodyPr/>
          <a:lstStyle/>
          <a:p>
            <a:endParaRPr lang="en-US"/>
          </a:p>
        </p:txBody>
      </p:sp>
      <p:sp>
        <p:nvSpPr>
          <p:cNvPr id="30" name="SchemBox306">
            <a:extLst>
              <a:ext uri="{FF2B5EF4-FFF2-40B4-BE49-F238E27FC236}">
                <a16:creationId xmlns:a16="http://schemas.microsoft.com/office/drawing/2014/main" id="{3FB7510F-10D1-EF18-044C-FC1F4D0E8E4F}"/>
              </a:ext>
            </a:extLst>
          </p:cNvPr>
          <p:cNvSpPr/>
          <p:nvPr/>
        </p:nvSpPr>
        <p:spPr>
          <a:xfrm>
            <a:off x="4914900" y="3124200"/>
            <a:ext cx="3556000" cy="355600"/>
          </a:xfrm>
          <a:prstGeom prst="rect">
            <a:avLst/>
          </a:prstGeom>
          <a:solidFill>
            <a:srgbClr val="E8EEF7"/>
          </a:solidFill>
          <a:ln w="9525">
            <a:solidFill>
              <a:srgbClr val="1F3A5F"/>
            </a:solidFill>
            <a:prstDash val="dash"/>
          </a:ln>
        </p:spPr>
        <p:txBody>
          <a:bodyPr wrap="square" lIns="36000" tIns="18000" rIns="36000" bIns="18000" anchor="ctr"/>
          <a:lstStyle/>
          <a:p>
            <a:pPr algn="ctr">
              <a:buNone/>
            </a:pPr>
            <a:r>
              <a:rPr lang="en-US" sz="1000" b="1" dirty="0">
                <a:solidFill>
                  <a:srgbClr val="1F3A5F"/>
                </a:solidFill>
                <a:latin typeface="Times New Roman"/>
                <a:cs typeface="Times New Roman"/>
              </a:rPr>
              <a:t>Dropout (p = 0.05)</a:t>
            </a:r>
          </a:p>
          <a:p>
            <a:pPr algn="ctr">
              <a:buNone/>
            </a:pPr>
            <a:r>
              <a:rPr lang="en-US" sz="750" i="1" dirty="0">
                <a:solidFill>
                  <a:srgbClr val="1F3A5F"/>
                </a:solidFill>
                <a:latin typeface="Times New Roman"/>
                <a:cs typeface="Times New Roman"/>
              </a:rPr>
              <a:t>training mode only</a:t>
            </a:r>
          </a:p>
        </p:txBody>
      </p:sp>
      <p:sp>
        <p:nvSpPr>
          <p:cNvPr id="36" name="Arrow307">
            <a:extLst>
              <a:ext uri="{FF2B5EF4-FFF2-40B4-BE49-F238E27FC236}">
                <a16:creationId xmlns:a16="http://schemas.microsoft.com/office/drawing/2014/main" id="{C5FAA7E8-DE36-A30D-1F77-6B3411C97F23}"/>
              </a:ext>
            </a:extLst>
          </p:cNvPr>
          <p:cNvSpPr/>
          <p:nvPr/>
        </p:nvSpPr>
        <p:spPr>
          <a:xfrm>
            <a:off x="6642100" y="3482975"/>
            <a:ext cx="101600" cy="104775"/>
          </a:xfrm>
          <a:prstGeom prst="downArrow">
            <a:avLst>
              <a:gd name="adj1" fmla="val 50000"/>
              <a:gd name="adj2" fmla="val 50000"/>
            </a:avLst>
          </a:prstGeom>
          <a:solidFill>
            <a:srgbClr val="1F3A5F"/>
          </a:solidFill>
          <a:ln>
            <a:noFill/>
          </a:ln>
        </p:spPr>
        <p:txBody>
          <a:bodyPr/>
          <a:lstStyle/>
          <a:p>
            <a:endParaRPr lang="en-US"/>
          </a:p>
        </p:txBody>
      </p:sp>
      <p:sp>
        <p:nvSpPr>
          <p:cNvPr id="37" name="SchemBox308">
            <a:extLst>
              <a:ext uri="{FF2B5EF4-FFF2-40B4-BE49-F238E27FC236}">
                <a16:creationId xmlns:a16="http://schemas.microsoft.com/office/drawing/2014/main" id="{945115B6-714D-4C33-66CC-CE0B77C6FACC}"/>
              </a:ext>
            </a:extLst>
          </p:cNvPr>
          <p:cNvSpPr/>
          <p:nvPr/>
        </p:nvSpPr>
        <p:spPr>
          <a:xfrm>
            <a:off x="4914900" y="3590925"/>
            <a:ext cx="3556000" cy="355600"/>
          </a:xfrm>
          <a:prstGeom prst="rect">
            <a:avLst/>
          </a:prstGeom>
          <a:solidFill>
            <a:srgbClr val="E8EEF7"/>
          </a:solidFill>
          <a:ln w="9525">
            <a:solidFill>
              <a:srgbClr val="1F3A5F"/>
            </a:solidFill>
          </a:ln>
        </p:spPr>
        <p:txBody>
          <a:bodyPr wrap="square" lIns="36000" tIns="18000" rIns="36000" bIns="18000" anchor="ctr"/>
          <a:lstStyle/>
          <a:p>
            <a:pPr algn="ctr">
              <a:buNone/>
            </a:pPr>
            <a:r>
              <a:rPr lang="en-US" sz="1000" b="1" dirty="0">
                <a:solidFill>
                  <a:srgbClr val="1F3A5F"/>
                </a:solidFill>
                <a:latin typeface="Times New Roman"/>
                <a:cs typeface="Times New Roman"/>
              </a:rPr>
              <a:t>Linear (128 -&gt; 4)</a:t>
            </a:r>
          </a:p>
          <a:p>
            <a:pPr algn="ctr">
              <a:buNone/>
            </a:pPr>
            <a:r>
              <a:rPr lang="en-US" sz="750" i="1" dirty="0">
                <a:solidFill>
                  <a:srgbClr val="1F3A5F"/>
                </a:solidFill>
                <a:latin typeface="Times New Roman"/>
                <a:cs typeface="Times New Roman"/>
              </a:rPr>
              <a:t>num_classes = 4 per-track energy slots</a:t>
            </a:r>
          </a:p>
        </p:txBody>
      </p:sp>
      <p:sp>
        <p:nvSpPr>
          <p:cNvPr id="38" name="Arrow309">
            <a:extLst>
              <a:ext uri="{FF2B5EF4-FFF2-40B4-BE49-F238E27FC236}">
                <a16:creationId xmlns:a16="http://schemas.microsoft.com/office/drawing/2014/main" id="{BB3B65FC-02D9-08C1-63E0-232A61EE393C}"/>
              </a:ext>
            </a:extLst>
          </p:cNvPr>
          <p:cNvSpPr/>
          <p:nvPr/>
        </p:nvSpPr>
        <p:spPr>
          <a:xfrm>
            <a:off x="6642100" y="3946525"/>
            <a:ext cx="101600" cy="111125"/>
          </a:xfrm>
          <a:prstGeom prst="downArrow">
            <a:avLst>
              <a:gd name="adj1" fmla="val 50000"/>
              <a:gd name="adj2" fmla="val 50000"/>
            </a:avLst>
          </a:prstGeom>
          <a:solidFill>
            <a:srgbClr val="1F3A5F"/>
          </a:solidFill>
          <a:ln>
            <a:noFill/>
          </a:ln>
        </p:spPr>
        <p:txBody>
          <a:bodyPr/>
          <a:lstStyle/>
          <a:p>
            <a:endParaRPr lang="en-US"/>
          </a:p>
        </p:txBody>
      </p:sp>
      <p:sp>
        <p:nvSpPr>
          <p:cNvPr id="39" name="SchemBox310">
            <a:extLst>
              <a:ext uri="{FF2B5EF4-FFF2-40B4-BE49-F238E27FC236}">
                <a16:creationId xmlns:a16="http://schemas.microsoft.com/office/drawing/2014/main" id="{B7E3D9BC-9CC9-AEF1-B316-0CA4ED39A2E2}"/>
              </a:ext>
            </a:extLst>
          </p:cNvPr>
          <p:cNvSpPr/>
          <p:nvPr/>
        </p:nvSpPr>
        <p:spPr>
          <a:xfrm>
            <a:off x="4914900" y="4064000"/>
            <a:ext cx="831850" cy="406400"/>
          </a:xfrm>
          <a:prstGeom prst="rect">
            <a:avLst/>
          </a:prstGeom>
          <a:solidFill>
            <a:srgbClr val="FFFFFF"/>
          </a:solidFill>
          <a:ln w="9525">
            <a:solidFill>
              <a:srgbClr val="7B9EA8"/>
            </a:solidFill>
          </a:ln>
        </p:spPr>
        <p:txBody>
          <a:bodyPr wrap="square" lIns="36000" tIns="18000" rIns="36000" bIns="18000" anchor="ctr"/>
          <a:lstStyle/>
          <a:p>
            <a:pPr algn="ctr">
              <a:buNone/>
            </a:pPr>
            <a:r>
              <a:rPr lang="en-US" sz="950" b="1" dirty="0">
                <a:solidFill>
                  <a:srgbClr val="1F3A5F"/>
                </a:solidFill>
                <a:latin typeface="Times New Roman"/>
                <a:cs typeface="Times New Roman"/>
              </a:rPr>
              <a:t>out_0</a:t>
            </a:r>
          </a:p>
          <a:p>
            <a:pPr algn="ctr">
              <a:buNone/>
            </a:pPr>
            <a:r>
              <a:rPr lang="en-US" sz="700" i="1" dirty="0">
                <a:solidFill>
                  <a:srgbClr val="1F3A5F"/>
                </a:solidFill>
                <a:latin typeface="Times New Roman"/>
                <a:cs typeface="Times New Roman"/>
              </a:rPr>
              <a:t>0.23 MeV</a:t>
            </a:r>
          </a:p>
        </p:txBody>
      </p:sp>
      <p:sp>
        <p:nvSpPr>
          <p:cNvPr id="40" name="SchemBox311">
            <a:extLst>
              <a:ext uri="{FF2B5EF4-FFF2-40B4-BE49-F238E27FC236}">
                <a16:creationId xmlns:a16="http://schemas.microsoft.com/office/drawing/2014/main" id="{4C403EE3-12A0-8FF4-D0F8-568D544F64EE}"/>
              </a:ext>
            </a:extLst>
          </p:cNvPr>
          <p:cNvSpPr/>
          <p:nvPr/>
        </p:nvSpPr>
        <p:spPr>
          <a:xfrm>
            <a:off x="5822950" y="4064000"/>
            <a:ext cx="831850" cy="406400"/>
          </a:xfrm>
          <a:prstGeom prst="rect">
            <a:avLst/>
          </a:prstGeom>
          <a:solidFill>
            <a:srgbClr val="FFFFFF"/>
          </a:solidFill>
          <a:ln w="9525">
            <a:solidFill>
              <a:srgbClr val="7B9EA8"/>
            </a:solidFill>
          </a:ln>
        </p:spPr>
        <p:txBody>
          <a:bodyPr wrap="square" lIns="36000" tIns="18000" rIns="36000" bIns="18000" anchor="ctr"/>
          <a:lstStyle/>
          <a:p>
            <a:pPr algn="ctr">
              <a:buNone/>
            </a:pPr>
            <a:r>
              <a:rPr lang="en-US" sz="950" b="1" dirty="0">
                <a:solidFill>
                  <a:srgbClr val="1F3A5F"/>
                </a:solidFill>
                <a:latin typeface="Times New Roman"/>
                <a:cs typeface="Times New Roman"/>
              </a:rPr>
              <a:t>out_1</a:t>
            </a:r>
          </a:p>
          <a:p>
            <a:pPr algn="ctr">
              <a:buNone/>
            </a:pPr>
            <a:r>
              <a:rPr lang="en-US" sz="700" i="1" dirty="0">
                <a:solidFill>
                  <a:srgbClr val="1F3A5F"/>
                </a:solidFill>
                <a:latin typeface="Times New Roman"/>
                <a:cs typeface="Times New Roman"/>
              </a:rPr>
              <a:t>0.25 MeV</a:t>
            </a:r>
          </a:p>
        </p:txBody>
      </p:sp>
      <p:sp>
        <p:nvSpPr>
          <p:cNvPr id="41" name="SchemBox312">
            <a:extLst>
              <a:ext uri="{FF2B5EF4-FFF2-40B4-BE49-F238E27FC236}">
                <a16:creationId xmlns:a16="http://schemas.microsoft.com/office/drawing/2014/main" id="{C776AF6F-3BC4-250C-5035-21271C5FF602}"/>
              </a:ext>
            </a:extLst>
          </p:cNvPr>
          <p:cNvSpPr/>
          <p:nvPr/>
        </p:nvSpPr>
        <p:spPr>
          <a:xfrm>
            <a:off x="6731000" y="4064000"/>
            <a:ext cx="831850" cy="406400"/>
          </a:xfrm>
          <a:prstGeom prst="rect">
            <a:avLst/>
          </a:prstGeom>
          <a:solidFill>
            <a:srgbClr val="FFFFFF"/>
          </a:solidFill>
          <a:ln w="9525">
            <a:solidFill>
              <a:srgbClr val="7B9EA8"/>
            </a:solidFill>
          </a:ln>
        </p:spPr>
        <p:txBody>
          <a:bodyPr wrap="square" lIns="36000" tIns="18000" rIns="36000" bIns="18000" anchor="ctr"/>
          <a:lstStyle/>
          <a:p>
            <a:pPr algn="ctr">
              <a:buNone/>
            </a:pPr>
            <a:r>
              <a:rPr lang="en-US" sz="950" b="1" dirty="0">
                <a:solidFill>
                  <a:srgbClr val="1F3A5F"/>
                </a:solidFill>
                <a:latin typeface="Times New Roman"/>
                <a:cs typeface="Times New Roman"/>
              </a:rPr>
              <a:t>out_2</a:t>
            </a:r>
          </a:p>
          <a:p>
            <a:pPr algn="ctr">
              <a:buNone/>
            </a:pPr>
            <a:r>
              <a:rPr lang="en-US" sz="700" i="1" dirty="0">
                <a:solidFill>
                  <a:srgbClr val="1F3A5F"/>
                </a:solidFill>
                <a:latin typeface="Times New Roman"/>
                <a:cs typeface="Times New Roman"/>
              </a:rPr>
              <a:t>-1.39 MeV</a:t>
            </a:r>
          </a:p>
        </p:txBody>
      </p:sp>
      <p:sp>
        <p:nvSpPr>
          <p:cNvPr id="42" name="SchemBox313">
            <a:extLst>
              <a:ext uri="{FF2B5EF4-FFF2-40B4-BE49-F238E27FC236}">
                <a16:creationId xmlns:a16="http://schemas.microsoft.com/office/drawing/2014/main" id="{3870C74E-C212-6529-1106-B02E83FC905B}"/>
              </a:ext>
            </a:extLst>
          </p:cNvPr>
          <p:cNvSpPr/>
          <p:nvPr/>
        </p:nvSpPr>
        <p:spPr>
          <a:xfrm>
            <a:off x="7639050" y="4064000"/>
            <a:ext cx="831850" cy="406400"/>
          </a:xfrm>
          <a:prstGeom prst="rect">
            <a:avLst/>
          </a:prstGeom>
          <a:solidFill>
            <a:srgbClr val="FFFFFF"/>
          </a:solidFill>
          <a:ln w="9525">
            <a:solidFill>
              <a:srgbClr val="7B9EA8"/>
            </a:solidFill>
          </a:ln>
        </p:spPr>
        <p:txBody>
          <a:bodyPr wrap="square" lIns="36000" tIns="18000" rIns="36000" bIns="18000" anchor="ctr"/>
          <a:lstStyle/>
          <a:p>
            <a:pPr algn="ctr">
              <a:buNone/>
            </a:pPr>
            <a:r>
              <a:rPr lang="en-US" sz="950" b="1" dirty="0">
                <a:solidFill>
                  <a:srgbClr val="1F3A5F"/>
                </a:solidFill>
                <a:latin typeface="Times New Roman"/>
                <a:cs typeface="Times New Roman"/>
              </a:rPr>
              <a:t>out_3</a:t>
            </a:r>
          </a:p>
          <a:p>
            <a:pPr algn="ctr">
              <a:buNone/>
            </a:pPr>
            <a:r>
              <a:rPr lang="en-US" sz="700" i="1" dirty="0">
                <a:solidFill>
                  <a:srgbClr val="1F3A5F"/>
                </a:solidFill>
                <a:latin typeface="Times New Roman"/>
                <a:cs typeface="Times New Roman"/>
              </a:rPr>
              <a:t>1.38 MeV</a:t>
            </a:r>
          </a:p>
        </p:txBody>
      </p:sp>
    </p:spTree>
    <p:extLst>
      <p:ext uri="{BB962C8B-B14F-4D97-AF65-F5344CB8AC3E}">
        <p14:creationId xmlns:p14="http://schemas.microsoft.com/office/powerpoint/2010/main" val="389732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Problem 1: The abnormal events adjacent to 2 MeV</a:t>
            </a:r>
          </a:p>
        </p:txBody>
      </p:sp>
      <p:sp>
        <p:nvSpPr>
          <p:cNvPr id="6"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2 / 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8" name="Picture 7">
            <a:extLst>
              <a:ext uri="{FF2B5EF4-FFF2-40B4-BE49-F238E27FC236}">
                <a16:creationId xmlns:a16="http://schemas.microsoft.com/office/drawing/2014/main" id="{61CCA65D-3695-D92F-8F9E-918B1F57077A}"/>
              </a:ext>
            </a:extLst>
          </p:cNvPr>
          <p:cNvPicPr>
            <a:picLocks noChangeAspect="1"/>
          </p:cNvPicPr>
          <p:nvPr/>
        </p:nvPicPr>
        <p:blipFill>
          <a:blip r:embed="rId3"/>
          <a:stretch>
            <a:fillRect/>
          </a:stretch>
        </p:blipFill>
        <p:spPr>
          <a:xfrm>
            <a:off x="44009" y="600075"/>
            <a:ext cx="4922651" cy="2524532"/>
          </a:xfrm>
          <a:prstGeom prst="rect">
            <a:avLst/>
          </a:prstGeom>
        </p:spPr>
      </p:pic>
      <p:pic>
        <p:nvPicPr>
          <p:cNvPr id="10" name="Picture 9">
            <a:extLst>
              <a:ext uri="{FF2B5EF4-FFF2-40B4-BE49-F238E27FC236}">
                <a16:creationId xmlns:a16="http://schemas.microsoft.com/office/drawing/2014/main" id="{8E0BAB6E-96EC-1E11-2C25-CD359A71B757}"/>
              </a:ext>
            </a:extLst>
          </p:cNvPr>
          <p:cNvPicPr>
            <a:picLocks/>
          </p:cNvPicPr>
          <p:nvPr/>
        </p:nvPicPr>
        <p:blipFill>
          <a:blip r:embed="rId4"/>
          <a:srcRect t="11432" r="33155"/>
          <a:stretch>
            <a:fillRect/>
          </a:stretch>
        </p:blipFill>
        <p:spPr>
          <a:xfrm>
            <a:off x="5696668" y="627253"/>
            <a:ext cx="3399966" cy="1386809"/>
          </a:xfrm>
          <a:prstGeom prst="rect">
            <a:avLst/>
          </a:prstGeom>
        </p:spPr>
      </p:pic>
      <p:pic>
        <p:nvPicPr>
          <p:cNvPr id="12" name="Picture 11">
            <a:extLst>
              <a:ext uri="{FF2B5EF4-FFF2-40B4-BE49-F238E27FC236}">
                <a16:creationId xmlns:a16="http://schemas.microsoft.com/office/drawing/2014/main" id="{066D4F94-5832-53C5-135E-0A90635848BF}"/>
              </a:ext>
            </a:extLst>
          </p:cNvPr>
          <p:cNvPicPr>
            <a:picLocks/>
          </p:cNvPicPr>
          <p:nvPr/>
        </p:nvPicPr>
        <p:blipFill>
          <a:blip r:embed="rId5"/>
          <a:srcRect t="12738" r="32780"/>
          <a:stretch>
            <a:fillRect/>
          </a:stretch>
        </p:blipFill>
        <p:spPr>
          <a:xfrm>
            <a:off x="5789569" y="2029878"/>
            <a:ext cx="3326621" cy="1309151"/>
          </a:xfrm>
          <a:prstGeom prst="rect">
            <a:avLst/>
          </a:prstGeom>
        </p:spPr>
      </p:pic>
      <p:sp>
        <p:nvSpPr>
          <p:cNvPr id="13" name="TextBox 12">
            <a:extLst>
              <a:ext uri="{FF2B5EF4-FFF2-40B4-BE49-F238E27FC236}">
                <a16:creationId xmlns:a16="http://schemas.microsoft.com/office/drawing/2014/main" id="{9CD106C7-4F9C-962C-8DBB-09C0160D1D14}"/>
              </a:ext>
            </a:extLst>
          </p:cNvPr>
          <p:cNvSpPr txBox="1"/>
          <p:nvPr/>
        </p:nvSpPr>
        <p:spPr>
          <a:xfrm>
            <a:off x="7177420" y="432211"/>
            <a:ext cx="1004096" cy="307777"/>
          </a:xfrm>
          <a:prstGeom prst="rect">
            <a:avLst/>
          </a:prstGeom>
          <a:noFill/>
        </p:spPr>
        <p:txBody>
          <a:bodyPr wrap="square" rtlCol="0">
            <a:spAutoFit/>
          </a:bodyPr>
          <a:lstStyle/>
          <a:p>
            <a:r>
              <a:rPr lang="en-US" sz="1400" dirty="0">
                <a:solidFill>
                  <a:srgbClr val="002060"/>
                </a:solidFill>
              </a:rPr>
              <a:t>Normal</a:t>
            </a:r>
          </a:p>
        </p:txBody>
      </p:sp>
      <p:sp>
        <p:nvSpPr>
          <p:cNvPr id="14" name="TextBox 13">
            <a:extLst>
              <a:ext uri="{FF2B5EF4-FFF2-40B4-BE49-F238E27FC236}">
                <a16:creationId xmlns:a16="http://schemas.microsoft.com/office/drawing/2014/main" id="{25545958-5E57-9942-CEE0-2433B269E01B}"/>
              </a:ext>
            </a:extLst>
          </p:cNvPr>
          <p:cNvSpPr txBox="1"/>
          <p:nvPr/>
        </p:nvSpPr>
        <p:spPr>
          <a:xfrm>
            <a:off x="7177420" y="1869343"/>
            <a:ext cx="1004096" cy="307777"/>
          </a:xfrm>
          <a:prstGeom prst="rect">
            <a:avLst/>
          </a:prstGeom>
          <a:noFill/>
        </p:spPr>
        <p:txBody>
          <a:bodyPr wrap="square" rtlCol="0">
            <a:spAutoFit/>
          </a:bodyPr>
          <a:lstStyle/>
          <a:p>
            <a:r>
              <a:rPr lang="en-US" sz="1400" dirty="0">
                <a:solidFill>
                  <a:srgbClr val="002060"/>
                </a:solidFill>
              </a:rPr>
              <a:t>Normal</a:t>
            </a:r>
          </a:p>
        </p:txBody>
      </p:sp>
      <p:pic>
        <p:nvPicPr>
          <p:cNvPr id="17" name="Picture 16">
            <a:extLst>
              <a:ext uri="{FF2B5EF4-FFF2-40B4-BE49-F238E27FC236}">
                <a16:creationId xmlns:a16="http://schemas.microsoft.com/office/drawing/2014/main" id="{B1A06C39-0287-9AE9-59C1-5F3DBA715594}"/>
              </a:ext>
            </a:extLst>
          </p:cNvPr>
          <p:cNvPicPr>
            <a:picLocks/>
          </p:cNvPicPr>
          <p:nvPr/>
        </p:nvPicPr>
        <p:blipFill>
          <a:blip r:embed="rId6"/>
          <a:srcRect t="9416"/>
          <a:stretch>
            <a:fillRect/>
          </a:stretch>
        </p:blipFill>
        <p:spPr>
          <a:xfrm>
            <a:off x="0" y="3387929"/>
            <a:ext cx="3163726" cy="1252318"/>
          </a:xfrm>
          <a:prstGeom prst="rect">
            <a:avLst/>
          </a:prstGeom>
        </p:spPr>
      </p:pic>
      <p:pic>
        <p:nvPicPr>
          <p:cNvPr id="19" name="Picture 18">
            <a:extLst>
              <a:ext uri="{FF2B5EF4-FFF2-40B4-BE49-F238E27FC236}">
                <a16:creationId xmlns:a16="http://schemas.microsoft.com/office/drawing/2014/main" id="{3323B2A8-AE0B-3628-50B4-FDACBB100A8A}"/>
              </a:ext>
            </a:extLst>
          </p:cNvPr>
          <p:cNvPicPr>
            <a:picLocks/>
          </p:cNvPicPr>
          <p:nvPr/>
        </p:nvPicPr>
        <p:blipFill>
          <a:blip r:embed="rId7"/>
          <a:srcRect t="7175"/>
          <a:stretch>
            <a:fillRect/>
          </a:stretch>
        </p:blipFill>
        <p:spPr>
          <a:xfrm>
            <a:off x="3163726" y="3330982"/>
            <a:ext cx="2718751" cy="1279118"/>
          </a:xfrm>
          <a:prstGeom prst="rect">
            <a:avLst/>
          </a:prstGeom>
        </p:spPr>
      </p:pic>
      <p:sp>
        <p:nvSpPr>
          <p:cNvPr id="20" name="TextBox 19">
            <a:extLst>
              <a:ext uri="{FF2B5EF4-FFF2-40B4-BE49-F238E27FC236}">
                <a16:creationId xmlns:a16="http://schemas.microsoft.com/office/drawing/2014/main" id="{2E3354D1-2F4A-F51A-AC7E-FAC0999312C1}"/>
              </a:ext>
            </a:extLst>
          </p:cNvPr>
          <p:cNvSpPr txBox="1"/>
          <p:nvPr/>
        </p:nvSpPr>
        <p:spPr>
          <a:xfrm>
            <a:off x="1418004" y="3161162"/>
            <a:ext cx="1004096" cy="307777"/>
          </a:xfrm>
          <a:prstGeom prst="rect">
            <a:avLst/>
          </a:prstGeom>
          <a:noFill/>
        </p:spPr>
        <p:txBody>
          <a:bodyPr wrap="square" rtlCol="0">
            <a:spAutoFit/>
          </a:bodyPr>
          <a:lstStyle/>
          <a:p>
            <a:r>
              <a:rPr lang="en-US" sz="1400" dirty="0">
                <a:solidFill>
                  <a:srgbClr val="FF0000"/>
                </a:solidFill>
              </a:rPr>
              <a:t>Abnormal</a:t>
            </a:r>
          </a:p>
        </p:txBody>
      </p:sp>
      <p:sp>
        <p:nvSpPr>
          <p:cNvPr id="21" name="TextBox 20">
            <a:extLst>
              <a:ext uri="{FF2B5EF4-FFF2-40B4-BE49-F238E27FC236}">
                <a16:creationId xmlns:a16="http://schemas.microsoft.com/office/drawing/2014/main" id="{E0C0582F-9813-C834-27F6-9CDAA27A8C11}"/>
              </a:ext>
            </a:extLst>
          </p:cNvPr>
          <p:cNvSpPr txBox="1"/>
          <p:nvPr/>
        </p:nvSpPr>
        <p:spPr>
          <a:xfrm>
            <a:off x="4225587" y="3128589"/>
            <a:ext cx="1004096" cy="307777"/>
          </a:xfrm>
          <a:prstGeom prst="rect">
            <a:avLst/>
          </a:prstGeom>
          <a:noFill/>
        </p:spPr>
        <p:txBody>
          <a:bodyPr wrap="square" rtlCol="0">
            <a:spAutoFit/>
          </a:bodyPr>
          <a:lstStyle/>
          <a:p>
            <a:r>
              <a:rPr lang="en-US" sz="1400" dirty="0">
                <a:solidFill>
                  <a:srgbClr val="FF0000"/>
                </a:solidFill>
              </a:rPr>
              <a:t>Abnormal</a:t>
            </a:r>
          </a:p>
        </p:txBody>
      </p:sp>
      <p:cxnSp>
        <p:nvCxnSpPr>
          <p:cNvPr id="25" name="Straight Arrow Connector 24">
            <a:extLst>
              <a:ext uri="{FF2B5EF4-FFF2-40B4-BE49-F238E27FC236}">
                <a16:creationId xmlns:a16="http://schemas.microsoft.com/office/drawing/2014/main" id="{35E17646-9288-F5A4-3D6F-2F38A03F512E}"/>
              </a:ext>
            </a:extLst>
          </p:cNvPr>
          <p:cNvCxnSpPr>
            <a:endCxn id="20" idx="0"/>
          </p:cNvCxnSpPr>
          <p:nvPr/>
        </p:nvCxnSpPr>
        <p:spPr>
          <a:xfrm>
            <a:off x="1418004" y="1869343"/>
            <a:ext cx="502048" cy="1291819"/>
          </a:xfrm>
          <a:prstGeom prst="straightConnector1">
            <a:avLst/>
          </a:prstGeom>
          <a:ln w="9525" cap="flat" cmpd="sng" algn="ctr">
            <a:solidFill>
              <a:schemeClr val="accent2"/>
            </a:solidFill>
            <a:prstDash val="sys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6" name="Straight Arrow Connector 25">
            <a:extLst>
              <a:ext uri="{FF2B5EF4-FFF2-40B4-BE49-F238E27FC236}">
                <a16:creationId xmlns:a16="http://schemas.microsoft.com/office/drawing/2014/main" id="{2F1CB422-4568-8948-300C-DAA78223CC84}"/>
              </a:ext>
            </a:extLst>
          </p:cNvPr>
          <p:cNvCxnSpPr>
            <a:cxnSpLocks/>
            <a:endCxn id="21" idx="0"/>
          </p:cNvCxnSpPr>
          <p:nvPr/>
        </p:nvCxnSpPr>
        <p:spPr>
          <a:xfrm>
            <a:off x="3613591" y="1869343"/>
            <a:ext cx="1114044" cy="1259246"/>
          </a:xfrm>
          <a:prstGeom prst="straightConnector1">
            <a:avLst/>
          </a:prstGeom>
          <a:ln w="9525" cap="flat" cmpd="sng" algn="ctr">
            <a:solidFill>
              <a:schemeClr val="accent2"/>
            </a:solidFill>
            <a:prstDash val="sysDash"/>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 name="TextBox 4">
            <a:extLst>
              <a:ext uri="{FF2B5EF4-FFF2-40B4-BE49-F238E27FC236}">
                <a16:creationId xmlns:a16="http://schemas.microsoft.com/office/drawing/2014/main" id="{94D4E747-95F4-4E7B-1A45-0967613A3A48}"/>
              </a:ext>
            </a:extLst>
          </p:cNvPr>
          <p:cNvSpPr txBox="1"/>
          <p:nvPr/>
        </p:nvSpPr>
        <p:spPr>
          <a:xfrm>
            <a:off x="6263951" y="3663820"/>
            <a:ext cx="2858475" cy="923330"/>
          </a:xfrm>
          <a:prstGeom prst="rect">
            <a:avLst/>
          </a:prstGeom>
          <a:noFill/>
        </p:spPr>
        <p:txBody>
          <a:bodyPr wrap="none" rtlCol="0">
            <a:spAutoFit/>
          </a:bodyPr>
          <a:lstStyle/>
          <a:p>
            <a:r>
              <a:rPr lang="en-US" dirty="0"/>
              <a:t>Compare CNNs on raw data </a:t>
            </a:r>
          </a:p>
          <a:p>
            <a:r>
              <a:rPr lang="en-US" dirty="0"/>
              <a:t>and on 80 times </a:t>
            </a:r>
            <a:r>
              <a:rPr lang="en-US"/>
              <a:t>48 image</a:t>
            </a:r>
            <a:endParaRPr lang="en-US" dirty="0"/>
          </a:p>
          <a:p>
            <a:r>
              <a:rPr lang="en-US" dirty="0"/>
              <a:t>Try an improvement</a:t>
            </a:r>
          </a:p>
        </p:txBody>
      </p:sp>
    </p:spTree>
    <p:extLst>
      <p:ext uri="{BB962C8B-B14F-4D97-AF65-F5344CB8AC3E}">
        <p14:creationId xmlns:p14="http://schemas.microsoft.com/office/powerpoint/2010/main" val="1730616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Central Cut condition</a:t>
            </a:r>
          </a:p>
        </p:txBody>
      </p:sp>
      <p:sp>
        <p:nvSpPr>
          <p:cNvPr id="8"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3 / 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6" name="Picture 5">
            <a:extLst>
              <a:ext uri="{FF2B5EF4-FFF2-40B4-BE49-F238E27FC236}">
                <a16:creationId xmlns:a16="http://schemas.microsoft.com/office/drawing/2014/main" id="{4E79239E-65A8-DE9F-FE81-4ED19AE8F407}"/>
              </a:ext>
            </a:extLst>
          </p:cNvPr>
          <p:cNvPicPr>
            <a:picLocks noChangeAspect="1"/>
          </p:cNvPicPr>
          <p:nvPr/>
        </p:nvPicPr>
        <p:blipFill>
          <a:blip r:embed="rId3"/>
          <a:stretch>
            <a:fillRect/>
          </a:stretch>
        </p:blipFill>
        <p:spPr>
          <a:xfrm>
            <a:off x="32192" y="982184"/>
            <a:ext cx="4217078" cy="2770956"/>
          </a:xfrm>
          <a:prstGeom prst="rect">
            <a:avLst/>
          </a:prstGeom>
        </p:spPr>
      </p:pic>
      <p:pic>
        <p:nvPicPr>
          <p:cNvPr id="9" name="Picture 8">
            <a:extLst>
              <a:ext uri="{FF2B5EF4-FFF2-40B4-BE49-F238E27FC236}">
                <a16:creationId xmlns:a16="http://schemas.microsoft.com/office/drawing/2014/main" id="{96C11276-4067-A953-1842-F0F4780FDB8E}"/>
              </a:ext>
            </a:extLst>
          </p:cNvPr>
          <p:cNvPicPr>
            <a:picLocks noChangeAspect="1"/>
          </p:cNvPicPr>
          <p:nvPr/>
        </p:nvPicPr>
        <p:blipFill>
          <a:blip r:embed="rId4"/>
          <a:stretch>
            <a:fillRect/>
          </a:stretch>
        </p:blipFill>
        <p:spPr>
          <a:xfrm>
            <a:off x="4278610" y="575914"/>
            <a:ext cx="2215098" cy="3999956"/>
          </a:xfrm>
          <a:prstGeom prst="rect">
            <a:avLst/>
          </a:prstGeom>
        </p:spPr>
      </p:pic>
      <p:pic>
        <p:nvPicPr>
          <p:cNvPr id="14" name="Picture 13">
            <a:extLst>
              <a:ext uri="{FF2B5EF4-FFF2-40B4-BE49-F238E27FC236}">
                <a16:creationId xmlns:a16="http://schemas.microsoft.com/office/drawing/2014/main" id="{C4B9EC41-3326-B8E4-FA8C-20BE6E452155}"/>
              </a:ext>
            </a:extLst>
          </p:cNvPr>
          <p:cNvPicPr>
            <a:picLocks noChangeAspect="1"/>
          </p:cNvPicPr>
          <p:nvPr/>
        </p:nvPicPr>
        <p:blipFill>
          <a:blip r:embed="rId5"/>
          <a:stretch>
            <a:fillRect/>
          </a:stretch>
        </p:blipFill>
        <p:spPr>
          <a:xfrm>
            <a:off x="6464368" y="577469"/>
            <a:ext cx="2679632" cy="4076700"/>
          </a:xfrm>
          <a:prstGeom prst="rect">
            <a:avLst/>
          </a:prstGeom>
        </p:spPr>
      </p:pic>
    </p:spTree>
    <p:extLst>
      <p:ext uri="{BB962C8B-B14F-4D97-AF65-F5344CB8AC3E}">
        <p14:creationId xmlns:p14="http://schemas.microsoft.com/office/powerpoint/2010/main" val="4046172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52EAF-3D46-6AA6-85D8-54A3A0E925F9}"/>
            </a:ext>
          </a:extLst>
        </p:cNvPr>
        <p:cNvGrpSpPr/>
        <p:nvPr/>
      </p:nvGrpSpPr>
      <p:grpSpPr>
        <a:xfrm>
          <a:off x="0" y="0"/>
          <a:ext cx="0" cy="0"/>
          <a:chOff x="0" y="0"/>
          <a:chExt cx="0" cy="0"/>
        </a:xfrm>
      </p:grpSpPr>
      <p:sp>
        <p:nvSpPr>
          <p:cNvPr id="4" name="BottomRule">
            <a:extLst>
              <a:ext uri="{FF2B5EF4-FFF2-40B4-BE49-F238E27FC236}">
                <a16:creationId xmlns:a16="http://schemas.microsoft.com/office/drawing/2014/main" id="{345E46BF-1E19-9577-ABD5-168FD53A7426}"/>
              </a:ext>
            </a:extLst>
          </p:cNvPr>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a:extLst>
              <a:ext uri="{FF2B5EF4-FFF2-40B4-BE49-F238E27FC236}">
                <a16:creationId xmlns:a16="http://schemas.microsoft.com/office/drawing/2014/main" id="{F8C52E5A-81E7-FA74-D001-62CBE5C64B90}"/>
              </a:ext>
            </a:extLst>
          </p:cNvPr>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3" name="Footer">
            <a:extLst>
              <a:ext uri="{FF2B5EF4-FFF2-40B4-BE49-F238E27FC236}">
                <a16:creationId xmlns:a16="http://schemas.microsoft.com/office/drawing/2014/main" id="{828E97D6-8E5A-FCA9-5334-3DD141943C99}"/>
              </a:ext>
            </a:extLst>
          </p:cNvPr>
          <p:cNvSpPr txBox="1"/>
          <p:nvPr/>
        </p:nvSpPr>
        <p:spPr>
          <a:xfrm>
            <a:off x="457200" y="4826000"/>
            <a:ext cx="6858000" cy="228600"/>
          </a:xfrm>
          <a:prstGeom prst="rect">
            <a:avLst/>
          </a:prstGeom>
          <a:noFill/>
          <a:ln>
            <a:noFill/>
          </a:ln>
        </p:spPr>
        <p:txBody>
          <a:bodyPr wrap="square" lIns="0" tIns="0" rIns="0" bIns="0" anchor="t"/>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HeaderTitle">
            <a:extLst>
              <a:ext uri="{FF2B5EF4-FFF2-40B4-BE49-F238E27FC236}">
                <a16:creationId xmlns:a16="http://schemas.microsoft.com/office/drawing/2014/main" id="{009E0D18-6879-02AE-7AAA-A1A14D5279D9}"/>
              </a:ext>
            </a:extLst>
          </p:cNvPr>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Problem 2: </a:t>
            </a:r>
            <a:r>
              <a:rPr lang="en-US" sz="2100" b="1" dirty="0" err="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Dieviation</a:t>
            </a: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 of Diagonal</a:t>
            </a:r>
          </a:p>
        </p:txBody>
      </p:sp>
      <p:sp>
        <p:nvSpPr>
          <p:cNvPr id="8" name="PageNum">
            <a:extLst>
              <a:ext uri="{FF2B5EF4-FFF2-40B4-BE49-F238E27FC236}">
                <a16:creationId xmlns:a16="http://schemas.microsoft.com/office/drawing/2014/main" id="{413C08E4-BC00-7AB9-B6C8-444A2AAA262E}"/>
              </a:ext>
            </a:extLst>
          </p:cNvPr>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4 / 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7" name="Picture 6">
            <a:extLst>
              <a:ext uri="{FF2B5EF4-FFF2-40B4-BE49-F238E27FC236}">
                <a16:creationId xmlns:a16="http://schemas.microsoft.com/office/drawing/2014/main" id="{043B1BB9-1534-F18C-7EE6-DF1C7ECC310E}"/>
              </a:ext>
            </a:extLst>
          </p:cNvPr>
          <p:cNvPicPr>
            <a:picLocks/>
          </p:cNvPicPr>
          <p:nvPr/>
        </p:nvPicPr>
        <p:blipFill>
          <a:blip r:embed="rId3"/>
          <a:srcRect l="4427" t="3051" r="52404" b="51670"/>
          <a:stretch>
            <a:fillRect/>
          </a:stretch>
        </p:blipFill>
        <p:spPr>
          <a:xfrm>
            <a:off x="4630678" y="813483"/>
            <a:ext cx="4379971" cy="3592261"/>
          </a:xfrm>
          <a:prstGeom prst="rect">
            <a:avLst/>
          </a:prstGeom>
        </p:spPr>
      </p:pic>
      <p:pic>
        <p:nvPicPr>
          <p:cNvPr id="10" name="Picture 9">
            <a:extLst>
              <a:ext uri="{FF2B5EF4-FFF2-40B4-BE49-F238E27FC236}">
                <a16:creationId xmlns:a16="http://schemas.microsoft.com/office/drawing/2014/main" id="{E805095E-FBC6-6004-1A5D-B3F3B921847A}"/>
              </a:ext>
            </a:extLst>
          </p:cNvPr>
          <p:cNvPicPr>
            <a:picLocks/>
          </p:cNvPicPr>
          <p:nvPr/>
        </p:nvPicPr>
        <p:blipFill>
          <a:blip r:embed="rId4"/>
          <a:srcRect t="4649" r="73023" b="71810"/>
          <a:stretch>
            <a:fillRect/>
          </a:stretch>
        </p:blipFill>
        <p:spPr>
          <a:xfrm>
            <a:off x="259162" y="813484"/>
            <a:ext cx="4101966" cy="3546663"/>
          </a:xfrm>
          <a:prstGeom prst="rect">
            <a:avLst/>
          </a:prstGeom>
        </p:spPr>
      </p:pic>
    </p:spTree>
    <p:extLst>
      <p:ext uri="{BB962C8B-B14F-4D97-AF65-F5344CB8AC3E}">
        <p14:creationId xmlns:p14="http://schemas.microsoft.com/office/powerpoint/2010/main" val="3161368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67A0A-7CDD-77EE-FA79-E70E109B06D1}"/>
            </a:ext>
          </a:extLst>
        </p:cNvPr>
        <p:cNvGrpSpPr/>
        <p:nvPr/>
      </p:nvGrpSpPr>
      <p:grpSpPr>
        <a:xfrm>
          <a:off x="0" y="0"/>
          <a:ext cx="0" cy="0"/>
          <a:chOff x="0" y="0"/>
          <a:chExt cx="0" cy="0"/>
        </a:xfrm>
      </p:grpSpPr>
      <p:sp>
        <p:nvSpPr>
          <p:cNvPr id="4" name="BottomRule">
            <a:extLst>
              <a:ext uri="{FF2B5EF4-FFF2-40B4-BE49-F238E27FC236}">
                <a16:creationId xmlns:a16="http://schemas.microsoft.com/office/drawing/2014/main" id="{C4BFF645-5447-B9CE-A7D5-53AFCD83EF86}"/>
              </a:ext>
            </a:extLst>
          </p:cNvPr>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a:extLst>
              <a:ext uri="{FF2B5EF4-FFF2-40B4-BE49-F238E27FC236}">
                <a16:creationId xmlns:a16="http://schemas.microsoft.com/office/drawing/2014/main" id="{BE27C47A-60FA-2583-FA21-CE6DBAEBA2DE}"/>
              </a:ext>
            </a:extLst>
          </p:cNvPr>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3" name="Footer">
            <a:extLst>
              <a:ext uri="{FF2B5EF4-FFF2-40B4-BE49-F238E27FC236}">
                <a16:creationId xmlns:a16="http://schemas.microsoft.com/office/drawing/2014/main" id="{CC248132-E475-2983-1726-670F45ACA16E}"/>
              </a:ext>
            </a:extLst>
          </p:cNvPr>
          <p:cNvSpPr txBox="1"/>
          <p:nvPr/>
        </p:nvSpPr>
        <p:spPr>
          <a:xfrm>
            <a:off x="457200" y="4826000"/>
            <a:ext cx="6858000" cy="228600"/>
          </a:xfrm>
          <a:prstGeom prst="rect">
            <a:avLst/>
          </a:prstGeom>
          <a:noFill/>
          <a:ln>
            <a:noFill/>
          </a:ln>
        </p:spPr>
        <p:txBody>
          <a:bodyPr wrap="square" lIns="0" tIns="0" rIns="0" bIns="0" anchor="t"/>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HeaderTitle">
            <a:extLst>
              <a:ext uri="{FF2B5EF4-FFF2-40B4-BE49-F238E27FC236}">
                <a16:creationId xmlns:a16="http://schemas.microsoft.com/office/drawing/2014/main" id="{2DF910F8-C223-0EED-91B9-8BA1972C82ED}"/>
              </a:ext>
            </a:extLst>
          </p:cNvPr>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Problem 2: </a:t>
            </a:r>
            <a:r>
              <a:rPr lang="en-US" sz="2100" b="1" dirty="0" err="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Dieviation</a:t>
            </a: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 of Diagonal</a:t>
            </a:r>
          </a:p>
        </p:txBody>
      </p:sp>
      <p:sp>
        <p:nvSpPr>
          <p:cNvPr id="8" name="PageNum">
            <a:extLst>
              <a:ext uri="{FF2B5EF4-FFF2-40B4-BE49-F238E27FC236}">
                <a16:creationId xmlns:a16="http://schemas.microsoft.com/office/drawing/2014/main" id="{9E92417D-2CDE-1DB5-3605-8D3B0283A494}"/>
              </a:ext>
            </a:extLst>
          </p:cNvPr>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5 / 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6" name="Picture 5">
            <a:extLst>
              <a:ext uri="{FF2B5EF4-FFF2-40B4-BE49-F238E27FC236}">
                <a16:creationId xmlns:a16="http://schemas.microsoft.com/office/drawing/2014/main" id="{EA27E047-2D21-C357-C0EF-B417EC5D9750}"/>
              </a:ext>
            </a:extLst>
          </p:cNvPr>
          <p:cNvPicPr>
            <a:picLocks/>
          </p:cNvPicPr>
          <p:nvPr/>
        </p:nvPicPr>
        <p:blipFill>
          <a:blip r:embed="rId3"/>
          <a:srcRect l="34222" t="5714" r="35100"/>
          <a:stretch>
            <a:fillRect/>
          </a:stretch>
        </p:blipFill>
        <p:spPr>
          <a:xfrm>
            <a:off x="1405811" y="556532"/>
            <a:ext cx="2071397" cy="4030436"/>
          </a:xfrm>
          <a:prstGeom prst="rect">
            <a:avLst/>
          </a:prstGeom>
        </p:spPr>
      </p:pic>
      <p:pic>
        <p:nvPicPr>
          <p:cNvPr id="11" name="Picture 10">
            <a:extLst>
              <a:ext uri="{FF2B5EF4-FFF2-40B4-BE49-F238E27FC236}">
                <a16:creationId xmlns:a16="http://schemas.microsoft.com/office/drawing/2014/main" id="{62F85E77-6765-3CD8-0874-1474C05DD375}"/>
              </a:ext>
            </a:extLst>
          </p:cNvPr>
          <p:cNvPicPr>
            <a:picLocks/>
          </p:cNvPicPr>
          <p:nvPr/>
        </p:nvPicPr>
        <p:blipFill>
          <a:blip r:embed="rId4"/>
          <a:srcRect t="2571"/>
          <a:stretch>
            <a:fillRect/>
          </a:stretch>
        </p:blipFill>
        <p:spPr>
          <a:xfrm>
            <a:off x="4715071" y="567944"/>
            <a:ext cx="3805976" cy="2003806"/>
          </a:xfrm>
          <a:prstGeom prst="rect">
            <a:avLst/>
          </a:prstGeom>
        </p:spPr>
      </p:pic>
      <p:pic>
        <p:nvPicPr>
          <p:cNvPr id="13" name="Picture 12">
            <a:extLst>
              <a:ext uri="{FF2B5EF4-FFF2-40B4-BE49-F238E27FC236}">
                <a16:creationId xmlns:a16="http://schemas.microsoft.com/office/drawing/2014/main" id="{FAF07D78-6C8D-6212-4C85-D45731A1EDD3}"/>
              </a:ext>
            </a:extLst>
          </p:cNvPr>
          <p:cNvPicPr>
            <a:picLocks noChangeAspect="1"/>
          </p:cNvPicPr>
          <p:nvPr/>
        </p:nvPicPr>
        <p:blipFill>
          <a:blip r:embed="rId5"/>
          <a:stretch>
            <a:fillRect/>
          </a:stretch>
        </p:blipFill>
        <p:spPr>
          <a:xfrm>
            <a:off x="4717013" y="2660520"/>
            <a:ext cx="3805976" cy="2035305"/>
          </a:xfrm>
          <a:prstGeom prst="rect">
            <a:avLst/>
          </a:prstGeom>
        </p:spPr>
      </p:pic>
    </p:spTree>
    <p:extLst>
      <p:ext uri="{BB962C8B-B14F-4D97-AF65-F5344CB8AC3E}">
        <p14:creationId xmlns:p14="http://schemas.microsoft.com/office/powerpoint/2010/main" val="2051588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48D41-4DD1-8B61-955A-3A2598CED600}"/>
            </a:ext>
          </a:extLst>
        </p:cNvPr>
        <p:cNvGrpSpPr/>
        <p:nvPr/>
      </p:nvGrpSpPr>
      <p:grpSpPr>
        <a:xfrm>
          <a:off x="0" y="0"/>
          <a:ext cx="0" cy="0"/>
          <a:chOff x="0" y="0"/>
          <a:chExt cx="0" cy="0"/>
        </a:xfrm>
      </p:grpSpPr>
      <p:sp>
        <p:nvSpPr>
          <p:cNvPr id="4" name="BottomRule">
            <a:extLst>
              <a:ext uri="{FF2B5EF4-FFF2-40B4-BE49-F238E27FC236}">
                <a16:creationId xmlns:a16="http://schemas.microsoft.com/office/drawing/2014/main" id="{A8163466-0234-B769-4F32-CB377EF452DB}"/>
              </a:ext>
            </a:extLst>
          </p:cNvPr>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a:extLst>
              <a:ext uri="{FF2B5EF4-FFF2-40B4-BE49-F238E27FC236}">
                <a16:creationId xmlns:a16="http://schemas.microsoft.com/office/drawing/2014/main" id="{6E548423-1A58-8EA6-DADD-EB9AADA75B36}"/>
              </a:ext>
            </a:extLst>
          </p:cNvPr>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3" name="Footer">
            <a:extLst>
              <a:ext uri="{FF2B5EF4-FFF2-40B4-BE49-F238E27FC236}">
                <a16:creationId xmlns:a16="http://schemas.microsoft.com/office/drawing/2014/main" id="{8972F2EE-526D-8280-40D4-31DF54F3DEDD}"/>
              </a:ext>
            </a:extLst>
          </p:cNvPr>
          <p:cNvSpPr txBox="1"/>
          <p:nvPr/>
        </p:nvSpPr>
        <p:spPr>
          <a:xfrm>
            <a:off x="457200" y="4826000"/>
            <a:ext cx="6858000" cy="228600"/>
          </a:xfrm>
          <a:prstGeom prst="rect">
            <a:avLst/>
          </a:prstGeom>
          <a:noFill/>
          <a:ln>
            <a:noFill/>
          </a:ln>
        </p:spPr>
        <p:txBody>
          <a:bodyPr wrap="square" lIns="0" tIns="0" rIns="0" bIns="0" anchor="t"/>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HeaderTitle">
            <a:extLst>
              <a:ext uri="{FF2B5EF4-FFF2-40B4-BE49-F238E27FC236}">
                <a16:creationId xmlns:a16="http://schemas.microsoft.com/office/drawing/2014/main" id="{D6589A26-DEB5-1B53-91E2-39E39A11E5A0}"/>
              </a:ext>
            </a:extLst>
          </p:cNvPr>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Introduction of Conventional Approach Pipeline</a:t>
            </a:r>
          </a:p>
        </p:txBody>
      </p:sp>
      <p:sp>
        <p:nvSpPr>
          <p:cNvPr id="8" name="PageNum">
            <a:extLst>
              <a:ext uri="{FF2B5EF4-FFF2-40B4-BE49-F238E27FC236}">
                <a16:creationId xmlns:a16="http://schemas.microsoft.com/office/drawing/2014/main" id="{2CBF0119-6F83-CFD7-9B6E-9084A4ACF61C}"/>
              </a:ext>
            </a:extLst>
          </p:cNvPr>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6 / 7</a:t>
            </a:r>
            <a:endParaRPr sz="75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400" name="PipeBox400"/>
          <p:cNvSpPr/>
          <p:nvPr/>
        </p:nvSpPr>
        <p:spPr>
          <a:xfrm>
            <a:off x="406400" y="609600"/>
            <a:ext cx="3810000" cy="533400"/>
          </a:xfrm>
          <a:prstGeom prst="roundRect">
            <a:avLst>
              <a:gd name="adj" fmla="val 8000"/>
            </a:avLst>
          </a:prstGeom>
          <a:solidFill>
            <a:srgbClr val="FFFFFF"/>
          </a:solidFill>
          <a:ln w="12700">
            <a:solidFill>
              <a:srgbClr val="1F4E79"/>
            </a:solidFill>
          </a:ln>
        </p:spPr>
        <p:txBody>
          <a:bodyPr wrap="square" lIns="54864" tIns="18288" rIns="54864" bIns="18288" anchor="ctr">
            <a:normAutofit/>
          </a:bodyPr>
          <a:lstStyle/>
          <a:p>
            <a:pPr algn="ctr">
              <a:buNone/>
            </a:pPr>
            <a:r>
              <a:rPr lang="en-US" sz="1400" b="1" dirty="0">
                <a:solidFill>
                  <a:srgbClr val="1F4E79"/>
                </a:solidFill>
                <a:latin typeface="Times New Roman" panose="02020603050405020304" pitchFamily="18" charset="0"/>
                <a:cs typeface="Times New Roman" panose="02020603050405020304" pitchFamily="18" charset="0"/>
              </a:rPr>
              <a:t>1. Raw Hits</a:t>
            </a:r>
            <a:r>
              <a:rPr lang="en-US" sz="1400" dirty="0">
                <a:solidFill>
                  <a:srgbClr val="404040"/>
                </a:solidFill>
                <a:latin typeface="Times New Roman" panose="02020603050405020304" pitchFamily="18" charset="0"/>
                <a:cs typeface="Times New Roman" panose="02020603050405020304" pitchFamily="18" charset="0"/>
              </a:rPr>
              <a:t> — MATEROOT platform</a:t>
            </a:r>
          </a:p>
        </p:txBody>
      </p:sp>
      <p:sp>
        <p:nvSpPr>
          <p:cNvPr id="406" name="PipeArrow406"/>
          <p:cNvSpPr/>
          <p:nvPr/>
        </p:nvSpPr>
        <p:spPr>
          <a:xfrm>
            <a:off x="2120900" y="1143000"/>
            <a:ext cx="381000" cy="152400"/>
          </a:xfrm>
          <a:prstGeom prst="downArrow">
            <a:avLst/>
          </a:prstGeom>
          <a:solidFill>
            <a:srgbClr val="1F4E79"/>
          </a:solidFill>
          <a:ln>
            <a:noFill/>
          </a:ln>
        </p:spPr>
        <p:txBody>
          <a:bodyPr/>
          <a:lstStyle/>
          <a:p>
            <a:pPr>
              <a:buNone/>
            </a:pPr>
            <a:endParaRPr lang="en-US"/>
          </a:p>
        </p:txBody>
      </p:sp>
      <p:sp>
        <p:nvSpPr>
          <p:cNvPr id="401" name="PipeBox401"/>
          <p:cNvSpPr/>
          <p:nvPr/>
        </p:nvSpPr>
        <p:spPr>
          <a:xfrm>
            <a:off x="406400" y="1295400"/>
            <a:ext cx="3810000" cy="533400"/>
          </a:xfrm>
          <a:prstGeom prst="roundRect">
            <a:avLst>
              <a:gd name="adj" fmla="val 8000"/>
            </a:avLst>
          </a:prstGeom>
          <a:solidFill>
            <a:srgbClr val="FFFFFF"/>
          </a:solidFill>
          <a:ln w="12700">
            <a:solidFill>
              <a:srgbClr val="1F4E79"/>
            </a:solidFill>
          </a:ln>
        </p:spPr>
        <p:txBody>
          <a:bodyPr wrap="square" lIns="54864" tIns="18288" rIns="54864" bIns="18288" anchor="ctr">
            <a:normAutofit/>
          </a:bodyPr>
          <a:lstStyle/>
          <a:p>
            <a:pPr algn="ctr">
              <a:buNone/>
            </a:pPr>
            <a:r>
              <a:rPr lang="en-US" sz="1400" b="1" dirty="0">
                <a:solidFill>
                  <a:srgbClr val="1F4E79"/>
                </a:solidFill>
                <a:latin typeface="Times New Roman" panose="02020603050405020304" pitchFamily="18" charset="0"/>
                <a:cs typeface="Times New Roman" panose="02020603050405020304" pitchFamily="18" charset="0"/>
              </a:rPr>
              <a:t>2. Converter</a:t>
            </a:r>
            <a:r>
              <a:rPr lang="en-US" sz="1400" dirty="0">
                <a:solidFill>
                  <a:srgbClr val="404040"/>
                </a:solidFill>
                <a:latin typeface="Times New Roman" panose="02020603050405020304" pitchFamily="18" charset="0"/>
                <a:cs typeface="Times New Roman" panose="02020603050405020304" pitchFamily="18" charset="0"/>
              </a:rPr>
              <a:t> — 80×48×2 image (MATE resolution)</a:t>
            </a:r>
          </a:p>
        </p:txBody>
      </p:sp>
      <p:sp>
        <p:nvSpPr>
          <p:cNvPr id="407" name="PipeArrow407"/>
          <p:cNvSpPr/>
          <p:nvPr/>
        </p:nvSpPr>
        <p:spPr>
          <a:xfrm>
            <a:off x="2120900" y="1828800"/>
            <a:ext cx="381000" cy="152400"/>
          </a:xfrm>
          <a:prstGeom prst="downArrow">
            <a:avLst/>
          </a:prstGeom>
          <a:solidFill>
            <a:srgbClr val="1F4E79"/>
          </a:solidFill>
          <a:ln>
            <a:noFill/>
          </a:ln>
        </p:spPr>
        <p:txBody>
          <a:bodyPr/>
          <a:lstStyle/>
          <a:p>
            <a:pPr>
              <a:buNone/>
            </a:pPr>
            <a:endParaRPr lang="en-US"/>
          </a:p>
        </p:txBody>
      </p:sp>
      <p:sp>
        <p:nvSpPr>
          <p:cNvPr id="402" name="PipeBox402"/>
          <p:cNvSpPr/>
          <p:nvPr/>
        </p:nvSpPr>
        <p:spPr>
          <a:xfrm>
            <a:off x="406400" y="1981200"/>
            <a:ext cx="3810000" cy="533400"/>
          </a:xfrm>
          <a:prstGeom prst="roundRect">
            <a:avLst>
              <a:gd name="adj" fmla="val 8000"/>
            </a:avLst>
          </a:prstGeom>
          <a:solidFill>
            <a:srgbClr val="FFFFFF"/>
          </a:solidFill>
          <a:ln w="12700">
            <a:solidFill>
              <a:srgbClr val="1F4E79"/>
            </a:solidFill>
          </a:ln>
        </p:spPr>
        <p:txBody>
          <a:bodyPr wrap="square" lIns="54864" tIns="18288" rIns="54864" bIns="18288" anchor="ctr">
            <a:normAutofit/>
          </a:bodyPr>
          <a:lstStyle/>
          <a:p>
            <a:pPr algn="ctr">
              <a:buNone/>
            </a:pPr>
            <a:r>
              <a:rPr lang="en-US" sz="1400" b="1" dirty="0">
                <a:solidFill>
                  <a:srgbClr val="1F4E79"/>
                </a:solidFill>
                <a:latin typeface="Times New Roman" panose="02020603050405020304" pitchFamily="18" charset="0"/>
                <a:cs typeface="Times New Roman" panose="02020603050405020304" pitchFamily="18" charset="0"/>
              </a:rPr>
              <a:t>3. Fit</a:t>
            </a:r>
            <a:r>
              <a:rPr lang="en-US" sz="1400" dirty="0">
                <a:solidFill>
                  <a:srgbClr val="404040"/>
                </a:solidFill>
                <a:latin typeface="Times New Roman" panose="02020603050405020304" pitchFamily="18" charset="0"/>
                <a:cs typeface="Times New Roman" panose="02020603050405020304" pitchFamily="18" charset="0"/>
              </a:rPr>
              <a:t> — track fitting</a:t>
            </a:r>
          </a:p>
        </p:txBody>
      </p:sp>
      <p:sp>
        <p:nvSpPr>
          <p:cNvPr id="408" name="PipeArrow408"/>
          <p:cNvSpPr/>
          <p:nvPr/>
        </p:nvSpPr>
        <p:spPr>
          <a:xfrm>
            <a:off x="2120900" y="2514600"/>
            <a:ext cx="381000" cy="152400"/>
          </a:xfrm>
          <a:prstGeom prst="downArrow">
            <a:avLst/>
          </a:prstGeom>
          <a:solidFill>
            <a:srgbClr val="1F4E79"/>
          </a:solidFill>
          <a:ln>
            <a:noFill/>
          </a:ln>
        </p:spPr>
        <p:txBody>
          <a:bodyPr/>
          <a:lstStyle/>
          <a:p>
            <a:pPr>
              <a:buNone/>
            </a:pPr>
            <a:endParaRPr lang="en-US"/>
          </a:p>
        </p:txBody>
      </p:sp>
      <p:sp>
        <p:nvSpPr>
          <p:cNvPr id="403" name="PipeBox403"/>
          <p:cNvSpPr/>
          <p:nvPr/>
        </p:nvSpPr>
        <p:spPr>
          <a:xfrm>
            <a:off x="406400" y="2667000"/>
            <a:ext cx="3810000" cy="533400"/>
          </a:xfrm>
          <a:prstGeom prst="roundRect">
            <a:avLst>
              <a:gd name="adj" fmla="val 8000"/>
            </a:avLst>
          </a:prstGeom>
          <a:solidFill>
            <a:srgbClr val="FFFFFF"/>
          </a:solidFill>
          <a:ln w="12700">
            <a:solidFill>
              <a:srgbClr val="1F4E79"/>
            </a:solidFill>
          </a:ln>
        </p:spPr>
        <p:txBody>
          <a:bodyPr wrap="square" lIns="54864" tIns="18288" rIns="54864" bIns="18288" anchor="ctr">
            <a:normAutofit/>
          </a:bodyPr>
          <a:lstStyle/>
          <a:p>
            <a:pPr algn="ctr">
              <a:buNone/>
            </a:pPr>
            <a:r>
              <a:rPr lang="en-US" sz="1400" b="1" dirty="0">
                <a:solidFill>
                  <a:srgbClr val="1F4E79"/>
                </a:solidFill>
                <a:latin typeface="Times New Roman" panose="02020603050405020304" pitchFamily="18" charset="0"/>
                <a:cs typeface="Times New Roman" panose="02020603050405020304" pitchFamily="18" charset="0"/>
              </a:rPr>
              <a:t>4. Reconstructed Range</a:t>
            </a:r>
            <a:r>
              <a:rPr lang="en-US" sz="1400" dirty="0">
                <a:solidFill>
                  <a:srgbClr val="404040"/>
                </a:solidFill>
                <a:latin typeface="Times New Roman" panose="02020603050405020304" pitchFamily="18" charset="0"/>
                <a:cs typeface="Times New Roman" panose="02020603050405020304" pitchFamily="18" charset="0"/>
              </a:rPr>
              <a:t> — from fit</a:t>
            </a:r>
          </a:p>
        </p:txBody>
      </p:sp>
      <p:sp>
        <p:nvSpPr>
          <p:cNvPr id="409" name="PipeArrow409"/>
          <p:cNvSpPr/>
          <p:nvPr/>
        </p:nvSpPr>
        <p:spPr>
          <a:xfrm>
            <a:off x="2120900" y="3200400"/>
            <a:ext cx="381000" cy="152400"/>
          </a:xfrm>
          <a:prstGeom prst="downArrow">
            <a:avLst/>
          </a:prstGeom>
          <a:solidFill>
            <a:srgbClr val="1F4E79"/>
          </a:solidFill>
          <a:ln>
            <a:noFill/>
          </a:ln>
        </p:spPr>
        <p:txBody>
          <a:bodyPr/>
          <a:lstStyle/>
          <a:p>
            <a:pPr>
              <a:buNone/>
            </a:pPr>
            <a:endParaRPr lang="en-US"/>
          </a:p>
        </p:txBody>
      </p:sp>
      <p:sp>
        <p:nvSpPr>
          <p:cNvPr id="404" name="PipeBox404"/>
          <p:cNvSpPr/>
          <p:nvPr/>
        </p:nvSpPr>
        <p:spPr>
          <a:xfrm>
            <a:off x="406400" y="3352800"/>
            <a:ext cx="3810000" cy="533400"/>
          </a:xfrm>
          <a:prstGeom prst="roundRect">
            <a:avLst>
              <a:gd name="adj" fmla="val 8000"/>
            </a:avLst>
          </a:prstGeom>
          <a:solidFill>
            <a:srgbClr val="FFFFFF"/>
          </a:solidFill>
          <a:ln w="12700">
            <a:solidFill>
              <a:srgbClr val="1F4E79"/>
            </a:solidFill>
            <a:prstDash val="dash"/>
          </a:ln>
        </p:spPr>
        <p:txBody>
          <a:bodyPr wrap="square" lIns="54864" tIns="18288" rIns="54864" bIns="18288" anchor="ctr">
            <a:normAutofit/>
          </a:bodyPr>
          <a:lstStyle/>
          <a:p>
            <a:pPr algn="ctr">
              <a:buNone/>
            </a:pPr>
            <a:r>
              <a:rPr lang="en-US" sz="1400" b="1" dirty="0">
                <a:solidFill>
                  <a:srgbClr val="1F4E79"/>
                </a:solidFill>
                <a:latin typeface="Times New Roman" panose="02020603050405020304" pitchFamily="18" charset="0"/>
                <a:cs typeface="Times New Roman" panose="02020603050405020304" pitchFamily="18" charset="0"/>
              </a:rPr>
              <a:t>5. LISE Projection</a:t>
            </a:r>
            <a:r>
              <a:rPr lang="en-US" sz="1400" dirty="0">
                <a:solidFill>
                  <a:srgbClr val="404040"/>
                </a:solidFill>
                <a:latin typeface="Times New Roman" panose="02020603050405020304" pitchFamily="18" charset="0"/>
                <a:cs typeface="Times New Roman" panose="02020603050405020304" pitchFamily="18" charset="0"/>
              </a:rPr>
              <a:t> — range→energy (ext.)</a:t>
            </a:r>
          </a:p>
        </p:txBody>
      </p:sp>
      <p:sp>
        <p:nvSpPr>
          <p:cNvPr id="410" name="PipeArrow410"/>
          <p:cNvSpPr/>
          <p:nvPr/>
        </p:nvSpPr>
        <p:spPr>
          <a:xfrm>
            <a:off x="2120900" y="3886200"/>
            <a:ext cx="381000" cy="152400"/>
          </a:xfrm>
          <a:prstGeom prst="downArrow">
            <a:avLst/>
          </a:prstGeom>
          <a:solidFill>
            <a:srgbClr val="1F4E79"/>
          </a:solidFill>
          <a:ln>
            <a:noFill/>
          </a:ln>
        </p:spPr>
        <p:txBody>
          <a:bodyPr/>
          <a:lstStyle/>
          <a:p>
            <a:pPr>
              <a:buNone/>
            </a:pPr>
            <a:endParaRPr lang="en-US"/>
          </a:p>
        </p:txBody>
      </p:sp>
      <p:sp>
        <p:nvSpPr>
          <p:cNvPr id="405" name="PipeBox405"/>
          <p:cNvSpPr/>
          <p:nvPr/>
        </p:nvSpPr>
        <p:spPr>
          <a:xfrm>
            <a:off x="406400" y="4038600"/>
            <a:ext cx="3810000" cy="533400"/>
          </a:xfrm>
          <a:prstGeom prst="roundRect">
            <a:avLst>
              <a:gd name="adj" fmla="val 8000"/>
            </a:avLst>
          </a:prstGeom>
          <a:solidFill>
            <a:srgbClr val="1F4E79"/>
          </a:solidFill>
          <a:ln w="12700">
            <a:solidFill>
              <a:srgbClr val="1F4E79"/>
            </a:solidFill>
          </a:ln>
        </p:spPr>
        <p:txBody>
          <a:bodyPr wrap="square" lIns="54864" tIns="18288" rIns="54864" bIns="18288" anchor="ctr">
            <a:normAutofit/>
          </a:bodyPr>
          <a:lstStyle/>
          <a:p>
            <a:pPr algn="ctr">
              <a:buNone/>
            </a:pPr>
            <a:r>
              <a:rPr lang="en-US" sz="1400" b="1" dirty="0">
                <a:solidFill>
                  <a:srgbClr val="FFFFFF"/>
                </a:solidFill>
                <a:latin typeface="Times New Roman" panose="02020603050405020304" pitchFamily="18" charset="0"/>
                <a:cs typeface="Times New Roman" panose="02020603050405020304" pitchFamily="18" charset="0"/>
              </a:rPr>
              <a:t>6. Predicted KE</a:t>
            </a:r>
            <a:r>
              <a:rPr lang="en-US" sz="1400" dirty="0">
                <a:solidFill>
                  <a:srgbClr val="FFFFFF"/>
                </a:solidFill>
                <a:latin typeface="Times New Roman" panose="02020603050405020304" pitchFamily="18" charset="0"/>
                <a:cs typeface="Times New Roman" panose="02020603050405020304" pitchFamily="18" charset="0"/>
              </a:rPr>
              <a:t> — final output</a:t>
            </a:r>
          </a:p>
        </p:txBody>
      </p:sp>
      <p:sp>
        <p:nvSpPr>
          <p:cNvPr id="411" name="Divider411"/>
          <p:cNvSpPr/>
          <p:nvPr/>
        </p:nvSpPr>
        <p:spPr>
          <a:xfrm>
            <a:off x="4572000" y="609600"/>
            <a:ext cx="12700" cy="3962400"/>
          </a:xfrm>
          <a:prstGeom prst="line">
            <a:avLst/>
          </a:prstGeom>
          <a:ln w="9525">
            <a:solidFill>
              <a:srgbClr val="1F4E79"/>
            </a:solidFill>
          </a:ln>
        </p:spPr>
        <p:txBody>
          <a:bodyPr/>
          <a:lstStyle/>
          <a:p>
            <a:pPr>
              <a:buNone/>
            </a:pPr>
            <a:endParaRPr lang="en-US"/>
          </a:p>
        </p:txBody>
      </p:sp>
      <p:sp>
        <p:nvSpPr>
          <p:cNvPr id="500" name="RightHeading500"/>
          <p:cNvSpPr/>
          <p:nvPr/>
        </p:nvSpPr>
        <p:spPr>
          <a:xfrm>
            <a:off x="4953000" y="609600"/>
            <a:ext cx="3810000" cy="457200"/>
          </a:xfrm>
          <a:prstGeom prst="rect">
            <a:avLst/>
          </a:prstGeom>
          <a:noFill/>
          <a:ln>
            <a:noFill/>
          </a:ln>
        </p:spPr>
        <p:txBody>
          <a:bodyPr wrap="square" lIns="0" tIns="0" rIns="0" bIns="0" anchor="ctr"/>
          <a:lstStyle/>
          <a:p>
            <a:pPr algn="ctr">
              <a:buNone/>
            </a:pPr>
            <a:r>
              <a:rPr lang="en-US" sz="1500" b="1" dirty="0">
                <a:solidFill>
                  <a:srgbClr val="1F4E79"/>
                </a:solidFill>
                <a:latin typeface="Times New Roman" panose="02020603050405020304" pitchFamily="18" charset="0"/>
                <a:cs typeface="Times New Roman" panose="02020603050405020304" pitchFamily="18" charset="0"/>
              </a:rPr>
              <a:t>Converter Ablation Study</a:t>
            </a:r>
          </a:p>
        </p:txBody>
      </p:sp>
      <p:sp>
        <p:nvSpPr>
          <p:cNvPr id="501" name="VariantCard501"/>
          <p:cNvSpPr/>
          <p:nvPr/>
        </p:nvSpPr>
        <p:spPr>
          <a:xfrm>
            <a:off x="4953000" y="1168400"/>
            <a:ext cx="3810000" cy="812800"/>
          </a:xfrm>
          <a:prstGeom prst="roundRect">
            <a:avLst>
              <a:gd name="adj" fmla="val 8000"/>
            </a:avLst>
          </a:prstGeom>
          <a:solidFill>
            <a:srgbClr val="FFFFFF"/>
          </a:solidFill>
          <a:ln w="12700">
            <a:solidFill>
              <a:srgbClr val="1F4E79"/>
            </a:solidFill>
          </a:ln>
        </p:spPr>
        <p:txBody>
          <a:bodyPr wrap="square" lIns="54864" tIns="18288" rIns="54864" bIns="18288" anchor="ctr">
            <a:normAutofit/>
          </a:bodyPr>
          <a:lstStyle/>
          <a:p>
            <a:pPr algn="ctr">
              <a:buNone/>
            </a:pPr>
            <a:r>
              <a:rPr lang="en-US" sz="1400" b="1" dirty="0">
                <a:solidFill>
                  <a:srgbClr val="1F4E79"/>
                </a:solidFill>
                <a:latin typeface="Times New Roman" panose="02020603050405020304" pitchFamily="18" charset="0"/>
                <a:cs typeface="Times New Roman" panose="02020603050405020304" pitchFamily="18" charset="0"/>
              </a:rPr>
              <a:t>A. LiLu Converter</a:t>
            </a:r>
          </a:p>
          <a:p>
            <a:pPr algn="ctr">
              <a:buNone/>
            </a:pPr>
            <a:r>
              <a:rPr lang="en-US" sz="1400" dirty="0">
                <a:solidFill>
                  <a:srgbClr val="404040"/>
                </a:solidFill>
                <a:latin typeface="Times New Roman" panose="02020603050405020304" pitchFamily="18" charset="0"/>
                <a:cs typeface="Times New Roman" panose="02020603050405020304" pitchFamily="18" charset="0"/>
              </a:rPr>
              <a:t>Alternative point-cloud-to-image method</a:t>
            </a:r>
          </a:p>
        </p:txBody>
      </p:sp>
      <p:sp>
        <p:nvSpPr>
          <p:cNvPr id="502" name="VariantCard502"/>
          <p:cNvSpPr/>
          <p:nvPr/>
        </p:nvSpPr>
        <p:spPr>
          <a:xfrm>
            <a:off x="4953000" y="2463800"/>
            <a:ext cx="3810000" cy="812800"/>
          </a:xfrm>
          <a:prstGeom prst="roundRect">
            <a:avLst>
              <a:gd name="adj" fmla="val 8000"/>
            </a:avLst>
          </a:prstGeom>
          <a:solidFill>
            <a:srgbClr val="FFFFFF"/>
          </a:solidFill>
          <a:ln w="12700">
            <a:solidFill>
              <a:srgbClr val="1F4E79"/>
            </a:solidFill>
          </a:ln>
        </p:spPr>
        <p:txBody>
          <a:bodyPr wrap="square" lIns="54864" tIns="18288" rIns="54864" bIns="18288" anchor="ctr">
            <a:normAutofit/>
          </a:bodyPr>
          <a:lstStyle/>
          <a:p>
            <a:pPr algn="ctr">
              <a:buNone/>
            </a:pPr>
            <a:r>
              <a:rPr lang="en-US" sz="1400" b="1" dirty="0">
                <a:solidFill>
                  <a:srgbClr val="1F4E79"/>
                </a:solidFill>
                <a:latin typeface="Times New Roman" panose="02020603050405020304" pitchFamily="18" charset="0"/>
                <a:cs typeface="Times New Roman" panose="02020603050405020304" pitchFamily="18" charset="0"/>
              </a:rPr>
              <a:t>B. 1 mm High-Resolution</a:t>
            </a:r>
          </a:p>
          <a:p>
            <a:pPr algn="ctr">
              <a:buNone/>
            </a:pPr>
            <a:r>
              <a:rPr lang="en-US" sz="1400" dirty="0">
                <a:solidFill>
                  <a:srgbClr val="404040"/>
                </a:solidFill>
                <a:latin typeface="Times New Roman" panose="02020603050405020304" pitchFamily="18" charset="0"/>
                <a:cs typeface="Times New Roman" panose="02020603050405020304" pitchFamily="18" charset="0"/>
              </a:rPr>
              <a:t>Finer voxelization than 80×48×2</a:t>
            </a:r>
          </a:p>
        </p:txBody>
      </p:sp>
      <p:sp>
        <p:nvSpPr>
          <p:cNvPr id="503" name="VariantCard503"/>
          <p:cNvSpPr/>
          <p:nvPr/>
        </p:nvSpPr>
        <p:spPr>
          <a:xfrm>
            <a:off x="4953000" y="3759200"/>
            <a:ext cx="3810000" cy="812800"/>
          </a:xfrm>
          <a:prstGeom prst="roundRect">
            <a:avLst>
              <a:gd name="adj" fmla="val 8000"/>
            </a:avLst>
          </a:prstGeom>
          <a:solidFill>
            <a:srgbClr val="FFFFFF"/>
          </a:solidFill>
          <a:ln w="12700">
            <a:solidFill>
              <a:srgbClr val="1F4E79"/>
            </a:solidFill>
          </a:ln>
        </p:spPr>
        <p:txBody>
          <a:bodyPr wrap="square" lIns="54864" tIns="18288" rIns="54864" bIns="18288" anchor="ctr">
            <a:normAutofit/>
          </a:bodyPr>
          <a:lstStyle/>
          <a:p>
            <a:pPr algn="ctr">
              <a:buNone/>
            </a:pPr>
            <a:r>
              <a:rPr lang="en-US" sz="1400" b="1" dirty="0">
                <a:solidFill>
                  <a:srgbClr val="1F4E79"/>
                </a:solidFill>
                <a:latin typeface="Times New Roman" panose="02020603050405020304" pitchFamily="18" charset="0"/>
                <a:cs typeface="Times New Roman" panose="02020603050405020304" pitchFamily="18" charset="0"/>
              </a:rPr>
              <a:t>C. No Converter</a:t>
            </a:r>
          </a:p>
          <a:p>
            <a:pPr algn="ctr">
              <a:buNone/>
            </a:pPr>
            <a:r>
              <a:rPr lang="en-US" sz="1400" dirty="0">
                <a:solidFill>
                  <a:srgbClr val="404040"/>
                </a:solidFill>
                <a:latin typeface="Times New Roman" panose="02020603050405020304" pitchFamily="18" charset="0"/>
                <a:cs typeface="Times New Roman" panose="02020603050405020304" pitchFamily="18" charset="0"/>
              </a:rPr>
              <a:t>Raw point cloud, fit directly</a:t>
            </a:r>
          </a:p>
        </p:txBody>
      </p:sp>
      <p:sp>
        <p:nvSpPr>
          <p:cNvPr id="504" name="BridgeArrow504"/>
          <p:cNvSpPr/>
          <p:nvPr/>
        </p:nvSpPr>
        <p:spPr>
          <a:xfrm>
            <a:off x="4216400" y="1435100"/>
            <a:ext cx="736600" cy="254000"/>
          </a:xfrm>
          <a:prstGeom prst="rightArrow">
            <a:avLst/>
          </a:prstGeom>
          <a:solidFill>
            <a:srgbClr val="1F4E79"/>
          </a:solidFill>
          <a:ln>
            <a:noFill/>
          </a:ln>
        </p:spPr>
        <p:txBody>
          <a:bodyPr/>
          <a:lstStyle/>
          <a:p>
            <a:pPr>
              <a:buNone/>
            </a:pPr>
            <a:endParaRPr lang="en-US"/>
          </a:p>
        </p:txBody>
      </p:sp>
    </p:spTree>
    <p:extLst>
      <p:ext uri="{BB962C8B-B14F-4D97-AF65-F5344CB8AC3E}">
        <p14:creationId xmlns:p14="http://schemas.microsoft.com/office/powerpoint/2010/main" val="2819894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5C215-0AA5-D5E6-0191-3958D8BE6E48}"/>
            </a:ext>
          </a:extLst>
        </p:cNvPr>
        <p:cNvGrpSpPr/>
        <p:nvPr/>
      </p:nvGrpSpPr>
      <p:grpSpPr>
        <a:xfrm>
          <a:off x="0" y="0"/>
          <a:ext cx="0" cy="0"/>
          <a:chOff x="0" y="0"/>
          <a:chExt cx="0" cy="0"/>
        </a:xfrm>
      </p:grpSpPr>
      <p:sp>
        <p:nvSpPr>
          <p:cNvPr id="4" name="BottomRule">
            <a:extLst>
              <a:ext uri="{FF2B5EF4-FFF2-40B4-BE49-F238E27FC236}">
                <a16:creationId xmlns:a16="http://schemas.microsoft.com/office/drawing/2014/main" id="{6775D0A3-0C9B-8F47-5D8F-F426FF92EC8F}"/>
              </a:ext>
            </a:extLst>
          </p:cNvPr>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a:extLst>
              <a:ext uri="{FF2B5EF4-FFF2-40B4-BE49-F238E27FC236}">
                <a16:creationId xmlns:a16="http://schemas.microsoft.com/office/drawing/2014/main" id="{B03ABAB4-BAB9-75CF-86C2-75FCC2957467}"/>
              </a:ext>
            </a:extLst>
          </p:cNvPr>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3" name="Footer">
            <a:extLst>
              <a:ext uri="{FF2B5EF4-FFF2-40B4-BE49-F238E27FC236}">
                <a16:creationId xmlns:a16="http://schemas.microsoft.com/office/drawing/2014/main" id="{C68E85F4-AD26-74BA-A513-77EAA3C93782}"/>
              </a:ext>
            </a:extLst>
          </p:cNvPr>
          <p:cNvSpPr txBox="1"/>
          <p:nvPr/>
        </p:nvSpPr>
        <p:spPr>
          <a:xfrm>
            <a:off x="457200" y="4826000"/>
            <a:ext cx="6858000" cy="228600"/>
          </a:xfrm>
          <a:prstGeom prst="rect">
            <a:avLst/>
          </a:prstGeom>
          <a:noFill/>
          <a:ln>
            <a:noFill/>
          </a:ln>
        </p:spPr>
        <p:txBody>
          <a:bodyPr wrap="square" lIns="0" tIns="0" rIns="0" bIns="0" anchor="t"/>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HeaderTitle">
            <a:extLst>
              <a:ext uri="{FF2B5EF4-FFF2-40B4-BE49-F238E27FC236}">
                <a16:creationId xmlns:a16="http://schemas.microsoft.com/office/drawing/2014/main" id="{7DBB367B-24D6-A09F-1001-B9B06538C25A}"/>
              </a:ext>
            </a:extLst>
          </p:cNvPr>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Comparison of Different Converter</a:t>
            </a:r>
          </a:p>
        </p:txBody>
      </p:sp>
      <p:sp>
        <p:nvSpPr>
          <p:cNvPr id="8" name="PageNum">
            <a:extLst>
              <a:ext uri="{FF2B5EF4-FFF2-40B4-BE49-F238E27FC236}">
                <a16:creationId xmlns:a16="http://schemas.microsoft.com/office/drawing/2014/main" id="{C6C5CABA-F177-D10F-6A01-54025700B7B5}"/>
              </a:ext>
            </a:extLst>
          </p:cNvPr>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7 / 7</a:t>
            </a:r>
            <a:endParaRPr sz="75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6" name="Picture 5">
            <a:extLst>
              <a:ext uri="{FF2B5EF4-FFF2-40B4-BE49-F238E27FC236}">
                <a16:creationId xmlns:a16="http://schemas.microsoft.com/office/drawing/2014/main" id="{38A6CBB1-25B5-BAE6-C30C-FC47B5804A07}"/>
              </a:ext>
            </a:extLst>
          </p:cNvPr>
          <p:cNvPicPr>
            <a:picLocks noChangeAspect="1"/>
          </p:cNvPicPr>
          <p:nvPr/>
        </p:nvPicPr>
        <p:blipFill>
          <a:blip r:embed="rId3"/>
          <a:stretch>
            <a:fillRect/>
          </a:stretch>
        </p:blipFill>
        <p:spPr>
          <a:xfrm>
            <a:off x="0" y="763486"/>
            <a:ext cx="4721678" cy="3692727"/>
          </a:xfrm>
          <a:prstGeom prst="rect">
            <a:avLst/>
          </a:prstGeom>
        </p:spPr>
      </p:pic>
      <p:pic>
        <p:nvPicPr>
          <p:cNvPr id="9" name="Picture 8">
            <a:extLst>
              <a:ext uri="{FF2B5EF4-FFF2-40B4-BE49-F238E27FC236}">
                <a16:creationId xmlns:a16="http://schemas.microsoft.com/office/drawing/2014/main" id="{113B8B96-02DF-8B79-DC58-60561BE0F234}"/>
              </a:ext>
            </a:extLst>
          </p:cNvPr>
          <p:cNvPicPr>
            <a:picLocks noChangeAspect="1"/>
          </p:cNvPicPr>
          <p:nvPr/>
        </p:nvPicPr>
        <p:blipFill>
          <a:blip r:embed="rId4"/>
          <a:stretch>
            <a:fillRect/>
          </a:stretch>
        </p:blipFill>
        <p:spPr>
          <a:xfrm>
            <a:off x="4572000" y="802982"/>
            <a:ext cx="4526525" cy="3518775"/>
          </a:xfrm>
          <a:prstGeom prst="rect">
            <a:avLst/>
          </a:prstGeom>
        </p:spPr>
      </p:pic>
    </p:spTree>
    <p:extLst>
      <p:ext uri="{BB962C8B-B14F-4D97-AF65-F5344CB8AC3E}">
        <p14:creationId xmlns:p14="http://schemas.microsoft.com/office/powerpoint/2010/main" val="16368751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PCH-F9FEA52BFE31B898BDBCBC48EA8BBA4AF57C804CB7740EBCA5B960AF1C68F17E" val="[{&quot;GradientColorId&quot;:&quot;&quot;,&quot;IsFree&quot;:true,&quot;IsGradient&quot;:false,&quot;ImagePath&quot;:&quot;&quot;,&quot;GradientColor&quot;:null,&quot;SimpleColor&quot;:&quot;#FF4040&quot;}]"/>
</p:tagLst>
</file>

<file path=ppt/theme/theme1.xml><?xml version="1.0" encoding="utf-8"?>
<a:theme xmlns:a="http://schemas.openxmlformats.org/drawingml/2006/main" name="Office Theme [1779258520937]">
  <a:themeElements>
    <a:clrScheme name="Office">
      <a:dk1>
        <a:srgbClr val="000000"/>
      </a:dk1>
      <a:lt1>
        <a:srgbClr val="FFFFFF"/>
      </a:lt1>
      <a:dk2>
        <a:srgbClr val="1F4E79"/>
      </a:dk2>
      <a:lt2>
        <a:srgbClr val="EEECE1"/>
      </a:lt2>
      <a:accent1>
        <a:srgbClr val="1F4E79"/>
      </a:accent1>
      <a:accent2>
        <a:srgbClr val="C000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ajorFont>
      <a:min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99"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149B7F6-5860-4488-B40D-90F180201131}">
  <we:reference id="wa200010001" version="1.0.0.1" store="en-US" storeType="OMEX"/>
  <we:alternateReferences>
    <we:reference id="WA200010001" version="1.0.0.1" store="" storeType="OMEX"/>
  </we:alternateReferences>
  <we:properties>
    <we:property name="claude.fileId" value="&quot;2d12da0d-5215-45ea-a035-422835fcf31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2581</TotalTime>
  <Words>736</Words>
  <Application>Microsoft Office PowerPoint</Application>
  <PresentationFormat>On-screen Show (16:9)</PresentationFormat>
  <Paragraphs>76</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Times New Roman</vt:lpstr>
      <vt:lpstr>Wingdings</vt:lpstr>
      <vt:lpstr>Office Theme [1779258520937]</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TRK Energy Regression Comparison</dc:title>
  <dc:subject>Advisor update on TRK5/TRK6 energy regression and baselines</dc:subject>
  <dc:creator>Claude Code</dc:creator>
  <dc:description>generated using python-pptx</dc:description>
  <cp:lastModifiedBy>智恒 胡</cp:lastModifiedBy>
  <cp:revision>133</cp:revision>
  <dcterms:created xsi:type="dcterms:W3CDTF">2013-01-27T09:14:00Z</dcterms:created>
  <dcterms:modified xsi:type="dcterms:W3CDTF">2026-07-02T02:38:22Z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0757AB3A121C4A0DA3E606B7A4919301_12</vt:lpwstr>
  </property>
</Properties>
</file>