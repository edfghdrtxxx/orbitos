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7"/>
  </p:notesMasterIdLst>
  <p:sldIdLst>
    <p:sldId id="385" r:id="rId2"/>
    <p:sldId id="384" r:id="rId3"/>
    <p:sldId id="379" r:id="rId4"/>
    <p:sldId id="368" r:id="rId5"/>
    <p:sldId id="387" r:id="rId6"/>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94"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457" autoAdjust="0"/>
    <p:restoredTop sz="97528" autoAdjust="0"/>
  </p:normalViewPr>
  <p:slideViewPr>
    <p:cSldViewPr snapToGrid="0" snapToObjects="1" showGuides="1">
      <p:cViewPr varScale="1">
        <p:scale>
          <a:sx n="155" d="100"/>
          <a:sy n="155" d="100"/>
        </p:scale>
        <p:origin x="150" y="894"/>
      </p:cViewPr>
      <p:guideLst>
        <p:guide orient="horz" pos="2194"/>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2026/6/14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a:xfrm>
            <a:off x="685800" y="3886200"/>
            <a:ext cx="7772400" cy="4114800"/>
          </a:xfrm>
          <a:prstGeom prst="rect">
            <a:avLst/>
          </a:prstGeom>
        </p:spPr>
        <p:txBody>
          <a:bodyPr/>
          <a:lstStyle/>
          <a:p>
            <a:r>
              <a:rPr lang="en-US">
                <a:latin typeface="Times New Roman" panose="02020603050405020304" pitchFamily="18" charset="0"/>
                <a:cs typeface="Times New Roman" panose="02020603050405020304" pitchFamily="18" charset="0"/>
                <a:sym typeface="Times New Roman" panose="02020603050405020304" pitchFamily="18" charset="0"/>
              </a:rPr>
              <a:t>This is the compact claim for the advisor: on the current common test split, CrossAttention has the lowest RMSE among the five compared methods. Frame it as physics-motivated energy regression, not as a generic ML victory. The caveat is that this is still the current single-seed/common-split comparison, so the result is strong evidence for this deck, not yet the final multi-seed paper claim.</a:t>
            </a:r>
            <a:endParaRPr>
              <a:latin typeface="Times New Roman" panose="02020603050405020304" pitchFamily="18" charset="0"/>
              <a:cs typeface="Times New Roman" panose="02020603050405020304" pitchFamily="18" charset="0"/>
              <a:sym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a:xfrm>
            <a:off x="685800" y="3886200"/>
            <a:ext cx="7772400" cy="4114800"/>
          </a:xfrm>
          <a:prstGeom prst="rect">
            <a:avLst/>
          </a:prstGeom>
        </p:spPr>
        <p:txBody>
          <a:bodyPr/>
          <a:lstStyle/>
          <a:p>
            <a:r>
              <a:rPr lang="en-US" dirty="0">
                <a:latin typeface="Times New Roman" panose="02020603050405020304" pitchFamily="18" charset="0"/>
                <a:cs typeface="Times New Roman" panose="02020603050405020304" pitchFamily="18" charset="0"/>
                <a:sym typeface="Times New Roman" panose="02020603050405020304" pitchFamily="18" charset="0"/>
              </a:rPr>
              <a:t>I will briefly introduce the context and the configuration of the new experiment, Previously, we conducted classification and regression studies using an isotropic alpha source, in which the number of tracks ranges from 1 to 4. After successfully determine the track multiplicity and angles for each event, the next step is to perform energy regression to figure out the ability boundary of each approach further. To this end, we will compare 5 approaches: three traditional algorithms, namely Hough, RANSAC, and Hierarchical Cluster, and two ML approaches, namely Standard </a:t>
            </a:r>
            <a:r>
              <a:rPr lang="en-US" dirty="0" err="1">
                <a:latin typeface="Times New Roman" panose="02020603050405020304" pitchFamily="18" charset="0"/>
                <a:cs typeface="Times New Roman" panose="02020603050405020304" pitchFamily="18" charset="0"/>
                <a:sym typeface="Times New Roman" panose="02020603050405020304" pitchFamily="18" charset="0"/>
              </a:rPr>
              <a:t>ResNet</a:t>
            </a:r>
            <a:r>
              <a:rPr lang="en-US" dirty="0">
                <a:latin typeface="Times New Roman" panose="02020603050405020304" pitchFamily="18" charset="0"/>
                <a:cs typeface="Times New Roman" panose="02020603050405020304" pitchFamily="18" charset="0"/>
                <a:sym typeface="Times New Roman" panose="02020603050405020304" pitchFamily="18" charset="0"/>
              </a:rPr>
              <a:t> and Cross-Attention </a:t>
            </a:r>
            <a:r>
              <a:rPr lang="en-US" dirty="0" err="1">
                <a:latin typeface="Times New Roman" panose="02020603050405020304" pitchFamily="18" charset="0"/>
                <a:cs typeface="Times New Roman" panose="02020603050405020304" pitchFamily="18" charset="0"/>
                <a:sym typeface="Times New Roman" panose="02020603050405020304" pitchFamily="18" charset="0"/>
              </a:rPr>
              <a:t>ResNet</a:t>
            </a:r>
            <a:r>
              <a:rPr lang="en-US" dirty="0">
                <a:latin typeface="Times New Roman" panose="02020603050405020304" pitchFamily="18" charset="0"/>
                <a:cs typeface="Times New Roman" panose="02020603050405020304" pitchFamily="18" charset="0"/>
                <a:sym typeface="Times New Roman" panose="02020603050405020304" pitchFamily="18" charset="0"/>
              </a:rPr>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a:xfrm>
            <a:off x="685800" y="3886200"/>
            <a:ext cx="7772400" cy="4114800"/>
          </a:xfrm>
          <a:prstGeom prst="rect">
            <a:avLst/>
          </a:prstGeom>
        </p:spPr>
        <p:txBody>
          <a:bodyPr/>
          <a:lstStyle/>
          <a:p>
            <a:r>
              <a:rPr lang="en-US" dirty="0">
                <a:latin typeface="Times New Roman" panose="02020603050405020304" pitchFamily="18" charset="0"/>
                <a:cs typeface="Times New Roman" panose="02020603050405020304" pitchFamily="18" charset="0"/>
                <a:sym typeface="Times New Roman" panose="02020603050405020304" pitchFamily="18" charset="0"/>
              </a:rPr>
              <a:t>Use this as the visual preview before the metric table: the CNN panels stay close to the diagonal, while the range-based baselines show broader scatter and saturation-like structure. Then move to the next slide for the quantitative RMSE, MAE, and missing-track summary.</a:t>
            </a:r>
            <a:endParaRPr dirty="0">
              <a:latin typeface="Times New Roman" panose="02020603050405020304" pitchFamily="18" charset="0"/>
              <a:cs typeface="Times New Roman" panose="02020603050405020304" pitchFamily="18" charset="0"/>
              <a:sym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a:xfrm>
            <a:off x="685800" y="3886200"/>
            <a:ext cx="7772400" cy="4114800"/>
          </a:xfrm>
          <a:prstGeom prst="rect">
            <a:avLst/>
          </a:prstGeom>
        </p:spPr>
        <p:txBody>
          <a:bodyPr/>
          <a:lstStyle/>
          <a:p>
            <a:r>
              <a:rPr lang="en-US" dirty="0">
                <a:latin typeface="Times New Roman" panose="02020603050405020304" pitchFamily="18" charset="0"/>
                <a:cs typeface="Times New Roman" panose="02020603050405020304" pitchFamily="18" charset="0"/>
                <a:sym typeface="Times New Roman" panose="02020603050405020304" pitchFamily="18" charset="0"/>
              </a:rPr>
              <a:t>This checks whether the gain is only an average effect. The energy-binned plot shows </a:t>
            </a:r>
            <a:r>
              <a:rPr lang="en-US" dirty="0" err="1">
                <a:latin typeface="Times New Roman" panose="02020603050405020304" pitchFamily="18" charset="0"/>
                <a:cs typeface="Times New Roman" panose="02020603050405020304" pitchFamily="18" charset="0"/>
                <a:sym typeface="Times New Roman" panose="02020603050405020304" pitchFamily="18" charset="0"/>
              </a:rPr>
              <a:t>CrossAttention</a:t>
            </a:r>
            <a:r>
              <a:rPr lang="en-US" dirty="0">
                <a:latin typeface="Times New Roman" panose="02020603050405020304" pitchFamily="18" charset="0"/>
                <a:cs typeface="Times New Roman" panose="02020603050405020304" pitchFamily="18" charset="0"/>
                <a:sym typeface="Times New Roman" panose="02020603050405020304" pitchFamily="18" charset="0"/>
              </a:rPr>
              <a:t> remaining competitive across bins, with the advantage most visible in the low-energy region. The physics caveat is that high-energy tracks are harder because clipping becomes more frequent.</a:t>
            </a:r>
            <a:endParaRPr dirty="0">
              <a:latin typeface="Times New Roman" panose="02020603050405020304" pitchFamily="18" charset="0"/>
              <a:cs typeface="Times New Roman" panose="02020603050405020304" pitchFamily="18" charset="0"/>
              <a:sym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ACBE46-2172-7B65-D4FB-E1FB0E23570D}"/>
            </a:ext>
          </a:extLst>
        </p:cNvPr>
        <p:cNvGrpSpPr/>
        <p:nvPr/>
      </p:nvGrpSpPr>
      <p:grpSpPr>
        <a:xfrm>
          <a:off x="0" y="0"/>
          <a:ext cx="0" cy="0"/>
          <a:chOff x="0" y="0"/>
          <a:chExt cx="0" cy="0"/>
        </a:xfrm>
      </p:grpSpPr>
      <p:sp>
        <p:nvSpPr>
          <p:cNvPr id="2" name="Notes">
            <a:extLst>
              <a:ext uri="{FF2B5EF4-FFF2-40B4-BE49-F238E27FC236}">
                <a16:creationId xmlns:a16="http://schemas.microsoft.com/office/drawing/2014/main" id="{3DA60710-42BB-3C7B-017B-89A2F9CE9696}"/>
              </a:ext>
            </a:extLst>
          </p:cNvPr>
          <p:cNvSpPr>
            <a:spLocks noGrp="1"/>
          </p:cNvSpPr>
          <p:nvPr>
            <p:ph type="body" idx="1"/>
          </p:nvPr>
        </p:nvSpPr>
        <p:spPr>
          <a:xfrm>
            <a:off x="685800" y="3886200"/>
            <a:ext cx="7772400" cy="4114800"/>
          </a:xfrm>
          <a:prstGeom prst="rect">
            <a:avLst/>
          </a:prstGeom>
        </p:spPr>
        <p:txBody>
          <a:bodyPr/>
          <a:lstStyle/>
          <a:p>
            <a:r>
              <a:rPr lang="en-US" dirty="0">
                <a:latin typeface="Times New Roman" panose="02020603050405020304" pitchFamily="18" charset="0"/>
                <a:cs typeface="Times New Roman" panose="02020603050405020304" pitchFamily="18" charset="0"/>
                <a:sym typeface="Times New Roman" panose="02020603050405020304" pitchFamily="18" charset="0"/>
              </a:rPr>
              <a:t>This checks whether the gain is only an average effect. The energy-binned plot shows </a:t>
            </a:r>
            <a:r>
              <a:rPr lang="en-US" dirty="0" err="1">
                <a:latin typeface="Times New Roman" panose="02020603050405020304" pitchFamily="18" charset="0"/>
                <a:cs typeface="Times New Roman" panose="02020603050405020304" pitchFamily="18" charset="0"/>
                <a:sym typeface="Times New Roman" panose="02020603050405020304" pitchFamily="18" charset="0"/>
              </a:rPr>
              <a:t>CrossAttention</a:t>
            </a:r>
            <a:r>
              <a:rPr lang="en-US" dirty="0">
                <a:latin typeface="Times New Roman" panose="02020603050405020304" pitchFamily="18" charset="0"/>
                <a:cs typeface="Times New Roman" panose="02020603050405020304" pitchFamily="18" charset="0"/>
                <a:sym typeface="Times New Roman" panose="02020603050405020304" pitchFamily="18" charset="0"/>
              </a:rPr>
              <a:t> remaining competitive across bins, with the advantage most visible in the low-energy region. The physics caveat is that high-energy tracks are harder because clipping becomes more frequent.</a:t>
            </a:r>
            <a:endParaRPr dirty="0">
              <a:latin typeface="Times New Roman" panose="02020603050405020304" pitchFamily="18" charset="0"/>
              <a:cs typeface="Times New Roman" panose="02020603050405020304" pitchFamily="18" charset="0"/>
              <a:sym typeface="Times New Roman" panose="02020603050405020304" pitchFamily="18" charset="0"/>
            </a:endParaRPr>
          </a:p>
        </p:txBody>
      </p:sp>
    </p:spTree>
    <p:extLst>
      <p:ext uri="{BB962C8B-B14F-4D97-AF65-F5344CB8AC3E}">
        <p14:creationId xmlns:p14="http://schemas.microsoft.com/office/powerpoint/2010/main" val="27130449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Times New Roman" panose="02020603050405020304"/>
          <a:ea typeface="Times New Roman" panose="02020603050405020304"/>
          <a:cs typeface="Times New Roman" panose="02020603050405020304"/>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Times New Roman" panose="02020603050405020304"/>
          <a:ea typeface="Times New Roman" panose="02020603050405020304"/>
          <a:cs typeface="Times New Roman" panose="02020603050405020304"/>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Times New Roman" panose="02020603050405020304"/>
          <a:ea typeface="Times New Roman" panose="02020603050405020304"/>
          <a:cs typeface="Times New Roman" panose="02020603050405020304"/>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Times New Roman" panose="02020603050405020304"/>
          <a:ea typeface="Times New Roman" panose="02020603050405020304"/>
          <a:cs typeface="Times New Roman" panose="02020603050405020304"/>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Times New Roman" panose="02020603050405020304"/>
          <a:ea typeface="Times New Roman" panose="02020603050405020304"/>
          <a:cs typeface="Times New Roman" panose="02020603050405020304"/>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Times New Roman" panose="02020603050405020304"/>
          <a:ea typeface="Times New Roman" panose="02020603050405020304"/>
          <a:cs typeface="Times New Roman" panose="02020603050405020304"/>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Times New Roman" panose="02020603050405020304"/>
          <a:ea typeface="Times New Roman" panose="02020603050405020304"/>
          <a:cs typeface="Times New Roman" panose="02020603050405020304"/>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Times New Roman" panose="02020603050405020304"/>
          <a:ea typeface="Times New Roman" panose="02020603050405020304"/>
          <a:cs typeface="Times New Roman" panose="02020603050405020304"/>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Times New Roman" panose="02020603050405020304"/>
          <a:ea typeface="Times New Roman" panose="02020603050405020304"/>
          <a:cs typeface="Times New Roman" panose="02020603050405020304"/>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Times New Roman" panose="02020603050405020304"/>
          <a:ea typeface="Times New Roman" panose="02020603050405020304"/>
          <a:cs typeface="Times New Roman" panose="02020603050405020304"/>
        </a:defRPr>
      </a:lvl9pPr>
    </p:bodyStyle>
    <p:otherStyle>
      <a:defPPr>
        <a:defRPr lang="en-US"/>
      </a:defPPr>
      <a:lvl1pPr marL="0" algn="l" defTabSz="457200" rtl="0" eaLnBrk="1" latinLnBrk="0" hangingPunct="1">
        <a:defRPr sz="1800" kern="1200">
          <a:solidFill>
            <a:schemeClr val="tx1"/>
          </a:solidFill>
          <a:latin typeface="Times New Roman" panose="02020603050405020304"/>
          <a:ea typeface="Times New Roman" panose="02020603050405020304"/>
          <a:cs typeface="Times New Roman" panose="02020603050405020304"/>
        </a:defRPr>
      </a:lvl1pPr>
      <a:lvl2pPr marL="457200" algn="l" defTabSz="457200" rtl="0" eaLnBrk="1" latinLnBrk="0" hangingPunct="1">
        <a:defRPr sz="1800" kern="1200">
          <a:solidFill>
            <a:schemeClr val="tx1"/>
          </a:solidFill>
          <a:latin typeface="Times New Roman" panose="02020603050405020304"/>
          <a:ea typeface="Times New Roman" panose="02020603050405020304"/>
          <a:cs typeface="Times New Roman" panose="02020603050405020304"/>
        </a:defRPr>
      </a:lvl2pPr>
      <a:lvl3pPr marL="914400" algn="l" defTabSz="457200" rtl="0" eaLnBrk="1" latinLnBrk="0" hangingPunct="1">
        <a:defRPr sz="1800" kern="1200">
          <a:solidFill>
            <a:schemeClr val="tx1"/>
          </a:solidFill>
          <a:latin typeface="Times New Roman" panose="02020603050405020304"/>
          <a:ea typeface="Times New Roman" panose="02020603050405020304"/>
          <a:cs typeface="Times New Roman" panose="02020603050405020304"/>
        </a:defRPr>
      </a:lvl3pPr>
      <a:lvl4pPr marL="1371600" algn="l" defTabSz="457200" rtl="0" eaLnBrk="1" latinLnBrk="0" hangingPunct="1">
        <a:defRPr sz="1800" kern="1200">
          <a:solidFill>
            <a:schemeClr val="tx1"/>
          </a:solidFill>
          <a:latin typeface="Times New Roman" panose="02020603050405020304"/>
          <a:ea typeface="Times New Roman" panose="02020603050405020304"/>
          <a:cs typeface="Times New Roman" panose="02020603050405020304"/>
        </a:defRPr>
      </a:lvl4pPr>
      <a:lvl5pPr marL="1828800" algn="l" defTabSz="457200" rtl="0" eaLnBrk="1" latinLnBrk="0" hangingPunct="1">
        <a:defRPr sz="1800" kern="1200">
          <a:solidFill>
            <a:schemeClr val="tx1"/>
          </a:solidFill>
          <a:latin typeface="Times New Roman" panose="02020603050405020304"/>
          <a:ea typeface="Times New Roman" panose="02020603050405020304"/>
          <a:cs typeface="Times New Roman" panose="02020603050405020304"/>
        </a:defRPr>
      </a:lvl5pPr>
      <a:lvl6pPr marL="2286000" algn="l" defTabSz="457200" rtl="0" eaLnBrk="1" latinLnBrk="0" hangingPunct="1">
        <a:defRPr sz="1800" kern="1200">
          <a:solidFill>
            <a:schemeClr val="tx1"/>
          </a:solidFill>
          <a:latin typeface="Times New Roman" panose="02020603050405020304"/>
          <a:ea typeface="Times New Roman" panose="02020603050405020304"/>
          <a:cs typeface="Times New Roman" panose="02020603050405020304"/>
        </a:defRPr>
      </a:lvl6pPr>
      <a:lvl7pPr marL="2743200" algn="l" defTabSz="457200" rtl="0" eaLnBrk="1" latinLnBrk="0" hangingPunct="1">
        <a:defRPr sz="1800" kern="1200">
          <a:solidFill>
            <a:schemeClr val="tx1"/>
          </a:solidFill>
          <a:latin typeface="Times New Roman" panose="02020603050405020304"/>
          <a:ea typeface="Times New Roman" panose="02020603050405020304"/>
          <a:cs typeface="Times New Roman" panose="02020603050405020304"/>
        </a:defRPr>
      </a:lvl7pPr>
      <a:lvl8pPr marL="3200400" algn="l" defTabSz="457200" rtl="0" eaLnBrk="1" latinLnBrk="0" hangingPunct="1">
        <a:defRPr sz="1800" kern="1200">
          <a:solidFill>
            <a:schemeClr val="tx1"/>
          </a:solidFill>
          <a:latin typeface="Times New Roman" panose="02020603050405020304"/>
          <a:ea typeface="Times New Roman" panose="02020603050405020304"/>
          <a:cs typeface="Times New Roman" panose="02020603050405020304"/>
        </a:defRPr>
      </a:lvl8pPr>
      <a:lvl9pPr marL="3657600" algn="l" defTabSz="457200" rtl="0" eaLnBrk="1" latinLnBrk="0" hangingPunct="1">
        <a:defRPr sz="1800" kern="1200">
          <a:solidFill>
            <a:schemeClr val="tx1"/>
          </a:solidFill>
          <a:latin typeface="Times New Roman" panose="02020603050405020304"/>
          <a:ea typeface="Times New Roman" panose="02020603050405020304"/>
          <a:cs typeface="Times New Roman" panose="020206030504050203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ottomRule"/>
          <p:cNvSpPr/>
          <p:nvPr/>
        </p:nvSpPr>
        <p:spPr>
          <a:xfrm>
            <a:off x="342900" y="4695825"/>
            <a:ext cx="8458200" cy="19050"/>
          </a:xfrm>
          <a:prstGeom prst="rect">
            <a:avLst/>
          </a:prstGeom>
          <a:solidFill>
            <a:srgbClr val="174994"/>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2" name="HeaderBand"/>
          <p:cNvSpPr/>
          <p:nvPr/>
        </p:nvSpPr>
        <p:spPr>
          <a:xfrm>
            <a:off x="0" y="0"/>
            <a:ext cx="9144000" cy="523875"/>
          </a:xfrm>
          <a:prstGeom prst="rect">
            <a:avLst/>
          </a:prstGeom>
          <a:solidFill>
            <a:srgbClr val="174994"/>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102" name="MainTitle"/>
          <p:cNvSpPr txBox="1"/>
          <p:nvPr/>
        </p:nvSpPr>
        <p:spPr>
          <a:xfrm>
            <a:off x="482600" y="1092200"/>
            <a:ext cx="8178800" cy="1092200"/>
          </a:xfrm>
          <a:prstGeom prst="rect">
            <a:avLst/>
          </a:prstGeom>
          <a:noFill/>
          <a:ln>
            <a:noFill/>
          </a:ln>
        </p:spPr>
        <p:txBody>
          <a:bodyPr wrap="square" lIns="0" tIns="0" rIns="0" bIns="0" anchor="ctr"/>
          <a:lstStyle/>
          <a:p>
            <a:pPr algn="ctr">
              <a:lnSpc>
                <a:spcPct val="110000"/>
              </a:lnSpc>
            </a:pPr>
            <a:r>
              <a:rPr lang="en-US" sz="3000" b="1">
                <a:solidFill>
                  <a:srgbClr val="1F4E8C"/>
                </a:solidFill>
                <a:latin typeface="Times New Roman" panose="02020603050405020304" pitchFamily="18" charset="0"/>
                <a:cs typeface="Times New Roman" panose="02020603050405020304" pitchFamily="18" charset="0"/>
                <a:sym typeface="Times New Roman" panose="02020603050405020304" pitchFamily="18" charset="0"/>
              </a:rPr>
              <a:t>Energy regression:
CrossAttention vs range-based baselines</a:t>
            </a:r>
            <a:endParaRPr lang="en-US" sz="3000" b="1" dirty="0">
              <a:solidFill>
                <a:srgbClr val="1F4E8C"/>
              </a:solidFill>
              <a:latin typeface="Times New Roman" panose="02020603050405020304" pitchFamily="18" charset="0"/>
              <a:cs typeface="Times New Roman" panose="02020603050405020304" pitchFamily="18" charset="0"/>
              <a:sym typeface="Times New Roman" panose="02020603050405020304" pitchFamily="18" charset="0"/>
            </a:endParaRPr>
          </a:p>
        </p:txBody>
      </p:sp>
      <p:cxnSp>
        <p:nvCxnSpPr>
          <p:cNvPr id="103" name="CenterRule"/>
          <p:cNvCxnSpPr/>
          <p:nvPr/>
        </p:nvCxnSpPr>
        <p:spPr>
          <a:xfrm>
            <a:off x="3505200" y="2362200"/>
            <a:ext cx="2133600" cy="0"/>
          </a:xfrm>
          <a:prstGeom prst="line">
            <a:avLst/>
          </a:prstGeom>
          <a:ln w="19050">
            <a:solidFill>
              <a:srgbClr val="1F4E79"/>
            </a:solidFill>
          </a:ln>
        </p:spPr>
      </p:cxnSp>
      <p:sp>
        <p:nvSpPr>
          <p:cNvPr id="110" name="Stat110Num"/>
          <p:cNvSpPr txBox="1"/>
          <p:nvPr/>
        </p:nvSpPr>
        <p:spPr>
          <a:xfrm>
            <a:off x="762000" y="3365500"/>
            <a:ext cx="2540000" cy="635000"/>
          </a:xfrm>
          <a:prstGeom prst="rect">
            <a:avLst/>
          </a:prstGeom>
          <a:noFill/>
          <a:ln>
            <a:noFill/>
          </a:ln>
        </p:spPr>
        <p:txBody>
          <a:bodyPr wrap="square" lIns="0" tIns="0" rIns="0" bIns="0" anchor="ctr"/>
          <a:lstStyle/>
          <a:p>
            <a:pPr algn="ctr"/>
            <a:r>
              <a:rPr lang="en-US" sz="3200" b="1" dirty="0">
                <a:solidFill>
                  <a:srgbClr val="1F4E8C"/>
                </a:solidFill>
                <a:latin typeface="Times New Roman" panose="02020603050405020304" pitchFamily="18" charset="0"/>
                <a:cs typeface="Times New Roman" panose="02020603050405020304" pitchFamily="18" charset="0"/>
                <a:sym typeface="Times New Roman" panose="02020603050405020304" pitchFamily="18" charset="0"/>
              </a:rPr>
              <a:t>0.0188</a:t>
            </a:r>
          </a:p>
        </p:txBody>
      </p:sp>
      <p:sp>
        <p:nvSpPr>
          <p:cNvPr id="111" name="Stat110Lbl"/>
          <p:cNvSpPr txBox="1"/>
          <p:nvPr/>
        </p:nvSpPr>
        <p:spPr>
          <a:xfrm>
            <a:off x="762000" y="4064000"/>
            <a:ext cx="2540000" cy="381000"/>
          </a:xfrm>
          <a:prstGeom prst="rect">
            <a:avLst/>
          </a:prstGeom>
          <a:noFill/>
          <a:ln>
            <a:noFill/>
          </a:ln>
        </p:spPr>
        <p:txBody>
          <a:bodyPr wrap="square" lIns="0" tIns="0" rIns="0" bIns="0" anchor="t"/>
          <a:lstStyle/>
          <a:p>
            <a:pPr algn="ctr"/>
            <a:r>
              <a:rPr lang="en-US" sz="1200" dirty="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rPr>
              <a:t>CrossAttention RMSE (MeV)</a:t>
            </a:r>
          </a:p>
        </p:txBody>
      </p:sp>
      <p:sp>
        <p:nvSpPr>
          <p:cNvPr id="120" name="Stat120Num"/>
          <p:cNvSpPr txBox="1"/>
          <p:nvPr/>
        </p:nvSpPr>
        <p:spPr>
          <a:xfrm>
            <a:off x="3302000" y="3365500"/>
            <a:ext cx="2540000" cy="635000"/>
          </a:xfrm>
          <a:prstGeom prst="rect">
            <a:avLst/>
          </a:prstGeom>
          <a:noFill/>
          <a:ln>
            <a:noFill/>
          </a:ln>
        </p:spPr>
        <p:txBody>
          <a:bodyPr wrap="square" lIns="0" tIns="0" rIns="0" bIns="0" anchor="ctr"/>
          <a:lstStyle/>
          <a:p>
            <a:pPr algn="ctr"/>
            <a:r>
              <a:rPr lang="en-US" sz="3200" b="1" dirty="0">
                <a:solidFill>
                  <a:srgbClr val="1F4E8C"/>
                </a:solidFill>
                <a:latin typeface="Times New Roman" panose="02020603050405020304" pitchFamily="18" charset="0"/>
                <a:cs typeface="Times New Roman" panose="02020603050405020304" pitchFamily="18" charset="0"/>
                <a:sym typeface="Times New Roman" panose="02020603050405020304" pitchFamily="18" charset="0"/>
              </a:rPr>
              <a:t>18%</a:t>
            </a:r>
          </a:p>
        </p:txBody>
      </p:sp>
      <p:sp>
        <p:nvSpPr>
          <p:cNvPr id="121" name="Stat120Lbl"/>
          <p:cNvSpPr txBox="1"/>
          <p:nvPr/>
        </p:nvSpPr>
        <p:spPr>
          <a:xfrm>
            <a:off x="3302000" y="4064000"/>
            <a:ext cx="2540000" cy="381000"/>
          </a:xfrm>
          <a:prstGeom prst="rect">
            <a:avLst/>
          </a:prstGeom>
          <a:noFill/>
          <a:ln>
            <a:noFill/>
          </a:ln>
        </p:spPr>
        <p:txBody>
          <a:bodyPr wrap="square" lIns="0" tIns="0" rIns="0" bIns="0" anchor="t"/>
          <a:lstStyle/>
          <a:p>
            <a:pPr algn="ctr"/>
            <a:r>
              <a:rPr lang="en-US" sz="1200" dirty="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rPr>
              <a:t>lower RMSE than ResNet</a:t>
            </a:r>
          </a:p>
        </p:txBody>
      </p:sp>
      <p:sp>
        <p:nvSpPr>
          <p:cNvPr id="130" name="Stat130Num"/>
          <p:cNvSpPr txBox="1"/>
          <p:nvPr/>
        </p:nvSpPr>
        <p:spPr>
          <a:xfrm>
            <a:off x="5842000" y="3365500"/>
            <a:ext cx="2540000" cy="635000"/>
          </a:xfrm>
          <a:prstGeom prst="rect">
            <a:avLst/>
          </a:prstGeom>
          <a:noFill/>
          <a:ln>
            <a:noFill/>
          </a:ln>
        </p:spPr>
        <p:txBody>
          <a:bodyPr wrap="square" lIns="0" tIns="0" rIns="0" bIns="0" anchor="ctr"/>
          <a:lstStyle/>
          <a:p>
            <a:pPr algn="ctr"/>
            <a:r>
              <a:rPr lang="en-US" sz="3200" b="1" dirty="0">
                <a:solidFill>
                  <a:srgbClr val="1F4E8C"/>
                </a:solidFill>
                <a:latin typeface="Times New Roman" panose="02020603050405020304" pitchFamily="18" charset="0"/>
                <a:cs typeface="Times New Roman" panose="02020603050405020304" pitchFamily="18" charset="0"/>
                <a:sym typeface="Times New Roman" panose="02020603050405020304" pitchFamily="18" charset="0"/>
              </a:rPr>
              <a:t>5</a:t>
            </a:r>
          </a:p>
        </p:txBody>
      </p:sp>
      <p:sp>
        <p:nvSpPr>
          <p:cNvPr id="131" name="Stat130Lbl"/>
          <p:cNvSpPr txBox="1"/>
          <p:nvPr/>
        </p:nvSpPr>
        <p:spPr>
          <a:xfrm>
            <a:off x="5842000" y="4064000"/>
            <a:ext cx="2540000" cy="381000"/>
          </a:xfrm>
          <a:prstGeom prst="rect">
            <a:avLst/>
          </a:prstGeom>
          <a:noFill/>
          <a:ln>
            <a:noFill/>
          </a:ln>
        </p:spPr>
        <p:txBody>
          <a:bodyPr wrap="square" lIns="0" tIns="0" rIns="0" bIns="0" anchor="t"/>
          <a:lstStyle/>
          <a:p>
            <a:pPr algn="ctr"/>
            <a:r>
              <a:rPr lang="en-US" sz="1200" dirty="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rPr>
              <a:t>methods compared</a:t>
            </a:r>
          </a:p>
        </p:txBody>
      </p:sp>
      <p:cxnSp>
        <p:nvCxnSpPr>
          <p:cNvPr id="140" name="FooterRule"/>
          <p:cNvCxnSpPr/>
          <p:nvPr/>
        </p:nvCxnSpPr>
        <p:spPr>
          <a:xfrm>
            <a:off x="457200" y="4660900"/>
            <a:ext cx="8229600" cy="0"/>
          </a:xfrm>
          <a:prstGeom prst="line">
            <a:avLst/>
          </a:prstGeom>
          <a:ln w="12700">
            <a:solidFill>
              <a:srgbClr val="1F4E79"/>
            </a:solidFill>
          </a:ln>
        </p:spPr>
      </p:cxnSp>
      <p:sp>
        <p:nvSpPr>
          <p:cNvPr id="141" name="Footer"/>
          <p:cNvSpPr txBox="1"/>
          <p:nvPr/>
        </p:nvSpPr>
        <p:spPr>
          <a:xfrm>
            <a:off x="457200" y="4826000"/>
            <a:ext cx="6858000" cy="228600"/>
          </a:xfrm>
          <a:prstGeom prst="rect">
            <a:avLst/>
          </a:prstGeom>
          <a:noFill/>
          <a:ln>
            <a:noFill/>
          </a:ln>
        </p:spPr>
        <p:txBody>
          <a:bodyPr wrap="square" lIns="0" tIns="0" rIns="0" bIns="0" anchor="t"/>
          <a:lstStyle/>
          <a:p>
            <a:pPr algn="l"/>
            <a:r>
              <a:rPr lang="en-US" sz="100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rPr>
              <a:t>Energy regression</a:t>
            </a:r>
            <a:endParaRPr lang="en-US" sz="1000" dirty="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3" name="HeaderTitle"/>
          <p:cNvSpPr txBox="1"/>
          <p:nvPr/>
        </p:nvSpPr>
        <p:spPr>
          <a:xfrm>
            <a:off x="476250" y="76200"/>
            <a:ext cx="8191500" cy="415544"/>
          </a:xfrm>
          <a:prstGeom prst="rect">
            <a:avLst/>
          </a:prstGeom>
          <a:noFill/>
          <a:ln>
            <a:noFill/>
          </a:ln>
        </p:spPr>
        <p:txBody>
          <a:bodyPr vertOverflow="overflow" vert="horz" wrap="square" rtlCol="0" anchor="t">
            <a:noAutofit/>
          </a:bodyPr>
          <a:lstStyle/>
          <a:p>
            <a:pPr algn="l">
              <a:buNone/>
            </a:pPr>
            <a:r>
              <a:rPr lang="en-US" sz="2100" b="1">
                <a:solidFill>
                  <a:srgbClr val="FFFFFF"/>
                </a:solidFill>
                <a:latin typeface="Times New Roman" panose="02020603050405020304" pitchFamily="18" charset="0"/>
                <a:cs typeface="Times New Roman" panose="02020603050405020304" pitchFamily="18" charset="0"/>
                <a:sym typeface="Times New Roman" panose="02020603050405020304" pitchFamily="18" charset="0"/>
              </a:rPr>
              <a:t>Energy regression: CrossAttention vs range-based baselines</a:t>
            </a:r>
            <a:endParaRPr lang="en-US" sz="2100" b="1" dirty="0">
              <a:solidFill>
                <a:srgbClr val="FFFFFF"/>
              </a:solidFill>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5" name="PageNum"/>
          <p:cNvSpPr txBox="1"/>
          <p:nvPr/>
        </p:nvSpPr>
        <p:spPr>
          <a:xfrm>
            <a:off x="8324850" y="4800600"/>
            <a:ext cx="685800" cy="228600"/>
          </a:xfrm>
          <a:prstGeom prst="rect">
            <a:avLst/>
          </a:prstGeom>
          <a:noFill/>
          <a:ln>
            <a:noFill/>
          </a:ln>
        </p:spPr>
        <p:txBody>
          <a:bodyPr vertOverflow="overflow" vert="horz" wrap="none" rtlCol="0" anchor="t">
            <a:noAutofit/>
          </a:bodyPr>
          <a:lstStyle/>
          <a:p>
            <a:pPr algn="ctr">
              <a:defRPr sz="750">
                <a:solidFill>
                  <a:srgbClr val="5E6B73"/>
                </a:solidFill>
                <a:latin typeface="Aptos"/>
              </a:defRPr>
            </a:pPr>
            <a:r>
              <a:rPr lang="en-US" sz="75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rPr>
              <a:t>1 / 17</a:t>
            </a:r>
            <a:endParaRPr sz="75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6" name="TitleSubtitle"/>
          <p:cNvSpPr txBox="1"/>
          <p:nvPr/>
        </p:nvSpPr>
        <p:spPr>
          <a:xfrm>
            <a:off x="914400" y="2514600"/>
            <a:ext cx="7315200" cy="523220"/>
          </a:xfrm>
          <a:prstGeom prst="rect">
            <a:avLst/>
          </a:prstGeom>
          <a:noFill/>
        </p:spPr>
        <p:txBody>
          <a:bodyPr vert="horz" rtlCol="0">
            <a:spAutoFit/>
          </a:bodyPr>
          <a:lstStyle/>
          <a:p>
            <a:pPr algn="ctr"/>
            <a:r>
              <a:rPr lang="en-US" sz="1400" i="1">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rPr>
              <a:t>Same MATE simulated events; direct CNN energy regression compared with range-to-energy reconstruction.</a:t>
            </a:r>
          </a:p>
        </p:txBody>
      </p:sp>
    </p:spTree>
    <p:extLst>
      <p:ext uri="{BB962C8B-B14F-4D97-AF65-F5344CB8AC3E}">
        <p14:creationId xmlns:p14="http://schemas.microsoft.com/office/powerpoint/2010/main" val="13220338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BottomRule"/>
          <p:cNvSpPr/>
          <p:nvPr/>
        </p:nvSpPr>
        <p:spPr>
          <a:xfrm>
            <a:off x="342900" y="4695825"/>
            <a:ext cx="8458200" cy="19050"/>
          </a:xfrm>
          <a:prstGeom prst="rect">
            <a:avLst/>
          </a:prstGeom>
          <a:solidFill>
            <a:srgbClr val="174994"/>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32" name="HeaderBand"/>
          <p:cNvSpPr/>
          <p:nvPr/>
        </p:nvSpPr>
        <p:spPr>
          <a:xfrm>
            <a:off x="0" y="0"/>
            <a:ext cx="9144000" cy="523875"/>
          </a:xfrm>
          <a:prstGeom prst="rect">
            <a:avLst/>
          </a:prstGeom>
          <a:solidFill>
            <a:srgbClr val="174994"/>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29" name="Footer"/>
          <p:cNvSpPr txBox="1"/>
          <p:nvPr/>
        </p:nvSpPr>
        <p:spPr>
          <a:xfrm>
            <a:off x="457200" y="4826000"/>
            <a:ext cx="6858000" cy="228600"/>
          </a:xfrm>
          <a:prstGeom prst="rect">
            <a:avLst/>
          </a:prstGeom>
          <a:noFill/>
        </p:spPr>
        <p:txBody>
          <a:bodyPr vertOverflow="overflow" vert="horz" wrap="square" rtlCol="0" anchor="t">
            <a:noAutofit/>
          </a:bodyPr>
          <a:lstStyle/>
          <a:p>
            <a:pPr algn="l"/>
            <a:r>
              <a:rPr lang="en-US" sz="100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rPr>
              <a:t>Energy regression</a:t>
            </a:r>
            <a:endParaRPr lang="en-US" sz="1000" dirty="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33" name="HeaderTitle"/>
          <p:cNvSpPr txBox="1"/>
          <p:nvPr/>
        </p:nvSpPr>
        <p:spPr>
          <a:xfrm>
            <a:off x="476250" y="76200"/>
            <a:ext cx="8191500" cy="415544"/>
          </a:xfrm>
          <a:prstGeom prst="rect">
            <a:avLst/>
          </a:prstGeom>
          <a:noFill/>
          <a:ln>
            <a:noFill/>
          </a:ln>
        </p:spPr>
        <p:txBody>
          <a:bodyPr vertOverflow="overflow" vert="horz" wrap="square" rtlCol="0" anchor="t">
            <a:noAutofit/>
          </a:bodyPr>
          <a:lstStyle/>
          <a:p>
            <a:pPr algn="l">
              <a:buNone/>
            </a:pPr>
            <a:r>
              <a:rPr lang="en-US" sz="2100" b="1">
                <a:solidFill>
                  <a:srgbClr val="FFFFFF"/>
                </a:solidFill>
                <a:latin typeface="Times New Roman" panose="02020603050405020304" pitchFamily="18" charset="0"/>
                <a:cs typeface="Times New Roman" panose="02020603050405020304" pitchFamily="18" charset="0"/>
                <a:sym typeface="Times New Roman" panose="02020603050405020304" pitchFamily="18" charset="0"/>
              </a:rPr>
              <a:t>Experiment setup: common image input, two regression routes</a:t>
            </a:r>
            <a:endParaRPr lang="en-US" sz="2100" b="1" dirty="0">
              <a:solidFill>
                <a:srgbClr val="FFFFFF"/>
              </a:solidFill>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35" name="PageNum"/>
          <p:cNvSpPr txBox="1"/>
          <p:nvPr/>
        </p:nvSpPr>
        <p:spPr>
          <a:xfrm>
            <a:off x="8324850" y="4800600"/>
            <a:ext cx="685800" cy="228600"/>
          </a:xfrm>
          <a:prstGeom prst="rect">
            <a:avLst/>
          </a:prstGeom>
          <a:noFill/>
          <a:ln>
            <a:noFill/>
          </a:ln>
        </p:spPr>
        <p:txBody>
          <a:bodyPr vertOverflow="overflow" vert="horz" wrap="none" rtlCol="0" anchor="t">
            <a:noAutofit/>
          </a:bodyPr>
          <a:lstStyle/>
          <a:p>
            <a:pPr algn="ctr">
              <a:defRPr sz="750">
                <a:solidFill>
                  <a:srgbClr val="5E6B73"/>
                </a:solidFill>
                <a:latin typeface="Aptos"/>
              </a:defRPr>
            </a:pPr>
            <a:r>
              <a:rPr lang="en-US" sz="75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rPr>
              <a:t>2 / 17</a:t>
            </a:r>
            <a:endParaRPr sz="75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2" name="Rectangle 1">
            <a:extLst>
              <a:ext uri="{FF2B5EF4-FFF2-40B4-BE49-F238E27FC236}">
                <a16:creationId xmlns:a16="http://schemas.microsoft.com/office/drawing/2014/main" id="{3BB4A592-916D-DF83-E3B6-CA08B3F8D44D}"/>
              </a:ext>
            </a:extLst>
          </p:cNvPr>
          <p:cNvSpPr/>
          <p:nvPr/>
        </p:nvSpPr>
        <p:spPr>
          <a:xfrm>
            <a:off x="457200" y="1441450"/>
            <a:ext cx="3657600" cy="2673350"/>
          </a:xfrm>
          <a:prstGeom prst="rect">
            <a:avLst/>
          </a:prstGeom>
          <a:noFill/>
          <a:ln w="12700" cap="flat" cmpd="sng" algn="ctr">
            <a:solidFill>
              <a:srgbClr val="BBBBBB"/>
            </a:solid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3" name="Oval 2">
            <a:extLst>
              <a:ext uri="{FF2B5EF4-FFF2-40B4-BE49-F238E27FC236}">
                <a16:creationId xmlns:a16="http://schemas.microsoft.com/office/drawing/2014/main" id="{82053F0C-D1CC-463C-FE14-1B5B57256BA3}"/>
              </a:ext>
            </a:extLst>
          </p:cNvPr>
          <p:cNvSpPr/>
          <p:nvPr/>
        </p:nvSpPr>
        <p:spPr>
          <a:xfrm>
            <a:off x="704851" y="2535324"/>
            <a:ext cx="382270" cy="420430"/>
          </a:xfrm>
          <a:prstGeom prst="ellipse">
            <a:avLst/>
          </a:prstGeom>
          <a:solidFill>
            <a:srgbClr val="1F3A5F"/>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4" name="TextBox 3">
            <a:extLst>
              <a:ext uri="{FF2B5EF4-FFF2-40B4-BE49-F238E27FC236}">
                <a16:creationId xmlns:a16="http://schemas.microsoft.com/office/drawing/2014/main" id="{B7AB3D68-F391-1C86-C810-6162B06F4BDC}"/>
              </a:ext>
            </a:extLst>
          </p:cNvPr>
          <p:cNvSpPr txBox="1"/>
          <p:nvPr/>
        </p:nvSpPr>
        <p:spPr>
          <a:xfrm>
            <a:off x="558800" y="2965450"/>
            <a:ext cx="1016000" cy="203200"/>
          </a:xfrm>
          <a:prstGeom prst="rect">
            <a:avLst/>
          </a:prstGeom>
          <a:noFill/>
        </p:spPr>
        <p:txBody>
          <a:bodyPr vertOverflow="overflow" vert="horz" wrap="square" rtlCol="0" anchor="t">
            <a:noAutofit/>
          </a:bodyPr>
          <a:lstStyle/>
          <a:p>
            <a:pPr algn="l"/>
            <a:r>
              <a:rPr lang="el-GR" sz="1100">
                <a:solidFill>
                  <a:srgbClr val="888888"/>
                </a:solidFill>
                <a:latin typeface="Times New Roman"/>
                <a:cs typeface="Times New Roman"/>
              </a:rPr>
              <a:t>alpha </a:t>
            </a:r>
            <a:r>
              <a:rPr lang="en-US" sz="1100">
                <a:solidFill>
                  <a:srgbClr val="888888"/>
                </a:solidFill>
                <a:latin typeface="Times New Roman"/>
                <a:cs typeface="Times New Roman"/>
              </a:rPr>
              <a:t>source</a:t>
            </a:r>
          </a:p>
        </p:txBody>
      </p:sp>
      <p:sp>
        <p:nvSpPr>
          <p:cNvPr id="5" name="Rectangle 4">
            <a:extLst>
              <a:ext uri="{FF2B5EF4-FFF2-40B4-BE49-F238E27FC236}">
                <a16:creationId xmlns:a16="http://schemas.microsoft.com/office/drawing/2014/main" id="{E1ADAD91-FF79-0265-8CCA-5E1802799D41}"/>
              </a:ext>
            </a:extLst>
          </p:cNvPr>
          <p:cNvSpPr/>
          <p:nvPr/>
        </p:nvSpPr>
        <p:spPr>
          <a:xfrm rot="-1129483">
            <a:off x="951651" y="2247900"/>
            <a:ext cx="1571412" cy="25400"/>
          </a:xfrm>
          <a:prstGeom prst="rect">
            <a:avLst/>
          </a:prstGeom>
          <a:solidFill>
            <a:srgbClr val="7B9EA8"/>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6" name="TextBox 5">
            <a:extLst>
              <a:ext uri="{FF2B5EF4-FFF2-40B4-BE49-F238E27FC236}">
                <a16:creationId xmlns:a16="http://schemas.microsoft.com/office/drawing/2014/main" id="{3002A660-F399-ECC5-785A-F6823E37B00C}"/>
              </a:ext>
            </a:extLst>
          </p:cNvPr>
          <p:cNvSpPr txBox="1"/>
          <p:nvPr/>
        </p:nvSpPr>
        <p:spPr>
          <a:xfrm>
            <a:off x="2536612" y="1611866"/>
            <a:ext cx="1117600" cy="279400"/>
          </a:xfrm>
          <a:prstGeom prst="rect">
            <a:avLst/>
          </a:prstGeom>
          <a:noFill/>
        </p:spPr>
        <p:txBody>
          <a:bodyPr vertOverflow="overflow" vert="horz" wrap="square" rtlCol="0" anchor="ctr" anchorCtr="0">
            <a:noAutofit/>
          </a:bodyPr>
          <a:lstStyle/>
          <a:p>
            <a:pPr algn="l"/>
            <a:r>
              <a:rPr lang="en-US" b="1">
                <a:solidFill>
                  <a:srgbClr val="7B9EA8"/>
                </a:solidFill>
                <a:latin typeface="Times New Roman"/>
                <a:cs typeface="Times New Roman"/>
              </a:rPr>
              <a:t>E1 = ?  MeV</a:t>
            </a:r>
          </a:p>
        </p:txBody>
      </p:sp>
      <p:sp>
        <p:nvSpPr>
          <p:cNvPr id="7" name="Rectangle 6">
            <a:extLst>
              <a:ext uri="{FF2B5EF4-FFF2-40B4-BE49-F238E27FC236}">
                <a16:creationId xmlns:a16="http://schemas.microsoft.com/office/drawing/2014/main" id="{401182ED-4CF6-256F-2373-D7CAEE5CEFE2}"/>
              </a:ext>
            </a:extLst>
          </p:cNvPr>
          <p:cNvSpPr/>
          <p:nvPr/>
        </p:nvSpPr>
        <p:spPr>
          <a:xfrm rot="107816">
            <a:off x="1081191" y="2774950"/>
            <a:ext cx="1727200" cy="25400"/>
          </a:xfrm>
          <a:prstGeom prst="rect">
            <a:avLst/>
          </a:prstGeom>
          <a:solidFill>
            <a:srgbClr val="C75146"/>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9" name="TextBox 8">
            <a:extLst>
              <a:ext uri="{FF2B5EF4-FFF2-40B4-BE49-F238E27FC236}">
                <a16:creationId xmlns:a16="http://schemas.microsoft.com/office/drawing/2014/main" id="{D7261160-E0B2-FC35-75BC-BAFB8E6F384D}"/>
              </a:ext>
            </a:extLst>
          </p:cNvPr>
          <p:cNvSpPr txBox="1"/>
          <p:nvPr/>
        </p:nvSpPr>
        <p:spPr>
          <a:xfrm>
            <a:off x="2811780" y="2701935"/>
            <a:ext cx="1117600" cy="279400"/>
          </a:xfrm>
          <a:prstGeom prst="rect">
            <a:avLst/>
          </a:prstGeom>
          <a:noFill/>
        </p:spPr>
        <p:txBody>
          <a:bodyPr vertOverflow="overflow" vert="horz" wrap="square" rtlCol="0" anchor="ctr" anchorCtr="0">
            <a:noAutofit/>
          </a:bodyPr>
          <a:lstStyle/>
          <a:p>
            <a:pPr algn="l"/>
            <a:r>
              <a:rPr lang="en-US" b="1" dirty="0">
                <a:solidFill>
                  <a:srgbClr val="C75146"/>
                </a:solidFill>
                <a:latin typeface="Times New Roman"/>
                <a:cs typeface="Times New Roman"/>
              </a:rPr>
              <a:t>E2 = ?  MeV</a:t>
            </a:r>
          </a:p>
        </p:txBody>
      </p:sp>
      <p:sp>
        <p:nvSpPr>
          <p:cNvPr id="12" name="Rectangle 11">
            <a:extLst>
              <a:ext uri="{FF2B5EF4-FFF2-40B4-BE49-F238E27FC236}">
                <a16:creationId xmlns:a16="http://schemas.microsoft.com/office/drawing/2014/main" id="{11EE3B74-C0B5-320C-2B30-CB007E049B7B}"/>
              </a:ext>
            </a:extLst>
          </p:cNvPr>
          <p:cNvSpPr/>
          <p:nvPr/>
        </p:nvSpPr>
        <p:spPr>
          <a:xfrm rot="1278347">
            <a:off x="944880" y="3219450"/>
            <a:ext cx="1456264" cy="25400"/>
          </a:xfrm>
          <a:prstGeom prst="rect">
            <a:avLst/>
          </a:prstGeom>
          <a:solidFill>
            <a:srgbClr val="444444"/>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13" name="TextBox 12">
            <a:extLst>
              <a:ext uri="{FF2B5EF4-FFF2-40B4-BE49-F238E27FC236}">
                <a16:creationId xmlns:a16="http://schemas.microsoft.com/office/drawing/2014/main" id="{4365F4CB-75F8-6212-70D6-9513AD6FD9ED}"/>
              </a:ext>
            </a:extLst>
          </p:cNvPr>
          <p:cNvSpPr txBox="1"/>
          <p:nvPr/>
        </p:nvSpPr>
        <p:spPr>
          <a:xfrm>
            <a:off x="2394372" y="3624665"/>
            <a:ext cx="1117600" cy="279400"/>
          </a:xfrm>
          <a:prstGeom prst="rect">
            <a:avLst/>
          </a:prstGeom>
          <a:noFill/>
        </p:spPr>
        <p:txBody>
          <a:bodyPr vertOverflow="overflow" vert="horz" wrap="square" rtlCol="0" anchor="ctr" anchorCtr="0">
            <a:noAutofit/>
          </a:bodyPr>
          <a:lstStyle/>
          <a:p>
            <a:pPr algn="l"/>
            <a:r>
              <a:rPr lang="en-US" b="1" dirty="0">
                <a:solidFill>
                  <a:srgbClr val="444444"/>
                </a:solidFill>
                <a:latin typeface="Times New Roman"/>
                <a:cs typeface="Times New Roman"/>
              </a:rPr>
              <a:t>E3 = ?  MeV</a:t>
            </a:r>
          </a:p>
        </p:txBody>
      </p:sp>
      <p:sp>
        <p:nvSpPr>
          <p:cNvPr id="14" name="Subtitle">
            <a:extLst>
              <a:ext uri="{FF2B5EF4-FFF2-40B4-BE49-F238E27FC236}">
                <a16:creationId xmlns:a16="http://schemas.microsoft.com/office/drawing/2014/main" id="{0F2E144D-DA2C-5270-41E5-EB5B5FDA707C}"/>
              </a:ext>
            </a:extLst>
          </p:cNvPr>
          <p:cNvSpPr txBox="1"/>
          <p:nvPr/>
        </p:nvSpPr>
        <p:spPr>
          <a:xfrm>
            <a:off x="457200" y="685200"/>
            <a:ext cx="3657600" cy="508000"/>
          </a:xfrm>
          <a:prstGeom prst="rect">
            <a:avLst/>
          </a:prstGeom>
          <a:noFill/>
        </p:spPr>
        <p:txBody>
          <a:bodyPr vertOverflow="overflow" vert="horz" wrap="square" rtlCol="0" anchor="t">
            <a:noAutofit/>
          </a:bodyPr>
          <a:lstStyle/>
          <a:p>
            <a:pPr marL="171450" indent="-171450" algn="l">
              <a:buFont typeface="Wingdings" panose="05000000000000000000" pitchFamily="2" charset="2"/>
              <a:buChar char="Ø"/>
            </a:pPr>
            <a:r>
              <a:rPr lang="en-US" sz="1200" dirty="0">
                <a:latin typeface="Times New Roman"/>
                <a:cs typeface="Times New Roman"/>
              </a:rPr>
              <a:t>180,000 test events</a:t>
            </a:r>
          </a:p>
          <a:p>
            <a:pPr marL="171450" indent="-171450" algn="l">
              <a:buFont typeface="Wingdings" panose="05000000000000000000" pitchFamily="2" charset="2"/>
              <a:buChar char="Ø"/>
            </a:pPr>
            <a:r>
              <a:rPr lang="en-US" sz="1200" dirty="0">
                <a:latin typeface="Times New Roman"/>
                <a:cs typeface="Times New Roman"/>
              </a:rPr>
              <a:t>1-4 alpha tracks per event </a:t>
            </a:r>
          </a:p>
          <a:p>
            <a:pPr marL="171450" indent="-171450" algn="l">
              <a:buFont typeface="Wingdings" panose="05000000000000000000" pitchFamily="2" charset="2"/>
              <a:buChar char="Ø"/>
            </a:pPr>
            <a:r>
              <a:rPr lang="en-US" sz="1200" dirty="0">
                <a:latin typeface="Times New Roman"/>
                <a:cs typeface="Times New Roman"/>
              </a:rPr>
              <a:t>truth E ~ U[0.3, 4.0] MeV</a:t>
            </a:r>
          </a:p>
        </p:txBody>
      </p:sp>
      <p:sp>
        <p:nvSpPr>
          <p:cNvPr id="15" name="CaptionStrip">
            <a:extLst>
              <a:ext uri="{FF2B5EF4-FFF2-40B4-BE49-F238E27FC236}">
                <a16:creationId xmlns:a16="http://schemas.microsoft.com/office/drawing/2014/main" id="{D857DBAF-E2AB-D5A8-2227-51D46B296C92}"/>
              </a:ext>
            </a:extLst>
          </p:cNvPr>
          <p:cNvSpPr txBox="1"/>
          <p:nvPr/>
        </p:nvSpPr>
        <p:spPr>
          <a:xfrm>
            <a:off x="4457700" y="545073"/>
            <a:ext cx="4343400" cy="558800"/>
          </a:xfrm>
          <a:prstGeom prst="rect">
            <a:avLst/>
          </a:prstGeom>
          <a:noFill/>
        </p:spPr>
        <p:txBody>
          <a:bodyPr vertOverflow="overflow" vert="horz" wrap="square" rtlCol="0" anchor="t">
            <a:noAutofit/>
          </a:bodyPr>
          <a:lstStyle/>
          <a:p>
            <a:pPr algn="l"/>
            <a:r>
              <a:rPr lang="en-US" sz="1050" dirty="0">
                <a:latin typeface="Times New Roman"/>
                <a:cs typeface="Times New Roman"/>
              </a:rPr>
              <a:t>Five methods compared on the same image: </a:t>
            </a:r>
          </a:p>
          <a:p>
            <a:pPr marL="171450" indent="-171450" algn="l">
              <a:buFont typeface="Wingdings" panose="05000000000000000000" pitchFamily="2" charset="2"/>
              <a:buChar char="Ø"/>
            </a:pPr>
            <a:r>
              <a:rPr lang="en-US" sz="1050" dirty="0">
                <a:latin typeface="Times New Roman"/>
                <a:cs typeface="Times New Roman"/>
              </a:rPr>
              <a:t>Cross-Attention and </a:t>
            </a:r>
            <a:r>
              <a:rPr lang="en-US" sz="1050" dirty="0" err="1">
                <a:latin typeface="Times New Roman"/>
                <a:cs typeface="Times New Roman"/>
              </a:rPr>
              <a:t>ResNet</a:t>
            </a:r>
            <a:r>
              <a:rPr lang="en-US" sz="1050" dirty="0">
                <a:latin typeface="Times New Roman"/>
                <a:cs typeface="Times New Roman"/>
              </a:rPr>
              <a:t> predict E directly (without reconstructing tracks at all)</a:t>
            </a:r>
          </a:p>
          <a:p>
            <a:pPr marL="171450" indent="-171450" algn="l">
              <a:buFont typeface="Wingdings" panose="05000000000000000000" pitchFamily="2" charset="2"/>
              <a:buChar char="Ø"/>
            </a:pPr>
            <a:r>
              <a:rPr lang="en-US" sz="1050" dirty="0">
                <a:latin typeface="Times New Roman"/>
                <a:cs typeface="Times New Roman"/>
              </a:rPr>
              <a:t>RANSAC, Hough, and Hierarchical Clustering reconstruct the track first, then convert range to energy via SRIM</a:t>
            </a:r>
            <a:r>
              <a:rPr lang="en-US" sz="1050" i="1" dirty="0">
                <a:solidFill>
                  <a:srgbClr val="555555"/>
                </a:solidFill>
                <a:latin typeface="Times New Roman"/>
                <a:cs typeface="Times New Roman"/>
              </a:rPr>
              <a:t>.</a:t>
            </a:r>
          </a:p>
          <a:p>
            <a:pPr marL="171450" indent="-171450" algn="l">
              <a:buFont typeface="Wingdings" panose="05000000000000000000" pitchFamily="2" charset="2"/>
              <a:buChar char="Ø"/>
            </a:pPr>
            <a:r>
              <a:rPr lang="en-US" sz="1050" b="1" i="1" dirty="0">
                <a:solidFill>
                  <a:srgbClr val="C00000"/>
                </a:solidFill>
                <a:latin typeface="Times New Roman"/>
                <a:cs typeface="Times New Roman"/>
              </a:rPr>
              <a:t>Objective: To compare the performance of CNNs with that of  traditional algorithms(RANSAC, Hough, and Hierarchical Clustering)</a:t>
            </a:r>
          </a:p>
        </p:txBody>
      </p:sp>
      <p:sp>
        <p:nvSpPr>
          <p:cNvPr id="16" name="SchemBox300">
            <a:extLst>
              <a:ext uri="{FF2B5EF4-FFF2-40B4-BE49-F238E27FC236}">
                <a16:creationId xmlns:a16="http://schemas.microsoft.com/office/drawing/2014/main" id="{703113D1-CDB4-F770-4FB8-269A9E221CD3}"/>
              </a:ext>
            </a:extLst>
          </p:cNvPr>
          <p:cNvSpPr/>
          <p:nvPr/>
        </p:nvSpPr>
        <p:spPr>
          <a:xfrm>
            <a:off x="4914900" y="1809750"/>
            <a:ext cx="3556000" cy="352425"/>
          </a:xfrm>
          <a:prstGeom prst="rect">
            <a:avLst/>
          </a:prstGeom>
          <a:solidFill>
            <a:srgbClr val="E8EEF7"/>
          </a:solidFill>
          <a:ln w="9525">
            <a:solidFill>
              <a:srgbClr val="1F3A5F"/>
            </a:solidFill>
          </a:ln>
        </p:spPr>
        <p:txBody>
          <a:bodyPr wrap="square" lIns="36000" tIns="18000" rIns="36000" bIns="18000" anchor="ctr"/>
          <a:lstStyle/>
          <a:p>
            <a:pPr algn="ctr">
              <a:buNone/>
            </a:pPr>
            <a:r>
              <a:rPr lang="en-US" sz="1000" b="1" dirty="0">
                <a:solidFill>
                  <a:srgbClr val="1F3A5F"/>
                </a:solidFill>
                <a:latin typeface="Times New Roman"/>
                <a:cs typeface="Times New Roman"/>
              </a:rPr>
              <a:t>GAP + flatten  (B, 512)</a:t>
            </a:r>
          </a:p>
          <a:p>
            <a:pPr algn="ctr">
              <a:buNone/>
            </a:pPr>
            <a:r>
              <a:rPr lang="en-US" sz="750" i="1" dirty="0">
                <a:solidFill>
                  <a:srgbClr val="1F3A5F"/>
                </a:solidFill>
                <a:latin typeface="Times New Roman"/>
                <a:cs typeface="Times New Roman"/>
              </a:rPr>
              <a:t>Mod. ResNet-18: conv1=3x3 s1, no maxpool; layer4 -&gt; (B,512,10,6)</a:t>
            </a:r>
          </a:p>
        </p:txBody>
      </p:sp>
      <p:sp>
        <p:nvSpPr>
          <p:cNvPr id="17" name="Arrow301">
            <a:extLst>
              <a:ext uri="{FF2B5EF4-FFF2-40B4-BE49-F238E27FC236}">
                <a16:creationId xmlns:a16="http://schemas.microsoft.com/office/drawing/2014/main" id="{20404C57-42C2-9C96-E24D-E8B3209F18F6}"/>
              </a:ext>
            </a:extLst>
          </p:cNvPr>
          <p:cNvSpPr/>
          <p:nvPr/>
        </p:nvSpPr>
        <p:spPr>
          <a:xfrm>
            <a:off x="6642100" y="2168525"/>
            <a:ext cx="101600" cy="101600"/>
          </a:xfrm>
          <a:prstGeom prst="downArrow">
            <a:avLst>
              <a:gd name="adj1" fmla="val 50000"/>
              <a:gd name="adj2" fmla="val 50000"/>
            </a:avLst>
          </a:prstGeom>
          <a:solidFill>
            <a:srgbClr val="1F3A5F"/>
          </a:solidFill>
          <a:ln>
            <a:noFill/>
          </a:ln>
        </p:spPr>
        <p:txBody>
          <a:bodyPr/>
          <a:lstStyle/>
          <a:p>
            <a:endParaRPr lang="en-US"/>
          </a:p>
        </p:txBody>
      </p:sp>
      <p:sp>
        <p:nvSpPr>
          <p:cNvPr id="18" name="SchemBox302">
            <a:extLst>
              <a:ext uri="{FF2B5EF4-FFF2-40B4-BE49-F238E27FC236}">
                <a16:creationId xmlns:a16="http://schemas.microsoft.com/office/drawing/2014/main" id="{E1757E0A-3765-D70B-EF7A-AB7FA9C4CFC0}"/>
              </a:ext>
            </a:extLst>
          </p:cNvPr>
          <p:cNvSpPr/>
          <p:nvPr/>
        </p:nvSpPr>
        <p:spPr>
          <a:xfrm>
            <a:off x="4914900" y="2276475"/>
            <a:ext cx="3556000" cy="355600"/>
          </a:xfrm>
          <a:prstGeom prst="rect">
            <a:avLst/>
          </a:prstGeom>
          <a:solidFill>
            <a:srgbClr val="E8EEF7"/>
          </a:solidFill>
          <a:ln w="9525">
            <a:solidFill>
              <a:srgbClr val="1F3A5F"/>
            </a:solidFill>
          </a:ln>
        </p:spPr>
        <p:txBody>
          <a:bodyPr wrap="square" lIns="36000" tIns="18000" rIns="36000" bIns="18000" anchor="ctr"/>
          <a:lstStyle/>
          <a:p>
            <a:pPr algn="ctr">
              <a:buNone/>
            </a:pPr>
            <a:r>
              <a:rPr lang="en-US" sz="1000" b="1" dirty="0">
                <a:solidFill>
                  <a:srgbClr val="1F3A5F"/>
                </a:solidFill>
                <a:latin typeface="Times New Roman"/>
                <a:cs typeface="Times New Roman"/>
              </a:rPr>
              <a:t>Linear (512 -&gt; 128)</a:t>
            </a:r>
          </a:p>
          <a:p>
            <a:pPr algn="ctr">
              <a:buNone/>
            </a:pPr>
            <a:r>
              <a:rPr lang="en-US" sz="750" i="1" dirty="0">
                <a:solidFill>
                  <a:srgbClr val="1F3A5F"/>
                </a:solidFill>
                <a:latin typeface="Times New Roman"/>
                <a:cs typeface="Times New Roman"/>
              </a:rPr>
              <a:t>classifier_hidden_dim from config</a:t>
            </a:r>
          </a:p>
        </p:txBody>
      </p:sp>
      <p:sp>
        <p:nvSpPr>
          <p:cNvPr id="19" name="Arrow303">
            <a:extLst>
              <a:ext uri="{FF2B5EF4-FFF2-40B4-BE49-F238E27FC236}">
                <a16:creationId xmlns:a16="http://schemas.microsoft.com/office/drawing/2014/main" id="{1E66E836-B5DA-3D9C-634C-0F82C75A95A1}"/>
              </a:ext>
            </a:extLst>
          </p:cNvPr>
          <p:cNvSpPr/>
          <p:nvPr/>
        </p:nvSpPr>
        <p:spPr>
          <a:xfrm>
            <a:off x="6642100" y="2635250"/>
            <a:ext cx="101600" cy="111125"/>
          </a:xfrm>
          <a:prstGeom prst="downArrow">
            <a:avLst>
              <a:gd name="adj1" fmla="val 50000"/>
              <a:gd name="adj2" fmla="val 50000"/>
            </a:avLst>
          </a:prstGeom>
          <a:solidFill>
            <a:srgbClr val="1F3A5F"/>
          </a:solidFill>
          <a:ln>
            <a:noFill/>
          </a:ln>
        </p:spPr>
        <p:txBody>
          <a:bodyPr/>
          <a:lstStyle/>
          <a:p>
            <a:endParaRPr lang="en-US"/>
          </a:p>
        </p:txBody>
      </p:sp>
      <p:sp>
        <p:nvSpPr>
          <p:cNvPr id="26" name="SchemBox304">
            <a:extLst>
              <a:ext uri="{FF2B5EF4-FFF2-40B4-BE49-F238E27FC236}">
                <a16:creationId xmlns:a16="http://schemas.microsoft.com/office/drawing/2014/main" id="{3EC2B4A8-566B-AFF5-2805-9050D0A3FBBF}"/>
              </a:ext>
            </a:extLst>
          </p:cNvPr>
          <p:cNvSpPr/>
          <p:nvPr/>
        </p:nvSpPr>
        <p:spPr>
          <a:xfrm>
            <a:off x="5676900" y="2749550"/>
            <a:ext cx="2032000" cy="254000"/>
          </a:xfrm>
          <a:prstGeom prst="rect">
            <a:avLst/>
          </a:prstGeom>
          <a:solidFill>
            <a:srgbClr val="E8EEF7"/>
          </a:solidFill>
          <a:ln w="9525">
            <a:solidFill>
              <a:srgbClr val="1F3A5F"/>
            </a:solidFill>
          </a:ln>
        </p:spPr>
        <p:txBody>
          <a:bodyPr wrap="square" lIns="36000" tIns="18000" rIns="36000" bIns="18000" anchor="ctr"/>
          <a:lstStyle/>
          <a:p>
            <a:pPr algn="ctr">
              <a:buNone/>
            </a:pPr>
            <a:r>
              <a:rPr lang="en-US" sz="1000" b="1" dirty="0" err="1">
                <a:solidFill>
                  <a:srgbClr val="1F3A5F"/>
                </a:solidFill>
                <a:latin typeface="Times New Roman"/>
                <a:cs typeface="Times New Roman"/>
              </a:rPr>
              <a:t>ReLU</a:t>
            </a:r>
            <a:endParaRPr lang="en-US" sz="1000" b="1" dirty="0">
              <a:solidFill>
                <a:srgbClr val="1F3A5F"/>
              </a:solidFill>
              <a:latin typeface="Times New Roman"/>
              <a:cs typeface="Times New Roman"/>
            </a:endParaRPr>
          </a:p>
        </p:txBody>
      </p:sp>
      <p:sp>
        <p:nvSpPr>
          <p:cNvPr id="28" name="Arrow305">
            <a:extLst>
              <a:ext uri="{FF2B5EF4-FFF2-40B4-BE49-F238E27FC236}">
                <a16:creationId xmlns:a16="http://schemas.microsoft.com/office/drawing/2014/main" id="{5525E66D-877A-868A-8736-005E725489A3}"/>
              </a:ext>
            </a:extLst>
          </p:cNvPr>
          <p:cNvSpPr/>
          <p:nvPr/>
        </p:nvSpPr>
        <p:spPr>
          <a:xfrm>
            <a:off x="6642100" y="3009900"/>
            <a:ext cx="101600" cy="114300"/>
          </a:xfrm>
          <a:prstGeom prst="downArrow">
            <a:avLst>
              <a:gd name="adj1" fmla="val 50000"/>
              <a:gd name="adj2" fmla="val 50000"/>
            </a:avLst>
          </a:prstGeom>
          <a:solidFill>
            <a:srgbClr val="1F3A5F"/>
          </a:solidFill>
          <a:ln>
            <a:noFill/>
          </a:ln>
        </p:spPr>
        <p:txBody>
          <a:bodyPr/>
          <a:lstStyle/>
          <a:p>
            <a:endParaRPr lang="en-US"/>
          </a:p>
        </p:txBody>
      </p:sp>
      <p:sp>
        <p:nvSpPr>
          <p:cNvPr id="30" name="SchemBox306">
            <a:extLst>
              <a:ext uri="{FF2B5EF4-FFF2-40B4-BE49-F238E27FC236}">
                <a16:creationId xmlns:a16="http://schemas.microsoft.com/office/drawing/2014/main" id="{3FB7510F-10D1-EF18-044C-FC1F4D0E8E4F}"/>
              </a:ext>
            </a:extLst>
          </p:cNvPr>
          <p:cNvSpPr/>
          <p:nvPr/>
        </p:nvSpPr>
        <p:spPr>
          <a:xfrm>
            <a:off x="4914900" y="3124200"/>
            <a:ext cx="3556000" cy="355600"/>
          </a:xfrm>
          <a:prstGeom prst="rect">
            <a:avLst/>
          </a:prstGeom>
          <a:solidFill>
            <a:srgbClr val="E8EEF7"/>
          </a:solidFill>
          <a:ln w="9525">
            <a:solidFill>
              <a:srgbClr val="1F3A5F"/>
            </a:solidFill>
            <a:prstDash val="dash"/>
          </a:ln>
        </p:spPr>
        <p:txBody>
          <a:bodyPr wrap="square" lIns="36000" tIns="18000" rIns="36000" bIns="18000" anchor="ctr"/>
          <a:lstStyle/>
          <a:p>
            <a:pPr algn="ctr">
              <a:buNone/>
            </a:pPr>
            <a:r>
              <a:rPr lang="en-US" sz="1000" b="1" dirty="0">
                <a:solidFill>
                  <a:srgbClr val="1F3A5F"/>
                </a:solidFill>
                <a:latin typeface="Times New Roman"/>
                <a:cs typeface="Times New Roman"/>
              </a:rPr>
              <a:t>Dropout (p = 0.05)</a:t>
            </a:r>
          </a:p>
          <a:p>
            <a:pPr algn="ctr">
              <a:buNone/>
            </a:pPr>
            <a:r>
              <a:rPr lang="en-US" sz="750" i="1" dirty="0">
                <a:solidFill>
                  <a:srgbClr val="1F3A5F"/>
                </a:solidFill>
                <a:latin typeface="Times New Roman"/>
                <a:cs typeface="Times New Roman"/>
              </a:rPr>
              <a:t>training mode only</a:t>
            </a:r>
          </a:p>
        </p:txBody>
      </p:sp>
      <p:sp>
        <p:nvSpPr>
          <p:cNvPr id="36" name="Arrow307">
            <a:extLst>
              <a:ext uri="{FF2B5EF4-FFF2-40B4-BE49-F238E27FC236}">
                <a16:creationId xmlns:a16="http://schemas.microsoft.com/office/drawing/2014/main" id="{C5FAA7E8-DE36-A30D-1F77-6B3411C97F23}"/>
              </a:ext>
            </a:extLst>
          </p:cNvPr>
          <p:cNvSpPr/>
          <p:nvPr/>
        </p:nvSpPr>
        <p:spPr>
          <a:xfrm>
            <a:off x="6642100" y="3482975"/>
            <a:ext cx="101600" cy="104775"/>
          </a:xfrm>
          <a:prstGeom prst="downArrow">
            <a:avLst>
              <a:gd name="adj1" fmla="val 50000"/>
              <a:gd name="adj2" fmla="val 50000"/>
            </a:avLst>
          </a:prstGeom>
          <a:solidFill>
            <a:srgbClr val="1F3A5F"/>
          </a:solidFill>
          <a:ln>
            <a:noFill/>
          </a:ln>
        </p:spPr>
        <p:txBody>
          <a:bodyPr/>
          <a:lstStyle/>
          <a:p>
            <a:endParaRPr lang="en-US"/>
          </a:p>
        </p:txBody>
      </p:sp>
      <p:sp>
        <p:nvSpPr>
          <p:cNvPr id="37" name="SchemBox308">
            <a:extLst>
              <a:ext uri="{FF2B5EF4-FFF2-40B4-BE49-F238E27FC236}">
                <a16:creationId xmlns:a16="http://schemas.microsoft.com/office/drawing/2014/main" id="{945115B6-714D-4C33-66CC-CE0B77C6FACC}"/>
              </a:ext>
            </a:extLst>
          </p:cNvPr>
          <p:cNvSpPr/>
          <p:nvPr/>
        </p:nvSpPr>
        <p:spPr>
          <a:xfrm>
            <a:off x="4914900" y="3590925"/>
            <a:ext cx="3556000" cy="355600"/>
          </a:xfrm>
          <a:prstGeom prst="rect">
            <a:avLst/>
          </a:prstGeom>
          <a:solidFill>
            <a:srgbClr val="E8EEF7"/>
          </a:solidFill>
          <a:ln w="9525">
            <a:solidFill>
              <a:srgbClr val="1F3A5F"/>
            </a:solidFill>
          </a:ln>
        </p:spPr>
        <p:txBody>
          <a:bodyPr wrap="square" lIns="36000" tIns="18000" rIns="36000" bIns="18000" anchor="ctr"/>
          <a:lstStyle/>
          <a:p>
            <a:pPr algn="ctr">
              <a:buNone/>
            </a:pPr>
            <a:r>
              <a:rPr lang="en-US" sz="1000" b="1" dirty="0">
                <a:solidFill>
                  <a:srgbClr val="1F3A5F"/>
                </a:solidFill>
                <a:latin typeface="Times New Roman"/>
                <a:cs typeface="Times New Roman"/>
              </a:rPr>
              <a:t>Linear (128 -&gt; 4)</a:t>
            </a:r>
          </a:p>
          <a:p>
            <a:pPr algn="ctr">
              <a:buNone/>
            </a:pPr>
            <a:r>
              <a:rPr lang="en-US" sz="750" i="1" dirty="0">
                <a:solidFill>
                  <a:srgbClr val="1F3A5F"/>
                </a:solidFill>
                <a:latin typeface="Times New Roman"/>
                <a:cs typeface="Times New Roman"/>
              </a:rPr>
              <a:t>num_classes = 4 per-track energy slots</a:t>
            </a:r>
          </a:p>
        </p:txBody>
      </p:sp>
      <p:sp>
        <p:nvSpPr>
          <p:cNvPr id="38" name="Arrow309">
            <a:extLst>
              <a:ext uri="{FF2B5EF4-FFF2-40B4-BE49-F238E27FC236}">
                <a16:creationId xmlns:a16="http://schemas.microsoft.com/office/drawing/2014/main" id="{BB3B65FC-02D9-08C1-63E0-232A61EE393C}"/>
              </a:ext>
            </a:extLst>
          </p:cNvPr>
          <p:cNvSpPr/>
          <p:nvPr/>
        </p:nvSpPr>
        <p:spPr>
          <a:xfrm>
            <a:off x="6642100" y="3946525"/>
            <a:ext cx="101600" cy="111125"/>
          </a:xfrm>
          <a:prstGeom prst="downArrow">
            <a:avLst>
              <a:gd name="adj1" fmla="val 50000"/>
              <a:gd name="adj2" fmla="val 50000"/>
            </a:avLst>
          </a:prstGeom>
          <a:solidFill>
            <a:srgbClr val="1F3A5F"/>
          </a:solidFill>
          <a:ln>
            <a:noFill/>
          </a:ln>
        </p:spPr>
        <p:txBody>
          <a:bodyPr/>
          <a:lstStyle/>
          <a:p>
            <a:endParaRPr lang="en-US"/>
          </a:p>
        </p:txBody>
      </p:sp>
      <p:sp>
        <p:nvSpPr>
          <p:cNvPr id="39" name="SchemBox310">
            <a:extLst>
              <a:ext uri="{FF2B5EF4-FFF2-40B4-BE49-F238E27FC236}">
                <a16:creationId xmlns:a16="http://schemas.microsoft.com/office/drawing/2014/main" id="{B7E3D9BC-9CC9-AEF1-B316-0CA4ED39A2E2}"/>
              </a:ext>
            </a:extLst>
          </p:cNvPr>
          <p:cNvSpPr/>
          <p:nvPr/>
        </p:nvSpPr>
        <p:spPr>
          <a:xfrm>
            <a:off x="4914900" y="4064000"/>
            <a:ext cx="831850" cy="406400"/>
          </a:xfrm>
          <a:prstGeom prst="rect">
            <a:avLst/>
          </a:prstGeom>
          <a:solidFill>
            <a:srgbClr val="FFFFFF"/>
          </a:solidFill>
          <a:ln w="9525">
            <a:solidFill>
              <a:srgbClr val="7B9EA8"/>
            </a:solidFill>
          </a:ln>
        </p:spPr>
        <p:txBody>
          <a:bodyPr wrap="square" lIns="36000" tIns="18000" rIns="36000" bIns="18000" anchor="ctr"/>
          <a:lstStyle/>
          <a:p>
            <a:pPr algn="ctr">
              <a:buNone/>
            </a:pPr>
            <a:r>
              <a:rPr lang="en-US" sz="950" b="1" dirty="0">
                <a:solidFill>
                  <a:srgbClr val="1F3A5F"/>
                </a:solidFill>
                <a:latin typeface="Times New Roman"/>
                <a:cs typeface="Times New Roman"/>
              </a:rPr>
              <a:t>out_0</a:t>
            </a:r>
          </a:p>
          <a:p>
            <a:pPr algn="ctr">
              <a:buNone/>
            </a:pPr>
            <a:r>
              <a:rPr lang="en-US" sz="700" i="1" dirty="0">
                <a:solidFill>
                  <a:srgbClr val="1F3A5F"/>
                </a:solidFill>
                <a:latin typeface="Times New Roman"/>
                <a:cs typeface="Times New Roman"/>
              </a:rPr>
              <a:t>0.23 MeV</a:t>
            </a:r>
          </a:p>
        </p:txBody>
      </p:sp>
      <p:sp>
        <p:nvSpPr>
          <p:cNvPr id="40" name="SchemBox311">
            <a:extLst>
              <a:ext uri="{FF2B5EF4-FFF2-40B4-BE49-F238E27FC236}">
                <a16:creationId xmlns:a16="http://schemas.microsoft.com/office/drawing/2014/main" id="{4C403EE3-12A0-8FF4-D0F8-568D544F64EE}"/>
              </a:ext>
            </a:extLst>
          </p:cNvPr>
          <p:cNvSpPr/>
          <p:nvPr/>
        </p:nvSpPr>
        <p:spPr>
          <a:xfrm>
            <a:off x="5822950" y="4064000"/>
            <a:ext cx="831850" cy="406400"/>
          </a:xfrm>
          <a:prstGeom prst="rect">
            <a:avLst/>
          </a:prstGeom>
          <a:solidFill>
            <a:srgbClr val="FFFFFF"/>
          </a:solidFill>
          <a:ln w="9525">
            <a:solidFill>
              <a:srgbClr val="7B9EA8"/>
            </a:solidFill>
          </a:ln>
        </p:spPr>
        <p:txBody>
          <a:bodyPr wrap="square" lIns="36000" tIns="18000" rIns="36000" bIns="18000" anchor="ctr"/>
          <a:lstStyle/>
          <a:p>
            <a:pPr algn="ctr">
              <a:buNone/>
            </a:pPr>
            <a:r>
              <a:rPr lang="en-US" sz="950" b="1" dirty="0">
                <a:solidFill>
                  <a:srgbClr val="1F3A5F"/>
                </a:solidFill>
                <a:latin typeface="Times New Roman"/>
                <a:cs typeface="Times New Roman"/>
              </a:rPr>
              <a:t>out_1</a:t>
            </a:r>
          </a:p>
          <a:p>
            <a:pPr algn="ctr">
              <a:buNone/>
            </a:pPr>
            <a:r>
              <a:rPr lang="en-US" sz="700" i="1" dirty="0">
                <a:solidFill>
                  <a:srgbClr val="1F3A5F"/>
                </a:solidFill>
                <a:latin typeface="Times New Roman"/>
                <a:cs typeface="Times New Roman"/>
              </a:rPr>
              <a:t>0.25 MeV</a:t>
            </a:r>
          </a:p>
        </p:txBody>
      </p:sp>
      <p:sp>
        <p:nvSpPr>
          <p:cNvPr id="41" name="SchemBox312">
            <a:extLst>
              <a:ext uri="{FF2B5EF4-FFF2-40B4-BE49-F238E27FC236}">
                <a16:creationId xmlns:a16="http://schemas.microsoft.com/office/drawing/2014/main" id="{C776AF6F-3BC4-250C-5035-21271C5FF602}"/>
              </a:ext>
            </a:extLst>
          </p:cNvPr>
          <p:cNvSpPr/>
          <p:nvPr/>
        </p:nvSpPr>
        <p:spPr>
          <a:xfrm>
            <a:off x="6731000" y="4064000"/>
            <a:ext cx="831850" cy="406400"/>
          </a:xfrm>
          <a:prstGeom prst="rect">
            <a:avLst/>
          </a:prstGeom>
          <a:solidFill>
            <a:srgbClr val="FFFFFF"/>
          </a:solidFill>
          <a:ln w="9525">
            <a:solidFill>
              <a:srgbClr val="7B9EA8"/>
            </a:solidFill>
          </a:ln>
        </p:spPr>
        <p:txBody>
          <a:bodyPr wrap="square" lIns="36000" tIns="18000" rIns="36000" bIns="18000" anchor="ctr"/>
          <a:lstStyle/>
          <a:p>
            <a:pPr algn="ctr">
              <a:buNone/>
            </a:pPr>
            <a:r>
              <a:rPr lang="en-US" sz="950" b="1" dirty="0">
                <a:solidFill>
                  <a:srgbClr val="1F3A5F"/>
                </a:solidFill>
                <a:latin typeface="Times New Roman"/>
                <a:cs typeface="Times New Roman"/>
              </a:rPr>
              <a:t>out_2</a:t>
            </a:r>
          </a:p>
          <a:p>
            <a:pPr algn="ctr">
              <a:buNone/>
            </a:pPr>
            <a:r>
              <a:rPr lang="en-US" sz="700" i="1" dirty="0">
                <a:solidFill>
                  <a:srgbClr val="1F3A5F"/>
                </a:solidFill>
                <a:latin typeface="Times New Roman"/>
                <a:cs typeface="Times New Roman"/>
              </a:rPr>
              <a:t>-1.39 MeV</a:t>
            </a:r>
          </a:p>
        </p:txBody>
      </p:sp>
      <p:sp>
        <p:nvSpPr>
          <p:cNvPr id="42" name="SchemBox313">
            <a:extLst>
              <a:ext uri="{FF2B5EF4-FFF2-40B4-BE49-F238E27FC236}">
                <a16:creationId xmlns:a16="http://schemas.microsoft.com/office/drawing/2014/main" id="{3870C74E-C212-6529-1106-B02E83FC905B}"/>
              </a:ext>
            </a:extLst>
          </p:cNvPr>
          <p:cNvSpPr/>
          <p:nvPr/>
        </p:nvSpPr>
        <p:spPr>
          <a:xfrm>
            <a:off x="7639050" y="4064000"/>
            <a:ext cx="831850" cy="406400"/>
          </a:xfrm>
          <a:prstGeom prst="rect">
            <a:avLst/>
          </a:prstGeom>
          <a:solidFill>
            <a:srgbClr val="FFFFFF"/>
          </a:solidFill>
          <a:ln w="9525">
            <a:solidFill>
              <a:srgbClr val="7B9EA8"/>
            </a:solidFill>
          </a:ln>
        </p:spPr>
        <p:txBody>
          <a:bodyPr wrap="square" lIns="36000" tIns="18000" rIns="36000" bIns="18000" anchor="ctr"/>
          <a:lstStyle/>
          <a:p>
            <a:pPr algn="ctr">
              <a:buNone/>
            </a:pPr>
            <a:r>
              <a:rPr lang="en-US" sz="950" b="1" dirty="0">
                <a:solidFill>
                  <a:srgbClr val="1F3A5F"/>
                </a:solidFill>
                <a:latin typeface="Times New Roman"/>
                <a:cs typeface="Times New Roman"/>
              </a:rPr>
              <a:t>out_3</a:t>
            </a:r>
          </a:p>
          <a:p>
            <a:pPr algn="ctr">
              <a:buNone/>
            </a:pPr>
            <a:r>
              <a:rPr lang="en-US" sz="700" i="1" dirty="0">
                <a:solidFill>
                  <a:srgbClr val="1F3A5F"/>
                </a:solidFill>
                <a:latin typeface="Times New Roman"/>
                <a:cs typeface="Times New Roman"/>
              </a:rPr>
              <a:t>1.38 MeV</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ottomRule"/>
          <p:cNvSpPr/>
          <p:nvPr/>
        </p:nvSpPr>
        <p:spPr>
          <a:xfrm>
            <a:off x="342900" y="4695825"/>
            <a:ext cx="8458200" cy="19050"/>
          </a:xfrm>
          <a:prstGeom prst="rect">
            <a:avLst/>
          </a:prstGeom>
          <a:solidFill>
            <a:srgbClr val="174994"/>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2" name="HeaderBand"/>
          <p:cNvSpPr/>
          <p:nvPr/>
        </p:nvSpPr>
        <p:spPr>
          <a:xfrm>
            <a:off x="0" y="0"/>
            <a:ext cx="9144000" cy="523875"/>
          </a:xfrm>
          <a:prstGeom prst="rect">
            <a:avLst/>
          </a:prstGeom>
          <a:solidFill>
            <a:srgbClr val="174994"/>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203" name="Footer"/>
          <p:cNvSpPr txBox="1"/>
          <p:nvPr/>
        </p:nvSpPr>
        <p:spPr>
          <a:xfrm>
            <a:off x="457200" y="4826000"/>
            <a:ext cx="6858000" cy="228600"/>
          </a:xfrm>
          <a:prstGeom prst="rect">
            <a:avLst/>
          </a:prstGeom>
          <a:noFill/>
          <a:ln>
            <a:noFill/>
          </a:ln>
        </p:spPr>
        <p:txBody>
          <a:bodyPr wrap="square" lIns="0" tIns="0" rIns="0" bIns="0" anchor="t"/>
          <a:lstStyle/>
          <a:p>
            <a:pPr algn="l"/>
            <a:r>
              <a:rPr lang="en-US" sz="100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rPr>
              <a:t>Energy regression</a:t>
            </a:r>
            <a:endParaRPr lang="en-US" sz="1000" dirty="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3" name="HeaderTitle"/>
          <p:cNvSpPr txBox="1"/>
          <p:nvPr/>
        </p:nvSpPr>
        <p:spPr>
          <a:xfrm>
            <a:off x="476250" y="76200"/>
            <a:ext cx="8191500" cy="415544"/>
          </a:xfrm>
          <a:prstGeom prst="rect">
            <a:avLst/>
          </a:prstGeom>
          <a:noFill/>
          <a:ln>
            <a:noFill/>
          </a:ln>
        </p:spPr>
        <p:txBody>
          <a:bodyPr vertOverflow="overflow" vert="horz" wrap="square" rtlCol="0" anchor="t">
            <a:noAutofit/>
          </a:bodyPr>
          <a:lstStyle/>
          <a:p>
            <a:pPr algn="l">
              <a:buNone/>
            </a:pPr>
            <a:r>
              <a:rPr lang="en-US" sz="2100" b="1" dirty="0">
                <a:solidFill>
                  <a:srgbClr val="FFFFFF"/>
                </a:solidFill>
                <a:latin typeface="Times New Roman" panose="02020603050405020304" pitchFamily="18" charset="0"/>
                <a:cs typeface="Times New Roman" panose="02020603050405020304" pitchFamily="18" charset="0"/>
                <a:sym typeface="Times New Roman" panose="02020603050405020304" pitchFamily="18" charset="0"/>
              </a:rPr>
              <a:t>Predicted energy vs truth: visual preview across methods</a:t>
            </a:r>
          </a:p>
        </p:txBody>
      </p:sp>
      <p:sp>
        <p:nvSpPr>
          <p:cNvPr id="6" name="PageNum"/>
          <p:cNvSpPr txBox="1"/>
          <p:nvPr/>
        </p:nvSpPr>
        <p:spPr>
          <a:xfrm>
            <a:off x="8324850" y="4800600"/>
            <a:ext cx="685800" cy="228600"/>
          </a:xfrm>
          <a:prstGeom prst="rect">
            <a:avLst/>
          </a:prstGeom>
          <a:noFill/>
          <a:ln>
            <a:noFill/>
          </a:ln>
        </p:spPr>
        <p:txBody>
          <a:bodyPr vertOverflow="overflow" vert="horz" wrap="none" rtlCol="0" anchor="t">
            <a:noAutofit/>
          </a:bodyPr>
          <a:lstStyle/>
          <a:p>
            <a:pPr algn="ctr">
              <a:defRPr sz="750">
                <a:solidFill>
                  <a:srgbClr val="5E6B73"/>
                </a:solidFill>
                <a:latin typeface="Aptos"/>
              </a:defRPr>
            </a:pPr>
            <a:r>
              <a:rPr lang="en-US" sz="75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rPr>
              <a:t>3 / 17</a:t>
            </a:r>
            <a:endParaRPr sz="75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endParaRPr>
          </a:p>
        </p:txBody>
      </p:sp>
      <p:pic>
        <p:nvPicPr>
          <p:cNvPr id="15" name="Picture 14">
            <a:extLst>
              <a:ext uri="{FF2B5EF4-FFF2-40B4-BE49-F238E27FC236}">
                <a16:creationId xmlns:a16="http://schemas.microsoft.com/office/drawing/2014/main" id="{48069514-2E85-FC61-8CF9-23251424C470}"/>
              </a:ext>
            </a:extLst>
          </p:cNvPr>
          <p:cNvPicPr>
            <a:picLocks/>
          </p:cNvPicPr>
          <p:nvPr/>
        </p:nvPicPr>
        <p:blipFill>
          <a:blip r:embed="rId3"/>
          <a:srcRect t="3646"/>
          <a:stretch>
            <a:fillRect/>
          </a:stretch>
        </p:blipFill>
        <p:spPr>
          <a:xfrm>
            <a:off x="846554" y="567944"/>
            <a:ext cx="6908261" cy="404215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ottomRule"/>
          <p:cNvSpPr/>
          <p:nvPr/>
        </p:nvSpPr>
        <p:spPr>
          <a:xfrm>
            <a:off x="342900" y="4695825"/>
            <a:ext cx="8458200" cy="19050"/>
          </a:xfrm>
          <a:prstGeom prst="rect">
            <a:avLst/>
          </a:prstGeom>
          <a:solidFill>
            <a:srgbClr val="174994"/>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2" name="HeaderBand"/>
          <p:cNvSpPr/>
          <p:nvPr/>
        </p:nvSpPr>
        <p:spPr>
          <a:xfrm>
            <a:off x="0" y="0"/>
            <a:ext cx="9144000" cy="523875"/>
          </a:xfrm>
          <a:prstGeom prst="rect">
            <a:avLst/>
          </a:prstGeom>
          <a:solidFill>
            <a:srgbClr val="174994"/>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203" name="Footer"/>
          <p:cNvSpPr txBox="1"/>
          <p:nvPr/>
        </p:nvSpPr>
        <p:spPr>
          <a:xfrm>
            <a:off x="457200" y="4826000"/>
            <a:ext cx="6858000" cy="228600"/>
          </a:xfrm>
          <a:prstGeom prst="rect">
            <a:avLst/>
          </a:prstGeom>
          <a:noFill/>
          <a:ln>
            <a:noFill/>
          </a:ln>
        </p:spPr>
        <p:txBody>
          <a:bodyPr wrap="square" lIns="0" tIns="0" rIns="0" bIns="0" anchor="t"/>
          <a:lstStyle/>
          <a:p>
            <a:pPr algn="l"/>
            <a:r>
              <a:rPr lang="en-US" sz="100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rPr>
              <a:t>Energy regression</a:t>
            </a:r>
            <a:endParaRPr lang="en-US" sz="1000" dirty="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3" name="HeaderTitle"/>
          <p:cNvSpPr txBox="1"/>
          <p:nvPr/>
        </p:nvSpPr>
        <p:spPr>
          <a:xfrm>
            <a:off x="476250" y="76200"/>
            <a:ext cx="8191500" cy="415544"/>
          </a:xfrm>
          <a:prstGeom prst="rect">
            <a:avLst/>
          </a:prstGeom>
          <a:noFill/>
          <a:ln>
            <a:noFill/>
          </a:ln>
        </p:spPr>
        <p:txBody>
          <a:bodyPr vertOverflow="overflow" vert="horz" wrap="square" rtlCol="0" anchor="t">
            <a:noAutofit/>
          </a:bodyPr>
          <a:lstStyle/>
          <a:p>
            <a:pPr algn="l">
              <a:buNone/>
            </a:pPr>
            <a:r>
              <a:rPr lang="en-US" sz="2100" b="1" dirty="0">
                <a:solidFill>
                  <a:srgbClr val="FFFFFF"/>
                </a:solidFill>
                <a:latin typeface="Times New Roman" panose="02020603050405020304" pitchFamily="18" charset="0"/>
                <a:cs typeface="Times New Roman" panose="02020603050405020304" pitchFamily="18" charset="0"/>
                <a:sym typeface="Times New Roman" panose="02020603050405020304" pitchFamily="18" charset="0"/>
              </a:rPr>
              <a:t>Energy bins - RMSE</a:t>
            </a:r>
          </a:p>
        </p:txBody>
      </p:sp>
      <p:sp>
        <p:nvSpPr>
          <p:cNvPr id="8" name="PageNum"/>
          <p:cNvSpPr txBox="1"/>
          <p:nvPr/>
        </p:nvSpPr>
        <p:spPr>
          <a:xfrm>
            <a:off x="8324850" y="4800600"/>
            <a:ext cx="685800" cy="228600"/>
          </a:xfrm>
          <a:prstGeom prst="rect">
            <a:avLst/>
          </a:prstGeom>
          <a:noFill/>
          <a:ln>
            <a:noFill/>
          </a:ln>
        </p:spPr>
        <p:txBody>
          <a:bodyPr vertOverflow="overflow" vert="horz" wrap="none" rtlCol="0" anchor="t">
            <a:noAutofit/>
          </a:bodyPr>
          <a:lstStyle/>
          <a:p>
            <a:pPr algn="ctr">
              <a:defRPr sz="750">
                <a:solidFill>
                  <a:srgbClr val="5E6B73"/>
                </a:solidFill>
                <a:latin typeface="Aptos"/>
              </a:defRPr>
            </a:pPr>
            <a:r>
              <a:rPr lang="en-US" sz="75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rPr>
              <a:t>4 / 17</a:t>
            </a:r>
            <a:endParaRPr sz="75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endParaRPr>
          </a:p>
        </p:txBody>
      </p:sp>
      <p:pic>
        <p:nvPicPr>
          <p:cNvPr id="11" name="Picture 10">
            <a:extLst>
              <a:ext uri="{FF2B5EF4-FFF2-40B4-BE49-F238E27FC236}">
                <a16:creationId xmlns:a16="http://schemas.microsoft.com/office/drawing/2014/main" id="{8BCA8E57-ED1D-4D43-33F3-1BFC201C8620}"/>
              </a:ext>
            </a:extLst>
          </p:cNvPr>
          <p:cNvPicPr>
            <a:picLocks/>
          </p:cNvPicPr>
          <p:nvPr/>
        </p:nvPicPr>
        <p:blipFill>
          <a:blip r:embed="rId3"/>
          <a:srcRect t="4362"/>
          <a:stretch>
            <a:fillRect/>
          </a:stretch>
        </p:blipFill>
        <p:spPr>
          <a:xfrm>
            <a:off x="445008" y="600075"/>
            <a:ext cx="8324850" cy="406736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A52EAF-3D46-6AA6-85D8-54A3A0E925F9}"/>
            </a:ext>
          </a:extLst>
        </p:cNvPr>
        <p:cNvGrpSpPr/>
        <p:nvPr/>
      </p:nvGrpSpPr>
      <p:grpSpPr>
        <a:xfrm>
          <a:off x="0" y="0"/>
          <a:ext cx="0" cy="0"/>
          <a:chOff x="0" y="0"/>
          <a:chExt cx="0" cy="0"/>
        </a:xfrm>
      </p:grpSpPr>
      <p:sp>
        <p:nvSpPr>
          <p:cNvPr id="4" name="BottomRule">
            <a:extLst>
              <a:ext uri="{FF2B5EF4-FFF2-40B4-BE49-F238E27FC236}">
                <a16:creationId xmlns:a16="http://schemas.microsoft.com/office/drawing/2014/main" id="{345E46BF-1E19-9577-ABD5-168FD53A7426}"/>
              </a:ext>
            </a:extLst>
          </p:cNvPr>
          <p:cNvSpPr/>
          <p:nvPr/>
        </p:nvSpPr>
        <p:spPr>
          <a:xfrm>
            <a:off x="342900" y="4695825"/>
            <a:ext cx="8458200" cy="19050"/>
          </a:xfrm>
          <a:prstGeom prst="rect">
            <a:avLst/>
          </a:prstGeom>
          <a:solidFill>
            <a:srgbClr val="174994"/>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2" name="HeaderBand">
            <a:extLst>
              <a:ext uri="{FF2B5EF4-FFF2-40B4-BE49-F238E27FC236}">
                <a16:creationId xmlns:a16="http://schemas.microsoft.com/office/drawing/2014/main" id="{F8C52E5A-81E7-FA74-D001-62CBE5C64B90}"/>
              </a:ext>
            </a:extLst>
          </p:cNvPr>
          <p:cNvSpPr/>
          <p:nvPr/>
        </p:nvSpPr>
        <p:spPr>
          <a:xfrm>
            <a:off x="0" y="0"/>
            <a:ext cx="9144000" cy="523875"/>
          </a:xfrm>
          <a:prstGeom prst="rect">
            <a:avLst/>
          </a:prstGeom>
          <a:solidFill>
            <a:srgbClr val="174994"/>
          </a:solidFill>
          <a:ln w="9525" cap="flat" cmpd="sng" algn="ctr">
            <a:noFill/>
            <a:prstDash val="solid"/>
          </a:ln>
        </p:spPr>
        <p:style>
          <a:lnRef idx="1">
            <a:schemeClr val="accent1"/>
          </a:lnRef>
          <a:fillRef idx="3">
            <a:schemeClr val="accent1"/>
          </a:fillRef>
          <a:effectRef idx="2">
            <a:schemeClr val="accent1"/>
          </a:effectRef>
          <a:fontRef idx="minor">
            <a:schemeClr val="lt1"/>
          </a:fontRef>
        </p:style>
        <p:txBody>
          <a:bodyPr vertOverflow="clip" horzOverflow="clip" rtlCol="0" anchor="t"/>
          <a:lstStyle/>
          <a:p>
            <a:pPr algn="l"/>
            <a:endParaRPr lang="en-US"/>
          </a:p>
        </p:txBody>
      </p:sp>
      <p:sp>
        <p:nvSpPr>
          <p:cNvPr id="203" name="Footer">
            <a:extLst>
              <a:ext uri="{FF2B5EF4-FFF2-40B4-BE49-F238E27FC236}">
                <a16:creationId xmlns:a16="http://schemas.microsoft.com/office/drawing/2014/main" id="{828E97D6-8E5A-FCA9-5334-3DD141943C99}"/>
              </a:ext>
            </a:extLst>
          </p:cNvPr>
          <p:cNvSpPr txBox="1"/>
          <p:nvPr/>
        </p:nvSpPr>
        <p:spPr>
          <a:xfrm>
            <a:off x="457200" y="4826000"/>
            <a:ext cx="6858000" cy="228600"/>
          </a:xfrm>
          <a:prstGeom prst="rect">
            <a:avLst/>
          </a:prstGeom>
          <a:noFill/>
          <a:ln>
            <a:noFill/>
          </a:ln>
        </p:spPr>
        <p:txBody>
          <a:bodyPr wrap="square" lIns="0" tIns="0" rIns="0" bIns="0" anchor="t"/>
          <a:lstStyle/>
          <a:p>
            <a:pPr algn="l"/>
            <a:r>
              <a:rPr lang="en-US" sz="100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rPr>
              <a:t>Energy regression</a:t>
            </a:r>
            <a:endParaRPr lang="en-US" sz="1000" dirty="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3" name="HeaderTitle">
            <a:extLst>
              <a:ext uri="{FF2B5EF4-FFF2-40B4-BE49-F238E27FC236}">
                <a16:creationId xmlns:a16="http://schemas.microsoft.com/office/drawing/2014/main" id="{009E0D18-6879-02AE-7AAA-A1A14D5279D9}"/>
              </a:ext>
            </a:extLst>
          </p:cNvPr>
          <p:cNvSpPr txBox="1"/>
          <p:nvPr/>
        </p:nvSpPr>
        <p:spPr>
          <a:xfrm>
            <a:off x="476250" y="76200"/>
            <a:ext cx="8191500" cy="415544"/>
          </a:xfrm>
          <a:prstGeom prst="rect">
            <a:avLst/>
          </a:prstGeom>
          <a:noFill/>
          <a:ln>
            <a:noFill/>
          </a:ln>
        </p:spPr>
        <p:txBody>
          <a:bodyPr vertOverflow="overflow" vert="horz" wrap="square" rtlCol="0" anchor="t">
            <a:noAutofit/>
          </a:bodyPr>
          <a:lstStyle/>
          <a:p>
            <a:pPr algn="l">
              <a:buNone/>
            </a:pPr>
            <a:r>
              <a:rPr lang="en-US" sz="2100" b="1" dirty="0">
                <a:solidFill>
                  <a:srgbClr val="FFFFFF"/>
                </a:solidFill>
                <a:latin typeface="Times New Roman" panose="02020603050405020304" pitchFamily="18" charset="0"/>
                <a:cs typeface="Times New Roman" panose="02020603050405020304" pitchFamily="18" charset="0"/>
                <a:sym typeface="Times New Roman" panose="02020603050405020304" pitchFamily="18" charset="0"/>
              </a:rPr>
              <a:t>Energy residuals: per-method distributions across energy bins</a:t>
            </a:r>
          </a:p>
        </p:txBody>
      </p:sp>
      <p:sp>
        <p:nvSpPr>
          <p:cNvPr id="8" name="PageNum">
            <a:extLst>
              <a:ext uri="{FF2B5EF4-FFF2-40B4-BE49-F238E27FC236}">
                <a16:creationId xmlns:a16="http://schemas.microsoft.com/office/drawing/2014/main" id="{413C08E4-BC00-7AB9-B6C8-444A2AAA262E}"/>
              </a:ext>
            </a:extLst>
          </p:cNvPr>
          <p:cNvSpPr txBox="1"/>
          <p:nvPr/>
        </p:nvSpPr>
        <p:spPr>
          <a:xfrm>
            <a:off x="8324850" y="4800600"/>
            <a:ext cx="685800" cy="228600"/>
          </a:xfrm>
          <a:prstGeom prst="rect">
            <a:avLst/>
          </a:prstGeom>
          <a:noFill/>
          <a:ln>
            <a:noFill/>
          </a:ln>
        </p:spPr>
        <p:txBody>
          <a:bodyPr vertOverflow="overflow" vert="horz" wrap="none" rtlCol="0" anchor="t">
            <a:noAutofit/>
          </a:bodyPr>
          <a:lstStyle/>
          <a:p>
            <a:pPr algn="ctr">
              <a:defRPr sz="750">
                <a:solidFill>
                  <a:srgbClr val="5E6B73"/>
                </a:solidFill>
                <a:latin typeface="Aptos"/>
              </a:defRPr>
            </a:pPr>
            <a:r>
              <a:rPr lang="en-US" sz="75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rPr>
              <a:t>5 / 17</a:t>
            </a:r>
            <a:endParaRPr sz="750">
              <a:solidFill>
                <a:srgbClr val="5F6B73"/>
              </a:solidFill>
              <a:latin typeface="Times New Roman" panose="02020603050405020304" pitchFamily="18" charset="0"/>
              <a:cs typeface="Times New Roman" panose="02020603050405020304" pitchFamily="18" charset="0"/>
              <a:sym typeface="Times New Roman" panose="02020603050405020304" pitchFamily="18" charset="0"/>
            </a:endParaRPr>
          </a:p>
        </p:txBody>
      </p:sp>
      <p:pic>
        <p:nvPicPr>
          <p:cNvPr id="6" name="Picture 5">
            <a:extLst>
              <a:ext uri="{FF2B5EF4-FFF2-40B4-BE49-F238E27FC236}">
                <a16:creationId xmlns:a16="http://schemas.microsoft.com/office/drawing/2014/main" id="{4D5FEBDA-30A6-85CA-0FD6-5DC75826EDDB}"/>
              </a:ext>
            </a:extLst>
          </p:cNvPr>
          <p:cNvPicPr>
            <a:picLocks/>
          </p:cNvPicPr>
          <p:nvPr/>
        </p:nvPicPr>
        <p:blipFill>
          <a:blip r:embed="rId3"/>
          <a:srcRect t="3079"/>
          <a:stretch>
            <a:fillRect/>
          </a:stretch>
        </p:blipFill>
        <p:spPr>
          <a:xfrm>
            <a:off x="777221" y="567944"/>
            <a:ext cx="7384418" cy="4042156"/>
          </a:xfrm>
          <a:prstGeom prst="rect">
            <a:avLst/>
          </a:prstGeom>
        </p:spPr>
      </p:pic>
    </p:spTree>
    <p:extLst>
      <p:ext uri="{BB962C8B-B14F-4D97-AF65-F5344CB8AC3E}">
        <p14:creationId xmlns:p14="http://schemas.microsoft.com/office/powerpoint/2010/main" val="3935420119"/>
      </p:ext>
    </p:extLst>
  </p:cSld>
  <p:clrMapOvr>
    <a:masterClrMapping/>
  </p:clrMapOvr>
</p:sld>
</file>

<file path=ppt/theme/theme1.xml><?xml version="1.0" encoding="utf-8"?>
<a:theme xmlns:a="http://schemas.openxmlformats.org/drawingml/2006/main" name="Office Theme [1779258520937]">
  <a:themeElements>
    <a:clrScheme name="Office">
      <a:dk1>
        <a:srgbClr val="000000"/>
      </a:dk1>
      <a:lt1>
        <a:srgbClr val="FFFFFF"/>
      </a:lt1>
      <a:dk2>
        <a:srgbClr val="1F4E79"/>
      </a:dk2>
      <a:lt2>
        <a:srgbClr val="EEECE1"/>
      </a:lt2>
      <a:accent1>
        <a:srgbClr val="1F4E79"/>
      </a:accent1>
      <a:accent2>
        <a:srgbClr val="C00000"/>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Times New Roman"/>
        <a:ea typeface="Times New Roman"/>
        <a:cs typeface="Times New Roman"/>
        <a:font script="Jpan" typeface="Times New Roman"/>
        <a:font script="Hang" typeface="Times New Roman"/>
        <a:font script="Hans" typeface="Times New Roman"/>
        <a:font script="Hant" typeface="Times New Roman"/>
        <a:font script="Arab" typeface="Times New Roman"/>
        <a:font script="Hebr" typeface="Times New Roman"/>
        <a:font script="Thai" typeface="Times New Roman"/>
        <a:font script="Ethi" typeface="Times New Roman"/>
        <a:font script="Beng" typeface="Times New Roman"/>
        <a:font script="Gujr" typeface="Times New Roman"/>
        <a:font script="Khmr" typeface="Times New Roman"/>
        <a:font script="Knda" typeface="Times New Roman"/>
        <a:font script="Guru" typeface="Times New Roman"/>
        <a:font script="Cans" typeface="Times New Roman"/>
        <a:font script="Cher" typeface="Times New Roman"/>
        <a:font script="Yiii" typeface="Times New Roman"/>
        <a:font script="Tibt" typeface="Times New Roman"/>
        <a:font script="Thaa" typeface="Times New Roman"/>
        <a:font script="Deva" typeface="Times New Roman"/>
        <a:font script="Telu" typeface="Times New Roman"/>
        <a:font script="Taml" typeface="Times New Roman"/>
        <a:font script="Syrc" typeface="Times New Roman"/>
        <a:font script="Orya" typeface="Times New Roman"/>
        <a:font script="Mlym" typeface="Times New Roman"/>
        <a:font script="Laoo" typeface="Times New Roman"/>
        <a:font script="Sinh" typeface="Times New Roman"/>
        <a:font script="Mong" typeface="Times New Roman"/>
        <a:font script="Viet" typeface="Times New Roman"/>
        <a:font script="Uigh" typeface="Times New Roman"/>
        <a:font script="Geor" typeface="Times New Roman"/>
      </a:majorFont>
      <a:minorFont>
        <a:latin typeface="Times New Roman"/>
        <a:ea typeface="Times New Roman"/>
        <a:cs typeface="Times New Roman"/>
        <a:font script="Jpan" typeface="Times New Roman"/>
        <a:font script="Hang" typeface="Times New Roman"/>
        <a:font script="Hans" typeface="Times New Roman"/>
        <a:font script="Hant" typeface="Times New Roman"/>
        <a:font script="Arab" typeface="Times New Roman"/>
        <a:font script="Hebr" typeface="Times New Roman"/>
        <a:font script="Thai" typeface="Times New Roman"/>
        <a:font script="Ethi" typeface="Times New Roman"/>
        <a:font script="Beng" typeface="Times New Roman"/>
        <a:font script="Gujr" typeface="Times New Roman"/>
        <a:font script="Khmr" typeface="Times New Roman"/>
        <a:font script="Knda" typeface="Times New Roman"/>
        <a:font script="Guru" typeface="Times New Roman"/>
        <a:font script="Cans" typeface="Times New Roman"/>
        <a:font script="Cher" typeface="Times New Roman"/>
        <a:font script="Yiii" typeface="Times New Roman"/>
        <a:font script="Tibt" typeface="Times New Roman"/>
        <a:font script="Thaa" typeface="Times New Roman"/>
        <a:font script="Deva" typeface="Times New Roman"/>
        <a:font script="Telu" typeface="Times New Roman"/>
        <a:font script="Taml" typeface="Times New Roman"/>
        <a:font script="Syrc" typeface="Times New Roman"/>
        <a:font script="Orya" typeface="Times New Roman"/>
        <a:font script="Mlym" typeface="Times New Roman"/>
        <a:font script="Laoo" typeface="Times New Roman"/>
        <a:font script="Sinh" typeface="Times New Roman"/>
        <a:font script="Mong" typeface="Times New Roman"/>
        <a:font script="Viet" typeface="Times New Roman"/>
        <a:font script="Uigh" typeface="Times New Roman"/>
        <a:font script="Geor" typeface="Times New Roma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46" row="2">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7149B7F6-5860-4488-B40D-90F180201131}">
  <we:reference id="wa200010001" version="1.0.0.1" store="en-US" storeType="OMEX"/>
  <we:alternateReferences>
    <we:reference id="WA200010001" version="1.0.0.1" store="" storeType="OMEX"/>
  </we:alternateReferences>
  <we:properties>
    <we:property name="claude.fileId" value="&quot;2d12da0d-5215-45ea-a035-422835fcf31d&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1502</TotalTime>
  <Words>597</Words>
  <Application>Microsoft Office PowerPoint</Application>
  <PresentationFormat>On-screen Show (16:9)</PresentationFormat>
  <Paragraphs>56</Paragraphs>
  <Slides>5</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Arial</vt:lpstr>
      <vt:lpstr>Calibri</vt:lpstr>
      <vt:lpstr>Times New Roman</vt:lpstr>
      <vt:lpstr>Wingdings</vt:lpstr>
      <vt:lpstr>Office Theme [1779258520937]</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TRK Energy Regression Comparison</dc:title>
  <dc:subject>Advisor update on TRK5/TRK6 energy regression and baselines</dc:subject>
  <dc:creator>Claude Code</dc:creator>
  <dc:description>generated using python-pptx</dc:description>
  <cp:lastModifiedBy>智恒 胡</cp:lastModifiedBy>
  <cp:revision>103</cp:revision>
  <dcterms:created xsi:type="dcterms:W3CDTF">2013-01-27T09:14:00Z</dcterms:created>
  <dcterms:modified xsi:type="dcterms:W3CDTF">2026-06-14T08:35:38Z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2052-12.1.0.26375</vt:lpwstr>
  </property>
  <property fmtid="{D5CDD505-2E9C-101B-9397-08002B2CF9AE}" pid="3" name="ICV">
    <vt:lpwstr>0757AB3A121C4A0DA3E606B7A4919301_12</vt:lpwstr>
  </property>
</Properties>
</file>