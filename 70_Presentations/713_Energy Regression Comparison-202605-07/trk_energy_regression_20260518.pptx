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9"/>
  </p:notesMasterIdLst>
  <p:sldIdLst>
    <p:sldId id="365" r:id="rId2"/>
    <p:sldId id="384" r:id="rId3"/>
    <p:sldId id="379" r:id="rId4"/>
    <p:sldId id="368" r:id="rId5"/>
    <p:sldId id="367" r:id="rId6"/>
    <p:sldId id="371" r:id="rId7"/>
    <p:sldId id="374" r:id="rId8"/>
    <p:sldId id="369" r:id="rId9"/>
    <p:sldId id="370" r:id="rId10"/>
    <p:sldId id="375" r:id="rId11"/>
    <p:sldId id="376" r:id="rId12"/>
    <p:sldId id="377" r:id="rId13"/>
    <p:sldId id="378" r:id="rId14"/>
    <p:sldId id="380" r:id="rId15"/>
    <p:sldId id="381" r:id="rId16"/>
    <p:sldId id="382" r:id="rId17"/>
    <p:sldId id="383" r:id="rId18"/>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94"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457" autoAdjust="0"/>
    <p:restoredTop sz="97528" autoAdjust="0"/>
  </p:normalViewPr>
  <p:slideViewPr>
    <p:cSldViewPr snapToGrid="0" snapToObjects="1" showGuides="1">
      <p:cViewPr varScale="1">
        <p:scale>
          <a:sx n="216" d="100"/>
          <a:sy n="216" d="100"/>
        </p:scale>
        <p:origin x="522" y="180"/>
      </p:cViewPr>
      <p:guideLst>
        <p:guide orient="horz" pos="2194"/>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2026/5/28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a:xfrm>
            <a:off x="685800" y="3886200"/>
            <a:ext cx="7772400" cy="4114800"/>
          </a:xfrm>
          <a:prstGeom prst="rect">
            <a:avLst/>
          </a:prstGeom>
        </p:spPr>
        <p:txBody>
          <a:bodyPr/>
          <a:lstStyle/>
          <a:p>
            <a:r>
              <a:rPr lang="en-US">
                <a:latin typeface="Times New Roman" panose="02020603050405020304" pitchFamily="18" charset="0"/>
                <a:cs typeface="Times New Roman" panose="02020603050405020304" pitchFamily="18" charset="0"/>
                <a:sym typeface="Times New Roman" panose="02020603050405020304" pitchFamily="18" charset="0"/>
              </a:rPr>
              <a:t>This is the compact claim for the advisor: on the current common test split, CrossAttention has the lowest RMSE among the five compared methods. Frame it as physics-motivated energy regression, not as a generic ML victory. The caveat is that this is still the current single-seed/common-split comparison, so the result is strong evidence for this deck, not yet the final multi-seed paper claim.</a:t>
            </a:r>
            <a:endParaRPr>
              <a:latin typeface="Times New Roman" panose="02020603050405020304" pitchFamily="18" charset="0"/>
              <a:cs typeface="Times New Roman" panose="02020603050405020304" pitchFamily="18" charset="0"/>
              <a:sym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a:xfrm>
            <a:off x="685800" y="3886200"/>
            <a:ext cx="7772400" cy="4114800"/>
          </a:xfrm>
          <a:prstGeom prst="rect">
            <a:avLst/>
          </a:prstGeom>
        </p:spPr>
        <p:txBody>
          <a:bodyPr/>
          <a:lstStyle/>
          <a:p>
            <a:r>
              <a:rPr lang="en-US" dirty="0">
                <a:latin typeface="Times New Roman" panose="02020603050405020304" pitchFamily="18" charset="0"/>
                <a:cs typeface="Times New Roman" panose="02020603050405020304" pitchFamily="18" charset="0"/>
                <a:sym typeface="Times New Roman" panose="02020603050405020304" pitchFamily="18" charset="0"/>
              </a:rPr>
              <a:t>I will briefly introduce the context and the configuration of the new experiment, Previously, we conducted classification and regression studies using an isotropic alpha source, in which the number of tracks ranges from 1 to 4. After successfully determine the track multiplicity and angles for each event, the next step is to perform energy regression to figure out the ability boundary of each approach further. To this end, we will compare 5 approaches: three traditional algorithms, namely Hough, RANSAC, and Hierarchical Cluster, and two ML approaches, namely Standard </a:t>
            </a:r>
            <a:r>
              <a:rPr lang="en-US" dirty="0" err="1">
                <a:latin typeface="Times New Roman" panose="02020603050405020304" pitchFamily="18" charset="0"/>
                <a:cs typeface="Times New Roman" panose="02020603050405020304" pitchFamily="18" charset="0"/>
                <a:sym typeface="Times New Roman" panose="02020603050405020304" pitchFamily="18" charset="0"/>
              </a:rPr>
              <a:t>ResNet</a:t>
            </a:r>
            <a:r>
              <a:rPr lang="en-US" dirty="0">
                <a:latin typeface="Times New Roman" panose="02020603050405020304" pitchFamily="18" charset="0"/>
                <a:cs typeface="Times New Roman" panose="02020603050405020304" pitchFamily="18" charset="0"/>
                <a:sym typeface="Times New Roman" panose="02020603050405020304" pitchFamily="18" charset="0"/>
              </a:rPr>
              <a:t> and Cross-Attention </a:t>
            </a:r>
            <a:r>
              <a:rPr lang="en-US" dirty="0" err="1">
                <a:latin typeface="Times New Roman" panose="02020603050405020304" pitchFamily="18" charset="0"/>
                <a:cs typeface="Times New Roman" panose="02020603050405020304" pitchFamily="18" charset="0"/>
                <a:sym typeface="Times New Roman" panose="02020603050405020304" pitchFamily="18" charset="0"/>
              </a:rPr>
              <a:t>ResNet</a:t>
            </a:r>
            <a:r>
              <a:rPr lang="en-US" dirty="0">
                <a:latin typeface="Times New Roman" panose="02020603050405020304" pitchFamily="18" charset="0"/>
                <a:cs typeface="Times New Roman" panose="02020603050405020304" pitchFamily="18" charset="0"/>
                <a:sym typeface="Times New Roman" panose="02020603050405020304" pitchFamily="18" charset="0"/>
              </a:rPr>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a:xfrm>
            <a:off x="685800" y="3886200"/>
            <a:ext cx="7772400" cy="4114800"/>
          </a:xfrm>
          <a:prstGeom prst="rect">
            <a:avLst/>
          </a:prstGeom>
        </p:spPr>
        <p:txBody>
          <a:bodyPr/>
          <a:lstStyle/>
          <a:p>
            <a:r>
              <a:rPr lang="en-US" dirty="0">
                <a:latin typeface="Times New Roman" panose="02020603050405020304" pitchFamily="18" charset="0"/>
                <a:cs typeface="Times New Roman" panose="02020603050405020304" pitchFamily="18" charset="0"/>
                <a:sym typeface="Times New Roman" panose="02020603050405020304" pitchFamily="18" charset="0"/>
              </a:rPr>
              <a:t>Use this as the visual preview before the metric table: the CNN panels stay close to the diagonal, while the range-based baselines show broader scatter and saturation-like structure. Then move to the next slide for the quantitative RMSE, MAE, and missing-track summary.</a:t>
            </a:r>
            <a:endParaRPr dirty="0">
              <a:latin typeface="Times New Roman" panose="02020603050405020304" pitchFamily="18" charset="0"/>
              <a:cs typeface="Times New Roman" panose="02020603050405020304" pitchFamily="18" charset="0"/>
              <a:sym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a:xfrm>
            <a:off x="685800" y="3886200"/>
            <a:ext cx="7772400" cy="4114800"/>
          </a:xfrm>
          <a:prstGeom prst="rect">
            <a:avLst/>
          </a:prstGeom>
        </p:spPr>
        <p:txBody>
          <a:bodyPr/>
          <a:lstStyle/>
          <a:p>
            <a:r>
              <a:rPr lang="en-US" dirty="0">
                <a:latin typeface="Times New Roman" panose="02020603050405020304" pitchFamily="18" charset="0"/>
                <a:cs typeface="Times New Roman" panose="02020603050405020304" pitchFamily="18" charset="0"/>
                <a:sym typeface="Times New Roman" panose="02020603050405020304" pitchFamily="18" charset="0"/>
              </a:rPr>
              <a:t>This checks whether the gain is only an average effect. The energy-binned plot shows </a:t>
            </a:r>
            <a:r>
              <a:rPr lang="en-US" dirty="0" err="1">
                <a:latin typeface="Times New Roman" panose="02020603050405020304" pitchFamily="18" charset="0"/>
                <a:cs typeface="Times New Roman" panose="02020603050405020304" pitchFamily="18" charset="0"/>
                <a:sym typeface="Times New Roman" panose="02020603050405020304" pitchFamily="18" charset="0"/>
              </a:rPr>
              <a:t>CrossAttention</a:t>
            </a:r>
            <a:r>
              <a:rPr lang="en-US" dirty="0">
                <a:latin typeface="Times New Roman" panose="02020603050405020304" pitchFamily="18" charset="0"/>
                <a:cs typeface="Times New Roman" panose="02020603050405020304" pitchFamily="18" charset="0"/>
                <a:sym typeface="Times New Roman" panose="02020603050405020304" pitchFamily="18" charset="0"/>
              </a:rPr>
              <a:t> remaining competitive across bins, with the advantage most visible in the low-energy region. The physics caveat is that high-energy tracks are harder because clipping becomes more frequent.</a:t>
            </a:r>
            <a:endParaRPr dirty="0">
              <a:latin typeface="Times New Roman" panose="02020603050405020304" pitchFamily="18" charset="0"/>
              <a:cs typeface="Times New Roman" panose="02020603050405020304" pitchFamily="18" charset="0"/>
              <a:sym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a:xfrm>
            <a:off x="685800" y="3886200"/>
            <a:ext cx="7772400" cy="4114800"/>
          </a:xfrm>
          <a:prstGeom prst="rect">
            <a:avLst/>
          </a:prstGeom>
        </p:spPr>
        <p:txBody>
          <a:bodyPr/>
          <a:lstStyle/>
          <a:p>
            <a:r>
              <a:rPr lang="en-US">
                <a:latin typeface="Times New Roman" panose="02020603050405020304" pitchFamily="18" charset="0"/>
                <a:cs typeface="Times New Roman" panose="02020603050405020304" pitchFamily="18" charset="0"/>
                <a:sym typeface="Times New Roman" panose="02020603050405020304" pitchFamily="18" charset="0"/>
              </a:rPr>
              <a:t>This is the primary quantitative result. CrossAttention is lower than ResNet by 0.00433 MeV in paired event-RMSE, and both CNNs are far below the range-based baselines on the same 180k test events. Keep the claim precise: the table reports locally generated test results under the current locked protocol.</a:t>
            </a:r>
            <a:endParaRPr>
              <a:latin typeface="Times New Roman" panose="02020603050405020304" pitchFamily="18" charset="0"/>
              <a:cs typeface="Times New Roman" panose="02020603050405020304" pitchFamily="18" charset="0"/>
              <a:sym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a:xfrm>
            <a:off x="685800" y="3886200"/>
            <a:ext cx="7772400" cy="4114800"/>
          </a:xfrm>
          <a:prstGeom prst="rect">
            <a:avLst/>
          </a:prstGeom>
        </p:spPr>
        <p:txBody>
          <a:bodyPr/>
          <a:lstStyle/>
          <a:p>
            <a:r>
              <a:rPr lang="en-US">
                <a:latin typeface="Times New Roman" panose="02020603050405020304" pitchFamily="18" charset="0"/>
                <a:cs typeface="Times New Roman" panose="02020603050405020304" pitchFamily="18" charset="0"/>
                <a:sym typeface="Times New Roman" panose="02020603050405020304" pitchFamily="18" charset="0"/>
              </a:rPr>
              <a:t>This is the fairness audit for the classical baselines. RANSAC, Hough, and Hierarchy Cluster were tuned only on the validation split, then evaluated once on the untouched test split; all three improved in the same direction. The remaining gap to CrossAttention is therefore not just an under-tuned-baseline artifact.</a:t>
            </a:r>
            <a:endParaRPr>
              <a:latin typeface="Times New Roman" panose="02020603050405020304" pitchFamily="18" charset="0"/>
              <a:cs typeface="Times New Roman" panose="02020603050405020304" pitchFamily="18" charset="0"/>
              <a:sym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a:xfrm>
            <a:off x="685800" y="3886200"/>
            <a:ext cx="7772400" cy="4114800"/>
          </a:xfrm>
          <a:prstGeom prst="rect">
            <a:avLst/>
          </a:prstGeom>
        </p:spPr>
        <p:txBody>
          <a:bodyPr/>
          <a:lstStyle/>
          <a:p>
            <a:r>
              <a:rPr lang="en-US">
                <a:latin typeface="Times New Roman" panose="02020603050405020304" pitchFamily="18" charset="0"/>
                <a:cs typeface="Times New Roman" panose="02020603050405020304" pitchFamily="18" charset="0"/>
                <a:sym typeface="Times New Roman" panose="02020603050405020304" pitchFamily="18" charset="0"/>
              </a:rPr>
              <a:t>Transition to backup material. The remaining slides are not meant to be presented one by one unless the advisor asks for a diagnostic, a baseline check, or a candidate manuscript figure.</a:t>
            </a:r>
            <a:endParaRPr>
              <a:latin typeface="Times New Roman" panose="02020603050405020304" pitchFamily="18" charset="0"/>
              <a:cs typeface="Times New Roman" panose="02020603050405020304" pitchFamily="18" charset="0"/>
              <a:sym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a:xfrm>
            <a:off x="685800" y="3886200"/>
            <a:ext cx="7772400" cy="4114800"/>
          </a:xfrm>
          <a:prstGeom prst="rect">
            <a:avLst/>
          </a:prstGeom>
        </p:spPr>
        <p:txBody>
          <a:bodyPr/>
          <a:lstStyle/>
          <a:p>
            <a:r>
              <a:rPr lang="en-US">
                <a:latin typeface="Times New Roman" panose="02020603050405020304" pitchFamily="18" charset="0"/>
                <a:cs typeface="Times New Roman" panose="02020603050405020304" pitchFamily="18" charset="0"/>
                <a:sym typeface="Times New Roman" panose="02020603050405020304" pitchFamily="18" charset="0"/>
              </a:rPr>
              <a:t>This tests whether the result disappears in multi-track events. CrossAttention stays lower-RMSE across 1-4 track multiplicities, so the advantage is not limited to the easiest single-track case. The interpretation is that attention helps when image evidence becomes spatially entangled.</a:t>
            </a:r>
            <a:endParaRPr>
              <a:latin typeface="Times New Roman" panose="02020603050405020304" pitchFamily="18" charset="0"/>
              <a:cs typeface="Times New Roman" panose="02020603050405020304" pitchFamily="18" charset="0"/>
              <a:sym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a:xfrm>
            <a:off x="685800" y="3886200"/>
            <a:ext cx="7772400" cy="4114800"/>
          </a:xfrm>
          <a:prstGeom prst="rect">
            <a:avLst/>
          </a:prstGeom>
        </p:spPr>
        <p:txBody>
          <a:bodyPr/>
          <a:lstStyle/>
          <a:p>
            <a:r>
              <a:rPr lang="en-US">
                <a:latin typeface="Times New Roman" panose="02020603050405020304" pitchFamily="18" charset="0"/>
                <a:cs typeface="Times New Roman" panose="02020603050405020304" pitchFamily="18" charset="0"/>
                <a:sym typeface="Times New Roman" panose="02020603050405020304" pitchFamily="18" charset="0"/>
              </a:rPr>
              <a:t>This is the physics explanation slide. Range-based methods turn observed length into energy, so clipped tracks naturally become lower-bound estimates. The CNN does not see a clipping label; it can use partial-track morphology and charge patterns that remain visible when observed range is incomplete.</a:t>
            </a:r>
            <a:endParaRPr>
              <a:latin typeface="Times New Roman" panose="02020603050405020304" pitchFamily="18" charset="0"/>
              <a:cs typeface="Times New Roman" panose="02020603050405020304" pitchFamily="18" charset="0"/>
              <a:sym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a:xfrm>
            <a:off x="685800" y="3886200"/>
            <a:ext cx="7772400" cy="4114800"/>
          </a:xfrm>
          <a:prstGeom prst="rect">
            <a:avLst/>
          </a:prstGeom>
        </p:spPr>
        <p:txBody>
          <a:bodyPr/>
          <a:lstStyle/>
          <a:p>
            <a:r>
              <a:rPr lang="en-US">
                <a:latin typeface="Times New Roman" panose="02020603050405020304" pitchFamily="18" charset="0"/>
                <a:cs typeface="Times New Roman" panose="02020603050405020304" pitchFamily="18" charset="0"/>
                <a:sym typeface="Times New Roman" panose="02020603050405020304" pitchFamily="18" charset="0"/>
              </a:rPr>
              <a:t>Backup evidence for residual shape across all methods. Use this if asked whether the headline RMSE hides asymmetric or heavy-tailed residual behavior.</a:t>
            </a:r>
            <a:endParaRPr>
              <a:latin typeface="Times New Roman" panose="02020603050405020304" pitchFamily="18" charset="0"/>
              <a:cs typeface="Times New Roman" panose="02020603050405020304" pitchFamily="18" charset="0"/>
              <a:sym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a:xfrm>
            <a:off x="685800" y="3886200"/>
            <a:ext cx="7772400" cy="4114800"/>
          </a:xfrm>
          <a:prstGeom prst="rect">
            <a:avLst/>
          </a:prstGeom>
        </p:spPr>
        <p:txBody>
          <a:bodyPr/>
          <a:lstStyle/>
          <a:p>
            <a:r>
              <a:rPr lang="en-US">
                <a:latin typeface="Times New Roman" panose="02020603050405020304" pitchFamily="18" charset="0"/>
                <a:cs typeface="Times New Roman" panose="02020603050405020304" pitchFamily="18" charset="0"/>
                <a:sym typeface="Times New Roman" panose="02020603050405020304" pitchFamily="18" charset="0"/>
              </a:rPr>
              <a:t>Backup evidence for the energy-bin result, including uncertainty intervals. Use this if asked where the CrossAttention advantage is strongest or whether it survives binning.</a:t>
            </a:r>
            <a:endParaRPr>
              <a:latin typeface="Times New Roman" panose="02020603050405020304" pitchFamily="18" charset="0"/>
              <a:cs typeface="Times New Roman" panose="02020603050405020304" pitchFamily="18" charset="0"/>
              <a:sym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a:xfrm>
            <a:off x="685800" y="3886200"/>
            <a:ext cx="7772400" cy="4114800"/>
          </a:xfrm>
          <a:prstGeom prst="rect">
            <a:avLst/>
          </a:prstGeom>
        </p:spPr>
        <p:txBody>
          <a:bodyPr/>
          <a:lstStyle/>
          <a:p>
            <a:r>
              <a:rPr lang="en-US">
                <a:latin typeface="Times New Roman" panose="02020603050405020304" pitchFamily="18" charset="0"/>
                <a:cs typeface="Times New Roman" panose="02020603050405020304" pitchFamily="18" charset="0"/>
                <a:sym typeface="Times New Roman" panose="02020603050405020304" pitchFamily="18" charset="0"/>
              </a:rPr>
              <a:t>Backup evidence for the clipping mechanism. Use this if asked whether the range-clipping interpretation is visible across all five methods.</a:t>
            </a:r>
            <a:endParaRPr>
              <a:latin typeface="Times New Roman" panose="02020603050405020304" pitchFamily="18" charset="0"/>
              <a:cs typeface="Times New Roman" panose="02020603050405020304" pitchFamily="18" charset="0"/>
              <a:sym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a:xfrm>
            <a:off x="685800" y="3886200"/>
            <a:ext cx="7772400" cy="4114800"/>
          </a:xfrm>
          <a:prstGeom prst="rect">
            <a:avLst/>
          </a:prstGeom>
        </p:spPr>
        <p:txBody>
          <a:bodyPr/>
          <a:lstStyle/>
          <a:p>
            <a:r>
              <a:rPr lang="en-US">
                <a:latin typeface="Times New Roman" panose="02020603050405020304" pitchFamily="18" charset="0"/>
                <a:cs typeface="Times New Roman" panose="02020603050405020304" pitchFamily="18" charset="0"/>
                <a:sym typeface="Times New Roman" panose="02020603050405020304" pitchFamily="18" charset="0"/>
              </a:rPr>
              <a:t>Conceptual backup for the recovery-ratio metric. Use this only if the advisor asks how the clipped-track diagnostic should be interpreted geometrically.</a:t>
            </a:r>
            <a:endParaRPr>
              <a:latin typeface="Times New Roman" panose="02020603050405020304" pitchFamily="18" charset="0"/>
              <a:cs typeface="Times New Roman" panose="02020603050405020304" pitchFamily="18" charset="0"/>
              <a:sym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a:xfrm>
            <a:off x="685800" y="3886200"/>
            <a:ext cx="7772400" cy="4114800"/>
          </a:xfrm>
          <a:prstGeom prst="rect">
            <a:avLst/>
          </a:prstGeom>
        </p:spPr>
        <p:txBody>
          <a:bodyPr/>
          <a:lstStyle/>
          <a:p>
            <a:r>
              <a:rPr lang="en-US">
                <a:latin typeface="Times New Roman" panose="02020603050405020304" pitchFamily="18" charset="0"/>
                <a:cs typeface="Times New Roman" panose="02020603050405020304" pitchFamily="18" charset="0"/>
                <a:sym typeface="Times New Roman" panose="02020603050405020304" pitchFamily="18" charset="0"/>
              </a:rPr>
              <a:t>Backup multiplicity-binned RMSE. Use this if asked whether the track-count result has uncertainty support beyond the main slide.</a:t>
            </a:r>
            <a:endParaRPr>
              <a:latin typeface="Times New Roman" panose="02020603050405020304" pitchFamily="18" charset="0"/>
              <a:cs typeface="Times New Roman" panose="02020603050405020304" pitchFamily="18" charset="0"/>
              <a:sym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a:xfrm>
            <a:off x="685800" y="3886200"/>
            <a:ext cx="7772400" cy="4114800"/>
          </a:xfrm>
          <a:prstGeom prst="rect">
            <a:avLst/>
          </a:prstGeom>
        </p:spPr>
        <p:txBody>
          <a:bodyPr/>
          <a:lstStyle/>
          <a:p>
            <a:r>
              <a:rPr lang="en-US">
                <a:latin typeface="Times New Roman" panose="02020603050405020304" pitchFamily="18" charset="0"/>
                <a:cs typeface="Times New Roman" panose="02020603050405020304" pitchFamily="18" charset="0"/>
                <a:sym typeface="Times New Roman" panose="02020603050405020304" pitchFamily="18" charset="0"/>
              </a:rPr>
              <a:t>Backup pairwise significance matrix. Use this if asked whether the RMSE differences are pairwise stable, and keep the direction clear: negative differences against baselines favor CrossAttention.</a:t>
            </a:r>
            <a:endParaRPr>
              <a:latin typeface="Times New Roman" panose="02020603050405020304" pitchFamily="18" charset="0"/>
              <a:cs typeface="Times New Roman" panose="02020603050405020304" pitchFamily="18" charset="0"/>
              <a:sym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a:xfrm>
            <a:off x="685800" y="3886200"/>
            <a:ext cx="7772400" cy="4114800"/>
          </a:xfrm>
          <a:prstGeom prst="rect">
            <a:avLst/>
          </a:prstGeom>
        </p:spPr>
        <p:txBody>
          <a:bodyPr/>
          <a:lstStyle/>
          <a:p>
            <a:r>
              <a:rPr lang="en-US">
                <a:latin typeface="Times New Roman" panose="02020603050405020304" pitchFamily="18" charset="0"/>
                <a:cs typeface="Times New Roman" panose="02020603050405020304" pitchFamily="18" charset="0"/>
                <a:sym typeface="Times New Roman" panose="02020603050405020304" pitchFamily="18" charset="0"/>
              </a:rPr>
              <a:t>Backup residual-versus-truth strip. Use this if asked whether residuals depend systematically on true energy for each method.</a:t>
            </a:r>
            <a:endParaRPr>
              <a:latin typeface="Times New Roman" panose="02020603050405020304" pitchFamily="18" charset="0"/>
              <a:cs typeface="Times New Roman" panose="02020603050405020304" pitchFamily="18" charset="0"/>
              <a:sym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a:xfrm>
            <a:off x="685800" y="3886200"/>
            <a:ext cx="7772400" cy="4114800"/>
          </a:xfrm>
          <a:prstGeom prst="rect">
            <a:avLst/>
          </a:prstGeom>
        </p:spPr>
        <p:txBody>
          <a:bodyPr/>
          <a:lstStyle/>
          <a:p>
            <a:endParaRPr lang="en-US" dirty="0">
              <a:latin typeface="Times New Roman" panose="02020603050405020304" pitchFamily="18" charset="0"/>
              <a:cs typeface="Times New Roman" panose="02020603050405020304" pitchFamily="18" charset="0"/>
              <a:sym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Times New Roman" panose="02020603050405020304"/>
          <a:ea typeface="Times New Roman" panose="02020603050405020304"/>
          <a:cs typeface="Times New Roman" panose="02020603050405020304"/>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Times New Roman" panose="02020603050405020304"/>
          <a:ea typeface="Times New Roman" panose="02020603050405020304"/>
          <a:cs typeface="Times New Roman" panose="02020603050405020304"/>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Times New Roman" panose="02020603050405020304"/>
          <a:ea typeface="Times New Roman" panose="02020603050405020304"/>
          <a:cs typeface="Times New Roman" panose="02020603050405020304"/>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Times New Roman" panose="02020603050405020304"/>
          <a:ea typeface="Times New Roman" panose="02020603050405020304"/>
          <a:cs typeface="Times New Roman" panose="02020603050405020304"/>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Times New Roman" panose="02020603050405020304"/>
          <a:ea typeface="Times New Roman" panose="02020603050405020304"/>
          <a:cs typeface="Times New Roman" panose="02020603050405020304"/>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Times New Roman" panose="02020603050405020304"/>
          <a:ea typeface="Times New Roman" panose="02020603050405020304"/>
          <a:cs typeface="Times New Roman" panose="02020603050405020304"/>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Times New Roman" panose="02020603050405020304"/>
          <a:ea typeface="Times New Roman" panose="02020603050405020304"/>
          <a:cs typeface="Times New Roman" panose="02020603050405020304"/>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Times New Roman" panose="02020603050405020304"/>
          <a:ea typeface="Times New Roman" panose="02020603050405020304"/>
          <a:cs typeface="Times New Roman" panose="02020603050405020304"/>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Times New Roman" panose="02020603050405020304"/>
          <a:ea typeface="Times New Roman" panose="02020603050405020304"/>
          <a:cs typeface="Times New Roman" panose="02020603050405020304"/>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Times New Roman" panose="02020603050405020304"/>
          <a:ea typeface="Times New Roman" panose="02020603050405020304"/>
          <a:cs typeface="Times New Roman" panose="02020603050405020304"/>
        </a:defRPr>
      </a:lvl9pPr>
    </p:bodyStyle>
    <p:otherStyle>
      <a:defPPr>
        <a:defRPr lang="en-US"/>
      </a:defPPr>
      <a:lvl1pPr marL="0" algn="l" defTabSz="457200" rtl="0" eaLnBrk="1" latinLnBrk="0" hangingPunct="1">
        <a:defRPr sz="1800" kern="1200">
          <a:solidFill>
            <a:schemeClr val="tx1"/>
          </a:solidFill>
          <a:latin typeface="Times New Roman" panose="02020603050405020304"/>
          <a:ea typeface="Times New Roman" panose="02020603050405020304"/>
          <a:cs typeface="Times New Roman" panose="02020603050405020304"/>
        </a:defRPr>
      </a:lvl1pPr>
      <a:lvl2pPr marL="457200" algn="l" defTabSz="457200" rtl="0" eaLnBrk="1" latinLnBrk="0" hangingPunct="1">
        <a:defRPr sz="1800" kern="1200">
          <a:solidFill>
            <a:schemeClr val="tx1"/>
          </a:solidFill>
          <a:latin typeface="Times New Roman" panose="02020603050405020304"/>
          <a:ea typeface="Times New Roman" panose="02020603050405020304"/>
          <a:cs typeface="Times New Roman" panose="02020603050405020304"/>
        </a:defRPr>
      </a:lvl2pPr>
      <a:lvl3pPr marL="914400" algn="l" defTabSz="457200" rtl="0" eaLnBrk="1" latinLnBrk="0" hangingPunct="1">
        <a:defRPr sz="1800" kern="1200">
          <a:solidFill>
            <a:schemeClr val="tx1"/>
          </a:solidFill>
          <a:latin typeface="Times New Roman" panose="02020603050405020304"/>
          <a:ea typeface="Times New Roman" panose="02020603050405020304"/>
          <a:cs typeface="Times New Roman" panose="02020603050405020304"/>
        </a:defRPr>
      </a:lvl3pPr>
      <a:lvl4pPr marL="1371600" algn="l" defTabSz="457200" rtl="0" eaLnBrk="1" latinLnBrk="0" hangingPunct="1">
        <a:defRPr sz="1800" kern="1200">
          <a:solidFill>
            <a:schemeClr val="tx1"/>
          </a:solidFill>
          <a:latin typeface="Times New Roman" panose="02020603050405020304"/>
          <a:ea typeface="Times New Roman" panose="02020603050405020304"/>
          <a:cs typeface="Times New Roman" panose="02020603050405020304"/>
        </a:defRPr>
      </a:lvl4pPr>
      <a:lvl5pPr marL="1828800" algn="l" defTabSz="457200" rtl="0" eaLnBrk="1" latinLnBrk="0" hangingPunct="1">
        <a:defRPr sz="1800" kern="1200">
          <a:solidFill>
            <a:schemeClr val="tx1"/>
          </a:solidFill>
          <a:latin typeface="Times New Roman" panose="02020603050405020304"/>
          <a:ea typeface="Times New Roman" panose="02020603050405020304"/>
          <a:cs typeface="Times New Roman" panose="02020603050405020304"/>
        </a:defRPr>
      </a:lvl5pPr>
      <a:lvl6pPr marL="2286000" algn="l" defTabSz="457200" rtl="0" eaLnBrk="1" latinLnBrk="0" hangingPunct="1">
        <a:defRPr sz="1800" kern="1200">
          <a:solidFill>
            <a:schemeClr val="tx1"/>
          </a:solidFill>
          <a:latin typeface="Times New Roman" panose="02020603050405020304"/>
          <a:ea typeface="Times New Roman" panose="02020603050405020304"/>
          <a:cs typeface="Times New Roman" panose="02020603050405020304"/>
        </a:defRPr>
      </a:lvl6pPr>
      <a:lvl7pPr marL="2743200" algn="l" defTabSz="457200" rtl="0" eaLnBrk="1" latinLnBrk="0" hangingPunct="1">
        <a:defRPr sz="1800" kern="1200">
          <a:solidFill>
            <a:schemeClr val="tx1"/>
          </a:solidFill>
          <a:latin typeface="Times New Roman" panose="02020603050405020304"/>
          <a:ea typeface="Times New Roman" panose="02020603050405020304"/>
          <a:cs typeface="Times New Roman" panose="02020603050405020304"/>
        </a:defRPr>
      </a:lvl7pPr>
      <a:lvl8pPr marL="3200400" algn="l" defTabSz="457200" rtl="0" eaLnBrk="1" latinLnBrk="0" hangingPunct="1">
        <a:defRPr sz="1800" kern="1200">
          <a:solidFill>
            <a:schemeClr val="tx1"/>
          </a:solidFill>
          <a:latin typeface="Times New Roman" panose="02020603050405020304"/>
          <a:ea typeface="Times New Roman" panose="02020603050405020304"/>
          <a:cs typeface="Times New Roman" panose="02020603050405020304"/>
        </a:defRPr>
      </a:lvl8pPr>
      <a:lvl9pPr marL="3657600" algn="l" defTabSz="457200" rtl="0" eaLnBrk="1" latinLnBrk="0" hangingPunct="1">
        <a:defRPr sz="1800" kern="1200">
          <a:solidFill>
            <a:schemeClr val="tx1"/>
          </a:solidFill>
          <a:latin typeface="Times New Roman" panose="02020603050405020304"/>
          <a:ea typeface="Times New Roman" panose="02020603050405020304"/>
          <a:cs typeface="Times New Roman" panose="020206030504050203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ottomRule"/>
          <p:cNvSpPr/>
          <p:nvPr/>
        </p:nvSpPr>
        <p:spPr>
          <a:xfrm>
            <a:off x="342900" y="4695825"/>
            <a:ext cx="8458200" cy="19050"/>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 name="HeaderBand"/>
          <p:cNvSpPr/>
          <p:nvPr/>
        </p:nvSpPr>
        <p:spPr>
          <a:xfrm>
            <a:off x="0" y="0"/>
            <a:ext cx="9144000" cy="523875"/>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02" name="MainTitle"/>
          <p:cNvSpPr txBox="1"/>
          <p:nvPr/>
        </p:nvSpPr>
        <p:spPr>
          <a:xfrm>
            <a:off x="482600" y="1092200"/>
            <a:ext cx="8178800" cy="1092200"/>
          </a:xfrm>
          <a:prstGeom prst="rect">
            <a:avLst/>
          </a:prstGeom>
          <a:noFill/>
          <a:ln>
            <a:noFill/>
          </a:ln>
        </p:spPr>
        <p:txBody>
          <a:bodyPr wrap="square" lIns="0" tIns="0" rIns="0" bIns="0" anchor="ctr"/>
          <a:lstStyle/>
          <a:p>
            <a:pPr algn="ctr">
              <a:lnSpc>
                <a:spcPct val="110000"/>
              </a:lnSpc>
            </a:pPr>
            <a:r>
              <a:rPr lang="en-US" sz="3000" b="1">
                <a:solidFill>
                  <a:srgbClr val="1F4E8C"/>
                </a:solidFill>
                <a:latin typeface="Times New Roman" panose="02020603050405020304" pitchFamily="18" charset="0"/>
                <a:cs typeface="Times New Roman" panose="02020603050405020304" pitchFamily="18" charset="0"/>
                <a:sym typeface="Times New Roman" panose="02020603050405020304" pitchFamily="18" charset="0"/>
              </a:rPr>
              <a:t>TRK energy regression:
CrossAttention vs range-based baselines</a:t>
            </a:r>
            <a:endParaRPr lang="en-US" sz="3000" b="1" dirty="0">
              <a:solidFill>
                <a:srgbClr val="1F4E8C"/>
              </a:solidFill>
              <a:latin typeface="Times New Roman" panose="02020603050405020304" pitchFamily="18" charset="0"/>
              <a:cs typeface="Times New Roman" panose="02020603050405020304" pitchFamily="18" charset="0"/>
              <a:sym typeface="Times New Roman" panose="02020603050405020304" pitchFamily="18" charset="0"/>
            </a:endParaRPr>
          </a:p>
        </p:txBody>
      </p:sp>
      <p:cxnSp>
        <p:nvCxnSpPr>
          <p:cNvPr id="103" name="CenterRule"/>
          <p:cNvCxnSpPr/>
          <p:nvPr/>
        </p:nvCxnSpPr>
        <p:spPr>
          <a:xfrm>
            <a:off x="3505200" y="2362200"/>
            <a:ext cx="2133600" cy="0"/>
          </a:xfrm>
          <a:prstGeom prst="line">
            <a:avLst/>
          </a:prstGeom>
          <a:ln w="19050">
            <a:solidFill>
              <a:srgbClr val="1F4E79"/>
            </a:solidFill>
          </a:ln>
        </p:spPr>
      </p:cxnSp>
      <p:sp>
        <p:nvSpPr>
          <p:cNvPr id="110" name="Stat110Num"/>
          <p:cNvSpPr txBox="1"/>
          <p:nvPr/>
        </p:nvSpPr>
        <p:spPr>
          <a:xfrm>
            <a:off x="762000" y="3365500"/>
            <a:ext cx="2540000" cy="635000"/>
          </a:xfrm>
          <a:prstGeom prst="rect">
            <a:avLst/>
          </a:prstGeom>
          <a:noFill/>
          <a:ln>
            <a:noFill/>
          </a:ln>
        </p:spPr>
        <p:txBody>
          <a:bodyPr wrap="square" lIns="0" tIns="0" rIns="0" bIns="0" anchor="ctr"/>
          <a:lstStyle/>
          <a:p>
            <a:pPr algn="ctr"/>
            <a:r>
              <a:rPr lang="en-US" sz="3200" b="1" dirty="0">
                <a:solidFill>
                  <a:srgbClr val="1F4E8C"/>
                </a:solidFill>
                <a:latin typeface="Times New Roman" panose="02020603050405020304" pitchFamily="18" charset="0"/>
                <a:cs typeface="Times New Roman" panose="02020603050405020304" pitchFamily="18" charset="0"/>
                <a:sym typeface="Times New Roman" panose="02020603050405020304" pitchFamily="18" charset="0"/>
              </a:rPr>
              <a:t>0.0188</a:t>
            </a:r>
          </a:p>
        </p:txBody>
      </p:sp>
      <p:sp>
        <p:nvSpPr>
          <p:cNvPr id="111" name="Stat110Lbl"/>
          <p:cNvSpPr txBox="1"/>
          <p:nvPr/>
        </p:nvSpPr>
        <p:spPr>
          <a:xfrm>
            <a:off x="762000" y="4064000"/>
            <a:ext cx="2540000" cy="381000"/>
          </a:xfrm>
          <a:prstGeom prst="rect">
            <a:avLst/>
          </a:prstGeom>
          <a:noFill/>
          <a:ln>
            <a:noFill/>
          </a:ln>
        </p:spPr>
        <p:txBody>
          <a:bodyPr wrap="square" lIns="0" tIns="0" rIns="0" bIns="0" anchor="t"/>
          <a:lstStyle/>
          <a:p>
            <a:pPr algn="ctr"/>
            <a:r>
              <a:rPr lang="en-US" sz="1200" dirty="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CrossAttention RMSE (MeV)</a:t>
            </a:r>
          </a:p>
        </p:txBody>
      </p:sp>
      <p:sp>
        <p:nvSpPr>
          <p:cNvPr id="120" name="Stat120Num"/>
          <p:cNvSpPr txBox="1"/>
          <p:nvPr/>
        </p:nvSpPr>
        <p:spPr>
          <a:xfrm>
            <a:off x="3302000" y="3365500"/>
            <a:ext cx="2540000" cy="635000"/>
          </a:xfrm>
          <a:prstGeom prst="rect">
            <a:avLst/>
          </a:prstGeom>
          <a:noFill/>
          <a:ln>
            <a:noFill/>
          </a:ln>
        </p:spPr>
        <p:txBody>
          <a:bodyPr wrap="square" lIns="0" tIns="0" rIns="0" bIns="0" anchor="ctr"/>
          <a:lstStyle/>
          <a:p>
            <a:pPr algn="ctr"/>
            <a:r>
              <a:rPr lang="en-US" sz="3200" b="1" dirty="0">
                <a:solidFill>
                  <a:srgbClr val="1F4E8C"/>
                </a:solidFill>
                <a:latin typeface="Times New Roman" panose="02020603050405020304" pitchFamily="18" charset="0"/>
                <a:cs typeface="Times New Roman" panose="02020603050405020304" pitchFamily="18" charset="0"/>
                <a:sym typeface="Times New Roman" panose="02020603050405020304" pitchFamily="18" charset="0"/>
              </a:rPr>
              <a:t>18%</a:t>
            </a:r>
          </a:p>
        </p:txBody>
      </p:sp>
      <p:sp>
        <p:nvSpPr>
          <p:cNvPr id="121" name="Stat120Lbl"/>
          <p:cNvSpPr txBox="1"/>
          <p:nvPr/>
        </p:nvSpPr>
        <p:spPr>
          <a:xfrm>
            <a:off x="3302000" y="4064000"/>
            <a:ext cx="2540000" cy="381000"/>
          </a:xfrm>
          <a:prstGeom prst="rect">
            <a:avLst/>
          </a:prstGeom>
          <a:noFill/>
          <a:ln>
            <a:noFill/>
          </a:ln>
        </p:spPr>
        <p:txBody>
          <a:bodyPr wrap="square" lIns="0" tIns="0" rIns="0" bIns="0" anchor="t"/>
          <a:lstStyle/>
          <a:p>
            <a:pPr algn="ctr"/>
            <a:r>
              <a:rPr lang="en-US" sz="1200" dirty="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lower RMSE than ResNet</a:t>
            </a:r>
          </a:p>
        </p:txBody>
      </p:sp>
      <p:sp>
        <p:nvSpPr>
          <p:cNvPr id="130" name="Stat130Num"/>
          <p:cNvSpPr txBox="1"/>
          <p:nvPr/>
        </p:nvSpPr>
        <p:spPr>
          <a:xfrm>
            <a:off x="5842000" y="3365500"/>
            <a:ext cx="2540000" cy="635000"/>
          </a:xfrm>
          <a:prstGeom prst="rect">
            <a:avLst/>
          </a:prstGeom>
          <a:noFill/>
          <a:ln>
            <a:noFill/>
          </a:ln>
        </p:spPr>
        <p:txBody>
          <a:bodyPr wrap="square" lIns="0" tIns="0" rIns="0" bIns="0" anchor="ctr"/>
          <a:lstStyle/>
          <a:p>
            <a:pPr algn="ctr"/>
            <a:r>
              <a:rPr lang="en-US" sz="3200" b="1" dirty="0">
                <a:solidFill>
                  <a:srgbClr val="1F4E8C"/>
                </a:solidFill>
                <a:latin typeface="Times New Roman" panose="02020603050405020304" pitchFamily="18" charset="0"/>
                <a:cs typeface="Times New Roman" panose="02020603050405020304" pitchFamily="18" charset="0"/>
                <a:sym typeface="Times New Roman" panose="02020603050405020304" pitchFamily="18" charset="0"/>
              </a:rPr>
              <a:t>5</a:t>
            </a:r>
          </a:p>
        </p:txBody>
      </p:sp>
      <p:sp>
        <p:nvSpPr>
          <p:cNvPr id="131" name="Stat130Lbl"/>
          <p:cNvSpPr txBox="1"/>
          <p:nvPr/>
        </p:nvSpPr>
        <p:spPr>
          <a:xfrm>
            <a:off x="5842000" y="4064000"/>
            <a:ext cx="2540000" cy="381000"/>
          </a:xfrm>
          <a:prstGeom prst="rect">
            <a:avLst/>
          </a:prstGeom>
          <a:noFill/>
          <a:ln>
            <a:noFill/>
          </a:ln>
        </p:spPr>
        <p:txBody>
          <a:bodyPr wrap="square" lIns="0" tIns="0" rIns="0" bIns="0" anchor="t"/>
          <a:lstStyle/>
          <a:p>
            <a:pPr algn="ctr"/>
            <a:r>
              <a:rPr lang="en-US" sz="1200" dirty="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methods compared</a:t>
            </a:r>
          </a:p>
        </p:txBody>
      </p:sp>
      <p:cxnSp>
        <p:nvCxnSpPr>
          <p:cNvPr id="140" name="FooterRule"/>
          <p:cNvCxnSpPr/>
          <p:nvPr/>
        </p:nvCxnSpPr>
        <p:spPr>
          <a:xfrm>
            <a:off x="457200" y="4660900"/>
            <a:ext cx="8229600" cy="0"/>
          </a:xfrm>
          <a:prstGeom prst="line">
            <a:avLst/>
          </a:prstGeom>
          <a:ln w="12700">
            <a:solidFill>
              <a:srgbClr val="1F4E79"/>
            </a:solidFill>
          </a:ln>
        </p:spPr>
      </p:cxnSp>
      <p:sp>
        <p:nvSpPr>
          <p:cNvPr id="141" name="Footer"/>
          <p:cNvSpPr txBox="1"/>
          <p:nvPr/>
        </p:nvSpPr>
        <p:spPr>
          <a:xfrm>
            <a:off x="457200" y="4826000"/>
            <a:ext cx="6858000" cy="228600"/>
          </a:xfrm>
          <a:prstGeom prst="rect">
            <a:avLst/>
          </a:prstGeom>
          <a:noFill/>
          <a:ln>
            <a:noFill/>
          </a:ln>
        </p:spPr>
        <p:txBody>
          <a:bodyPr wrap="square" lIns="0" tIns="0" rIns="0" bIns="0" anchor="t"/>
          <a:lstStyle/>
          <a:p>
            <a:pPr algn="l"/>
            <a:r>
              <a:rPr lang="en-US" sz="100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TRK energy regression</a:t>
            </a:r>
            <a:endParaRPr lang="en-US" sz="1000" dirty="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3" name="HeaderTitle"/>
          <p:cNvSpPr txBox="1"/>
          <p:nvPr/>
        </p:nvSpPr>
        <p:spPr>
          <a:xfrm>
            <a:off x="476250" y="76200"/>
            <a:ext cx="8191500" cy="415544"/>
          </a:xfrm>
          <a:prstGeom prst="rect">
            <a:avLst/>
          </a:prstGeom>
          <a:noFill/>
          <a:ln>
            <a:noFill/>
          </a:ln>
        </p:spPr>
        <p:txBody>
          <a:bodyPr vertOverflow="overflow" vert="horz" wrap="square" rtlCol="0" anchor="t">
            <a:noAutofit/>
          </a:bodyPr>
          <a:lstStyle/>
          <a:p>
            <a:pPr algn="l">
              <a:buNone/>
            </a:pPr>
            <a:r>
              <a:rPr lang="en-US" sz="2100" b="1">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rPr>
              <a:t>TRK energy regression: CrossAttention vs range-based baselines</a:t>
            </a:r>
            <a:endParaRPr lang="en-US" sz="2100" b="1" dirty="0">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5" name="PageNum"/>
          <p:cNvSpPr txBox="1"/>
          <p:nvPr/>
        </p:nvSpPr>
        <p:spPr>
          <a:xfrm>
            <a:off x="8324850" y="4800600"/>
            <a:ext cx="685800" cy="228600"/>
          </a:xfrm>
          <a:prstGeom prst="rect">
            <a:avLst/>
          </a:prstGeom>
          <a:noFill/>
          <a:ln>
            <a:noFill/>
          </a:ln>
        </p:spPr>
        <p:txBody>
          <a:bodyPr vertOverflow="overflow" vert="horz" wrap="none" rtlCol="0" anchor="t">
            <a:noAutofit/>
          </a:bodyPr>
          <a:lstStyle/>
          <a:p>
            <a:pPr algn="ctr">
              <a:defRPr sz="750">
                <a:solidFill>
                  <a:srgbClr val="5E6B73"/>
                </a:solidFill>
                <a:latin typeface="Aptos"/>
              </a:defRPr>
            </a:pPr>
            <a:r>
              <a:rPr lang="en-US" sz="75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1 / 17</a:t>
            </a:r>
            <a:endParaRPr sz="75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6" name="TitleSubtitle"/>
          <p:cNvSpPr txBox="1"/>
          <p:nvPr/>
        </p:nvSpPr>
        <p:spPr>
          <a:xfrm>
            <a:off x="914400" y="2514600"/>
            <a:ext cx="7315200" cy="523220"/>
          </a:xfrm>
          <a:prstGeom prst="rect">
            <a:avLst/>
          </a:prstGeom>
          <a:noFill/>
        </p:spPr>
        <p:txBody>
          <a:bodyPr vert="horz" rtlCol="0">
            <a:spAutoFit/>
          </a:bodyPr>
          <a:lstStyle/>
          <a:p>
            <a:pPr algn="ctr"/>
            <a:r>
              <a:rPr lang="en-US" sz="1400" i="1">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Same MATE simulated events; direct CNN energy regression compared with range-to-energy reconstruction.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BottomRule"/>
          <p:cNvSpPr/>
          <p:nvPr/>
        </p:nvSpPr>
        <p:spPr>
          <a:xfrm>
            <a:off x="342900" y="4695825"/>
            <a:ext cx="8458200" cy="19050"/>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32" name="HeaderBand"/>
          <p:cNvSpPr/>
          <p:nvPr/>
        </p:nvSpPr>
        <p:spPr>
          <a:xfrm>
            <a:off x="0" y="0"/>
            <a:ext cx="9144000" cy="523875"/>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9" name="Footer"/>
          <p:cNvSpPr txBox="1"/>
          <p:nvPr/>
        </p:nvSpPr>
        <p:spPr>
          <a:xfrm>
            <a:off x="457200" y="4826000"/>
            <a:ext cx="6858000" cy="228600"/>
          </a:xfrm>
          <a:prstGeom prst="rect">
            <a:avLst/>
          </a:prstGeom>
          <a:noFill/>
        </p:spPr>
        <p:txBody>
          <a:bodyPr vertOverflow="overflow" vert="horz" wrap="square" rtlCol="0" anchor="t">
            <a:noAutofit/>
          </a:bodyPr>
          <a:lstStyle/>
          <a:p>
            <a:pPr algn="l"/>
            <a:r>
              <a:rPr lang="en-US" sz="1000" dirty="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TRK energy regression</a:t>
            </a:r>
          </a:p>
        </p:txBody>
      </p:sp>
      <p:sp>
        <p:nvSpPr>
          <p:cNvPr id="33" name="HeaderTitle"/>
          <p:cNvSpPr txBox="1"/>
          <p:nvPr/>
        </p:nvSpPr>
        <p:spPr>
          <a:xfrm>
            <a:off x="476250" y="76200"/>
            <a:ext cx="8191500" cy="415544"/>
          </a:xfrm>
          <a:prstGeom prst="rect">
            <a:avLst/>
          </a:prstGeom>
          <a:noFill/>
          <a:ln>
            <a:noFill/>
          </a:ln>
        </p:spPr>
        <p:txBody>
          <a:bodyPr vertOverflow="overflow" vert="horz" wrap="square" rtlCol="0" anchor="t">
            <a:noAutofit/>
          </a:bodyPr>
          <a:lstStyle/>
          <a:p>
            <a:pPr algn="l">
              <a:buNone/>
            </a:pPr>
            <a:r>
              <a:rPr lang="en-US" sz="2100" b="1">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rPr>
              <a:t>Experiment setup: common image input, two regression routes</a:t>
            </a:r>
            <a:endParaRPr lang="en-US" sz="2100" b="1" dirty="0">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35" name="PageNum"/>
          <p:cNvSpPr txBox="1"/>
          <p:nvPr/>
        </p:nvSpPr>
        <p:spPr>
          <a:xfrm>
            <a:off x="8324850" y="4800600"/>
            <a:ext cx="685800" cy="228600"/>
          </a:xfrm>
          <a:prstGeom prst="rect">
            <a:avLst/>
          </a:prstGeom>
          <a:noFill/>
          <a:ln>
            <a:noFill/>
          </a:ln>
        </p:spPr>
        <p:txBody>
          <a:bodyPr vertOverflow="overflow" vert="horz" wrap="none" rtlCol="0" anchor="t">
            <a:noAutofit/>
          </a:bodyPr>
          <a:lstStyle/>
          <a:p>
            <a:pPr algn="ctr">
              <a:defRPr sz="750">
                <a:solidFill>
                  <a:srgbClr val="5E6B73"/>
                </a:solidFill>
                <a:latin typeface="Aptos"/>
              </a:defRPr>
            </a:pPr>
            <a:r>
              <a:rPr lang="en-US" sz="75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2 / 17</a:t>
            </a:r>
            <a:endParaRPr sz="75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Rectangle 1">
            <a:extLst>
              <a:ext uri="{FF2B5EF4-FFF2-40B4-BE49-F238E27FC236}">
                <a16:creationId xmlns:a16="http://schemas.microsoft.com/office/drawing/2014/main" id="{3BB4A592-916D-DF83-E3B6-CA08B3F8D44D}"/>
              </a:ext>
            </a:extLst>
          </p:cNvPr>
          <p:cNvSpPr/>
          <p:nvPr/>
        </p:nvSpPr>
        <p:spPr>
          <a:xfrm>
            <a:off x="457200" y="1441450"/>
            <a:ext cx="3657600" cy="2673350"/>
          </a:xfrm>
          <a:prstGeom prst="rect">
            <a:avLst/>
          </a:prstGeom>
          <a:noFill/>
          <a:ln w="12700" cap="flat" cmpd="sng" algn="ctr">
            <a:solidFill>
              <a:srgbClr val="BBBBBB"/>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3" name="Oval 2">
            <a:extLst>
              <a:ext uri="{FF2B5EF4-FFF2-40B4-BE49-F238E27FC236}">
                <a16:creationId xmlns:a16="http://schemas.microsoft.com/office/drawing/2014/main" id="{82053F0C-D1CC-463C-FE14-1B5B57256BA3}"/>
              </a:ext>
            </a:extLst>
          </p:cNvPr>
          <p:cNvSpPr/>
          <p:nvPr/>
        </p:nvSpPr>
        <p:spPr>
          <a:xfrm>
            <a:off x="704851" y="2535324"/>
            <a:ext cx="382270" cy="420430"/>
          </a:xfrm>
          <a:prstGeom prst="ellipse">
            <a:avLst/>
          </a:prstGeom>
          <a:solidFill>
            <a:srgbClr val="1F3A5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B7AB3D68-F391-1C86-C810-6162B06F4BDC}"/>
              </a:ext>
            </a:extLst>
          </p:cNvPr>
          <p:cNvSpPr txBox="1"/>
          <p:nvPr/>
        </p:nvSpPr>
        <p:spPr>
          <a:xfrm>
            <a:off x="558800" y="2965450"/>
            <a:ext cx="1016000" cy="203200"/>
          </a:xfrm>
          <a:prstGeom prst="rect">
            <a:avLst/>
          </a:prstGeom>
          <a:noFill/>
        </p:spPr>
        <p:txBody>
          <a:bodyPr vertOverflow="overflow" vert="horz" wrap="square" rtlCol="0" anchor="t">
            <a:noAutofit/>
          </a:bodyPr>
          <a:lstStyle/>
          <a:p>
            <a:pPr algn="l"/>
            <a:r>
              <a:rPr lang="el-GR" sz="1100">
                <a:solidFill>
                  <a:srgbClr val="888888"/>
                </a:solidFill>
                <a:latin typeface="Times New Roman"/>
                <a:cs typeface="Times New Roman"/>
              </a:rPr>
              <a:t>alpha </a:t>
            </a:r>
            <a:r>
              <a:rPr lang="en-US" sz="1100">
                <a:solidFill>
                  <a:srgbClr val="888888"/>
                </a:solidFill>
                <a:latin typeface="Times New Roman"/>
                <a:cs typeface="Times New Roman"/>
              </a:rPr>
              <a:t>source</a:t>
            </a:r>
          </a:p>
        </p:txBody>
      </p:sp>
      <p:sp>
        <p:nvSpPr>
          <p:cNvPr id="5" name="Rectangle 4">
            <a:extLst>
              <a:ext uri="{FF2B5EF4-FFF2-40B4-BE49-F238E27FC236}">
                <a16:creationId xmlns:a16="http://schemas.microsoft.com/office/drawing/2014/main" id="{E1ADAD91-FF79-0265-8CCA-5E1802799D41}"/>
              </a:ext>
            </a:extLst>
          </p:cNvPr>
          <p:cNvSpPr/>
          <p:nvPr/>
        </p:nvSpPr>
        <p:spPr>
          <a:xfrm rot="-1129483">
            <a:off x="951651" y="2247900"/>
            <a:ext cx="1571412" cy="25400"/>
          </a:xfrm>
          <a:prstGeom prst="rect">
            <a:avLst/>
          </a:prstGeom>
          <a:solidFill>
            <a:srgbClr val="7B9EA8"/>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3002A660-F399-ECC5-785A-F6823E37B00C}"/>
              </a:ext>
            </a:extLst>
          </p:cNvPr>
          <p:cNvSpPr txBox="1"/>
          <p:nvPr/>
        </p:nvSpPr>
        <p:spPr>
          <a:xfrm>
            <a:off x="2536612" y="1611866"/>
            <a:ext cx="1117600" cy="279400"/>
          </a:xfrm>
          <a:prstGeom prst="rect">
            <a:avLst/>
          </a:prstGeom>
          <a:noFill/>
        </p:spPr>
        <p:txBody>
          <a:bodyPr vertOverflow="overflow" vert="horz" wrap="square" rtlCol="0" anchor="ctr" anchorCtr="0">
            <a:noAutofit/>
          </a:bodyPr>
          <a:lstStyle/>
          <a:p>
            <a:pPr algn="l"/>
            <a:r>
              <a:rPr lang="en-US" b="1">
                <a:solidFill>
                  <a:srgbClr val="7B9EA8"/>
                </a:solidFill>
                <a:latin typeface="Times New Roman"/>
                <a:cs typeface="Times New Roman"/>
              </a:rPr>
              <a:t>E1 = ?  MeV</a:t>
            </a:r>
          </a:p>
        </p:txBody>
      </p:sp>
      <p:sp>
        <p:nvSpPr>
          <p:cNvPr id="7" name="Rectangle 6">
            <a:extLst>
              <a:ext uri="{FF2B5EF4-FFF2-40B4-BE49-F238E27FC236}">
                <a16:creationId xmlns:a16="http://schemas.microsoft.com/office/drawing/2014/main" id="{401182ED-4CF6-256F-2373-D7CAEE5CEFE2}"/>
              </a:ext>
            </a:extLst>
          </p:cNvPr>
          <p:cNvSpPr/>
          <p:nvPr/>
        </p:nvSpPr>
        <p:spPr>
          <a:xfrm rot="107816">
            <a:off x="1081191" y="2774950"/>
            <a:ext cx="1727200" cy="25400"/>
          </a:xfrm>
          <a:prstGeom prst="rect">
            <a:avLst/>
          </a:prstGeom>
          <a:solidFill>
            <a:srgbClr val="C75146"/>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9" name="TextBox 8">
            <a:extLst>
              <a:ext uri="{FF2B5EF4-FFF2-40B4-BE49-F238E27FC236}">
                <a16:creationId xmlns:a16="http://schemas.microsoft.com/office/drawing/2014/main" id="{D7261160-E0B2-FC35-75BC-BAFB8E6F384D}"/>
              </a:ext>
            </a:extLst>
          </p:cNvPr>
          <p:cNvSpPr txBox="1"/>
          <p:nvPr/>
        </p:nvSpPr>
        <p:spPr>
          <a:xfrm>
            <a:off x="2811780" y="2701935"/>
            <a:ext cx="1117600" cy="279400"/>
          </a:xfrm>
          <a:prstGeom prst="rect">
            <a:avLst/>
          </a:prstGeom>
          <a:noFill/>
        </p:spPr>
        <p:txBody>
          <a:bodyPr vertOverflow="overflow" vert="horz" wrap="square" rtlCol="0" anchor="ctr" anchorCtr="0">
            <a:noAutofit/>
          </a:bodyPr>
          <a:lstStyle/>
          <a:p>
            <a:pPr algn="l"/>
            <a:r>
              <a:rPr lang="en-US" b="1" dirty="0">
                <a:solidFill>
                  <a:srgbClr val="C75146"/>
                </a:solidFill>
                <a:latin typeface="Times New Roman"/>
                <a:cs typeface="Times New Roman"/>
              </a:rPr>
              <a:t>E2 = ?  MeV</a:t>
            </a:r>
          </a:p>
        </p:txBody>
      </p:sp>
      <p:sp>
        <p:nvSpPr>
          <p:cNvPr id="12" name="Rectangle 11">
            <a:extLst>
              <a:ext uri="{FF2B5EF4-FFF2-40B4-BE49-F238E27FC236}">
                <a16:creationId xmlns:a16="http://schemas.microsoft.com/office/drawing/2014/main" id="{11EE3B74-C0B5-320C-2B30-CB007E049B7B}"/>
              </a:ext>
            </a:extLst>
          </p:cNvPr>
          <p:cNvSpPr/>
          <p:nvPr/>
        </p:nvSpPr>
        <p:spPr>
          <a:xfrm rot="1278347">
            <a:off x="944880" y="3219450"/>
            <a:ext cx="1456264" cy="25400"/>
          </a:xfrm>
          <a:prstGeom prst="rect">
            <a:avLst/>
          </a:prstGeom>
          <a:solidFill>
            <a:srgbClr val="44444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3" name="TextBox 12">
            <a:extLst>
              <a:ext uri="{FF2B5EF4-FFF2-40B4-BE49-F238E27FC236}">
                <a16:creationId xmlns:a16="http://schemas.microsoft.com/office/drawing/2014/main" id="{4365F4CB-75F8-6212-70D6-9513AD6FD9ED}"/>
              </a:ext>
            </a:extLst>
          </p:cNvPr>
          <p:cNvSpPr txBox="1"/>
          <p:nvPr/>
        </p:nvSpPr>
        <p:spPr>
          <a:xfrm>
            <a:off x="2394372" y="3624665"/>
            <a:ext cx="1117600" cy="279400"/>
          </a:xfrm>
          <a:prstGeom prst="rect">
            <a:avLst/>
          </a:prstGeom>
          <a:noFill/>
        </p:spPr>
        <p:txBody>
          <a:bodyPr vertOverflow="overflow" vert="horz" wrap="square" rtlCol="0" anchor="ctr" anchorCtr="0">
            <a:noAutofit/>
          </a:bodyPr>
          <a:lstStyle/>
          <a:p>
            <a:pPr algn="l"/>
            <a:r>
              <a:rPr lang="en-US" b="1" dirty="0">
                <a:solidFill>
                  <a:srgbClr val="444444"/>
                </a:solidFill>
                <a:latin typeface="Times New Roman"/>
                <a:cs typeface="Times New Roman"/>
              </a:rPr>
              <a:t>E3 = ?  MeV</a:t>
            </a:r>
          </a:p>
        </p:txBody>
      </p:sp>
      <p:sp>
        <p:nvSpPr>
          <p:cNvPr id="14" name="Subtitle">
            <a:extLst>
              <a:ext uri="{FF2B5EF4-FFF2-40B4-BE49-F238E27FC236}">
                <a16:creationId xmlns:a16="http://schemas.microsoft.com/office/drawing/2014/main" id="{0F2E144D-DA2C-5270-41E5-EB5B5FDA707C}"/>
              </a:ext>
            </a:extLst>
          </p:cNvPr>
          <p:cNvSpPr txBox="1"/>
          <p:nvPr/>
        </p:nvSpPr>
        <p:spPr>
          <a:xfrm>
            <a:off x="457200" y="685200"/>
            <a:ext cx="3657600" cy="508000"/>
          </a:xfrm>
          <a:prstGeom prst="rect">
            <a:avLst/>
          </a:prstGeom>
          <a:noFill/>
        </p:spPr>
        <p:txBody>
          <a:bodyPr vertOverflow="overflow" vert="horz" wrap="square" rtlCol="0" anchor="t">
            <a:noAutofit/>
          </a:bodyPr>
          <a:lstStyle/>
          <a:p>
            <a:pPr marL="171450" indent="-171450" algn="l">
              <a:buFont typeface="Wingdings" panose="05000000000000000000" pitchFamily="2" charset="2"/>
              <a:buChar char="Ø"/>
            </a:pPr>
            <a:r>
              <a:rPr lang="en-US" sz="1200" dirty="0">
                <a:latin typeface="Times New Roman"/>
                <a:cs typeface="Times New Roman"/>
              </a:rPr>
              <a:t>180,000 test events</a:t>
            </a:r>
          </a:p>
          <a:p>
            <a:pPr marL="171450" indent="-171450" algn="l">
              <a:buFont typeface="Wingdings" panose="05000000000000000000" pitchFamily="2" charset="2"/>
              <a:buChar char="Ø"/>
            </a:pPr>
            <a:r>
              <a:rPr lang="en-US" sz="1200" dirty="0">
                <a:latin typeface="Times New Roman"/>
                <a:cs typeface="Times New Roman"/>
              </a:rPr>
              <a:t>1-4 alpha tracks per event </a:t>
            </a:r>
          </a:p>
          <a:p>
            <a:pPr marL="171450" indent="-171450" algn="l">
              <a:buFont typeface="Wingdings" panose="05000000000000000000" pitchFamily="2" charset="2"/>
              <a:buChar char="Ø"/>
            </a:pPr>
            <a:r>
              <a:rPr lang="en-US" sz="1200" dirty="0">
                <a:latin typeface="Times New Roman"/>
                <a:cs typeface="Times New Roman"/>
              </a:rPr>
              <a:t>truth E ~ U[0.3, 4.0] MeV</a:t>
            </a:r>
          </a:p>
        </p:txBody>
      </p:sp>
      <p:sp>
        <p:nvSpPr>
          <p:cNvPr id="15" name="CaptionStrip">
            <a:extLst>
              <a:ext uri="{FF2B5EF4-FFF2-40B4-BE49-F238E27FC236}">
                <a16:creationId xmlns:a16="http://schemas.microsoft.com/office/drawing/2014/main" id="{D857DBAF-E2AB-D5A8-2227-51D46B296C92}"/>
              </a:ext>
            </a:extLst>
          </p:cNvPr>
          <p:cNvSpPr txBox="1"/>
          <p:nvPr/>
        </p:nvSpPr>
        <p:spPr>
          <a:xfrm>
            <a:off x="4457700" y="545073"/>
            <a:ext cx="4343400" cy="558800"/>
          </a:xfrm>
          <a:prstGeom prst="rect">
            <a:avLst/>
          </a:prstGeom>
          <a:noFill/>
        </p:spPr>
        <p:txBody>
          <a:bodyPr vertOverflow="overflow" vert="horz" wrap="square" rtlCol="0" anchor="t">
            <a:noAutofit/>
          </a:bodyPr>
          <a:lstStyle/>
          <a:p>
            <a:pPr algn="l"/>
            <a:r>
              <a:rPr lang="en-US" sz="1050" dirty="0">
                <a:latin typeface="Times New Roman"/>
                <a:cs typeface="Times New Roman"/>
              </a:rPr>
              <a:t>Five methods compared on the same image: </a:t>
            </a:r>
          </a:p>
          <a:p>
            <a:pPr marL="171450" indent="-171450" algn="l">
              <a:buFont typeface="Wingdings" panose="05000000000000000000" pitchFamily="2" charset="2"/>
              <a:buChar char="Ø"/>
            </a:pPr>
            <a:r>
              <a:rPr lang="en-US" sz="1050" dirty="0">
                <a:latin typeface="Times New Roman"/>
                <a:cs typeface="Times New Roman"/>
              </a:rPr>
              <a:t>Cross-Attention and </a:t>
            </a:r>
            <a:r>
              <a:rPr lang="en-US" sz="1050" dirty="0" err="1">
                <a:latin typeface="Times New Roman"/>
                <a:cs typeface="Times New Roman"/>
              </a:rPr>
              <a:t>ResNet</a:t>
            </a:r>
            <a:r>
              <a:rPr lang="en-US" sz="1050" dirty="0">
                <a:latin typeface="Times New Roman"/>
                <a:cs typeface="Times New Roman"/>
              </a:rPr>
              <a:t> predict E directly (without reconstructing tracks at all)</a:t>
            </a:r>
          </a:p>
          <a:p>
            <a:pPr marL="171450" indent="-171450" algn="l">
              <a:buFont typeface="Wingdings" panose="05000000000000000000" pitchFamily="2" charset="2"/>
              <a:buChar char="Ø"/>
            </a:pPr>
            <a:r>
              <a:rPr lang="en-US" sz="1050" dirty="0">
                <a:latin typeface="Times New Roman"/>
                <a:cs typeface="Times New Roman"/>
              </a:rPr>
              <a:t>RANSAC, Hough, and Hierarchical Clustering reconstruct the track first, then convert range to energy via SRIM</a:t>
            </a:r>
            <a:r>
              <a:rPr lang="en-US" sz="1050" i="1" dirty="0">
                <a:solidFill>
                  <a:srgbClr val="555555"/>
                </a:solidFill>
                <a:latin typeface="Times New Roman"/>
                <a:cs typeface="Times New Roman"/>
              </a:rPr>
              <a:t>.</a:t>
            </a:r>
          </a:p>
          <a:p>
            <a:pPr marL="171450" indent="-171450" algn="l">
              <a:buFont typeface="Wingdings" panose="05000000000000000000" pitchFamily="2" charset="2"/>
              <a:buChar char="Ø"/>
            </a:pPr>
            <a:r>
              <a:rPr lang="en-US" sz="1050" b="1" i="1" dirty="0">
                <a:solidFill>
                  <a:srgbClr val="C00000"/>
                </a:solidFill>
                <a:latin typeface="Times New Roman"/>
                <a:cs typeface="Times New Roman"/>
              </a:rPr>
              <a:t>Objective: To compare the performance of CNNs with that of  traditional algorithms(RANSAC, Hough, and Hierarchical Clustering)</a:t>
            </a:r>
          </a:p>
        </p:txBody>
      </p:sp>
      <p:sp>
        <p:nvSpPr>
          <p:cNvPr id="16" name="SchemBox300">
            <a:extLst>
              <a:ext uri="{FF2B5EF4-FFF2-40B4-BE49-F238E27FC236}">
                <a16:creationId xmlns:a16="http://schemas.microsoft.com/office/drawing/2014/main" id="{703113D1-CDB4-F770-4FB8-269A9E221CD3}"/>
              </a:ext>
            </a:extLst>
          </p:cNvPr>
          <p:cNvSpPr/>
          <p:nvPr/>
        </p:nvSpPr>
        <p:spPr>
          <a:xfrm>
            <a:off x="4914900" y="1809750"/>
            <a:ext cx="3556000" cy="352425"/>
          </a:xfrm>
          <a:prstGeom prst="rect">
            <a:avLst/>
          </a:prstGeom>
          <a:solidFill>
            <a:srgbClr val="E8EEF7"/>
          </a:solidFill>
          <a:ln w="9525">
            <a:solidFill>
              <a:srgbClr val="1F3A5F"/>
            </a:solidFill>
          </a:ln>
        </p:spPr>
        <p:txBody>
          <a:bodyPr wrap="square" lIns="36000" tIns="18000" rIns="36000" bIns="18000" anchor="ctr"/>
          <a:lstStyle/>
          <a:p>
            <a:pPr algn="ctr">
              <a:buNone/>
            </a:pPr>
            <a:r>
              <a:rPr lang="en-US" sz="1000" b="1" dirty="0">
                <a:solidFill>
                  <a:srgbClr val="1F3A5F"/>
                </a:solidFill>
                <a:latin typeface="Times New Roman"/>
                <a:cs typeface="Times New Roman"/>
              </a:rPr>
              <a:t>GAP + flatten  (B, 512)</a:t>
            </a:r>
          </a:p>
          <a:p>
            <a:pPr algn="ctr">
              <a:buNone/>
            </a:pPr>
            <a:r>
              <a:rPr lang="en-US" sz="750" i="1" dirty="0">
                <a:solidFill>
                  <a:srgbClr val="1F3A5F"/>
                </a:solidFill>
                <a:latin typeface="Times New Roman"/>
                <a:cs typeface="Times New Roman"/>
              </a:rPr>
              <a:t>Mod. ResNet-18: conv1=3x3 s1, no maxpool; layer4 -&gt; (B,512,10,6)</a:t>
            </a:r>
          </a:p>
        </p:txBody>
      </p:sp>
      <p:sp>
        <p:nvSpPr>
          <p:cNvPr id="17" name="Arrow301">
            <a:extLst>
              <a:ext uri="{FF2B5EF4-FFF2-40B4-BE49-F238E27FC236}">
                <a16:creationId xmlns:a16="http://schemas.microsoft.com/office/drawing/2014/main" id="{20404C57-42C2-9C96-E24D-E8B3209F18F6}"/>
              </a:ext>
            </a:extLst>
          </p:cNvPr>
          <p:cNvSpPr/>
          <p:nvPr/>
        </p:nvSpPr>
        <p:spPr>
          <a:xfrm>
            <a:off x="6642100" y="2168525"/>
            <a:ext cx="101600" cy="101600"/>
          </a:xfrm>
          <a:prstGeom prst="downArrow">
            <a:avLst>
              <a:gd name="adj1" fmla="val 50000"/>
              <a:gd name="adj2" fmla="val 50000"/>
            </a:avLst>
          </a:prstGeom>
          <a:solidFill>
            <a:srgbClr val="1F3A5F"/>
          </a:solidFill>
          <a:ln>
            <a:noFill/>
          </a:ln>
        </p:spPr>
        <p:txBody>
          <a:bodyPr/>
          <a:lstStyle/>
          <a:p>
            <a:endParaRPr lang="en-US"/>
          </a:p>
        </p:txBody>
      </p:sp>
      <p:sp>
        <p:nvSpPr>
          <p:cNvPr id="18" name="SchemBox302">
            <a:extLst>
              <a:ext uri="{FF2B5EF4-FFF2-40B4-BE49-F238E27FC236}">
                <a16:creationId xmlns:a16="http://schemas.microsoft.com/office/drawing/2014/main" id="{E1757E0A-3765-D70B-EF7A-AB7FA9C4CFC0}"/>
              </a:ext>
            </a:extLst>
          </p:cNvPr>
          <p:cNvSpPr/>
          <p:nvPr/>
        </p:nvSpPr>
        <p:spPr>
          <a:xfrm>
            <a:off x="4914900" y="2276475"/>
            <a:ext cx="3556000" cy="355600"/>
          </a:xfrm>
          <a:prstGeom prst="rect">
            <a:avLst/>
          </a:prstGeom>
          <a:solidFill>
            <a:srgbClr val="E8EEF7"/>
          </a:solidFill>
          <a:ln w="9525">
            <a:solidFill>
              <a:srgbClr val="1F3A5F"/>
            </a:solidFill>
          </a:ln>
        </p:spPr>
        <p:txBody>
          <a:bodyPr wrap="square" lIns="36000" tIns="18000" rIns="36000" bIns="18000" anchor="ctr"/>
          <a:lstStyle/>
          <a:p>
            <a:pPr algn="ctr">
              <a:buNone/>
            </a:pPr>
            <a:r>
              <a:rPr lang="en-US" sz="1000" b="1" dirty="0">
                <a:solidFill>
                  <a:srgbClr val="1F3A5F"/>
                </a:solidFill>
                <a:latin typeface="Times New Roman"/>
                <a:cs typeface="Times New Roman"/>
              </a:rPr>
              <a:t>Linear (512 -&gt; 128)</a:t>
            </a:r>
          </a:p>
          <a:p>
            <a:pPr algn="ctr">
              <a:buNone/>
            </a:pPr>
            <a:r>
              <a:rPr lang="en-US" sz="750" i="1" dirty="0">
                <a:solidFill>
                  <a:srgbClr val="1F3A5F"/>
                </a:solidFill>
                <a:latin typeface="Times New Roman"/>
                <a:cs typeface="Times New Roman"/>
              </a:rPr>
              <a:t>classifier_hidden_dim from config</a:t>
            </a:r>
          </a:p>
        </p:txBody>
      </p:sp>
      <p:sp>
        <p:nvSpPr>
          <p:cNvPr id="19" name="Arrow303">
            <a:extLst>
              <a:ext uri="{FF2B5EF4-FFF2-40B4-BE49-F238E27FC236}">
                <a16:creationId xmlns:a16="http://schemas.microsoft.com/office/drawing/2014/main" id="{1E66E836-B5DA-3D9C-634C-0F82C75A95A1}"/>
              </a:ext>
            </a:extLst>
          </p:cNvPr>
          <p:cNvSpPr/>
          <p:nvPr/>
        </p:nvSpPr>
        <p:spPr>
          <a:xfrm>
            <a:off x="6642100" y="2635250"/>
            <a:ext cx="101600" cy="111125"/>
          </a:xfrm>
          <a:prstGeom prst="downArrow">
            <a:avLst>
              <a:gd name="adj1" fmla="val 50000"/>
              <a:gd name="adj2" fmla="val 50000"/>
            </a:avLst>
          </a:prstGeom>
          <a:solidFill>
            <a:srgbClr val="1F3A5F"/>
          </a:solidFill>
          <a:ln>
            <a:noFill/>
          </a:ln>
        </p:spPr>
        <p:txBody>
          <a:bodyPr/>
          <a:lstStyle/>
          <a:p>
            <a:endParaRPr lang="en-US"/>
          </a:p>
        </p:txBody>
      </p:sp>
      <p:sp>
        <p:nvSpPr>
          <p:cNvPr id="26" name="SchemBox304">
            <a:extLst>
              <a:ext uri="{FF2B5EF4-FFF2-40B4-BE49-F238E27FC236}">
                <a16:creationId xmlns:a16="http://schemas.microsoft.com/office/drawing/2014/main" id="{3EC2B4A8-566B-AFF5-2805-9050D0A3FBBF}"/>
              </a:ext>
            </a:extLst>
          </p:cNvPr>
          <p:cNvSpPr/>
          <p:nvPr/>
        </p:nvSpPr>
        <p:spPr>
          <a:xfrm>
            <a:off x="5676900" y="2749550"/>
            <a:ext cx="2032000" cy="254000"/>
          </a:xfrm>
          <a:prstGeom prst="rect">
            <a:avLst/>
          </a:prstGeom>
          <a:solidFill>
            <a:srgbClr val="E8EEF7"/>
          </a:solidFill>
          <a:ln w="9525">
            <a:solidFill>
              <a:srgbClr val="1F3A5F"/>
            </a:solidFill>
          </a:ln>
        </p:spPr>
        <p:txBody>
          <a:bodyPr wrap="square" lIns="36000" tIns="18000" rIns="36000" bIns="18000" anchor="ctr"/>
          <a:lstStyle/>
          <a:p>
            <a:pPr algn="ctr">
              <a:buNone/>
            </a:pPr>
            <a:r>
              <a:rPr lang="en-US" sz="1000" b="1" dirty="0" err="1">
                <a:solidFill>
                  <a:srgbClr val="1F3A5F"/>
                </a:solidFill>
                <a:latin typeface="Times New Roman"/>
                <a:cs typeface="Times New Roman"/>
              </a:rPr>
              <a:t>ReLU</a:t>
            </a:r>
            <a:endParaRPr lang="en-US" sz="1000" b="1" dirty="0">
              <a:solidFill>
                <a:srgbClr val="1F3A5F"/>
              </a:solidFill>
              <a:latin typeface="Times New Roman"/>
              <a:cs typeface="Times New Roman"/>
            </a:endParaRPr>
          </a:p>
        </p:txBody>
      </p:sp>
      <p:sp>
        <p:nvSpPr>
          <p:cNvPr id="28" name="Arrow305">
            <a:extLst>
              <a:ext uri="{FF2B5EF4-FFF2-40B4-BE49-F238E27FC236}">
                <a16:creationId xmlns:a16="http://schemas.microsoft.com/office/drawing/2014/main" id="{5525E66D-877A-868A-8736-005E725489A3}"/>
              </a:ext>
            </a:extLst>
          </p:cNvPr>
          <p:cNvSpPr/>
          <p:nvPr/>
        </p:nvSpPr>
        <p:spPr>
          <a:xfrm>
            <a:off x="6642100" y="3009900"/>
            <a:ext cx="101600" cy="114300"/>
          </a:xfrm>
          <a:prstGeom prst="downArrow">
            <a:avLst>
              <a:gd name="adj1" fmla="val 50000"/>
              <a:gd name="adj2" fmla="val 50000"/>
            </a:avLst>
          </a:prstGeom>
          <a:solidFill>
            <a:srgbClr val="1F3A5F"/>
          </a:solidFill>
          <a:ln>
            <a:noFill/>
          </a:ln>
        </p:spPr>
        <p:txBody>
          <a:bodyPr/>
          <a:lstStyle/>
          <a:p>
            <a:endParaRPr lang="en-US"/>
          </a:p>
        </p:txBody>
      </p:sp>
      <p:sp>
        <p:nvSpPr>
          <p:cNvPr id="30" name="SchemBox306">
            <a:extLst>
              <a:ext uri="{FF2B5EF4-FFF2-40B4-BE49-F238E27FC236}">
                <a16:creationId xmlns:a16="http://schemas.microsoft.com/office/drawing/2014/main" id="{3FB7510F-10D1-EF18-044C-FC1F4D0E8E4F}"/>
              </a:ext>
            </a:extLst>
          </p:cNvPr>
          <p:cNvSpPr/>
          <p:nvPr/>
        </p:nvSpPr>
        <p:spPr>
          <a:xfrm>
            <a:off x="4914900" y="3124200"/>
            <a:ext cx="3556000" cy="355600"/>
          </a:xfrm>
          <a:prstGeom prst="rect">
            <a:avLst/>
          </a:prstGeom>
          <a:solidFill>
            <a:srgbClr val="E8EEF7"/>
          </a:solidFill>
          <a:ln w="9525">
            <a:solidFill>
              <a:srgbClr val="1F3A5F"/>
            </a:solidFill>
            <a:prstDash val="dash"/>
          </a:ln>
        </p:spPr>
        <p:txBody>
          <a:bodyPr wrap="square" lIns="36000" tIns="18000" rIns="36000" bIns="18000" anchor="ctr"/>
          <a:lstStyle/>
          <a:p>
            <a:pPr algn="ctr">
              <a:buNone/>
            </a:pPr>
            <a:r>
              <a:rPr lang="en-US" sz="1000" b="1" dirty="0">
                <a:solidFill>
                  <a:srgbClr val="1F3A5F"/>
                </a:solidFill>
                <a:latin typeface="Times New Roman"/>
                <a:cs typeface="Times New Roman"/>
              </a:rPr>
              <a:t>Dropout (p = 0.05)</a:t>
            </a:r>
          </a:p>
          <a:p>
            <a:pPr algn="ctr">
              <a:buNone/>
            </a:pPr>
            <a:r>
              <a:rPr lang="en-US" sz="750" i="1" dirty="0">
                <a:solidFill>
                  <a:srgbClr val="1F3A5F"/>
                </a:solidFill>
                <a:latin typeface="Times New Roman"/>
                <a:cs typeface="Times New Roman"/>
              </a:rPr>
              <a:t>training mode only</a:t>
            </a:r>
          </a:p>
        </p:txBody>
      </p:sp>
      <p:sp>
        <p:nvSpPr>
          <p:cNvPr id="36" name="Arrow307">
            <a:extLst>
              <a:ext uri="{FF2B5EF4-FFF2-40B4-BE49-F238E27FC236}">
                <a16:creationId xmlns:a16="http://schemas.microsoft.com/office/drawing/2014/main" id="{C5FAA7E8-DE36-A30D-1F77-6B3411C97F23}"/>
              </a:ext>
            </a:extLst>
          </p:cNvPr>
          <p:cNvSpPr/>
          <p:nvPr/>
        </p:nvSpPr>
        <p:spPr>
          <a:xfrm>
            <a:off x="6642100" y="3482975"/>
            <a:ext cx="101600" cy="104775"/>
          </a:xfrm>
          <a:prstGeom prst="downArrow">
            <a:avLst>
              <a:gd name="adj1" fmla="val 50000"/>
              <a:gd name="adj2" fmla="val 50000"/>
            </a:avLst>
          </a:prstGeom>
          <a:solidFill>
            <a:srgbClr val="1F3A5F"/>
          </a:solidFill>
          <a:ln>
            <a:noFill/>
          </a:ln>
        </p:spPr>
        <p:txBody>
          <a:bodyPr/>
          <a:lstStyle/>
          <a:p>
            <a:endParaRPr lang="en-US"/>
          </a:p>
        </p:txBody>
      </p:sp>
      <p:sp>
        <p:nvSpPr>
          <p:cNvPr id="37" name="SchemBox308">
            <a:extLst>
              <a:ext uri="{FF2B5EF4-FFF2-40B4-BE49-F238E27FC236}">
                <a16:creationId xmlns:a16="http://schemas.microsoft.com/office/drawing/2014/main" id="{945115B6-714D-4C33-66CC-CE0B77C6FACC}"/>
              </a:ext>
            </a:extLst>
          </p:cNvPr>
          <p:cNvSpPr/>
          <p:nvPr/>
        </p:nvSpPr>
        <p:spPr>
          <a:xfrm>
            <a:off x="4914900" y="3590925"/>
            <a:ext cx="3556000" cy="355600"/>
          </a:xfrm>
          <a:prstGeom prst="rect">
            <a:avLst/>
          </a:prstGeom>
          <a:solidFill>
            <a:srgbClr val="E8EEF7"/>
          </a:solidFill>
          <a:ln w="9525">
            <a:solidFill>
              <a:srgbClr val="1F3A5F"/>
            </a:solidFill>
          </a:ln>
        </p:spPr>
        <p:txBody>
          <a:bodyPr wrap="square" lIns="36000" tIns="18000" rIns="36000" bIns="18000" anchor="ctr"/>
          <a:lstStyle/>
          <a:p>
            <a:pPr algn="ctr">
              <a:buNone/>
            </a:pPr>
            <a:r>
              <a:rPr lang="en-US" sz="1000" b="1" dirty="0">
                <a:solidFill>
                  <a:srgbClr val="1F3A5F"/>
                </a:solidFill>
                <a:latin typeface="Times New Roman"/>
                <a:cs typeface="Times New Roman"/>
              </a:rPr>
              <a:t>Linear (128 -&gt; 4)</a:t>
            </a:r>
          </a:p>
          <a:p>
            <a:pPr algn="ctr">
              <a:buNone/>
            </a:pPr>
            <a:r>
              <a:rPr lang="en-US" sz="750" i="1" dirty="0">
                <a:solidFill>
                  <a:srgbClr val="1F3A5F"/>
                </a:solidFill>
                <a:latin typeface="Times New Roman"/>
                <a:cs typeface="Times New Roman"/>
              </a:rPr>
              <a:t>num_classes = 4 per-track energy slots</a:t>
            </a:r>
          </a:p>
        </p:txBody>
      </p:sp>
      <p:sp>
        <p:nvSpPr>
          <p:cNvPr id="38" name="Arrow309">
            <a:extLst>
              <a:ext uri="{FF2B5EF4-FFF2-40B4-BE49-F238E27FC236}">
                <a16:creationId xmlns:a16="http://schemas.microsoft.com/office/drawing/2014/main" id="{BB3B65FC-02D9-08C1-63E0-232A61EE393C}"/>
              </a:ext>
            </a:extLst>
          </p:cNvPr>
          <p:cNvSpPr/>
          <p:nvPr/>
        </p:nvSpPr>
        <p:spPr>
          <a:xfrm>
            <a:off x="6642100" y="3946525"/>
            <a:ext cx="101600" cy="111125"/>
          </a:xfrm>
          <a:prstGeom prst="downArrow">
            <a:avLst>
              <a:gd name="adj1" fmla="val 50000"/>
              <a:gd name="adj2" fmla="val 50000"/>
            </a:avLst>
          </a:prstGeom>
          <a:solidFill>
            <a:srgbClr val="1F3A5F"/>
          </a:solidFill>
          <a:ln>
            <a:noFill/>
          </a:ln>
        </p:spPr>
        <p:txBody>
          <a:bodyPr/>
          <a:lstStyle/>
          <a:p>
            <a:endParaRPr lang="en-US"/>
          </a:p>
        </p:txBody>
      </p:sp>
      <p:sp>
        <p:nvSpPr>
          <p:cNvPr id="39" name="SchemBox310">
            <a:extLst>
              <a:ext uri="{FF2B5EF4-FFF2-40B4-BE49-F238E27FC236}">
                <a16:creationId xmlns:a16="http://schemas.microsoft.com/office/drawing/2014/main" id="{B7E3D9BC-9CC9-AEF1-B316-0CA4ED39A2E2}"/>
              </a:ext>
            </a:extLst>
          </p:cNvPr>
          <p:cNvSpPr/>
          <p:nvPr/>
        </p:nvSpPr>
        <p:spPr>
          <a:xfrm>
            <a:off x="4914900" y="4064000"/>
            <a:ext cx="831850" cy="406400"/>
          </a:xfrm>
          <a:prstGeom prst="rect">
            <a:avLst/>
          </a:prstGeom>
          <a:solidFill>
            <a:srgbClr val="FFFFFF"/>
          </a:solidFill>
          <a:ln w="9525">
            <a:solidFill>
              <a:srgbClr val="7B9EA8"/>
            </a:solidFill>
          </a:ln>
        </p:spPr>
        <p:txBody>
          <a:bodyPr wrap="square" lIns="36000" tIns="18000" rIns="36000" bIns="18000" anchor="ctr"/>
          <a:lstStyle/>
          <a:p>
            <a:pPr algn="ctr">
              <a:buNone/>
            </a:pPr>
            <a:r>
              <a:rPr lang="en-US" sz="950" b="1" dirty="0">
                <a:solidFill>
                  <a:srgbClr val="1F3A5F"/>
                </a:solidFill>
                <a:latin typeface="Times New Roman"/>
                <a:cs typeface="Times New Roman"/>
              </a:rPr>
              <a:t>out_0</a:t>
            </a:r>
          </a:p>
          <a:p>
            <a:pPr algn="ctr">
              <a:buNone/>
            </a:pPr>
            <a:r>
              <a:rPr lang="en-US" sz="700" i="1" dirty="0">
                <a:solidFill>
                  <a:srgbClr val="1F3A5F"/>
                </a:solidFill>
                <a:latin typeface="Times New Roman"/>
                <a:cs typeface="Times New Roman"/>
              </a:rPr>
              <a:t>0.23 MeV</a:t>
            </a:r>
          </a:p>
        </p:txBody>
      </p:sp>
      <p:sp>
        <p:nvSpPr>
          <p:cNvPr id="40" name="SchemBox311">
            <a:extLst>
              <a:ext uri="{FF2B5EF4-FFF2-40B4-BE49-F238E27FC236}">
                <a16:creationId xmlns:a16="http://schemas.microsoft.com/office/drawing/2014/main" id="{4C403EE3-12A0-8FF4-D0F8-568D544F64EE}"/>
              </a:ext>
            </a:extLst>
          </p:cNvPr>
          <p:cNvSpPr/>
          <p:nvPr/>
        </p:nvSpPr>
        <p:spPr>
          <a:xfrm>
            <a:off x="5822950" y="4064000"/>
            <a:ext cx="831850" cy="406400"/>
          </a:xfrm>
          <a:prstGeom prst="rect">
            <a:avLst/>
          </a:prstGeom>
          <a:solidFill>
            <a:srgbClr val="FFFFFF"/>
          </a:solidFill>
          <a:ln w="9525">
            <a:solidFill>
              <a:srgbClr val="7B9EA8"/>
            </a:solidFill>
          </a:ln>
        </p:spPr>
        <p:txBody>
          <a:bodyPr wrap="square" lIns="36000" tIns="18000" rIns="36000" bIns="18000" anchor="ctr"/>
          <a:lstStyle/>
          <a:p>
            <a:pPr algn="ctr">
              <a:buNone/>
            </a:pPr>
            <a:r>
              <a:rPr lang="en-US" sz="950" b="1" dirty="0">
                <a:solidFill>
                  <a:srgbClr val="1F3A5F"/>
                </a:solidFill>
                <a:latin typeface="Times New Roman"/>
                <a:cs typeface="Times New Roman"/>
              </a:rPr>
              <a:t>out_1</a:t>
            </a:r>
          </a:p>
          <a:p>
            <a:pPr algn="ctr">
              <a:buNone/>
            </a:pPr>
            <a:r>
              <a:rPr lang="en-US" sz="700" i="1" dirty="0">
                <a:solidFill>
                  <a:srgbClr val="1F3A5F"/>
                </a:solidFill>
                <a:latin typeface="Times New Roman"/>
                <a:cs typeface="Times New Roman"/>
              </a:rPr>
              <a:t>0.25 MeV</a:t>
            </a:r>
          </a:p>
        </p:txBody>
      </p:sp>
      <p:sp>
        <p:nvSpPr>
          <p:cNvPr id="41" name="SchemBox312">
            <a:extLst>
              <a:ext uri="{FF2B5EF4-FFF2-40B4-BE49-F238E27FC236}">
                <a16:creationId xmlns:a16="http://schemas.microsoft.com/office/drawing/2014/main" id="{C776AF6F-3BC4-250C-5035-21271C5FF602}"/>
              </a:ext>
            </a:extLst>
          </p:cNvPr>
          <p:cNvSpPr/>
          <p:nvPr/>
        </p:nvSpPr>
        <p:spPr>
          <a:xfrm>
            <a:off x="6731000" y="4064000"/>
            <a:ext cx="831850" cy="406400"/>
          </a:xfrm>
          <a:prstGeom prst="rect">
            <a:avLst/>
          </a:prstGeom>
          <a:solidFill>
            <a:srgbClr val="FFFFFF"/>
          </a:solidFill>
          <a:ln w="9525">
            <a:solidFill>
              <a:srgbClr val="7B9EA8"/>
            </a:solidFill>
          </a:ln>
        </p:spPr>
        <p:txBody>
          <a:bodyPr wrap="square" lIns="36000" tIns="18000" rIns="36000" bIns="18000" anchor="ctr"/>
          <a:lstStyle/>
          <a:p>
            <a:pPr algn="ctr">
              <a:buNone/>
            </a:pPr>
            <a:r>
              <a:rPr lang="en-US" sz="950" b="1" dirty="0">
                <a:solidFill>
                  <a:srgbClr val="1F3A5F"/>
                </a:solidFill>
                <a:latin typeface="Times New Roman"/>
                <a:cs typeface="Times New Roman"/>
              </a:rPr>
              <a:t>out_2</a:t>
            </a:r>
          </a:p>
          <a:p>
            <a:pPr algn="ctr">
              <a:buNone/>
            </a:pPr>
            <a:r>
              <a:rPr lang="en-US" sz="700" i="1" dirty="0">
                <a:solidFill>
                  <a:srgbClr val="1F3A5F"/>
                </a:solidFill>
                <a:latin typeface="Times New Roman"/>
                <a:cs typeface="Times New Roman"/>
              </a:rPr>
              <a:t>-1.39 MeV</a:t>
            </a:r>
          </a:p>
        </p:txBody>
      </p:sp>
      <p:sp>
        <p:nvSpPr>
          <p:cNvPr id="42" name="SchemBox313">
            <a:extLst>
              <a:ext uri="{FF2B5EF4-FFF2-40B4-BE49-F238E27FC236}">
                <a16:creationId xmlns:a16="http://schemas.microsoft.com/office/drawing/2014/main" id="{3870C74E-C212-6529-1106-B02E83FC905B}"/>
              </a:ext>
            </a:extLst>
          </p:cNvPr>
          <p:cNvSpPr/>
          <p:nvPr/>
        </p:nvSpPr>
        <p:spPr>
          <a:xfrm>
            <a:off x="7639050" y="4064000"/>
            <a:ext cx="831850" cy="406400"/>
          </a:xfrm>
          <a:prstGeom prst="rect">
            <a:avLst/>
          </a:prstGeom>
          <a:solidFill>
            <a:srgbClr val="FFFFFF"/>
          </a:solidFill>
          <a:ln w="9525">
            <a:solidFill>
              <a:srgbClr val="7B9EA8"/>
            </a:solidFill>
          </a:ln>
        </p:spPr>
        <p:txBody>
          <a:bodyPr wrap="square" lIns="36000" tIns="18000" rIns="36000" bIns="18000" anchor="ctr"/>
          <a:lstStyle/>
          <a:p>
            <a:pPr algn="ctr">
              <a:buNone/>
            </a:pPr>
            <a:r>
              <a:rPr lang="en-US" sz="950" b="1" dirty="0">
                <a:solidFill>
                  <a:srgbClr val="1F3A5F"/>
                </a:solidFill>
                <a:latin typeface="Times New Roman"/>
                <a:cs typeface="Times New Roman"/>
              </a:rPr>
              <a:t>out_3</a:t>
            </a:r>
          </a:p>
          <a:p>
            <a:pPr algn="ctr">
              <a:buNone/>
            </a:pPr>
            <a:r>
              <a:rPr lang="en-US" sz="700" i="1" dirty="0">
                <a:solidFill>
                  <a:srgbClr val="1F3A5F"/>
                </a:solidFill>
                <a:latin typeface="Times New Roman"/>
                <a:cs typeface="Times New Roman"/>
              </a:rPr>
              <a:t>1.38 MeV</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ottomRule"/>
          <p:cNvSpPr/>
          <p:nvPr/>
        </p:nvSpPr>
        <p:spPr>
          <a:xfrm>
            <a:off x="342900" y="4695825"/>
            <a:ext cx="8458200" cy="19050"/>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 name="HeaderBand"/>
          <p:cNvSpPr/>
          <p:nvPr/>
        </p:nvSpPr>
        <p:spPr>
          <a:xfrm>
            <a:off x="0" y="0"/>
            <a:ext cx="9144000" cy="523875"/>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03" name="Footer"/>
          <p:cNvSpPr txBox="1"/>
          <p:nvPr/>
        </p:nvSpPr>
        <p:spPr>
          <a:xfrm>
            <a:off x="457200" y="4826000"/>
            <a:ext cx="6858000" cy="228600"/>
          </a:xfrm>
          <a:prstGeom prst="rect">
            <a:avLst/>
          </a:prstGeom>
          <a:noFill/>
          <a:ln>
            <a:noFill/>
          </a:ln>
        </p:spPr>
        <p:txBody>
          <a:bodyPr wrap="square" lIns="0" tIns="0" rIns="0" bIns="0" anchor="t"/>
          <a:lstStyle/>
          <a:p>
            <a:pPr algn="l"/>
            <a:r>
              <a:rPr lang="en-US" sz="1000" dirty="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TRK energy regression</a:t>
            </a:r>
          </a:p>
        </p:txBody>
      </p:sp>
      <p:sp>
        <p:nvSpPr>
          <p:cNvPr id="3" name="HeaderTitle"/>
          <p:cNvSpPr txBox="1"/>
          <p:nvPr/>
        </p:nvSpPr>
        <p:spPr>
          <a:xfrm>
            <a:off x="476250" y="76200"/>
            <a:ext cx="8191500" cy="415544"/>
          </a:xfrm>
          <a:prstGeom prst="rect">
            <a:avLst/>
          </a:prstGeom>
          <a:noFill/>
          <a:ln>
            <a:noFill/>
          </a:ln>
        </p:spPr>
        <p:txBody>
          <a:bodyPr vertOverflow="overflow" vert="horz" wrap="square" rtlCol="0" anchor="t">
            <a:noAutofit/>
          </a:bodyPr>
          <a:lstStyle/>
          <a:p>
            <a:pPr algn="l">
              <a:buNone/>
            </a:pPr>
            <a:r>
              <a:rPr lang="en-US" sz="2100" b="1" dirty="0">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rPr>
              <a:t>Predicted energy vs truth: visual preview across methods</a:t>
            </a:r>
          </a:p>
        </p:txBody>
      </p:sp>
      <p:sp>
        <p:nvSpPr>
          <p:cNvPr id="6" name="PageNum"/>
          <p:cNvSpPr txBox="1"/>
          <p:nvPr/>
        </p:nvSpPr>
        <p:spPr>
          <a:xfrm>
            <a:off x="8324850" y="4800600"/>
            <a:ext cx="685800" cy="228600"/>
          </a:xfrm>
          <a:prstGeom prst="rect">
            <a:avLst/>
          </a:prstGeom>
          <a:noFill/>
          <a:ln>
            <a:noFill/>
          </a:ln>
        </p:spPr>
        <p:txBody>
          <a:bodyPr vertOverflow="overflow" vert="horz" wrap="none" rtlCol="0" anchor="t">
            <a:noAutofit/>
          </a:bodyPr>
          <a:lstStyle/>
          <a:p>
            <a:pPr algn="ctr">
              <a:defRPr sz="750">
                <a:solidFill>
                  <a:srgbClr val="5E6B73"/>
                </a:solidFill>
                <a:latin typeface="Aptos"/>
              </a:defRPr>
            </a:pPr>
            <a:r>
              <a:rPr lang="en-US" sz="75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3 / 17</a:t>
            </a:r>
            <a:endParaRPr sz="75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endParaRPr>
          </a:p>
        </p:txBody>
      </p:sp>
      <p:pic>
        <p:nvPicPr>
          <p:cNvPr id="8" name="Picture 7">
            <a:extLst>
              <a:ext uri="{FF2B5EF4-FFF2-40B4-BE49-F238E27FC236}">
                <a16:creationId xmlns:a16="http://schemas.microsoft.com/office/drawing/2014/main" id="{47ED2056-E4AE-DEF7-B836-EB868E03C1E6}"/>
              </a:ext>
            </a:extLst>
          </p:cNvPr>
          <p:cNvPicPr>
            <a:picLocks noChangeAspect="1"/>
          </p:cNvPicPr>
          <p:nvPr/>
        </p:nvPicPr>
        <p:blipFill>
          <a:blip r:embed="rId3"/>
          <a:stretch>
            <a:fillRect/>
          </a:stretch>
        </p:blipFill>
        <p:spPr>
          <a:xfrm>
            <a:off x="0" y="1487870"/>
            <a:ext cx="9144000" cy="2167759"/>
          </a:xfrm>
          <a:prstGeom prst="rect">
            <a:avLst/>
          </a:prstGeom>
        </p:spPr>
      </p:pic>
      <p:sp>
        <p:nvSpPr>
          <p:cNvPr id="5" name="TextBox 4">
            <a:extLst>
              <a:ext uri="{FF2B5EF4-FFF2-40B4-BE49-F238E27FC236}">
                <a16:creationId xmlns:a16="http://schemas.microsoft.com/office/drawing/2014/main" id="{B213B937-F6ED-D184-48F9-49F7473EDFE0}"/>
              </a:ext>
            </a:extLst>
          </p:cNvPr>
          <p:cNvSpPr txBox="1"/>
          <p:nvPr/>
        </p:nvSpPr>
        <p:spPr>
          <a:xfrm>
            <a:off x="342900" y="1032813"/>
            <a:ext cx="2999539" cy="369332"/>
          </a:xfrm>
          <a:prstGeom prst="rect">
            <a:avLst/>
          </a:prstGeom>
          <a:noFill/>
        </p:spPr>
        <p:txBody>
          <a:bodyPr wrap="none" rtlCol="0">
            <a:spAutoFit/>
          </a:bodyPr>
          <a:lstStyle/>
          <a:p>
            <a:r>
              <a:rPr lang="en-US" dirty="0">
                <a:solidFill>
                  <a:srgbClr val="FF0000"/>
                </a:solidFill>
              </a:rPr>
              <a:t>Inspect the events near 2MeV</a:t>
            </a:r>
          </a:p>
        </p:txBody>
      </p:sp>
      <p:sp>
        <p:nvSpPr>
          <p:cNvPr id="7" name="TextBox 6">
            <a:extLst>
              <a:ext uri="{FF2B5EF4-FFF2-40B4-BE49-F238E27FC236}">
                <a16:creationId xmlns:a16="http://schemas.microsoft.com/office/drawing/2014/main" id="{3C47D474-0B78-DF24-8BEE-B642FD1ADE2F}"/>
              </a:ext>
            </a:extLst>
          </p:cNvPr>
          <p:cNvSpPr txBox="1"/>
          <p:nvPr/>
        </p:nvSpPr>
        <p:spPr>
          <a:xfrm>
            <a:off x="4510157" y="3742395"/>
            <a:ext cx="2973891" cy="369332"/>
          </a:xfrm>
          <a:prstGeom prst="rect">
            <a:avLst/>
          </a:prstGeom>
          <a:noFill/>
        </p:spPr>
        <p:txBody>
          <a:bodyPr wrap="none" rtlCol="0">
            <a:spAutoFit/>
          </a:bodyPr>
          <a:lstStyle/>
          <a:p>
            <a:r>
              <a:rPr lang="en-US" dirty="0">
                <a:solidFill>
                  <a:srgbClr val="FF0000"/>
                </a:solidFill>
              </a:rPr>
              <a:t>Separate the track multiplicity</a:t>
            </a:r>
          </a:p>
        </p:txBody>
      </p:sp>
      <p:sp>
        <p:nvSpPr>
          <p:cNvPr id="9" name="TextBox 8">
            <a:extLst>
              <a:ext uri="{FF2B5EF4-FFF2-40B4-BE49-F238E27FC236}">
                <a16:creationId xmlns:a16="http://schemas.microsoft.com/office/drawing/2014/main" id="{3716968B-185E-C823-5107-5E7B19C36555}"/>
              </a:ext>
            </a:extLst>
          </p:cNvPr>
          <p:cNvSpPr txBox="1"/>
          <p:nvPr/>
        </p:nvSpPr>
        <p:spPr>
          <a:xfrm>
            <a:off x="4262783" y="852557"/>
            <a:ext cx="1376274" cy="369332"/>
          </a:xfrm>
          <a:prstGeom prst="rect">
            <a:avLst/>
          </a:prstGeom>
          <a:noFill/>
        </p:spPr>
        <p:txBody>
          <a:bodyPr wrap="none" rtlCol="0">
            <a:spAutoFit/>
          </a:bodyPr>
          <a:lstStyle/>
          <a:p>
            <a:r>
              <a:rPr lang="en-US" dirty="0"/>
              <a:t>Total Energy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ottomRule"/>
          <p:cNvSpPr/>
          <p:nvPr/>
        </p:nvSpPr>
        <p:spPr>
          <a:xfrm>
            <a:off x="342900" y="4695825"/>
            <a:ext cx="8458200" cy="19050"/>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 name="HeaderBand"/>
          <p:cNvSpPr/>
          <p:nvPr/>
        </p:nvSpPr>
        <p:spPr>
          <a:xfrm>
            <a:off x="0" y="0"/>
            <a:ext cx="9144000" cy="523875"/>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6" name="TextBox 5"/>
          <p:cNvSpPr txBox="1"/>
          <p:nvPr/>
        </p:nvSpPr>
        <p:spPr>
          <a:xfrm>
            <a:off x="6126480" y="1593009"/>
            <a:ext cx="2560320" cy="2928112"/>
          </a:xfrm>
          <a:prstGeom prst="rect">
            <a:avLst/>
          </a:prstGeom>
          <a:noFill/>
        </p:spPr>
        <p:txBody>
          <a:bodyPr wrap="square" lIns="0" tIns="0" rIns="0" bIns="0" anchor="t">
            <a:noAutofit/>
          </a:bodyPr>
          <a:lstStyle/>
          <a:p>
            <a:pPr algn="l">
              <a:lnSpc>
                <a:spcPct val="115000"/>
              </a:lnSpc>
              <a:spcAft>
                <a:spcPts val="200"/>
              </a:spcAft>
            </a:pPr>
            <a:r>
              <a:rPr sz="1500" b="1" i="0" dirty="0">
                <a:solidFill>
                  <a:srgbClr val="1F2933"/>
                </a:solidFill>
                <a:latin typeface="Times New Roman" panose="02020603050405020304" pitchFamily="18" charset="0"/>
                <a:cs typeface="Times New Roman" panose="02020603050405020304" pitchFamily="18" charset="0"/>
                <a:sym typeface="Times New Roman" panose="02020603050405020304" pitchFamily="18" charset="0"/>
              </a:rPr>
              <a:t>Low-energy advantage</a:t>
            </a:r>
          </a:p>
          <a:p>
            <a:pPr algn="l">
              <a:lnSpc>
                <a:spcPct val="130000"/>
              </a:lnSpc>
              <a:spcAft>
                <a:spcPts val="1000"/>
              </a:spcAft>
            </a:pPr>
            <a:r>
              <a:rPr sz="1300" b="0" i="0" dirty="0" err="1">
                <a:solidFill>
                  <a:srgbClr val="1F2933"/>
                </a:solidFill>
                <a:latin typeface="Times New Roman" panose="02020603050405020304" pitchFamily="18" charset="0"/>
                <a:cs typeface="Times New Roman" panose="02020603050405020304" pitchFamily="18" charset="0"/>
                <a:sym typeface="Times New Roman" panose="02020603050405020304" pitchFamily="18" charset="0"/>
              </a:rPr>
              <a:t>CrossAttention</a:t>
            </a:r>
            <a:r>
              <a:rPr sz="1300" b="0" i="0" dirty="0">
                <a:solidFill>
                  <a:srgbClr val="1F2933"/>
                </a:solidFill>
                <a:latin typeface="Times New Roman" panose="02020603050405020304" pitchFamily="18" charset="0"/>
                <a:cs typeface="Times New Roman" panose="02020603050405020304" pitchFamily="18" charset="0"/>
                <a:sym typeface="Times New Roman" panose="02020603050405020304" pitchFamily="18" charset="0"/>
              </a:rPr>
              <a:t> is especially strong below about 2 MeV.</a:t>
            </a:r>
          </a:p>
          <a:p>
            <a:pPr algn="l">
              <a:lnSpc>
                <a:spcPct val="115000"/>
              </a:lnSpc>
              <a:spcAft>
                <a:spcPts val="200"/>
              </a:spcAft>
            </a:pPr>
            <a:r>
              <a:rPr sz="1500" b="1" i="0" dirty="0">
                <a:solidFill>
                  <a:srgbClr val="1F2933"/>
                </a:solidFill>
                <a:latin typeface="Times New Roman" panose="02020603050405020304" pitchFamily="18" charset="0"/>
                <a:cs typeface="Times New Roman" panose="02020603050405020304" pitchFamily="18" charset="0"/>
                <a:sym typeface="Times New Roman" panose="02020603050405020304" pitchFamily="18" charset="0"/>
              </a:rPr>
              <a:t>High-energy regime</a:t>
            </a:r>
          </a:p>
          <a:p>
            <a:pPr algn="l">
              <a:lnSpc>
                <a:spcPct val="130000"/>
              </a:lnSpc>
              <a:spcAft>
                <a:spcPts val="1000"/>
              </a:spcAft>
            </a:pPr>
            <a:r>
              <a:rPr sz="1300" b="0" i="0" dirty="0">
                <a:solidFill>
                  <a:srgbClr val="1F2933"/>
                </a:solidFill>
                <a:latin typeface="Times New Roman" panose="02020603050405020304" pitchFamily="18" charset="0"/>
                <a:cs typeface="Times New Roman" panose="02020603050405020304" pitchFamily="18" charset="0"/>
                <a:sym typeface="Times New Roman" panose="02020603050405020304" pitchFamily="18" charset="0"/>
              </a:rPr>
              <a:t>Clipping and partial tracks make this the harder region.</a:t>
            </a:r>
          </a:p>
        </p:txBody>
      </p:sp>
      <p:sp>
        <p:nvSpPr>
          <p:cNvPr id="201" name="Subtitle"/>
          <p:cNvSpPr txBox="1"/>
          <p:nvPr/>
        </p:nvSpPr>
        <p:spPr>
          <a:xfrm>
            <a:off x="457200" y="698500"/>
            <a:ext cx="8229600" cy="406400"/>
          </a:xfrm>
          <a:prstGeom prst="rect">
            <a:avLst/>
          </a:prstGeom>
          <a:noFill/>
          <a:ln>
            <a:noFill/>
          </a:ln>
        </p:spPr>
        <p:txBody>
          <a:bodyPr wrap="square" lIns="0" tIns="0" rIns="0" bIns="0" anchor="t"/>
          <a:lstStyle/>
          <a:p>
            <a:pPr algn="l"/>
            <a:r>
              <a:rPr lang="en-US" sz="1200" i="1">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Per-bin RMSE confirms the main effect; high-energy bins remain harder because tracks are more often clipped.</a:t>
            </a:r>
            <a:endParaRPr lang="en-US" sz="1200" i="1" dirty="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03" name="Footer"/>
          <p:cNvSpPr txBox="1"/>
          <p:nvPr/>
        </p:nvSpPr>
        <p:spPr>
          <a:xfrm>
            <a:off x="457200" y="4826000"/>
            <a:ext cx="6858000" cy="228600"/>
          </a:xfrm>
          <a:prstGeom prst="rect">
            <a:avLst/>
          </a:prstGeom>
          <a:noFill/>
          <a:ln>
            <a:noFill/>
          </a:ln>
        </p:spPr>
        <p:txBody>
          <a:bodyPr wrap="square" lIns="0" tIns="0" rIns="0" bIns="0" anchor="t"/>
          <a:lstStyle/>
          <a:p>
            <a:pPr algn="l"/>
            <a:r>
              <a:rPr lang="en-US" sz="1000" dirty="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TRK energy regression</a:t>
            </a:r>
          </a:p>
        </p:txBody>
      </p:sp>
      <p:sp>
        <p:nvSpPr>
          <p:cNvPr id="3" name="HeaderTitle"/>
          <p:cNvSpPr txBox="1"/>
          <p:nvPr/>
        </p:nvSpPr>
        <p:spPr>
          <a:xfrm>
            <a:off x="476250" y="76200"/>
            <a:ext cx="8191500" cy="415544"/>
          </a:xfrm>
          <a:prstGeom prst="rect">
            <a:avLst/>
          </a:prstGeom>
          <a:noFill/>
          <a:ln>
            <a:noFill/>
          </a:ln>
        </p:spPr>
        <p:txBody>
          <a:bodyPr vertOverflow="overflow" vert="horz" wrap="square" rtlCol="0" anchor="t">
            <a:noAutofit/>
          </a:bodyPr>
          <a:lstStyle/>
          <a:p>
            <a:pPr algn="l">
              <a:buNone/>
            </a:pPr>
            <a:r>
              <a:rPr lang="en-US" sz="2100" b="1">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rPr>
              <a:t>Energy bins: CrossAttention leads, especially below 2 MeV</a:t>
            </a:r>
            <a:endParaRPr lang="en-US" sz="2100" b="1" dirty="0">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8" name="PageNum"/>
          <p:cNvSpPr txBox="1"/>
          <p:nvPr/>
        </p:nvSpPr>
        <p:spPr>
          <a:xfrm>
            <a:off x="8324850" y="4800600"/>
            <a:ext cx="685800" cy="228600"/>
          </a:xfrm>
          <a:prstGeom prst="rect">
            <a:avLst/>
          </a:prstGeom>
          <a:noFill/>
          <a:ln>
            <a:noFill/>
          </a:ln>
        </p:spPr>
        <p:txBody>
          <a:bodyPr vertOverflow="overflow" vert="horz" wrap="none" rtlCol="0" anchor="t">
            <a:noAutofit/>
          </a:bodyPr>
          <a:lstStyle/>
          <a:p>
            <a:pPr algn="ctr">
              <a:defRPr sz="750">
                <a:solidFill>
                  <a:srgbClr val="5E6B73"/>
                </a:solidFill>
                <a:latin typeface="Aptos"/>
              </a:defRPr>
            </a:pPr>
            <a:r>
              <a:rPr lang="en-US" sz="75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4 / 17</a:t>
            </a:r>
            <a:endParaRPr sz="75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endParaRPr>
          </a:p>
        </p:txBody>
      </p:sp>
      <p:pic>
        <p:nvPicPr>
          <p:cNvPr id="10" name="Picture 9">
            <a:extLst>
              <a:ext uri="{FF2B5EF4-FFF2-40B4-BE49-F238E27FC236}">
                <a16:creationId xmlns:a16="http://schemas.microsoft.com/office/drawing/2014/main" id="{E5942419-D857-FDDE-A258-E4D1185233BC}"/>
              </a:ext>
            </a:extLst>
          </p:cNvPr>
          <p:cNvPicPr>
            <a:picLocks noChangeAspect="1"/>
          </p:cNvPicPr>
          <p:nvPr/>
        </p:nvPicPr>
        <p:blipFill>
          <a:blip r:embed="rId3"/>
          <a:stretch>
            <a:fillRect/>
          </a:stretch>
        </p:blipFill>
        <p:spPr>
          <a:xfrm>
            <a:off x="41108" y="1120545"/>
            <a:ext cx="5990499" cy="309696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ottomRule"/>
          <p:cNvSpPr/>
          <p:nvPr/>
        </p:nvSpPr>
        <p:spPr>
          <a:xfrm>
            <a:off x="342900" y="4695825"/>
            <a:ext cx="8458200" cy="19050"/>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 name="HeaderBand"/>
          <p:cNvSpPr/>
          <p:nvPr/>
        </p:nvSpPr>
        <p:spPr>
          <a:xfrm>
            <a:off x="0" y="0"/>
            <a:ext cx="9144000" cy="523875"/>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cxnSp>
        <p:nvCxnSpPr>
          <p:cNvPr id="5" name="Connector 4"/>
          <p:cNvCxnSpPr/>
          <p:nvPr/>
        </p:nvCxnSpPr>
        <p:spPr>
          <a:xfrm>
            <a:off x="685800" y="1200164"/>
            <a:ext cx="5056590" cy="0"/>
          </a:xfrm>
          <a:prstGeom prst="line">
            <a:avLst/>
          </a:prstGeom>
          <a:ln w="15240">
            <a:solidFill>
              <a:srgbClr val="22222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1236740"/>
            <a:ext cx="1828800" cy="237744"/>
          </a:xfrm>
          <a:prstGeom prst="rect">
            <a:avLst/>
          </a:prstGeom>
          <a:noFill/>
        </p:spPr>
        <p:txBody>
          <a:bodyPr wrap="square" lIns="0" tIns="0" rIns="0" bIns="0" anchor="t">
            <a:noAutofit/>
          </a:bodyPr>
          <a:lstStyle/>
          <a:p>
            <a:pPr algn="l">
              <a:lnSpc>
                <a:spcPct val="100000"/>
              </a:lnSpc>
            </a:pPr>
            <a:r>
              <a:rPr sz="1300" b="1" i="0">
                <a:solidFill>
                  <a:srgbClr val="1F2933"/>
                </a:solidFill>
                <a:latin typeface="Times New Roman" panose="02020603050405020304" pitchFamily="18" charset="0"/>
                <a:cs typeface="Times New Roman" panose="02020603050405020304" pitchFamily="18" charset="0"/>
                <a:sym typeface="Times New Roman" panose="02020603050405020304" pitchFamily="18" charset="0"/>
              </a:rPr>
              <a:t>Method</a:t>
            </a:r>
          </a:p>
        </p:txBody>
      </p:sp>
      <p:sp>
        <p:nvSpPr>
          <p:cNvPr id="7" name="TextBox 6"/>
          <p:cNvSpPr txBox="1"/>
          <p:nvPr/>
        </p:nvSpPr>
        <p:spPr>
          <a:xfrm>
            <a:off x="2306862" y="1236740"/>
            <a:ext cx="780000" cy="237744"/>
          </a:xfrm>
          <a:prstGeom prst="rect">
            <a:avLst/>
          </a:prstGeom>
          <a:noFill/>
        </p:spPr>
        <p:txBody>
          <a:bodyPr wrap="square" lIns="0" tIns="0" rIns="0" bIns="0" anchor="t">
            <a:noAutofit/>
          </a:bodyPr>
          <a:lstStyle/>
          <a:p>
            <a:pPr algn="r">
              <a:lnSpc>
                <a:spcPct val="100000"/>
              </a:lnSpc>
            </a:pPr>
            <a:r>
              <a:rPr sz="1300" b="1" i="0" dirty="0">
                <a:solidFill>
                  <a:srgbClr val="1F2933"/>
                </a:solidFill>
                <a:latin typeface="Times New Roman" panose="02020603050405020304" pitchFamily="18" charset="0"/>
                <a:cs typeface="Times New Roman" panose="02020603050405020304" pitchFamily="18" charset="0"/>
                <a:sym typeface="Times New Roman" panose="02020603050405020304" pitchFamily="18" charset="0"/>
              </a:rPr>
              <a:t>RMSE</a:t>
            </a:r>
          </a:p>
        </p:txBody>
      </p:sp>
      <p:sp>
        <p:nvSpPr>
          <p:cNvPr id="8" name="TextBox 7"/>
          <p:cNvSpPr txBox="1"/>
          <p:nvPr/>
        </p:nvSpPr>
        <p:spPr>
          <a:xfrm>
            <a:off x="3206862" y="1236740"/>
            <a:ext cx="780000" cy="237744"/>
          </a:xfrm>
          <a:prstGeom prst="rect">
            <a:avLst/>
          </a:prstGeom>
          <a:noFill/>
        </p:spPr>
        <p:txBody>
          <a:bodyPr wrap="square" lIns="0" tIns="0" rIns="0" bIns="0" anchor="t">
            <a:noAutofit/>
          </a:bodyPr>
          <a:lstStyle/>
          <a:p>
            <a:pPr algn="r">
              <a:lnSpc>
                <a:spcPct val="100000"/>
              </a:lnSpc>
            </a:pPr>
            <a:r>
              <a:rPr sz="1300" b="1" i="0" dirty="0">
                <a:solidFill>
                  <a:srgbClr val="1F2933"/>
                </a:solidFill>
                <a:latin typeface="Times New Roman" panose="02020603050405020304" pitchFamily="18" charset="0"/>
                <a:cs typeface="Times New Roman" panose="02020603050405020304" pitchFamily="18" charset="0"/>
                <a:sym typeface="Times New Roman" panose="02020603050405020304" pitchFamily="18" charset="0"/>
              </a:rPr>
              <a:t>MAE</a:t>
            </a:r>
          </a:p>
        </p:txBody>
      </p:sp>
      <p:sp>
        <p:nvSpPr>
          <p:cNvPr id="9" name="TextBox 8"/>
          <p:cNvSpPr txBox="1"/>
          <p:nvPr/>
        </p:nvSpPr>
        <p:spPr>
          <a:xfrm>
            <a:off x="3934709" y="1236740"/>
            <a:ext cx="1821237" cy="237744"/>
          </a:xfrm>
          <a:prstGeom prst="rect">
            <a:avLst/>
          </a:prstGeom>
          <a:noFill/>
        </p:spPr>
        <p:txBody>
          <a:bodyPr wrap="square" lIns="0" tIns="0" rIns="0" bIns="0" anchor="t">
            <a:noAutofit/>
          </a:bodyPr>
          <a:lstStyle/>
          <a:p>
            <a:pPr algn="r">
              <a:lnSpc>
                <a:spcPct val="100000"/>
              </a:lnSpc>
            </a:pPr>
            <a:r>
              <a:rPr sz="1300" b="1" dirty="0">
                <a:solidFill>
                  <a:srgbClr val="1F2933"/>
                </a:solidFill>
                <a:latin typeface="Times New Roman" panose="02020603050405020304" pitchFamily="18" charset="0"/>
                <a:cs typeface="Times New Roman" panose="02020603050405020304" pitchFamily="18" charset="0"/>
                <a:sym typeface="Times New Roman" panose="02020603050405020304" pitchFamily="18" charset="0"/>
              </a:rPr>
              <a:t>Missing tracks/ratio</a:t>
            </a:r>
          </a:p>
        </p:txBody>
      </p:sp>
      <p:cxnSp>
        <p:nvCxnSpPr>
          <p:cNvPr id="10" name="Connector 9"/>
          <p:cNvCxnSpPr/>
          <p:nvPr/>
        </p:nvCxnSpPr>
        <p:spPr>
          <a:xfrm>
            <a:off x="685800" y="1474484"/>
            <a:ext cx="5056590" cy="0"/>
          </a:xfrm>
          <a:prstGeom prst="line">
            <a:avLst/>
          </a:prstGeom>
          <a:ln w="10160">
            <a:solidFill>
              <a:srgbClr val="222222"/>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31520" y="1511060"/>
            <a:ext cx="1828800" cy="237744"/>
          </a:xfrm>
          <a:prstGeom prst="rect">
            <a:avLst/>
          </a:prstGeom>
          <a:noFill/>
        </p:spPr>
        <p:txBody>
          <a:bodyPr wrap="square" lIns="0" tIns="0" rIns="0" bIns="0" anchor="t">
            <a:noAutofit/>
          </a:bodyPr>
          <a:lstStyle/>
          <a:p>
            <a:pPr algn="l">
              <a:lnSpc>
                <a:spcPct val="100000"/>
              </a:lnSpc>
            </a:pPr>
            <a:r>
              <a:rPr sz="1300" b="1" i="0">
                <a:solidFill>
                  <a:srgbClr val="1F2933"/>
                </a:solidFill>
                <a:latin typeface="Times New Roman" panose="02020603050405020304" pitchFamily="18" charset="0"/>
                <a:cs typeface="Times New Roman" panose="02020603050405020304" pitchFamily="18" charset="0"/>
                <a:sym typeface="Times New Roman" panose="02020603050405020304" pitchFamily="18" charset="0"/>
              </a:rPr>
              <a:t>CrossAttention</a:t>
            </a:r>
          </a:p>
        </p:txBody>
      </p:sp>
      <p:sp>
        <p:nvSpPr>
          <p:cNvPr id="12" name="TextBox 11"/>
          <p:cNvSpPr txBox="1"/>
          <p:nvPr/>
        </p:nvSpPr>
        <p:spPr>
          <a:xfrm>
            <a:off x="2306862" y="1511060"/>
            <a:ext cx="780000" cy="237744"/>
          </a:xfrm>
          <a:prstGeom prst="rect">
            <a:avLst/>
          </a:prstGeom>
          <a:noFill/>
        </p:spPr>
        <p:txBody>
          <a:bodyPr wrap="square" lIns="0" tIns="0" rIns="0" bIns="0" anchor="t">
            <a:noAutofit/>
          </a:bodyPr>
          <a:lstStyle/>
          <a:p>
            <a:pPr algn="r">
              <a:lnSpc>
                <a:spcPct val="100000"/>
              </a:lnSpc>
            </a:pPr>
            <a:r>
              <a:rPr sz="1300" b="1" i="0" dirty="0">
                <a:solidFill>
                  <a:srgbClr val="1F2933"/>
                </a:solidFill>
                <a:latin typeface="Times New Roman" panose="02020603050405020304" pitchFamily="18" charset="0"/>
                <a:cs typeface="Times New Roman" panose="02020603050405020304" pitchFamily="18" charset="0"/>
                <a:sym typeface="Times New Roman" panose="02020603050405020304" pitchFamily="18" charset="0"/>
              </a:rPr>
              <a:t>0.0188</a:t>
            </a:r>
          </a:p>
        </p:txBody>
      </p:sp>
      <p:sp>
        <p:nvSpPr>
          <p:cNvPr id="13" name="TextBox 12"/>
          <p:cNvSpPr txBox="1"/>
          <p:nvPr/>
        </p:nvSpPr>
        <p:spPr>
          <a:xfrm>
            <a:off x="3206862" y="1511060"/>
            <a:ext cx="780000" cy="237744"/>
          </a:xfrm>
          <a:prstGeom prst="rect">
            <a:avLst/>
          </a:prstGeom>
          <a:noFill/>
        </p:spPr>
        <p:txBody>
          <a:bodyPr wrap="square" lIns="0" tIns="0" rIns="0" bIns="0" anchor="t">
            <a:noAutofit/>
          </a:bodyPr>
          <a:lstStyle/>
          <a:p>
            <a:pPr algn="r">
              <a:lnSpc>
                <a:spcPct val="100000"/>
              </a:lnSpc>
            </a:pPr>
            <a:r>
              <a:rPr sz="1300" b="1" i="0">
                <a:solidFill>
                  <a:srgbClr val="1F2933"/>
                </a:solidFill>
                <a:latin typeface="Times New Roman" panose="02020603050405020304" pitchFamily="18" charset="0"/>
                <a:cs typeface="Times New Roman" panose="02020603050405020304" pitchFamily="18" charset="0"/>
                <a:sym typeface="Times New Roman" panose="02020603050405020304" pitchFamily="18" charset="0"/>
              </a:rPr>
              <a:t>0.0093</a:t>
            </a:r>
          </a:p>
        </p:txBody>
      </p:sp>
      <p:sp>
        <p:nvSpPr>
          <p:cNvPr id="14" name="TextBox 13"/>
          <p:cNvSpPr txBox="1"/>
          <p:nvPr/>
        </p:nvSpPr>
        <p:spPr>
          <a:xfrm>
            <a:off x="4310000" y="1511060"/>
            <a:ext cx="1380000" cy="237744"/>
          </a:xfrm>
          <a:prstGeom prst="rect">
            <a:avLst/>
          </a:prstGeom>
          <a:noFill/>
        </p:spPr>
        <p:txBody>
          <a:bodyPr wrap="square" lIns="0" tIns="0" rIns="0" bIns="0" anchor="t">
            <a:noAutofit/>
          </a:bodyPr>
          <a:lstStyle/>
          <a:p>
            <a:pPr algn="r">
              <a:lnSpc>
                <a:spcPct val="100000"/>
              </a:lnSpc>
            </a:pPr>
            <a:r>
              <a:rPr sz="1200" b="1" i="0" dirty="0">
                <a:solidFill>
                  <a:srgbClr val="1F2933"/>
                </a:solidFill>
                <a:latin typeface="Times New Roman" panose="02020603050405020304" pitchFamily="18" charset="0"/>
                <a:cs typeface="Times New Roman" panose="02020603050405020304" pitchFamily="18" charset="0"/>
                <a:sym typeface="Times New Roman" panose="02020603050405020304" pitchFamily="18" charset="0"/>
              </a:rPr>
              <a:t>0 / 0.00%</a:t>
            </a:r>
          </a:p>
        </p:txBody>
      </p:sp>
      <p:cxnSp>
        <p:nvCxnSpPr>
          <p:cNvPr id="15" name="Connector 14"/>
          <p:cNvCxnSpPr/>
          <p:nvPr/>
        </p:nvCxnSpPr>
        <p:spPr>
          <a:xfrm>
            <a:off x="685800" y="1748804"/>
            <a:ext cx="5056590" cy="0"/>
          </a:xfrm>
          <a:prstGeom prst="line">
            <a:avLst/>
          </a:prstGeom>
          <a:ln w="6350">
            <a:solidFill>
              <a:srgbClr val="DDDDDD"/>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31520" y="1785380"/>
            <a:ext cx="1828800" cy="237744"/>
          </a:xfrm>
          <a:prstGeom prst="rect">
            <a:avLst/>
          </a:prstGeom>
          <a:noFill/>
        </p:spPr>
        <p:txBody>
          <a:bodyPr wrap="square" lIns="0" tIns="0" rIns="0" bIns="0" anchor="t">
            <a:noAutofit/>
          </a:bodyPr>
          <a:lstStyle/>
          <a:p>
            <a:pPr algn="l">
              <a:lnSpc>
                <a:spcPct val="100000"/>
              </a:lnSpc>
            </a:pPr>
            <a:r>
              <a:rPr sz="1300" b="0" i="0">
                <a:solidFill>
                  <a:srgbClr val="1F2933"/>
                </a:solidFill>
                <a:latin typeface="Times New Roman" panose="02020603050405020304" pitchFamily="18" charset="0"/>
                <a:cs typeface="Times New Roman" panose="02020603050405020304" pitchFamily="18" charset="0"/>
                <a:sym typeface="Times New Roman" panose="02020603050405020304" pitchFamily="18" charset="0"/>
              </a:rPr>
              <a:t>ResNet</a:t>
            </a:r>
          </a:p>
        </p:txBody>
      </p:sp>
      <p:sp>
        <p:nvSpPr>
          <p:cNvPr id="17" name="TextBox 16"/>
          <p:cNvSpPr txBox="1"/>
          <p:nvPr/>
        </p:nvSpPr>
        <p:spPr>
          <a:xfrm>
            <a:off x="2306862" y="1785380"/>
            <a:ext cx="780000" cy="237744"/>
          </a:xfrm>
          <a:prstGeom prst="rect">
            <a:avLst/>
          </a:prstGeom>
          <a:noFill/>
        </p:spPr>
        <p:txBody>
          <a:bodyPr wrap="square" lIns="0" tIns="0" rIns="0" bIns="0" anchor="t">
            <a:noAutofit/>
          </a:bodyPr>
          <a:lstStyle/>
          <a:p>
            <a:pPr algn="r">
              <a:lnSpc>
                <a:spcPct val="100000"/>
              </a:lnSpc>
            </a:pPr>
            <a:r>
              <a:rPr sz="1300" b="0" i="0">
                <a:solidFill>
                  <a:srgbClr val="1F2933"/>
                </a:solidFill>
                <a:latin typeface="Times New Roman" panose="02020603050405020304" pitchFamily="18" charset="0"/>
                <a:cs typeface="Times New Roman" panose="02020603050405020304" pitchFamily="18" charset="0"/>
                <a:sym typeface="Times New Roman" panose="02020603050405020304" pitchFamily="18" charset="0"/>
              </a:rPr>
              <a:t>0.0229</a:t>
            </a:r>
          </a:p>
        </p:txBody>
      </p:sp>
      <p:sp>
        <p:nvSpPr>
          <p:cNvPr id="18" name="TextBox 17"/>
          <p:cNvSpPr txBox="1"/>
          <p:nvPr/>
        </p:nvSpPr>
        <p:spPr>
          <a:xfrm>
            <a:off x="3206862" y="1785380"/>
            <a:ext cx="780000" cy="237744"/>
          </a:xfrm>
          <a:prstGeom prst="rect">
            <a:avLst/>
          </a:prstGeom>
          <a:noFill/>
        </p:spPr>
        <p:txBody>
          <a:bodyPr wrap="square" lIns="0" tIns="0" rIns="0" bIns="0" anchor="t">
            <a:noAutofit/>
          </a:bodyPr>
          <a:lstStyle/>
          <a:p>
            <a:pPr algn="r">
              <a:lnSpc>
                <a:spcPct val="100000"/>
              </a:lnSpc>
            </a:pPr>
            <a:r>
              <a:rPr sz="1300" b="0" i="0">
                <a:solidFill>
                  <a:srgbClr val="1F2933"/>
                </a:solidFill>
                <a:latin typeface="Times New Roman" panose="02020603050405020304" pitchFamily="18" charset="0"/>
                <a:cs typeface="Times New Roman" panose="02020603050405020304" pitchFamily="18" charset="0"/>
                <a:sym typeface="Times New Roman" panose="02020603050405020304" pitchFamily="18" charset="0"/>
              </a:rPr>
              <a:t>0.0137</a:t>
            </a:r>
          </a:p>
        </p:txBody>
      </p:sp>
      <p:sp>
        <p:nvSpPr>
          <p:cNvPr id="19" name="TextBox 18"/>
          <p:cNvSpPr txBox="1"/>
          <p:nvPr/>
        </p:nvSpPr>
        <p:spPr>
          <a:xfrm>
            <a:off x="4310000" y="1785380"/>
            <a:ext cx="1380000" cy="237744"/>
          </a:xfrm>
          <a:prstGeom prst="rect">
            <a:avLst/>
          </a:prstGeom>
          <a:noFill/>
        </p:spPr>
        <p:txBody>
          <a:bodyPr wrap="square" lIns="0" tIns="0" rIns="0" bIns="0" anchor="t">
            <a:noAutofit/>
          </a:bodyPr>
          <a:lstStyle/>
          <a:p>
            <a:pPr algn="r">
              <a:lnSpc>
                <a:spcPct val="100000"/>
              </a:lnSpc>
            </a:pPr>
            <a:r>
              <a:rPr sz="1200" b="0" i="0">
                <a:solidFill>
                  <a:srgbClr val="1F2933"/>
                </a:solidFill>
                <a:latin typeface="Times New Roman" panose="02020603050405020304" pitchFamily="18" charset="0"/>
                <a:cs typeface="Times New Roman" panose="02020603050405020304" pitchFamily="18" charset="0"/>
                <a:sym typeface="Times New Roman" panose="02020603050405020304" pitchFamily="18" charset="0"/>
              </a:rPr>
              <a:t>0 / 0.00%</a:t>
            </a:r>
          </a:p>
        </p:txBody>
      </p:sp>
      <p:cxnSp>
        <p:nvCxnSpPr>
          <p:cNvPr id="20" name="Connector 19"/>
          <p:cNvCxnSpPr/>
          <p:nvPr/>
        </p:nvCxnSpPr>
        <p:spPr>
          <a:xfrm>
            <a:off x="685800" y="2023124"/>
            <a:ext cx="5056590" cy="0"/>
          </a:xfrm>
          <a:prstGeom prst="line">
            <a:avLst/>
          </a:prstGeom>
          <a:ln w="6350">
            <a:solidFill>
              <a:srgbClr val="DDDDDD"/>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31520" y="2059700"/>
            <a:ext cx="1828800" cy="237744"/>
          </a:xfrm>
          <a:prstGeom prst="rect">
            <a:avLst/>
          </a:prstGeom>
          <a:noFill/>
        </p:spPr>
        <p:txBody>
          <a:bodyPr wrap="square" lIns="0" tIns="0" rIns="0" bIns="0" anchor="t">
            <a:noAutofit/>
          </a:bodyPr>
          <a:lstStyle/>
          <a:p>
            <a:pPr algn="l">
              <a:lnSpc>
                <a:spcPct val="100000"/>
              </a:lnSpc>
            </a:pPr>
            <a:r>
              <a:rPr sz="1300" b="0" i="0">
                <a:solidFill>
                  <a:srgbClr val="1F2933"/>
                </a:solidFill>
                <a:latin typeface="Times New Roman" panose="02020603050405020304" pitchFamily="18" charset="0"/>
                <a:cs typeface="Times New Roman" panose="02020603050405020304" pitchFamily="18" charset="0"/>
                <a:sym typeface="Times New Roman" panose="02020603050405020304" pitchFamily="18" charset="0"/>
              </a:rPr>
              <a:t>RANSAC</a:t>
            </a:r>
          </a:p>
        </p:txBody>
      </p:sp>
      <p:sp>
        <p:nvSpPr>
          <p:cNvPr id="22" name="TextBox 21"/>
          <p:cNvSpPr txBox="1"/>
          <p:nvPr/>
        </p:nvSpPr>
        <p:spPr>
          <a:xfrm>
            <a:off x="2306862" y="2059700"/>
            <a:ext cx="780000" cy="237744"/>
          </a:xfrm>
          <a:prstGeom prst="rect">
            <a:avLst/>
          </a:prstGeom>
          <a:noFill/>
        </p:spPr>
        <p:txBody>
          <a:bodyPr wrap="square" lIns="0" tIns="0" rIns="0" bIns="0" anchor="t">
            <a:noAutofit/>
          </a:bodyPr>
          <a:lstStyle/>
          <a:p>
            <a:pPr algn="r">
              <a:lnSpc>
                <a:spcPct val="100000"/>
              </a:lnSpc>
            </a:pPr>
            <a:r>
              <a:rPr sz="1300" b="0" i="0">
                <a:solidFill>
                  <a:srgbClr val="1F2933"/>
                </a:solidFill>
                <a:latin typeface="Times New Roman" panose="02020603050405020304" pitchFamily="18" charset="0"/>
                <a:cs typeface="Times New Roman" panose="02020603050405020304" pitchFamily="18" charset="0"/>
                <a:sym typeface="Times New Roman" panose="02020603050405020304" pitchFamily="18" charset="0"/>
              </a:rPr>
              <a:t>1.1734</a:t>
            </a:r>
          </a:p>
        </p:txBody>
      </p:sp>
      <p:sp>
        <p:nvSpPr>
          <p:cNvPr id="23" name="TextBox 22"/>
          <p:cNvSpPr txBox="1"/>
          <p:nvPr/>
        </p:nvSpPr>
        <p:spPr>
          <a:xfrm>
            <a:off x="3206862" y="2059700"/>
            <a:ext cx="780000" cy="237744"/>
          </a:xfrm>
          <a:prstGeom prst="rect">
            <a:avLst/>
          </a:prstGeom>
          <a:noFill/>
        </p:spPr>
        <p:txBody>
          <a:bodyPr wrap="square" lIns="0" tIns="0" rIns="0" bIns="0" anchor="t">
            <a:noAutofit/>
          </a:bodyPr>
          <a:lstStyle/>
          <a:p>
            <a:pPr algn="r">
              <a:lnSpc>
                <a:spcPct val="100000"/>
              </a:lnSpc>
            </a:pPr>
            <a:r>
              <a:rPr sz="1300" b="0" i="0">
                <a:solidFill>
                  <a:srgbClr val="1F2933"/>
                </a:solidFill>
                <a:latin typeface="Times New Roman" panose="02020603050405020304" pitchFamily="18" charset="0"/>
                <a:cs typeface="Times New Roman" panose="02020603050405020304" pitchFamily="18" charset="0"/>
                <a:sym typeface="Times New Roman" panose="02020603050405020304" pitchFamily="18" charset="0"/>
              </a:rPr>
              <a:t>0.9663</a:t>
            </a:r>
          </a:p>
        </p:txBody>
      </p:sp>
      <p:sp>
        <p:nvSpPr>
          <p:cNvPr id="24" name="TextBox 23"/>
          <p:cNvSpPr txBox="1"/>
          <p:nvPr/>
        </p:nvSpPr>
        <p:spPr>
          <a:xfrm>
            <a:off x="4310000" y="2059700"/>
            <a:ext cx="1380000" cy="237744"/>
          </a:xfrm>
          <a:prstGeom prst="rect">
            <a:avLst/>
          </a:prstGeom>
          <a:noFill/>
        </p:spPr>
        <p:txBody>
          <a:bodyPr wrap="square" lIns="0" tIns="0" rIns="0" bIns="0" anchor="t">
            <a:noAutofit/>
          </a:bodyPr>
          <a:lstStyle/>
          <a:p>
            <a:pPr algn="r">
              <a:lnSpc>
                <a:spcPct val="100000"/>
              </a:lnSpc>
            </a:pPr>
            <a:r>
              <a:rPr sz="1200" b="0" i="0">
                <a:solidFill>
                  <a:srgbClr val="1F2933"/>
                </a:solidFill>
                <a:latin typeface="Times New Roman" panose="02020603050405020304" pitchFamily="18" charset="0"/>
                <a:cs typeface="Times New Roman" panose="02020603050405020304" pitchFamily="18" charset="0"/>
                <a:sym typeface="Times New Roman" panose="02020603050405020304" pitchFamily="18" charset="0"/>
              </a:rPr>
              <a:t>11,513 / 2.56%</a:t>
            </a:r>
          </a:p>
        </p:txBody>
      </p:sp>
      <p:cxnSp>
        <p:nvCxnSpPr>
          <p:cNvPr id="25" name="Connector 24"/>
          <p:cNvCxnSpPr/>
          <p:nvPr/>
        </p:nvCxnSpPr>
        <p:spPr>
          <a:xfrm>
            <a:off x="685800" y="2297444"/>
            <a:ext cx="5056590" cy="0"/>
          </a:xfrm>
          <a:prstGeom prst="line">
            <a:avLst/>
          </a:prstGeom>
          <a:ln w="6350">
            <a:solidFill>
              <a:srgbClr val="DDDDDD"/>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31520" y="2334020"/>
            <a:ext cx="1828800" cy="237744"/>
          </a:xfrm>
          <a:prstGeom prst="rect">
            <a:avLst/>
          </a:prstGeom>
          <a:noFill/>
        </p:spPr>
        <p:txBody>
          <a:bodyPr wrap="square" lIns="0" tIns="0" rIns="0" bIns="0" anchor="t">
            <a:noAutofit/>
          </a:bodyPr>
          <a:lstStyle/>
          <a:p>
            <a:pPr algn="l">
              <a:lnSpc>
                <a:spcPct val="100000"/>
              </a:lnSpc>
            </a:pPr>
            <a:r>
              <a:rPr sz="1300" b="0" i="0">
                <a:solidFill>
                  <a:srgbClr val="1F2933"/>
                </a:solidFill>
                <a:latin typeface="Times New Roman" panose="02020603050405020304" pitchFamily="18" charset="0"/>
                <a:cs typeface="Times New Roman" panose="02020603050405020304" pitchFamily="18" charset="0"/>
                <a:sym typeface="Times New Roman" panose="02020603050405020304" pitchFamily="18" charset="0"/>
              </a:rPr>
              <a:t>Hough</a:t>
            </a:r>
          </a:p>
        </p:txBody>
      </p:sp>
      <p:sp>
        <p:nvSpPr>
          <p:cNvPr id="27" name="TextBox 26"/>
          <p:cNvSpPr txBox="1"/>
          <p:nvPr/>
        </p:nvSpPr>
        <p:spPr>
          <a:xfrm>
            <a:off x="2306862" y="2334020"/>
            <a:ext cx="780000" cy="237744"/>
          </a:xfrm>
          <a:prstGeom prst="rect">
            <a:avLst/>
          </a:prstGeom>
          <a:noFill/>
        </p:spPr>
        <p:txBody>
          <a:bodyPr wrap="square" lIns="0" tIns="0" rIns="0" bIns="0" anchor="t">
            <a:noAutofit/>
          </a:bodyPr>
          <a:lstStyle/>
          <a:p>
            <a:pPr algn="r">
              <a:lnSpc>
                <a:spcPct val="100000"/>
              </a:lnSpc>
            </a:pPr>
            <a:r>
              <a:rPr sz="1300" b="0" i="0">
                <a:solidFill>
                  <a:srgbClr val="1F2933"/>
                </a:solidFill>
                <a:latin typeface="Times New Roman" panose="02020603050405020304" pitchFamily="18" charset="0"/>
                <a:cs typeface="Times New Roman" panose="02020603050405020304" pitchFamily="18" charset="0"/>
                <a:sym typeface="Times New Roman" panose="02020603050405020304" pitchFamily="18" charset="0"/>
              </a:rPr>
              <a:t>1.2691</a:t>
            </a:r>
          </a:p>
        </p:txBody>
      </p:sp>
      <p:sp>
        <p:nvSpPr>
          <p:cNvPr id="28" name="TextBox 27"/>
          <p:cNvSpPr txBox="1"/>
          <p:nvPr/>
        </p:nvSpPr>
        <p:spPr>
          <a:xfrm>
            <a:off x="3206862" y="2334020"/>
            <a:ext cx="780000" cy="237744"/>
          </a:xfrm>
          <a:prstGeom prst="rect">
            <a:avLst/>
          </a:prstGeom>
          <a:noFill/>
        </p:spPr>
        <p:txBody>
          <a:bodyPr wrap="square" lIns="0" tIns="0" rIns="0" bIns="0" anchor="t">
            <a:noAutofit/>
          </a:bodyPr>
          <a:lstStyle/>
          <a:p>
            <a:pPr algn="r">
              <a:lnSpc>
                <a:spcPct val="100000"/>
              </a:lnSpc>
            </a:pPr>
            <a:r>
              <a:rPr sz="1300" b="0" i="0">
                <a:solidFill>
                  <a:srgbClr val="1F2933"/>
                </a:solidFill>
                <a:latin typeface="Times New Roman" panose="02020603050405020304" pitchFamily="18" charset="0"/>
                <a:cs typeface="Times New Roman" panose="02020603050405020304" pitchFamily="18" charset="0"/>
                <a:sym typeface="Times New Roman" panose="02020603050405020304" pitchFamily="18" charset="0"/>
              </a:rPr>
              <a:t>1.0495</a:t>
            </a:r>
          </a:p>
        </p:txBody>
      </p:sp>
      <p:sp>
        <p:nvSpPr>
          <p:cNvPr id="29" name="TextBox 28"/>
          <p:cNvSpPr txBox="1"/>
          <p:nvPr/>
        </p:nvSpPr>
        <p:spPr>
          <a:xfrm>
            <a:off x="4310000" y="2334020"/>
            <a:ext cx="1380000" cy="237744"/>
          </a:xfrm>
          <a:prstGeom prst="rect">
            <a:avLst/>
          </a:prstGeom>
          <a:noFill/>
        </p:spPr>
        <p:txBody>
          <a:bodyPr wrap="square" lIns="0" tIns="0" rIns="0" bIns="0" anchor="t">
            <a:noAutofit/>
          </a:bodyPr>
          <a:lstStyle/>
          <a:p>
            <a:pPr algn="r">
              <a:lnSpc>
                <a:spcPct val="100000"/>
              </a:lnSpc>
            </a:pPr>
            <a:r>
              <a:rPr sz="1200" b="0" i="0" dirty="0">
                <a:solidFill>
                  <a:srgbClr val="1F2933"/>
                </a:solidFill>
                <a:latin typeface="Times New Roman" panose="02020603050405020304" pitchFamily="18" charset="0"/>
                <a:cs typeface="Times New Roman" panose="02020603050405020304" pitchFamily="18" charset="0"/>
                <a:sym typeface="Times New Roman" panose="02020603050405020304" pitchFamily="18" charset="0"/>
              </a:rPr>
              <a:t>37,780 / 8.40%</a:t>
            </a:r>
          </a:p>
        </p:txBody>
      </p:sp>
      <p:cxnSp>
        <p:nvCxnSpPr>
          <p:cNvPr id="30" name="Connector 29"/>
          <p:cNvCxnSpPr/>
          <p:nvPr/>
        </p:nvCxnSpPr>
        <p:spPr>
          <a:xfrm>
            <a:off x="685800" y="2571764"/>
            <a:ext cx="5056590" cy="0"/>
          </a:xfrm>
          <a:prstGeom prst="line">
            <a:avLst/>
          </a:prstGeom>
          <a:ln w="6350">
            <a:solidFill>
              <a:srgbClr val="DDDDDD"/>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731520" y="2608340"/>
            <a:ext cx="1828800" cy="237744"/>
          </a:xfrm>
          <a:prstGeom prst="rect">
            <a:avLst/>
          </a:prstGeom>
          <a:noFill/>
        </p:spPr>
        <p:txBody>
          <a:bodyPr wrap="square" lIns="0" tIns="0" rIns="0" bIns="0" anchor="t">
            <a:noAutofit/>
          </a:bodyPr>
          <a:lstStyle/>
          <a:p>
            <a:pPr algn="l">
              <a:lnSpc>
                <a:spcPct val="100000"/>
              </a:lnSpc>
            </a:pPr>
            <a:r>
              <a:rPr sz="1300" b="0" i="0">
                <a:solidFill>
                  <a:srgbClr val="1F2933"/>
                </a:solidFill>
                <a:latin typeface="Times New Roman" panose="02020603050405020304" pitchFamily="18" charset="0"/>
                <a:cs typeface="Times New Roman" panose="02020603050405020304" pitchFamily="18" charset="0"/>
                <a:sym typeface="Times New Roman" panose="02020603050405020304" pitchFamily="18" charset="0"/>
              </a:rPr>
              <a:t>HC</a:t>
            </a:r>
          </a:p>
        </p:txBody>
      </p:sp>
      <p:sp>
        <p:nvSpPr>
          <p:cNvPr id="32" name="TextBox 31"/>
          <p:cNvSpPr txBox="1"/>
          <p:nvPr/>
        </p:nvSpPr>
        <p:spPr>
          <a:xfrm>
            <a:off x="2306862" y="2608340"/>
            <a:ext cx="780000" cy="237744"/>
          </a:xfrm>
          <a:prstGeom prst="rect">
            <a:avLst/>
          </a:prstGeom>
          <a:noFill/>
        </p:spPr>
        <p:txBody>
          <a:bodyPr wrap="square" lIns="0" tIns="0" rIns="0" bIns="0" anchor="t">
            <a:noAutofit/>
          </a:bodyPr>
          <a:lstStyle/>
          <a:p>
            <a:pPr algn="r">
              <a:lnSpc>
                <a:spcPct val="100000"/>
              </a:lnSpc>
            </a:pPr>
            <a:r>
              <a:rPr sz="1300" b="0" i="0">
                <a:solidFill>
                  <a:srgbClr val="1F2933"/>
                </a:solidFill>
                <a:latin typeface="Times New Roman" panose="02020603050405020304" pitchFamily="18" charset="0"/>
                <a:cs typeface="Times New Roman" panose="02020603050405020304" pitchFamily="18" charset="0"/>
                <a:sym typeface="Times New Roman" panose="02020603050405020304" pitchFamily="18" charset="0"/>
              </a:rPr>
              <a:t>1.4190</a:t>
            </a:r>
          </a:p>
        </p:txBody>
      </p:sp>
      <p:sp>
        <p:nvSpPr>
          <p:cNvPr id="33" name="TextBox 32"/>
          <p:cNvSpPr txBox="1"/>
          <p:nvPr/>
        </p:nvSpPr>
        <p:spPr>
          <a:xfrm>
            <a:off x="3206862" y="2608340"/>
            <a:ext cx="780000" cy="237744"/>
          </a:xfrm>
          <a:prstGeom prst="rect">
            <a:avLst/>
          </a:prstGeom>
          <a:noFill/>
        </p:spPr>
        <p:txBody>
          <a:bodyPr wrap="square" lIns="0" tIns="0" rIns="0" bIns="0" anchor="t">
            <a:noAutofit/>
          </a:bodyPr>
          <a:lstStyle/>
          <a:p>
            <a:pPr algn="r">
              <a:lnSpc>
                <a:spcPct val="100000"/>
              </a:lnSpc>
            </a:pPr>
            <a:r>
              <a:rPr sz="1300" b="0" i="0">
                <a:solidFill>
                  <a:srgbClr val="1F2933"/>
                </a:solidFill>
                <a:latin typeface="Times New Roman" panose="02020603050405020304" pitchFamily="18" charset="0"/>
                <a:cs typeface="Times New Roman" panose="02020603050405020304" pitchFamily="18" charset="0"/>
                <a:sym typeface="Times New Roman" panose="02020603050405020304" pitchFamily="18" charset="0"/>
              </a:rPr>
              <a:t>1.1970</a:t>
            </a:r>
          </a:p>
        </p:txBody>
      </p:sp>
      <p:sp>
        <p:nvSpPr>
          <p:cNvPr id="34" name="TextBox 33"/>
          <p:cNvSpPr txBox="1"/>
          <p:nvPr/>
        </p:nvSpPr>
        <p:spPr>
          <a:xfrm>
            <a:off x="4310000" y="2608340"/>
            <a:ext cx="1380000" cy="237744"/>
          </a:xfrm>
          <a:prstGeom prst="rect">
            <a:avLst/>
          </a:prstGeom>
          <a:noFill/>
        </p:spPr>
        <p:txBody>
          <a:bodyPr wrap="square" lIns="0" tIns="0" rIns="0" bIns="0" anchor="t">
            <a:noAutofit/>
          </a:bodyPr>
          <a:lstStyle/>
          <a:p>
            <a:pPr algn="r">
              <a:lnSpc>
                <a:spcPct val="100000"/>
              </a:lnSpc>
            </a:pPr>
            <a:r>
              <a:rPr sz="1200" b="0" i="0">
                <a:solidFill>
                  <a:srgbClr val="1F2933"/>
                </a:solidFill>
                <a:latin typeface="Times New Roman" panose="02020603050405020304" pitchFamily="18" charset="0"/>
                <a:cs typeface="Times New Roman" panose="02020603050405020304" pitchFamily="18" charset="0"/>
                <a:sym typeface="Times New Roman" panose="02020603050405020304" pitchFamily="18" charset="0"/>
              </a:rPr>
              <a:t>126 / 0.03%</a:t>
            </a:r>
          </a:p>
        </p:txBody>
      </p:sp>
      <p:cxnSp>
        <p:nvCxnSpPr>
          <p:cNvPr id="35" name="Connector 34"/>
          <p:cNvCxnSpPr/>
          <p:nvPr/>
        </p:nvCxnSpPr>
        <p:spPr>
          <a:xfrm>
            <a:off x="685800" y="2846084"/>
            <a:ext cx="5056590" cy="0"/>
          </a:xfrm>
          <a:prstGeom prst="line">
            <a:avLst/>
          </a:prstGeom>
          <a:ln w="6350">
            <a:solidFill>
              <a:srgbClr val="DDDDDD"/>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685800" y="2846084"/>
            <a:ext cx="5056590" cy="0"/>
          </a:xfrm>
          <a:prstGeom prst="line">
            <a:avLst/>
          </a:prstGeom>
          <a:ln w="12700">
            <a:solidFill>
              <a:srgbClr val="222222"/>
            </a:solidFill>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6294998" y="1291604"/>
            <a:ext cx="54864" cy="59436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459590" y="1236740"/>
            <a:ext cx="2423160" cy="365760"/>
          </a:xfrm>
          <a:prstGeom prst="rect">
            <a:avLst/>
          </a:prstGeom>
          <a:noFill/>
        </p:spPr>
        <p:txBody>
          <a:bodyPr wrap="square" lIns="0" tIns="0" rIns="0" bIns="0" anchor="t">
            <a:noAutofit/>
          </a:bodyPr>
          <a:lstStyle/>
          <a:p>
            <a:pPr algn="l">
              <a:lnSpc>
                <a:spcPct val="105000"/>
              </a:lnSpc>
            </a:pPr>
            <a:r>
              <a:rPr sz="2200" b="1" i="0">
                <a:solidFill>
                  <a:srgbClr val="1F2933"/>
                </a:solidFill>
                <a:latin typeface="Times New Roman" panose="02020603050405020304" pitchFamily="18" charset="0"/>
                <a:cs typeface="Times New Roman" panose="02020603050405020304" pitchFamily="18" charset="0"/>
                <a:sym typeface="Times New Roman" panose="02020603050405020304" pitchFamily="18" charset="0"/>
              </a:rPr>
              <a:t>+0.00433</a:t>
            </a:r>
          </a:p>
        </p:txBody>
      </p:sp>
      <p:sp>
        <p:nvSpPr>
          <p:cNvPr id="39" name="TextBox 38"/>
          <p:cNvSpPr txBox="1"/>
          <p:nvPr/>
        </p:nvSpPr>
        <p:spPr>
          <a:xfrm>
            <a:off x="6459590" y="1620788"/>
            <a:ext cx="2423160" cy="320040"/>
          </a:xfrm>
          <a:prstGeom prst="rect">
            <a:avLst/>
          </a:prstGeom>
          <a:noFill/>
        </p:spPr>
        <p:txBody>
          <a:bodyPr wrap="square" lIns="0" tIns="0" rIns="0" bIns="0" anchor="t">
            <a:noAutofit/>
          </a:bodyPr>
          <a:lstStyle/>
          <a:p>
            <a:pPr algn="l">
              <a:lnSpc>
                <a:spcPct val="120000"/>
              </a:lnSpc>
            </a:pPr>
            <a:r>
              <a:rPr sz="1100" b="0" i="0">
                <a:solidFill>
                  <a:srgbClr val="1F2933"/>
                </a:solidFill>
                <a:latin typeface="Times New Roman" panose="02020603050405020304" pitchFamily="18" charset="0"/>
                <a:cs typeface="Times New Roman" panose="02020603050405020304" pitchFamily="18" charset="0"/>
                <a:sym typeface="Times New Roman" panose="02020603050405020304" pitchFamily="18" charset="0"/>
              </a:rPr>
              <a:t>ResNet - CrossAttention paired event-RMSE diff (MeV)</a:t>
            </a:r>
          </a:p>
        </p:txBody>
      </p:sp>
      <p:sp>
        <p:nvSpPr>
          <p:cNvPr id="40" name="Rectangle 39"/>
          <p:cNvSpPr/>
          <p:nvPr/>
        </p:nvSpPr>
        <p:spPr>
          <a:xfrm>
            <a:off x="6294998" y="2068844"/>
            <a:ext cx="54864" cy="59436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459590" y="2013980"/>
            <a:ext cx="2423160" cy="365760"/>
          </a:xfrm>
          <a:prstGeom prst="rect">
            <a:avLst/>
          </a:prstGeom>
          <a:noFill/>
        </p:spPr>
        <p:txBody>
          <a:bodyPr wrap="square" lIns="0" tIns="0" rIns="0" bIns="0" anchor="t">
            <a:noAutofit/>
          </a:bodyPr>
          <a:lstStyle/>
          <a:p>
            <a:pPr algn="l">
              <a:lnSpc>
                <a:spcPct val="105000"/>
              </a:lnSpc>
            </a:pPr>
            <a:r>
              <a:rPr sz="1500" b="1" i="0">
                <a:solidFill>
                  <a:srgbClr val="1F2933"/>
                </a:solidFill>
                <a:latin typeface="Times New Roman" panose="02020603050405020304" pitchFamily="18" charset="0"/>
                <a:cs typeface="Times New Roman" panose="02020603050405020304" pitchFamily="18" charset="0"/>
                <a:sym typeface="Times New Roman" panose="02020603050405020304" pitchFamily="18" charset="0"/>
              </a:rPr>
              <a:t>[0.00426, 0.00440]</a:t>
            </a:r>
          </a:p>
        </p:txBody>
      </p:sp>
      <p:sp>
        <p:nvSpPr>
          <p:cNvPr id="42" name="TextBox 41"/>
          <p:cNvSpPr txBox="1"/>
          <p:nvPr/>
        </p:nvSpPr>
        <p:spPr>
          <a:xfrm>
            <a:off x="6459590" y="2398028"/>
            <a:ext cx="2423160" cy="320040"/>
          </a:xfrm>
          <a:prstGeom prst="rect">
            <a:avLst/>
          </a:prstGeom>
          <a:noFill/>
        </p:spPr>
        <p:txBody>
          <a:bodyPr wrap="square" lIns="0" tIns="0" rIns="0" bIns="0" anchor="t">
            <a:noAutofit/>
          </a:bodyPr>
          <a:lstStyle/>
          <a:p>
            <a:pPr algn="l">
              <a:lnSpc>
                <a:spcPct val="120000"/>
              </a:lnSpc>
            </a:pPr>
            <a:r>
              <a:rPr sz="1100" b="0" i="0">
                <a:solidFill>
                  <a:srgbClr val="1F2933"/>
                </a:solidFill>
                <a:latin typeface="Times New Roman" panose="02020603050405020304" pitchFamily="18" charset="0"/>
                <a:cs typeface="Times New Roman" panose="02020603050405020304" pitchFamily="18" charset="0"/>
                <a:sym typeface="Times New Roman" panose="02020603050405020304" pitchFamily="18" charset="0"/>
              </a:rPr>
              <a:t>bootstrap interval</a:t>
            </a:r>
          </a:p>
        </p:txBody>
      </p:sp>
      <p:sp>
        <p:nvSpPr>
          <p:cNvPr id="43" name="Rectangle 42"/>
          <p:cNvSpPr/>
          <p:nvPr/>
        </p:nvSpPr>
        <p:spPr>
          <a:xfrm>
            <a:off x="6294998" y="2846084"/>
            <a:ext cx="54864" cy="594360"/>
          </a:xfrm>
          <a:prstGeom prst="rect">
            <a:avLst/>
          </a:prstGeom>
          <a:solidFill>
            <a:srgbClr val="D8DE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459590" y="2791220"/>
            <a:ext cx="2423160" cy="365760"/>
          </a:xfrm>
          <a:prstGeom prst="rect">
            <a:avLst/>
          </a:prstGeom>
          <a:noFill/>
        </p:spPr>
        <p:txBody>
          <a:bodyPr wrap="square" lIns="0" tIns="0" rIns="0" bIns="0" anchor="t">
            <a:noAutofit/>
          </a:bodyPr>
          <a:lstStyle/>
          <a:p>
            <a:pPr algn="l">
              <a:lnSpc>
                <a:spcPct val="105000"/>
              </a:lnSpc>
            </a:pPr>
            <a:r>
              <a:rPr sz="2200" b="1" i="0">
                <a:solidFill>
                  <a:srgbClr val="1F2933"/>
                </a:solidFill>
                <a:latin typeface="Times New Roman" panose="02020603050405020304" pitchFamily="18" charset="0"/>
                <a:cs typeface="Times New Roman" panose="02020603050405020304" pitchFamily="18" charset="0"/>
                <a:sym typeface="Times New Roman" panose="02020603050405020304" pitchFamily="18" charset="0"/>
              </a:rPr>
              <a:t>180k</a:t>
            </a:r>
          </a:p>
        </p:txBody>
      </p:sp>
      <p:sp>
        <p:nvSpPr>
          <p:cNvPr id="45" name="TextBox 44"/>
          <p:cNvSpPr txBox="1"/>
          <p:nvPr/>
        </p:nvSpPr>
        <p:spPr>
          <a:xfrm>
            <a:off x="6459590" y="3175268"/>
            <a:ext cx="2423160" cy="320040"/>
          </a:xfrm>
          <a:prstGeom prst="rect">
            <a:avLst/>
          </a:prstGeom>
          <a:noFill/>
        </p:spPr>
        <p:txBody>
          <a:bodyPr wrap="square" lIns="0" tIns="0" rIns="0" bIns="0" anchor="t">
            <a:noAutofit/>
          </a:bodyPr>
          <a:lstStyle/>
          <a:p>
            <a:pPr algn="l">
              <a:lnSpc>
                <a:spcPct val="120000"/>
              </a:lnSpc>
            </a:pPr>
            <a:r>
              <a:rPr sz="1100" b="0" i="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common events</a:t>
            </a:r>
          </a:p>
        </p:txBody>
      </p:sp>
      <p:sp>
        <p:nvSpPr>
          <p:cNvPr id="46" name="Rectangle 45"/>
          <p:cNvSpPr/>
          <p:nvPr/>
        </p:nvSpPr>
        <p:spPr>
          <a:xfrm>
            <a:off x="685800" y="4224528"/>
            <a:ext cx="91440" cy="32918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868680" y="4114800"/>
            <a:ext cx="7569200" cy="482600"/>
          </a:xfrm>
          <a:prstGeom prst="rect">
            <a:avLst/>
          </a:prstGeom>
          <a:noFill/>
        </p:spPr>
        <p:txBody>
          <a:bodyPr wrap="square" lIns="0" tIns="0" rIns="0" bIns="0" anchor="t">
            <a:noAutofit/>
          </a:bodyPr>
          <a:lstStyle/>
          <a:p>
            <a:pPr algn="l">
              <a:lnSpc>
                <a:spcPct val="130000"/>
              </a:lnSpc>
            </a:pPr>
            <a:r>
              <a:rPr lang="en-US" sz="1200" b="0" i="1" dirty="0">
                <a:solidFill>
                  <a:srgbClr val="1F2933"/>
                </a:solidFill>
                <a:latin typeface="Times New Roman" panose="02020603050405020304" pitchFamily="18" charset="0"/>
                <a:cs typeface="Times New Roman" panose="02020603050405020304" pitchFamily="18" charset="0"/>
                <a:sym typeface="Times New Roman" panose="02020603050405020304" pitchFamily="18" charset="0"/>
              </a:rPr>
              <a:t>Interpretation: </a:t>
            </a:r>
            <a:r>
              <a:rPr lang="en-US" sz="1200" b="0" i="1" dirty="0" err="1">
                <a:solidFill>
                  <a:srgbClr val="1F2933"/>
                </a:solidFill>
                <a:latin typeface="Times New Roman" panose="02020603050405020304" pitchFamily="18" charset="0"/>
                <a:cs typeface="Times New Roman" panose="02020603050405020304" pitchFamily="18" charset="0"/>
                <a:sym typeface="Times New Roman" panose="02020603050405020304" pitchFamily="18" charset="0"/>
              </a:rPr>
              <a:t>CrossAttention</a:t>
            </a:r>
            <a:r>
              <a:rPr lang="en-US" sz="1200" b="0" i="1" dirty="0">
                <a:solidFill>
                  <a:srgbClr val="1F2933"/>
                </a:solidFill>
                <a:latin typeface="Times New Roman" panose="02020603050405020304" pitchFamily="18" charset="0"/>
                <a:cs typeface="Times New Roman" panose="02020603050405020304" pitchFamily="18" charset="0"/>
                <a:sym typeface="Times New Roman" panose="02020603050405020304" pitchFamily="18" charset="0"/>
              </a:rPr>
              <a:t> leads all 5 methods. Both CNNs strongly outperform RANSAC, Hough, and HC after validation-only baseline tuning.</a:t>
            </a:r>
            <a:endParaRPr sz="1200" b="0" i="1" dirty="0">
              <a:solidFill>
                <a:srgbClr val="1F2933"/>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01" name="Subtitle"/>
          <p:cNvSpPr txBox="1"/>
          <p:nvPr/>
        </p:nvSpPr>
        <p:spPr>
          <a:xfrm>
            <a:off x="457200" y="698500"/>
            <a:ext cx="8229600" cy="431800"/>
          </a:xfrm>
          <a:prstGeom prst="rect">
            <a:avLst/>
          </a:prstGeom>
          <a:noFill/>
          <a:ln>
            <a:noFill/>
          </a:ln>
        </p:spPr>
        <p:txBody>
          <a:bodyPr wrap="square" lIns="0" tIns="0" rIns="0" bIns="0" anchor="t"/>
          <a:lstStyle/>
          <a:p>
            <a:pPr algn="l">
              <a:lnSpc>
                <a:spcPct val="120000"/>
              </a:lnSpc>
            </a:pPr>
            <a:r>
              <a:rPr lang="en-US" sz="1200" i="1">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On 180k common test events, both CNNs outperform range-based baselines; CrossAttention improves over ResNet by 0.00433 MeV.</a:t>
            </a:r>
            <a:endParaRPr lang="en-US" sz="1200" i="1" dirty="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03" name="Footer"/>
          <p:cNvSpPr txBox="1"/>
          <p:nvPr/>
        </p:nvSpPr>
        <p:spPr>
          <a:xfrm>
            <a:off x="457200" y="4826000"/>
            <a:ext cx="6858000" cy="228600"/>
          </a:xfrm>
          <a:prstGeom prst="rect">
            <a:avLst/>
          </a:prstGeom>
          <a:noFill/>
          <a:ln>
            <a:noFill/>
          </a:ln>
        </p:spPr>
        <p:txBody>
          <a:bodyPr wrap="square" lIns="0" tIns="0" rIns="0" bIns="0" anchor="t"/>
          <a:lstStyle/>
          <a:p>
            <a:pPr algn="l"/>
            <a:r>
              <a:rPr lang="en-US" sz="1000" dirty="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TRK energy regression</a:t>
            </a:r>
          </a:p>
        </p:txBody>
      </p:sp>
      <p:sp>
        <p:nvSpPr>
          <p:cNvPr id="3" name="HeaderTitle"/>
          <p:cNvSpPr txBox="1"/>
          <p:nvPr/>
        </p:nvSpPr>
        <p:spPr>
          <a:xfrm>
            <a:off x="476250" y="76200"/>
            <a:ext cx="8191500" cy="415544"/>
          </a:xfrm>
          <a:prstGeom prst="rect">
            <a:avLst/>
          </a:prstGeom>
          <a:noFill/>
          <a:ln>
            <a:noFill/>
          </a:ln>
        </p:spPr>
        <p:txBody>
          <a:bodyPr vertOverflow="overflow" vert="horz" wrap="square" rtlCol="0" anchor="t">
            <a:noAutofit/>
          </a:bodyPr>
          <a:lstStyle/>
          <a:p>
            <a:pPr algn="l">
              <a:buNone/>
            </a:pPr>
            <a:r>
              <a:rPr lang="en-US" sz="2100" b="1">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rPr>
              <a:t>Main result: CrossAttention has the lowest RMSE and MAE</a:t>
            </a:r>
            <a:endParaRPr lang="en-US" sz="2100" b="1" dirty="0">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48" name="PageNum"/>
          <p:cNvSpPr txBox="1"/>
          <p:nvPr/>
        </p:nvSpPr>
        <p:spPr>
          <a:xfrm>
            <a:off x="8324850" y="4800600"/>
            <a:ext cx="685800" cy="228600"/>
          </a:xfrm>
          <a:prstGeom prst="rect">
            <a:avLst/>
          </a:prstGeom>
          <a:noFill/>
          <a:ln>
            <a:noFill/>
          </a:ln>
        </p:spPr>
        <p:txBody>
          <a:bodyPr vertOverflow="overflow" vert="horz" wrap="none" rtlCol="0" anchor="t">
            <a:noAutofit/>
          </a:bodyPr>
          <a:lstStyle/>
          <a:p>
            <a:pPr algn="ctr">
              <a:defRPr sz="750">
                <a:solidFill>
                  <a:srgbClr val="5E6B73"/>
                </a:solidFill>
                <a:latin typeface="Aptos"/>
              </a:defRPr>
            </a:pPr>
            <a:r>
              <a:rPr lang="en-US" altLang="zh-CN" sz="750" dirty="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5</a:t>
            </a:r>
            <a:r>
              <a:rPr lang="en-US" sz="750" dirty="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 / 17</a:t>
            </a:r>
            <a:endParaRPr sz="750" dirty="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57" name="TextBox 56"/>
          <p:cNvSpPr txBox="1"/>
          <p:nvPr/>
        </p:nvSpPr>
        <p:spPr>
          <a:xfrm>
            <a:off x="577742" y="3057083"/>
            <a:ext cx="4616008" cy="769441"/>
          </a:xfrm>
          <a:prstGeom prst="rect">
            <a:avLst/>
          </a:prstGeom>
          <a:noFill/>
        </p:spPr>
        <p:txBody>
          <a:bodyPr wrap="square">
            <a:spAutoFit/>
          </a:bodyPr>
          <a:lstStyle/>
          <a:p>
            <a:r>
              <a:rPr lang="en-US" sz="1100" dirty="0">
                <a:solidFill>
                  <a:srgbClr val="1F2933"/>
                </a:solidFill>
                <a:latin typeface="Times New Roman" panose="02020603050405020304" pitchFamily="18" charset="0"/>
                <a:cs typeface="Times New Roman" panose="02020603050405020304" pitchFamily="18" charset="0"/>
                <a:sym typeface="Times New Roman" panose="02020603050405020304" pitchFamily="18" charset="0"/>
              </a:rPr>
              <a:t>Total events:        1,200,000</a:t>
            </a:r>
          </a:p>
          <a:p>
            <a:r>
              <a:rPr lang="en-US" sz="1100" dirty="0">
                <a:solidFill>
                  <a:srgbClr val="1F2933"/>
                </a:solidFill>
                <a:latin typeface="Times New Roman" panose="02020603050405020304" pitchFamily="18" charset="0"/>
                <a:cs typeface="Times New Roman" panose="02020603050405020304" pitchFamily="18" charset="0"/>
                <a:sym typeface="Times New Roman" panose="02020603050405020304" pitchFamily="18" charset="0"/>
              </a:rPr>
              <a:t>Train:                   840,000 events  = 70%</a:t>
            </a:r>
          </a:p>
          <a:p>
            <a:r>
              <a:rPr lang="en-US" sz="1100" dirty="0">
                <a:solidFill>
                  <a:srgbClr val="1F2933"/>
                </a:solidFill>
                <a:latin typeface="Times New Roman" panose="02020603050405020304" pitchFamily="18" charset="0"/>
                <a:cs typeface="Times New Roman" panose="02020603050405020304" pitchFamily="18" charset="0"/>
                <a:sym typeface="Times New Roman" panose="02020603050405020304" pitchFamily="18" charset="0"/>
              </a:rPr>
              <a:t>Validation:          180,000 events  = 15%</a:t>
            </a:r>
          </a:p>
          <a:p>
            <a:r>
              <a:rPr lang="en-US" sz="1100" dirty="0">
                <a:solidFill>
                  <a:srgbClr val="1F2933"/>
                </a:solidFill>
                <a:latin typeface="Times New Roman" panose="02020603050405020304" pitchFamily="18" charset="0"/>
                <a:cs typeface="Times New Roman" panose="02020603050405020304" pitchFamily="18" charset="0"/>
                <a:sym typeface="Times New Roman" panose="02020603050405020304" pitchFamily="18" charset="0"/>
              </a:rPr>
              <a:t>Test:                    180,000 events  = 15%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ottomRule"/>
          <p:cNvSpPr/>
          <p:nvPr/>
        </p:nvSpPr>
        <p:spPr>
          <a:xfrm>
            <a:off x="342900" y="4695825"/>
            <a:ext cx="8458200" cy="19050"/>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sz="2800"/>
          </a:p>
        </p:txBody>
      </p:sp>
      <p:sp>
        <p:nvSpPr>
          <p:cNvPr id="2" name="HeaderBand"/>
          <p:cNvSpPr/>
          <p:nvPr/>
        </p:nvSpPr>
        <p:spPr>
          <a:xfrm>
            <a:off x="0" y="0"/>
            <a:ext cx="9144000" cy="523875"/>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cxnSp>
        <p:nvCxnSpPr>
          <p:cNvPr id="5" name="HeaderRule"/>
          <p:cNvCxnSpPr/>
          <p:nvPr/>
        </p:nvCxnSpPr>
        <p:spPr>
          <a:xfrm>
            <a:off x="685800" y="790034"/>
            <a:ext cx="7772400" cy="0"/>
          </a:xfrm>
          <a:prstGeom prst="line">
            <a:avLst/>
          </a:prstGeom>
          <a:ln w="15240">
            <a:solidFill>
              <a:srgbClr val="222222"/>
            </a:solidFill>
          </a:ln>
        </p:spPr>
        <p:style>
          <a:lnRef idx="2">
            <a:schemeClr val="accent1"/>
          </a:lnRef>
          <a:fillRef idx="0">
            <a:schemeClr val="accent1"/>
          </a:fillRef>
          <a:effectRef idx="1">
            <a:schemeClr val="accent1"/>
          </a:effectRef>
          <a:fontRef idx="minor">
            <a:schemeClr val="tx1"/>
          </a:fontRef>
        </p:style>
      </p:cxnSp>
      <p:sp>
        <p:nvSpPr>
          <p:cNvPr id="6" name="Hdr_method"/>
          <p:cNvSpPr txBox="1"/>
          <p:nvPr/>
        </p:nvSpPr>
        <p:spPr>
          <a:xfrm>
            <a:off x="758952" y="854042"/>
            <a:ext cx="1005840" cy="219456"/>
          </a:xfrm>
          <a:prstGeom prst="rect">
            <a:avLst/>
          </a:prstGeom>
          <a:noFill/>
        </p:spPr>
        <p:txBody>
          <a:bodyPr wrap="square" lIns="0" tIns="0" rIns="0" bIns="0" anchor="t">
            <a:noAutofit/>
          </a:bodyPr>
          <a:lstStyle/>
          <a:p>
            <a:pPr algn="l">
              <a:lnSpc>
                <a:spcPct val="122000"/>
              </a:lnSpc>
            </a:pPr>
            <a:r>
              <a:rPr sz="1200" b="1" dirty="0">
                <a:solidFill>
                  <a:srgbClr val="1F4E8C"/>
                </a:solidFill>
                <a:latin typeface="Times New Roman" panose="02020603050405020304" pitchFamily="18" charset="0"/>
                <a:cs typeface="Times New Roman" panose="02020603050405020304" pitchFamily="18" charset="0"/>
                <a:sym typeface="Times New Roman" panose="02020603050405020304" pitchFamily="18" charset="0"/>
              </a:rPr>
              <a:t>Method</a:t>
            </a:r>
          </a:p>
        </p:txBody>
      </p:sp>
      <p:sp>
        <p:nvSpPr>
          <p:cNvPr id="7" name="Hdr_anchored"/>
          <p:cNvSpPr txBox="1"/>
          <p:nvPr/>
        </p:nvSpPr>
        <p:spPr>
          <a:xfrm>
            <a:off x="1675511" y="854042"/>
            <a:ext cx="1965960" cy="219456"/>
          </a:xfrm>
          <a:prstGeom prst="rect">
            <a:avLst/>
          </a:prstGeom>
          <a:noFill/>
        </p:spPr>
        <p:txBody>
          <a:bodyPr wrap="square" lIns="0" tIns="0" rIns="0" bIns="0" anchor="t">
            <a:noAutofit/>
          </a:bodyPr>
          <a:lstStyle/>
          <a:p>
            <a:pPr algn="l">
              <a:lnSpc>
                <a:spcPct val="122000"/>
              </a:lnSpc>
            </a:pPr>
            <a:r>
              <a:rPr sz="1200" b="1" dirty="0">
                <a:solidFill>
                  <a:srgbClr val="1F4E8C"/>
                </a:solidFill>
                <a:latin typeface="Times New Roman" panose="02020603050405020304" pitchFamily="18" charset="0"/>
                <a:cs typeface="Times New Roman" panose="02020603050405020304" pitchFamily="18" charset="0"/>
                <a:sym typeface="Times New Roman" panose="02020603050405020304" pitchFamily="18" charset="0"/>
              </a:rPr>
              <a:t>Selected config</a:t>
            </a:r>
          </a:p>
        </p:txBody>
      </p:sp>
      <p:sp>
        <p:nvSpPr>
          <p:cNvPr id="8" name="Hdr_optimized"/>
          <p:cNvSpPr txBox="1"/>
          <p:nvPr/>
        </p:nvSpPr>
        <p:spPr>
          <a:xfrm>
            <a:off x="3933774" y="854042"/>
            <a:ext cx="1965960" cy="219456"/>
          </a:xfrm>
          <a:prstGeom prst="rect">
            <a:avLst/>
          </a:prstGeom>
          <a:noFill/>
        </p:spPr>
        <p:txBody>
          <a:bodyPr wrap="square" lIns="0" tIns="0" rIns="0" bIns="0" anchor="t">
            <a:noAutofit/>
          </a:bodyPr>
          <a:lstStyle/>
          <a:p>
            <a:pPr algn="l">
              <a:lnSpc>
                <a:spcPct val="122000"/>
              </a:lnSpc>
            </a:pPr>
            <a:r>
              <a:rPr sz="1200" b="1" i="0" dirty="0">
                <a:solidFill>
                  <a:srgbClr val="1F4E8C"/>
                </a:solidFill>
                <a:latin typeface="Times New Roman" panose="02020603050405020304" pitchFamily="18" charset="0"/>
                <a:cs typeface="Times New Roman" panose="02020603050405020304" pitchFamily="18" charset="0"/>
                <a:sym typeface="Times New Roman" panose="02020603050405020304" pitchFamily="18" charset="0"/>
              </a:rPr>
              <a:t>Local RMSE (this work)</a:t>
            </a:r>
          </a:p>
        </p:txBody>
      </p:sp>
      <p:sp>
        <p:nvSpPr>
          <p:cNvPr id="9" name="Hdr_delta"/>
          <p:cNvSpPr txBox="1"/>
          <p:nvPr/>
        </p:nvSpPr>
        <p:spPr>
          <a:xfrm>
            <a:off x="5943600" y="854042"/>
            <a:ext cx="2400000" cy="219456"/>
          </a:xfrm>
          <a:prstGeom prst="rect">
            <a:avLst/>
          </a:prstGeom>
          <a:noFill/>
        </p:spPr>
        <p:txBody>
          <a:bodyPr wrap="square" lIns="0" tIns="0" rIns="0" bIns="0" anchor="t">
            <a:noAutofit/>
          </a:bodyPr>
          <a:lstStyle/>
          <a:p>
            <a:pPr algn="l">
              <a:lnSpc>
                <a:spcPct val="122000"/>
              </a:lnSpc>
            </a:pPr>
            <a:r>
              <a:rPr sz="1200" b="1" i="0" dirty="0">
                <a:solidFill>
                  <a:srgbClr val="1F2933"/>
                </a:solidFill>
                <a:latin typeface="Times New Roman" panose="02020603050405020304" pitchFamily="18" charset="0"/>
                <a:cs typeface="Times New Roman" panose="02020603050405020304" pitchFamily="18" charset="0"/>
                <a:sym typeface="Times New Roman" panose="02020603050405020304" pitchFamily="18" charset="0"/>
              </a:rPr>
              <a:t>Reference</a:t>
            </a:r>
          </a:p>
        </p:txBody>
      </p:sp>
      <p:cxnSp>
        <p:nvCxnSpPr>
          <p:cNvPr id="10" name="BelowHeader"/>
          <p:cNvCxnSpPr/>
          <p:nvPr/>
        </p:nvCxnSpPr>
        <p:spPr>
          <a:xfrm>
            <a:off x="685800" y="1100929"/>
            <a:ext cx="7772400" cy="0"/>
          </a:xfrm>
          <a:prstGeom prst="line">
            <a:avLst/>
          </a:prstGeom>
          <a:ln w="10160">
            <a:solidFill>
              <a:srgbClr val="222222"/>
            </a:solidFill>
          </a:ln>
        </p:spPr>
        <p:style>
          <a:lnRef idx="2">
            <a:schemeClr val="accent1"/>
          </a:lnRef>
          <a:fillRef idx="0">
            <a:schemeClr val="accent1"/>
          </a:fillRef>
          <a:effectRef idx="1">
            <a:schemeClr val="accent1"/>
          </a:effectRef>
          <a:fontRef idx="minor">
            <a:schemeClr val="tx1"/>
          </a:fontRef>
        </p:style>
      </p:cxnSp>
      <p:sp>
        <p:nvSpPr>
          <p:cNvPr id="11" name="R_ransac_M"/>
          <p:cNvSpPr txBox="1"/>
          <p:nvPr/>
        </p:nvSpPr>
        <p:spPr>
          <a:xfrm>
            <a:off x="758952" y="1164938"/>
            <a:ext cx="1005840" cy="329184"/>
          </a:xfrm>
          <a:prstGeom prst="rect">
            <a:avLst/>
          </a:prstGeom>
          <a:noFill/>
        </p:spPr>
        <p:txBody>
          <a:bodyPr wrap="square" lIns="0" tIns="0" rIns="0" bIns="0" anchor="t">
            <a:noAutofit/>
          </a:bodyPr>
          <a:lstStyle/>
          <a:p>
            <a:pPr algn="l">
              <a:lnSpc>
                <a:spcPct val="122000"/>
              </a:lnSpc>
            </a:pPr>
            <a:r>
              <a:rPr sz="1200" b="1" i="0">
                <a:solidFill>
                  <a:srgbClr val="1F2933"/>
                </a:solidFill>
                <a:latin typeface="Times New Roman" panose="02020603050405020304" pitchFamily="18" charset="0"/>
                <a:cs typeface="Times New Roman" panose="02020603050405020304" pitchFamily="18" charset="0"/>
                <a:sym typeface="Times New Roman" panose="02020603050405020304" pitchFamily="18" charset="0"/>
              </a:rPr>
              <a:t>RANSAC</a:t>
            </a:r>
          </a:p>
        </p:txBody>
      </p:sp>
      <p:sp>
        <p:nvSpPr>
          <p:cNvPr id="12" name="R_ransac_A"/>
          <p:cNvSpPr txBox="1"/>
          <p:nvPr/>
        </p:nvSpPr>
        <p:spPr>
          <a:xfrm>
            <a:off x="1675511" y="1164938"/>
            <a:ext cx="1965960" cy="329184"/>
          </a:xfrm>
          <a:prstGeom prst="rect">
            <a:avLst/>
          </a:prstGeom>
          <a:noFill/>
        </p:spPr>
        <p:txBody>
          <a:bodyPr wrap="square" lIns="0" tIns="0" rIns="0" bIns="0" anchor="t">
            <a:noAutofit/>
          </a:bodyPr>
          <a:lstStyle/>
          <a:p>
            <a:pPr algn="l">
              <a:lnSpc>
                <a:spcPct val="122000"/>
              </a:lnSpc>
            </a:pPr>
            <a:r>
              <a:rPr sz="1200" b="0" i="0" dirty="0" err="1">
                <a:solidFill>
                  <a:srgbClr val="1F2933"/>
                </a:solidFill>
                <a:latin typeface="Times New Roman" panose="02020603050405020304" pitchFamily="18" charset="0"/>
                <a:cs typeface="Times New Roman" panose="02020603050405020304" pitchFamily="18" charset="0"/>
                <a:sym typeface="Times New Roman" panose="02020603050405020304" pitchFamily="18" charset="0"/>
              </a:rPr>
              <a:t>inlier_dist_mm</a:t>
            </a:r>
            <a:r>
              <a:rPr sz="1200" b="0" i="0" dirty="0">
                <a:solidFill>
                  <a:srgbClr val="1F2933"/>
                </a:solidFill>
                <a:latin typeface="Times New Roman" panose="02020603050405020304" pitchFamily="18" charset="0"/>
                <a:cs typeface="Times New Roman" panose="02020603050405020304" pitchFamily="18" charset="0"/>
                <a:sym typeface="Times New Roman" panose="02020603050405020304" pitchFamily="18" charset="0"/>
              </a:rPr>
              <a:t> = 3.0</a:t>
            </a:r>
          </a:p>
        </p:txBody>
      </p:sp>
      <p:sp>
        <p:nvSpPr>
          <p:cNvPr id="13" name="R_ransac_O"/>
          <p:cNvSpPr txBox="1"/>
          <p:nvPr/>
        </p:nvSpPr>
        <p:spPr>
          <a:xfrm>
            <a:off x="3933774" y="1164938"/>
            <a:ext cx="1965960" cy="329184"/>
          </a:xfrm>
          <a:prstGeom prst="rect">
            <a:avLst/>
          </a:prstGeom>
          <a:noFill/>
        </p:spPr>
        <p:txBody>
          <a:bodyPr wrap="square" lIns="0" tIns="0" rIns="0" bIns="0" anchor="t">
            <a:noAutofit/>
          </a:bodyPr>
          <a:lstStyle/>
          <a:p>
            <a:pPr algn="l">
              <a:lnSpc>
                <a:spcPct val="122000"/>
              </a:lnSpc>
            </a:pPr>
            <a:r>
              <a:rPr sz="1200" b="0" i="0">
                <a:solidFill>
                  <a:srgbClr val="1F2933"/>
                </a:solidFill>
                <a:latin typeface="Times New Roman" panose="02020603050405020304" pitchFamily="18" charset="0"/>
                <a:cs typeface="Times New Roman" panose="02020603050405020304" pitchFamily="18" charset="0"/>
                <a:sym typeface="Times New Roman" panose="02020603050405020304" pitchFamily="18" charset="0"/>
              </a:rPr>
              <a:t>1.173 (-5.4%)</a:t>
            </a:r>
          </a:p>
        </p:txBody>
      </p:sp>
      <p:sp>
        <p:nvSpPr>
          <p:cNvPr id="14" name="R_ransac_D"/>
          <p:cNvSpPr txBox="1"/>
          <p:nvPr/>
        </p:nvSpPr>
        <p:spPr>
          <a:xfrm>
            <a:off x="5943600" y="1164938"/>
            <a:ext cx="2400000" cy="329184"/>
          </a:xfrm>
          <a:prstGeom prst="rect">
            <a:avLst/>
          </a:prstGeom>
          <a:noFill/>
        </p:spPr>
        <p:txBody>
          <a:bodyPr wrap="square" lIns="0" tIns="0" rIns="0" bIns="0" anchor="t">
            <a:noAutofit/>
          </a:bodyPr>
          <a:lstStyle/>
          <a:p>
            <a:pPr>
              <a:lnSpc>
                <a:spcPct val="122000"/>
              </a:lnSpc>
            </a:pPr>
            <a:r>
              <a:rPr lang="fr-FR" sz="1050" b="1" dirty="0">
                <a:solidFill>
                  <a:srgbClr val="1F2933"/>
                </a:solidFill>
                <a:latin typeface="Times New Roman" panose="02020603050405020304" pitchFamily="18" charset="0"/>
                <a:cs typeface="Times New Roman" panose="02020603050405020304" pitchFamily="18" charset="0"/>
                <a:sym typeface="Times New Roman" panose="02020603050405020304" pitchFamily="18" charset="0"/>
              </a:rPr>
              <a:t>Ayyad et al., NIM A 880 (2018) 166-173.</a:t>
            </a:r>
            <a:endParaRPr sz="1050" b="1" i="0" dirty="0">
              <a:solidFill>
                <a:srgbClr val="1F2933"/>
              </a:solidFill>
              <a:latin typeface="Times New Roman" panose="02020603050405020304" pitchFamily="18" charset="0"/>
              <a:cs typeface="Times New Roman" panose="02020603050405020304" pitchFamily="18" charset="0"/>
              <a:sym typeface="Times New Roman" panose="02020603050405020304" pitchFamily="18" charset="0"/>
            </a:endParaRPr>
          </a:p>
        </p:txBody>
      </p:sp>
      <p:cxnSp>
        <p:nvCxnSpPr>
          <p:cNvPr id="15" name="Rule_ransac"/>
          <p:cNvCxnSpPr/>
          <p:nvPr/>
        </p:nvCxnSpPr>
        <p:spPr>
          <a:xfrm>
            <a:off x="685800" y="1521554"/>
            <a:ext cx="7772400" cy="0"/>
          </a:xfrm>
          <a:prstGeom prst="line">
            <a:avLst/>
          </a:prstGeom>
          <a:ln w="6350">
            <a:solidFill>
              <a:srgbClr val="DDDDDD"/>
            </a:solidFill>
          </a:ln>
        </p:spPr>
        <p:style>
          <a:lnRef idx="2">
            <a:schemeClr val="accent1"/>
          </a:lnRef>
          <a:fillRef idx="0">
            <a:schemeClr val="accent1"/>
          </a:fillRef>
          <a:effectRef idx="1">
            <a:schemeClr val="accent1"/>
          </a:effectRef>
          <a:fontRef idx="minor">
            <a:schemeClr val="tx1"/>
          </a:fontRef>
        </p:style>
      </p:cxnSp>
      <p:sp>
        <p:nvSpPr>
          <p:cNvPr id="16" name="R_hough_M"/>
          <p:cNvSpPr txBox="1"/>
          <p:nvPr/>
        </p:nvSpPr>
        <p:spPr>
          <a:xfrm>
            <a:off x="758952" y="1585561"/>
            <a:ext cx="1005840" cy="329184"/>
          </a:xfrm>
          <a:prstGeom prst="rect">
            <a:avLst/>
          </a:prstGeom>
          <a:noFill/>
        </p:spPr>
        <p:txBody>
          <a:bodyPr wrap="square" lIns="0" tIns="0" rIns="0" bIns="0" anchor="t">
            <a:noAutofit/>
          </a:bodyPr>
          <a:lstStyle/>
          <a:p>
            <a:pPr algn="l">
              <a:lnSpc>
                <a:spcPct val="122000"/>
              </a:lnSpc>
            </a:pPr>
            <a:r>
              <a:rPr sz="1200" b="1" i="0">
                <a:solidFill>
                  <a:srgbClr val="1F2933"/>
                </a:solidFill>
                <a:latin typeface="Times New Roman" panose="02020603050405020304" pitchFamily="18" charset="0"/>
                <a:cs typeface="Times New Roman" panose="02020603050405020304" pitchFamily="18" charset="0"/>
                <a:sym typeface="Times New Roman" panose="02020603050405020304" pitchFamily="18" charset="0"/>
              </a:rPr>
              <a:t>Hough</a:t>
            </a:r>
          </a:p>
        </p:txBody>
      </p:sp>
      <p:sp>
        <p:nvSpPr>
          <p:cNvPr id="17" name="R_hough_A"/>
          <p:cNvSpPr txBox="1"/>
          <p:nvPr/>
        </p:nvSpPr>
        <p:spPr>
          <a:xfrm>
            <a:off x="1675510" y="1585561"/>
            <a:ext cx="2173687" cy="329184"/>
          </a:xfrm>
          <a:prstGeom prst="rect">
            <a:avLst/>
          </a:prstGeom>
          <a:noFill/>
        </p:spPr>
        <p:txBody>
          <a:bodyPr wrap="square" lIns="0" tIns="0" rIns="0" bIns="0" anchor="t">
            <a:noAutofit/>
          </a:bodyPr>
          <a:lstStyle/>
          <a:p>
            <a:pPr algn="l">
              <a:lnSpc>
                <a:spcPct val="122000"/>
              </a:lnSpc>
            </a:pPr>
            <a:r>
              <a:rPr lang="en-US" altLang="zh-CN" sz="1200" dirty="0">
                <a:solidFill>
                  <a:srgbClr val="1F2933"/>
                </a:solidFill>
                <a:latin typeface="Times New Roman" panose="02020603050405020304" pitchFamily="18" charset="0"/>
                <a:cs typeface="Times New Roman" panose="02020603050405020304" pitchFamily="18" charset="0"/>
                <a:sym typeface="Times New Roman" panose="02020603050405020304" pitchFamily="18" charset="0"/>
              </a:rPr>
              <a:t>ρ</a:t>
            </a:r>
            <a:r>
              <a:rPr sz="1200" b="0" i="0" dirty="0">
                <a:solidFill>
                  <a:srgbClr val="1F2933"/>
                </a:solidFill>
                <a:latin typeface="Times New Roman" panose="02020603050405020304" pitchFamily="18" charset="0"/>
                <a:cs typeface="Times New Roman" panose="02020603050405020304" pitchFamily="18" charset="0"/>
                <a:sym typeface="Times New Roman" panose="02020603050405020304" pitchFamily="18" charset="0"/>
              </a:rPr>
              <a:t>=5.0, </a:t>
            </a:r>
            <a:r>
              <a:rPr lang="en-US" altLang="zh-CN" sz="1200" dirty="0">
                <a:solidFill>
                  <a:srgbClr val="1F2933"/>
                </a:solidFill>
                <a:latin typeface="Times New Roman" panose="02020603050405020304" pitchFamily="18" charset="0"/>
                <a:cs typeface="Times New Roman" panose="02020603050405020304" pitchFamily="18" charset="0"/>
                <a:sym typeface="Times New Roman" panose="02020603050405020304" pitchFamily="18" charset="0"/>
              </a:rPr>
              <a:t>θ</a:t>
            </a:r>
            <a:r>
              <a:rPr sz="1200" b="0" i="0" dirty="0">
                <a:solidFill>
                  <a:srgbClr val="1F2933"/>
                </a:solidFill>
                <a:latin typeface="Times New Roman" panose="02020603050405020304" pitchFamily="18" charset="0"/>
                <a:cs typeface="Times New Roman" panose="02020603050405020304" pitchFamily="18" charset="0"/>
                <a:sym typeface="Times New Roman" panose="02020603050405020304" pitchFamily="18" charset="0"/>
              </a:rPr>
              <a:t>=0.5 deg, NMS=3x3</a:t>
            </a:r>
          </a:p>
        </p:txBody>
      </p:sp>
      <p:sp>
        <p:nvSpPr>
          <p:cNvPr id="18" name="R_hough_O"/>
          <p:cNvSpPr txBox="1"/>
          <p:nvPr/>
        </p:nvSpPr>
        <p:spPr>
          <a:xfrm>
            <a:off x="3933774" y="1585561"/>
            <a:ext cx="1965960" cy="329184"/>
          </a:xfrm>
          <a:prstGeom prst="rect">
            <a:avLst/>
          </a:prstGeom>
          <a:noFill/>
        </p:spPr>
        <p:txBody>
          <a:bodyPr wrap="square" lIns="0" tIns="0" rIns="0" bIns="0" anchor="t">
            <a:noAutofit/>
          </a:bodyPr>
          <a:lstStyle/>
          <a:p>
            <a:pPr algn="l">
              <a:lnSpc>
                <a:spcPct val="122000"/>
              </a:lnSpc>
            </a:pPr>
            <a:r>
              <a:rPr sz="1200" b="0" i="0">
                <a:solidFill>
                  <a:srgbClr val="1F2933"/>
                </a:solidFill>
                <a:latin typeface="Times New Roman" panose="02020603050405020304" pitchFamily="18" charset="0"/>
                <a:cs typeface="Times New Roman" panose="02020603050405020304" pitchFamily="18" charset="0"/>
                <a:sym typeface="Times New Roman" panose="02020603050405020304" pitchFamily="18" charset="0"/>
              </a:rPr>
              <a:t>1.269 (-0.7%)</a:t>
            </a:r>
          </a:p>
        </p:txBody>
      </p:sp>
      <p:sp>
        <p:nvSpPr>
          <p:cNvPr id="19" name="R_hough_D"/>
          <p:cNvSpPr txBox="1"/>
          <p:nvPr/>
        </p:nvSpPr>
        <p:spPr>
          <a:xfrm>
            <a:off x="5943600" y="1585561"/>
            <a:ext cx="2400000" cy="329184"/>
          </a:xfrm>
          <a:prstGeom prst="rect">
            <a:avLst/>
          </a:prstGeom>
          <a:noFill/>
        </p:spPr>
        <p:txBody>
          <a:bodyPr wrap="square" lIns="0" tIns="0" rIns="0" bIns="0" anchor="t">
            <a:noAutofit/>
          </a:bodyPr>
          <a:lstStyle/>
          <a:p>
            <a:pPr>
              <a:lnSpc>
                <a:spcPct val="122000"/>
              </a:lnSpc>
            </a:pPr>
            <a:r>
              <a:rPr lang="en-US" sz="1050" b="1" dirty="0">
                <a:solidFill>
                  <a:srgbClr val="1F2933"/>
                </a:solidFill>
                <a:latin typeface="Times New Roman" panose="02020603050405020304" pitchFamily="18" charset="0"/>
                <a:cs typeface="Times New Roman" panose="02020603050405020304" pitchFamily="18" charset="0"/>
                <a:sym typeface="Times New Roman" panose="02020603050405020304" pitchFamily="18" charset="0"/>
              </a:rPr>
              <a:t>Furuno et al., NIM A 908 (2018) 215-224.</a:t>
            </a:r>
            <a:endParaRPr sz="1050" b="1" i="0" dirty="0">
              <a:solidFill>
                <a:srgbClr val="1F2933"/>
              </a:solidFill>
              <a:latin typeface="Times New Roman" panose="02020603050405020304" pitchFamily="18" charset="0"/>
              <a:cs typeface="Times New Roman" panose="02020603050405020304" pitchFamily="18" charset="0"/>
              <a:sym typeface="Times New Roman" panose="02020603050405020304" pitchFamily="18" charset="0"/>
            </a:endParaRPr>
          </a:p>
        </p:txBody>
      </p:sp>
      <p:cxnSp>
        <p:nvCxnSpPr>
          <p:cNvPr id="20" name="Rule_hough"/>
          <p:cNvCxnSpPr/>
          <p:nvPr/>
        </p:nvCxnSpPr>
        <p:spPr>
          <a:xfrm>
            <a:off x="685800" y="1942178"/>
            <a:ext cx="7772400" cy="0"/>
          </a:xfrm>
          <a:prstGeom prst="line">
            <a:avLst/>
          </a:prstGeom>
          <a:ln w="6350">
            <a:solidFill>
              <a:srgbClr val="DDDDDD"/>
            </a:solidFill>
          </a:ln>
        </p:spPr>
        <p:style>
          <a:lnRef idx="2">
            <a:schemeClr val="accent1"/>
          </a:lnRef>
          <a:fillRef idx="0">
            <a:schemeClr val="accent1"/>
          </a:fillRef>
          <a:effectRef idx="1">
            <a:schemeClr val="accent1"/>
          </a:effectRef>
          <a:fontRef idx="minor">
            <a:schemeClr val="tx1"/>
          </a:fontRef>
        </p:style>
      </p:cxnSp>
      <p:sp>
        <p:nvSpPr>
          <p:cNvPr id="21" name="R_hc_M"/>
          <p:cNvSpPr txBox="1"/>
          <p:nvPr/>
        </p:nvSpPr>
        <p:spPr>
          <a:xfrm>
            <a:off x="758952" y="2006186"/>
            <a:ext cx="1005840" cy="329184"/>
          </a:xfrm>
          <a:prstGeom prst="rect">
            <a:avLst/>
          </a:prstGeom>
          <a:noFill/>
        </p:spPr>
        <p:txBody>
          <a:bodyPr wrap="square" lIns="0" tIns="0" rIns="0" bIns="0" anchor="t">
            <a:noAutofit/>
          </a:bodyPr>
          <a:lstStyle/>
          <a:p>
            <a:pPr algn="l">
              <a:lnSpc>
                <a:spcPct val="122000"/>
              </a:lnSpc>
            </a:pPr>
            <a:r>
              <a:rPr sz="1200" b="1" i="0">
                <a:solidFill>
                  <a:srgbClr val="1F2933"/>
                </a:solidFill>
                <a:latin typeface="Times New Roman" panose="02020603050405020304" pitchFamily="18" charset="0"/>
                <a:cs typeface="Times New Roman" panose="02020603050405020304" pitchFamily="18" charset="0"/>
                <a:sym typeface="Times New Roman" panose="02020603050405020304" pitchFamily="18" charset="0"/>
              </a:rPr>
              <a:t>HC</a:t>
            </a:r>
          </a:p>
        </p:txBody>
      </p:sp>
      <p:sp>
        <p:nvSpPr>
          <p:cNvPr id="22" name="R_hc_A"/>
          <p:cNvSpPr txBox="1"/>
          <p:nvPr/>
        </p:nvSpPr>
        <p:spPr>
          <a:xfrm>
            <a:off x="1675511" y="2006186"/>
            <a:ext cx="1965960" cy="329184"/>
          </a:xfrm>
          <a:prstGeom prst="rect">
            <a:avLst/>
          </a:prstGeom>
          <a:noFill/>
        </p:spPr>
        <p:txBody>
          <a:bodyPr wrap="square" lIns="0" tIns="0" rIns="0" bIns="0" anchor="t">
            <a:noAutofit/>
          </a:bodyPr>
          <a:lstStyle/>
          <a:p>
            <a:pPr algn="l">
              <a:lnSpc>
                <a:spcPct val="122000"/>
              </a:lnSpc>
            </a:pPr>
            <a:r>
              <a:rPr sz="1200" b="0" i="0">
                <a:solidFill>
                  <a:srgbClr val="1F2933"/>
                </a:solidFill>
                <a:latin typeface="Times New Roman" panose="02020603050405020304" pitchFamily="18" charset="0"/>
                <a:cs typeface="Times New Roman" panose="02020603050405020304" pitchFamily="18" charset="0"/>
                <a:sym typeface="Times New Roman" panose="02020603050405020304" pitchFamily="18" charset="0"/>
              </a:rPr>
              <a:t>ward, x_weight = 0.0</a:t>
            </a:r>
          </a:p>
        </p:txBody>
      </p:sp>
      <p:sp>
        <p:nvSpPr>
          <p:cNvPr id="23" name="R_hc_O"/>
          <p:cNvSpPr txBox="1"/>
          <p:nvPr/>
        </p:nvSpPr>
        <p:spPr>
          <a:xfrm>
            <a:off x="3933774" y="2006186"/>
            <a:ext cx="1965960" cy="329184"/>
          </a:xfrm>
          <a:prstGeom prst="rect">
            <a:avLst/>
          </a:prstGeom>
          <a:noFill/>
        </p:spPr>
        <p:txBody>
          <a:bodyPr wrap="square" lIns="0" tIns="0" rIns="0" bIns="0" anchor="t">
            <a:noAutofit/>
          </a:bodyPr>
          <a:lstStyle/>
          <a:p>
            <a:pPr algn="l">
              <a:lnSpc>
                <a:spcPct val="122000"/>
              </a:lnSpc>
            </a:pPr>
            <a:r>
              <a:rPr sz="1200" b="0" i="0">
                <a:solidFill>
                  <a:srgbClr val="1F2933"/>
                </a:solidFill>
                <a:latin typeface="Times New Roman" panose="02020603050405020304" pitchFamily="18" charset="0"/>
                <a:cs typeface="Times New Roman" panose="02020603050405020304" pitchFamily="18" charset="0"/>
                <a:sym typeface="Times New Roman" panose="02020603050405020304" pitchFamily="18" charset="0"/>
              </a:rPr>
              <a:t>1.419 (-0.6%)</a:t>
            </a:r>
          </a:p>
        </p:txBody>
      </p:sp>
      <p:sp>
        <p:nvSpPr>
          <p:cNvPr id="24" name="R_hc_D"/>
          <p:cNvSpPr txBox="1"/>
          <p:nvPr/>
        </p:nvSpPr>
        <p:spPr>
          <a:xfrm>
            <a:off x="5943600" y="2006186"/>
            <a:ext cx="2400000" cy="329184"/>
          </a:xfrm>
          <a:prstGeom prst="rect">
            <a:avLst/>
          </a:prstGeom>
          <a:noFill/>
        </p:spPr>
        <p:txBody>
          <a:bodyPr wrap="square" lIns="0" tIns="0" rIns="0" bIns="0" anchor="t">
            <a:noAutofit/>
          </a:bodyPr>
          <a:lstStyle/>
          <a:p>
            <a:pPr>
              <a:lnSpc>
                <a:spcPct val="122000"/>
              </a:lnSpc>
            </a:pPr>
            <a:r>
              <a:rPr lang="it-IT" sz="1050" b="1" dirty="0">
                <a:solidFill>
                  <a:srgbClr val="1F2933"/>
                </a:solidFill>
                <a:latin typeface="Times New Roman" panose="02020603050405020304" pitchFamily="18" charset="0"/>
                <a:cs typeface="Times New Roman" panose="02020603050405020304" pitchFamily="18" charset="0"/>
                <a:sym typeface="Times New Roman" panose="02020603050405020304" pitchFamily="18" charset="0"/>
              </a:rPr>
              <a:t>Dalitz et al., CPC 235 (2019) 159-168.</a:t>
            </a:r>
            <a:endParaRPr sz="1050" b="1" i="0" dirty="0">
              <a:solidFill>
                <a:srgbClr val="1F2933"/>
              </a:solidFill>
              <a:latin typeface="Times New Roman" panose="02020603050405020304" pitchFamily="18" charset="0"/>
              <a:cs typeface="Times New Roman" panose="02020603050405020304" pitchFamily="18" charset="0"/>
              <a:sym typeface="Times New Roman" panose="02020603050405020304" pitchFamily="18" charset="0"/>
            </a:endParaRPr>
          </a:p>
        </p:txBody>
      </p:sp>
      <p:cxnSp>
        <p:nvCxnSpPr>
          <p:cNvPr id="25" name="Rule_hc"/>
          <p:cNvCxnSpPr/>
          <p:nvPr/>
        </p:nvCxnSpPr>
        <p:spPr>
          <a:xfrm>
            <a:off x="685800" y="2362801"/>
            <a:ext cx="7772400" cy="0"/>
          </a:xfrm>
          <a:prstGeom prst="line">
            <a:avLst/>
          </a:prstGeom>
          <a:ln w="6350">
            <a:solidFill>
              <a:srgbClr val="DDDDDD"/>
            </a:solidFill>
          </a:ln>
        </p:spPr>
        <p:style>
          <a:lnRef idx="2">
            <a:schemeClr val="accent1"/>
          </a:lnRef>
          <a:fillRef idx="0">
            <a:schemeClr val="accent1"/>
          </a:fillRef>
          <a:effectRef idx="1">
            <a:schemeClr val="accent1"/>
          </a:effectRef>
          <a:fontRef idx="minor">
            <a:schemeClr val="tx1"/>
          </a:fontRef>
        </p:style>
      </p:cxnSp>
      <p:sp>
        <p:nvSpPr>
          <p:cNvPr id="26" name="Bullets"/>
          <p:cNvSpPr txBox="1"/>
          <p:nvPr/>
        </p:nvSpPr>
        <p:spPr>
          <a:xfrm>
            <a:off x="685800" y="2421095"/>
            <a:ext cx="7772400" cy="509175"/>
          </a:xfrm>
          <a:prstGeom prst="rect">
            <a:avLst/>
          </a:prstGeom>
          <a:noFill/>
        </p:spPr>
        <p:txBody>
          <a:bodyPr wrap="square" lIns="0" tIns="0" rIns="0" bIns="0" anchor="t">
            <a:noAutofit/>
          </a:bodyPr>
          <a:lstStyle/>
          <a:p>
            <a:pPr marL="171450" indent="-171450" algn="l">
              <a:lnSpc>
                <a:spcPct val="130000"/>
              </a:lnSpc>
              <a:spcAft>
                <a:spcPts val="400"/>
              </a:spcAft>
              <a:buFont typeface="Wingdings" panose="05000000000000000000" pitchFamily="2" charset="2"/>
              <a:buChar char="Ø"/>
            </a:pPr>
            <a:r>
              <a:rPr sz="1050" b="1" i="0" dirty="0">
                <a:solidFill>
                  <a:srgbClr val="1F2933"/>
                </a:solidFill>
                <a:latin typeface="Times New Roman" panose="02020603050405020304" pitchFamily="18" charset="0"/>
                <a:cs typeface="Times New Roman" panose="02020603050405020304" pitchFamily="18" charset="0"/>
                <a:sym typeface="Times New Roman" panose="02020603050405020304" pitchFamily="18" charset="0"/>
              </a:rPr>
              <a:t>Papers: cited to define/justify baseline families and parameter context; they are not where the RMSE/MAE values come from.</a:t>
            </a:r>
          </a:p>
          <a:p>
            <a:pPr marL="171450" indent="-171450">
              <a:buFont typeface="Wingdings" panose="05000000000000000000" pitchFamily="2" charset="2"/>
              <a:buChar char="Ø"/>
            </a:pPr>
            <a:r>
              <a:rPr lang="en-US" sz="1050" b="1" dirty="0">
                <a:solidFill>
                  <a:srgbClr val="1F2933"/>
                </a:solidFill>
                <a:latin typeface="Times New Roman" panose="02020603050405020304" pitchFamily="18" charset="0"/>
                <a:cs typeface="Times New Roman" panose="02020603050405020304" pitchFamily="18" charset="0"/>
              </a:rPr>
              <a:t>Their hyperparameters are selected and </a:t>
            </a:r>
            <a:r>
              <a:rPr lang="en-US" sz="1050" b="1" dirty="0">
                <a:solidFill>
                  <a:srgbClr val="FF0000"/>
                </a:solidFill>
                <a:latin typeface="Times New Roman" panose="02020603050405020304" pitchFamily="18" charset="0"/>
                <a:cs typeface="Times New Roman" panose="02020603050405020304" pitchFamily="18" charset="0"/>
              </a:rPr>
              <a:t>tuned</a:t>
            </a:r>
            <a:r>
              <a:rPr lang="en-US" sz="1050" b="1" dirty="0">
                <a:solidFill>
                  <a:srgbClr val="1F2933"/>
                </a:solidFill>
                <a:latin typeface="Times New Roman" panose="02020603050405020304" pitchFamily="18" charset="0"/>
                <a:cs typeface="Times New Roman" panose="02020603050405020304" pitchFamily="18" charset="0"/>
              </a:rPr>
              <a:t> on our validation split.</a:t>
            </a:r>
          </a:p>
        </p:txBody>
      </p:sp>
      <p:sp>
        <p:nvSpPr>
          <p:cNvPr id="201" name="Subtitle"/>
          <p:cNvSpPr txBox="1"/>
          <p:nvPr/>
        </p:nvSpPr>
        <p:spPr>
          <a:xfrm>
            <a:off x="685800" y="550498"/>
            <a:ext cx="7772400" cy="406400"/>
          </a:xfrm>
          <a:prstGeom prst="rect">
            <a:avLst/>
          </a:prstGeom>
          <a:noFill/>
          <a:ln>
            <a:noFill/>
          </a:ln>
        </p:spPr>
        <p:txBody>
          <a:bodyPr wrap="square" lIns="0" tIns="0" rIns="0" bIns="0" anchor="t"/>
          <a:lstStyle/>
          <a:p>
            <a:pPr algn="l"/>
            <a:r>
              <a:rPr lang="en-US" sz="1200" i="1" dirty="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Citations identify method provenance only; every RMSE value below was computed in this study.</a:t>
            </a:r>
          </a:p>
        </p:txBody>
      </p:sp>
      <p:sp>
        <p:nvSpPr>
          <p:cNvPr id="203" name="Footer"/>
          <p:cNvSpPr txBox="1"/>
          <p:nvPr/>
        </p:nvSpPr>
        <p:spPr>
          <a:xfrm>
            <a:off x="457200" y="4826000"/>
            <a:ext cx="6858000" cy="228600"/>
          </a:xfrm>
          <a:prstGeom prst="rect">
            <a:avLst/>
          </a:prstGeom>
          <a:noFill/>
          <a:ln>
            <a:noFill/>
          </a:ln>
        </p:spPr>
        <p:txBody>
          <a:bodyPr wrap="square" lIns="0" tIns="0" rIns="0" bIns="0" anchor="t"/>
          <a:lstStyle/>
          <a:p>
            <a:pPr algn="l"/>
            <a:r>
              <a:rPr lang="en-US" sz="1000" dirty="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TRK energy regression</a:t>
            </a:r>
          </a:p>
        </p:txBody>
      </p:sp>
      <p:sp>
        <p:nvSpPr>
          <p:cNvPr id="3" name="HeaderTitle"/>
          <p:cNvSpPr txBox="1"/>
          <p:nvPr/>
        </p:nvSpPr>
        <p:spPr>
          <a:xfrm>
            <a:off x="476250" y="76200"/>
            <a:ext cx="8191500" cy="415544"/>
          </a:xfrm>
          <a:prstGeom prst="rect">
            <a:avLst/>
          </a:prstGeom>
          <a:noFill/>
          <a:ln>
            <a:noFill/>
          </a:ln>
        </p:spPr>
        <p:txBody>
          <a:bodyPr vertOverflow="overflow" vert="horz" wrap="square" rtlCol="0" anchor="t">
            <a:noAutofit/>
          </a:bodyPr>
          <a:lstStyle/>
          <a:p>
            <a:pPr algn="l">
              <a:buNone/>
            </a:pPr>
            <a:r>
              <a:rPr lang="en-US" sz="2100" b="1" dirty="0">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rPr>
              <a:t>Baseline RMSE values</a:t>
            </a:r>
          </a:p>
        </p:txBody>
      </p:sp>
      <p:sp>
        <p:nvSpPr>
          <p:cNvPr id="27" name="PageNum"/>
          <p:cNvSpPr txBox="1"/>
          <p:nvPr/>
        </p:nvSpPr>
        <p:spPr>
          <a:xfrm>
            <a:off x="8324850" y="4800600"/>
            <a:ext cx="685800" cy="228600"/>
          </a:xfrm>
          <a:prstGeom prst="rect">
            <a:avLst/>
          </a:prstGeom>
          <a:noFill/>
          <a:ln>
            <a:noFill/>
          </a:ln>
        </p:spPr>
        <p:txBody>
          <a:bodyPr vertOverflow="overflow" vert="horz" wrap="none" rtlCol="0" anchor="t">
            <a:noAutofit/>
          </a:bodyPr>
          <a:lstStyle/>
          <a:p>
            <a:pPr algn="ctr">
              <a:defRPr sz="750">
                <a:solidFill>
                  <a:srgbClr val="5E6B73"/>
                </a:solidFill>
                <a:latin typeface="Aptos"/>
              </a:defRPr>
            </a:pPr>
            <a:r>
              <a:rPr lang="en-US" altLang="zh-CN" sz="750" dirty="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6</a:t>
            </a:r>
            <a:r>
              <a:rPr lang="en-US" sz="750" dirty="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 / 17</a:t>
            </a:r>
            <a:endParaRPr sz="750" dirty="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endParaRPr>
          </a:p>
        </p:txBody>
      </p:sp>
      <p:pic>
        <p:nvPicPr>
          <p:cNvPr id="29" name="Picture 28">
            <a:extLst>
              <a:ext uri="{FF2B5EF4-FFF2-40B4-BE49-F238E27FC236}">
                <a16:creationId xmlns:a16="http://schemas.microsoft.com/office/drawing/2014/main" id="{8C17FD98-E8C7-7BF2-12A0-7A3E6F7FD981}"/>
              </a:ext>
            </a:extLst>
          </p:cNvPr>
          <p:cNvPicPr>
            <a:picLocks/>
          </p:cNvPicPr>
          <p:nvPr/>
        </p:nvPicPr>
        <p:blipFill>
          <a:blip r:embed="rId3"/>
          <a:srcRect t="13144" b="10361"/>
          <a:stretch>
            <a:fillRect/>
          </a:stretch>
        </p:blipFill>
        <p:spPr>
          <a:xfrm>
            <a:off x="654084" y="2912169"/>
            <a:ext cx="7803268" cy="170726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ottomRule"/>
          <p:cNvSpPr/>
          <p:nvPr/>
        </p:nvSpPr>
        <p:spPr>
          <a:xfrm>
            <a:off x="342900" y="4695825"/>
            <a:ext cx="8458200" cy="19050"/>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 name="HeaderBand"/>
          <p:cNvSpPr/>
          <p:nvPr/>
        </p:nvSpPr>
        <p:spPr>
          <a:xfrm>
            <a:off x="0" y="0"/>
            <a:ext cx="9144000" cy="523875"/>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5" name="TextBox 4"/>
          <p:cNvSpPr txBox="1"/>
          <p:nvPr/>
        </p:nvSpPr>
        <p:spPr>
          <a:xfrm>
            <a:off x="914400" y="1651000"/>
            <a:ext cx="7315200" cy="320040"/>
          </a:xfrm>
          <a:prstGeom prst="rect">
            <a:avLst/>
          </a:prstGeom>
          <a:noFill/>
        </p:spPr>
        <p:txBody>
          <a:bodyPr wrap="square" lIns="0" tIns="0" rIns="0" bIns="0" anchor="t">
            <a:noAutofit/>
          </a:bodyPr>
          <a:lstStyle/>
          <a:p>
            <a:pPr algn="ctr">
              <a:lnSpc>
                <a:spcPct val="110000"/>
              </a:lnSpc>
            </a:pPr>
            <a:r>
              <a:rPr lang="en-US" sz="1600" b="1" i="0">
                <a:solidFill>
                  <a:srgbClr val="1F4E8C"/>
                </a:solidFill>
                <a:latin typeface="Times New Roman" panose="02020603050405020304" pitchFamily="18" charset="0"/>
                <a:cs typeface="Times New Roman" panose="02020603050405020304" pitchFamily="18" charset="0"/>
                <a:sym typeface="Times New Roman" panose="02020603050405020304" pitchFamily="18" charset="0"/>
              </a:rPr>
              <a:t>Backup evidence for review and manuscript figure selection</a:t>
            </a:r>
            <a:endParaRPr sz="1600" b="1" i="0">
              <a:solidFill>
                <a:srgbClr val="1F4E8C"/>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6" name="TextBox 5"/>
          <p:cNvSpPr txBox="1"/>
          <p:nvPr/>
        </p:nvSpPr>
        <p:spPr>
          <a:xfrm>
            <a:off x="2170276" y="2260600"/>
            <a:ext cx="5791200" cy="1206500"/>
          </a:xfrm>
          <a:prstGeom prst="rect">
            <a:avLst/>
          </a:prstGeom>
          <a:noFill/>
        </p:spPr>
        <p:txBody>
          <a:bodyPr wrap="square" lIns="0" tIns="0" rIns="0" bIns="0" anchor="t">
            <a:noAutofit/>
          </a:bodyPr>
          <a:lstStyle/>
          <a:p>
            <a:pPr marL="228600" indent="-228600" algn="l">
              <a:lnSpc>
                <a:spcPct val="130000"/>
              </a:lnSpc>
              <a:spcAft>
                <a:spcPts val="300"/>
              </a:spcAft>
              <a:buFont typeface="Arial" panose="020B0604020202020204"/>
              <a:buChar char="-"/>
            </a:pPr>
            <a:r>
              <a:rPr sz="1200" b="0" i="0" dirty="0">
                <a:solidFill>
                  <a:srgbClr val="1F2933"/>
                </a:solidFill>
                <a:latin typeface="Times New Roman" panose="02020603050405020304" pitchFamily="18" charset="0"/>
                <a:cs typeface="Times New Roman" panose="02020603050405020304" pitchFamily="18" charset="0"/>
                <a:sym typeface="Times New Roman" panose="02020603050405020304" pitchFamily="18" charset="0"/>
              </a:rPr>
              <a:t>Appendix preserves every generated comparison and diagnostic figure.</a:t>
            </a:r>
          </a:p>
          <a:p>
            <a:pPr marL="228600" indent="-228600" algn="l">
              <a:lnSpc>
                <a:spcPct val="130000"/>
              </a:lnSpc>
              <a:spcAft>
                <a:spcPts val="300"/>
              </a:spcAft>
              <a:buFont typeface="Arial" panose="020B0604020202020204"/>
              <a:buChar char="-"/>
            </a:pPr>
            <a:r>
              <a:rPr sz="1200" b="0" i="0" dirty="0">
                <a:solidFill>
                  <a:srgbClr val="1F2933"/>
                </a:solidFill>
                <a:latin typeface="Times New Roman" panose="02020603050405020304" pitchFamily="18" charset="0"/>
                <a:cs typeface="Times New Roman" panose="02020603050405020304" pitchFamily="18" charset="0"/>
                <a:sym typeface="Times New Roman" panose="02020603050405020304" pitchFamily="18" charset="0"/>
              </a:rPr>
              <a:t>Reference figures for review and later manuscript selection.</a:t>
            </a:r>
          </a:p>
        </p:txBody>
      </p:sp>
      <p:sp>
        <p:nvSpPr>
          <p:cNvPr id="203" name="Footer"/>
          <p:cNvSpPr txBox="1"/>
          <p:nvPr/>
        </p:nvSpPr>
        <p:spPr>
          <a:xfrm>
            <a:off x="457200" y="4826000"/>
            <a:ext cx="6858000" cy="228600"/>
          </a:xfrm>
          <a:prstGeom prst="rect">
            <a:avLst/>
          </a:prstGeom>
          <a:noFill/>
          <a:ln>
            <a:noFill/>
          </a:ln>
        </p:spPr>
        <p:txBody>
          <a:bodyPr wrap="square" lIns="0" tIns="0" rIns="0" bIns="0" anchor="t"/>
          <a:lstStyle/>
          <a:p>
            <a:pPr algn="l"/>
            <a:r>
              <a:rPr lang="en-US" sz="1000" dirty="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TRK energy regression</a:t>
            </a:r>
          </a:p>
        </p:txBody>
      </p:sp>
      <p:sp>
        <p:nvSpPr>
          <p:cNvPr id="3" name="HeaderTitle"/>
          <p:cNvSpPr txBox="1"/>
          <p:nvPr/>
        </p:nvSpPr>
        <p:spPr>
          <a:xfrm>
            <a:off x="476250" y="76200"/>
            <a:ext cx="8191500" cy="415544"/>
          </a:xfrm>
          <a:prstGeom prst="rect">
            <a:avLst/>
          </a:prstGeom>
          <a:noFill/>
          <a:ln>
            <a:noFill/>
          </a:ln>
        </p:spPr>
        <p:txBody>
          <a:bodyPr vertOverflow="overflow" vert="horz" wrap="square" rtlCol="0" anchor="t">
            <a:noAutofit/>
          </a:bodyPr>
          <a:lstStyle/>
          <a:p>
            <a:pPr algn="l">
              <a:buNone/>
            </a:pPr>
            <a:r>
              <a:rPr lang="en-US" sz="2100" b="1">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rPr>
              <a:t>Appendix: complete generated figure set</a:t>
            </a:r>
            <a:endParaRPr lang="en-US" sz="2100" b="1" dirty="0">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7" name="PageNum"/>
          <p:cNvSpPr txBox="1"/>
          <p:nvPr/>
        </p:nvSpPr>
        <p:spPr>
          <a:xfrm>
            <a:off x="8324850" y="4800600"/>
            <a:ext cx="685800" cy="228600"/>
          </a:xfrm>
          <a:prstGeom prst="rect">
            <a:avLst/>
          </a:prstGeom>
          <a:noFill/>
          <a:ln>
            <a:noFill/>
          </a:ln>
        </p:spPr>
        <p:txBody>
          <a:bodyPr vertOverflow="overflow" vert="horz" wrap="none" rtlCol="0" anchor="t">
            <a:noAutofit/>
          </a:bodyPr>
          <a:lstStyle/>
          <a:p>
            <a:pPr algn="ctr">
              <a:defRPr sz="750">
                <a:solidFill>
                  <a:srgbClr val="5E6B73"/>
                </a:solidFill>
                <a:latin typeface="Aptos"/>
              </a:defRPr>
            </a:pPr>
            <a:r>
              <a:rPr lang="en-US" sz="75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7 / 17</a:t>
            </a:r>
            <a:endParaRPr sz="75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endParaRPr>
          </a:p>
        </p:txBody>
      </p:sp>
      <p:cxnSp>
        <p:nvCxnSpPr>
          <p:cNvPr id="8" name="SectionDividerRule"/>
          <p:cNvCxnSpPr/>
          <p:nvPr/>
        </p:nvCxnSpPr>
        <p:spPr>
          <a:xfrm>
            <a:off x="2743200" y="2108200"/>
            <a:ext cx="3657600" cy="0"/>
          </a:xfrm>
          <a:prstGeom prst="line">
            <a:avLst/>
          </a:prstGeom>
          <a:ln w="15875">
            <a:solidFill>
              <a:srgbClr val="1F4E8C"/>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ottomRule"/>
          <p:cNvSpPr/>
          <p:nvPr/>
        </p:nvSpPr>
        <p:spPr>
          <a:xfrm>
            <a:off x="342900" y="4695825"/>
            <a:ext cx="8458200" cy="19050"/>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 name="HeaderBand"/>
          <p:cNvSpPr/>
          <p:nvPr/>
        </p:nvSpPr>
        <p:spPr>
          <a:xfrm>
            <a:off x="0" y="0"/>
            <a:ext cx="9144000" cy="523875"/>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6" name="TextBox 5"/>
          <p:cNvSpPr txBox="1"/>
          <p:nvPr/>
        </p:nvSpPr>
        <p:spPr>
          <a:xfrm>
            <a:off x="6146800" y="1516888"/>
            <a:ext cx="2463800" cy="2928112"/>
          </a:xfrm>
          <a:prstGeom prst="rect">
            <a:avLst/>
          </a:prstGeom>
          <a:noFill/>
        </p:spPr>
        <p:txBody>
          <a:bodyPr wrap="square" lIns="0" tIns="0" rIns="0" bIns="0" anchor="t">
            <a:noAutofit/>
          </a:bodyPr>
          <a:lstStyle/>
          <a:p>
            <a:pPr algn="l">
              <a:lnSpc>
                <a:spcPct val="115000"/>
              </a:lnSpc>
              <a:spcAft>
                <a:spcPts val="200"/>
              </a:spcAft>
            </a:pPr>
            <a:r>
              <a:rPr sz="1500" b="1" i="0" dirty="0">
                <a:solidFill>
                  <a:srgbClr val="1F2933"/>
                </a:solidFill>
                <a:latin typeface="Times New Roman" panose="02020603050405020304" pitchFamily="18" charset="0"/>
                <a:cs typeface="Times New Roman" panose="02020603050405020304" pitchFamily="18" charset="0"/>
                <a:sym typeface="Times New Roman" panose="02020603050405020304" pitchFamily="18" charset="0"/>
              </a:rPr>
              <a:t>1-4 tracks</a:t>
            </a:r>
          </a:p>
          <a:p>
            <a:pPr algn="l">
              <a:lnSpc>
                <a:spcPct val="130000"/>
              </a:lnSpc>
              <a:spcAft>
                <a:spcPts val="1000"/>
              </a:spcAft>
            </a:pPr>
            <a:r>
              <a:rPr sz="1300" b="0" i="0" dirty="0" err="1">
                <a:solidFill>
                  <a:srgbClr val="1F2933"/>
                </a:solidFill>
                <a:latin typeface="Times New Roman" panose="02020603050405020304" pitchFamily="18" charset="0"/>
                <a:cs typeface="Times New Roman" panose="02020603050405020304" pitchFamily="18" charset="0"/>
                <a:sym typeface="Times New Roman" panose="02020603050405020304" pitchFamily="18" charset="0"/>
              </a:rPr>
              <a:t>CrossAttention</a:t>
            </a:r>
            <a:r>
              <a:rPr sz="1300" b="0" i="0" dirty="0">
                <a:solidFill>
                  <a:srgbClr val="1F2933"/>
                </a:solidFill>
                <a:latin typeface="Times New Roman" panose="02020603050405020304" pitchFamily="18" charset="0"/>
                <a:cs typeface="Times New Roman" panose="02020603050405020304" pitchFamily="18" charset="0"/>
                <a:sym typeface="Times New Roman" panose="02020603050405020304" pitchFamily="18" charset="0"/>
              </a:rPr>
              <a:t> remains lower-RMSE for each multiplicity bin.</a:t>
            </a:r>
          </a:p>
          <a:p>
            <a:pPr algn="l">
              <a:lnSpc>
                <a:spcPct val="115000"/>
              </a:lnSpc>
              <a:spcAft>
                <a:spcPts val="200"/>
              </a:spcAft>
            </a:pPr>
            <a:r>
              <a:rPr sz="1500" b="1" i="0" dirty="0">
                <a:solidFill>
                  <a:srgbClr val="1F2933"/>
                </a:solidFill>
                <a:latin typeface="Times New Roman" panose="02020603050405020304" pitchFamily="18" charset="0"/>
                <a:cs typeface="Times New Roman" panose="02020603050405020304" pitchFamily="18" charset="0"/>
                <a:sym typeface="Times New Roman" panose="02020603050405020304" pitchFamily="18" charset="0"/>
              </a:rPr>
              <a:t>Takeaway</a:t>
            </a:r>
          </a:p>
          <a:p>
            <a:pPr algn="l">
              <a:lnSpc>
                <a:spcPct val="130000"/>
              </a:lnSpc>
              <a:spcAft>
                <a:spcPts val="1000"/>
              </a:spcAft>
            </a:pPr>
            <a:r>
              <a:rPr sz="1300" b="0" i="0" dirty="0">
                <a:solidFill>
                  <a:srgbClr val="1F2933"/>
                </a:solidFill>
                <a:latin typeface="Times New Roman" panose="02020603050405020304" pitchFamily="18" charset="0"/>
                <a:cs typeface="Times New Roman" panose="02020603050405020304" pitchFamily="18" charset="0"/>
                <a:sym typeface="Times New Roman" panose="02020603050405020304" pitchFamily="18" charset="0"/>
              </a:rPr>
              <a:t>Attention helps when image evidence becomes more entangled.</a:t>
            </a:r>
          </a:p>
        </p:txBody>
      </p:sp>
      <p:sp>
        <p:nvSpPr>
          <p:cNvPr id="201" name="Subtitle"/>
          <p:cNvSpPr txBox="1"/>
          <p:nvPr/>
        </p:nvSpPr>
        <p:spPr>
          <a:xfrm>
            <a:off x="457200" y="781876"/>
            <a:ext cx="8229600" cy="406400"/>
          </a:xfrm>
          <a:prstGeom prst="rect">
            <a:avLst/>
          </a:prstGeom>
          <a:noFill/>
          <a:ln>
            <a:noFill/>
          </a:ln>
        </p:spPr>
        <p:txBody>
          <a:bodyPr wrap="square" lIns="0" tIns="0" rIns="0" bIns="0" anchor="t"/>
          <a:lstStyle/>
          <a:p>
            <a:pPr algn="l"/>
            <a:r>
              <a:rPr lang="en-US" sz="1200" i="1">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CrossAttention remains lower-RMSE in each multiplicity bin; gains matter most when image evidence is entangled.</a:t>
            </a:r>
            <a:endParaRPr lang="en-US" sz="1200" i="1" dirty="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03" name="Footer"/>
          <p:cNvSpPr txBox="1"/>
          <p:nvPr/>
        </p:nvSpPr>
        <p:spPr>
          <a:xfrm>
            <a:off x="457200" y="4826000"/>
            <a:ext cx="6858000" cy="228600"/>
          </a:xfrm>
          <a:prstGeom prst="rect">
            <a:avLst/>
          </a:prstGeom>
          <a:noFill/>
          <a:ln>
            <a:noFill/>
          </a:ln>
        </p:spPr>
        <p:txBody>
          <a:bodyPr wrap="square" lIns="0" tIns="0" rIns="0" bIns="0" anchor="t"/>
          <a:lstStyle/>
          <a:p>
            <a:pPr algn="l"/>
            <a:r>
              <a:rPr lang="en-US" sz="1000" dirty="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TRK energy regression</a:t>
            </a:r>
          </a:p>
        </p:txBody>
      </p:sp>
      <p:sp>
        <p:nvSpPr>
          <p:cNvPr id="3" name="HeaderTitle"/>
          <p:cNvSpPr txBox="1"/>
          <p:nvPr/>
        </p:nvSpPr>
        <p:spPr>
          <a:xfrm>
            <a:off x="476250" y="76200"/>
            <a:ext cx="8191500" cy="415544"/>
          </a:xfrm>
          <a:prstGeom prst="rect">
            <a:avLst/>
          </a:prstGeom>
          <a:noFill/>
          <a:ln>
            <a:noFill/>
          </a:ln>
        </p:spPr>
        <p:txBody>
          <a:bodyPr vertOverflow="overflow" vert="horz" wrap="square" rtlCol="0" anchor="t">
            <a:noAutofit/>
          </a:bodyPr>
          <a:lstStyle/>
          <a:p>
            <a:pPr algn="l">
              <a:buNone/>
            </a:pPr>
            <a:r>
              <a:rPr lang="en-US" sz="2100" b="1">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rPr>
              <a:t>Track multiplicity: advantage survives 1-4 track events</a:t>
            </a:r>
            <a:endParaRPr lang="en-US" sz="2100" b="1" dirty="0">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8" name="PageNum"/>
          <p:cNvSpPr txBox="1"/>
          <p:nvPr/>
        </p:nvSpPr>
        <p:spPr>
          <a:xfrm>
            <a:off x="8324850" y="4800600"/>
            <a:ext cx="685800" cy="228600"/>
          </a:xfrm>
          <a:prstGeom prst="rect">
            <a:avLst/>
          </a:prstGeom>
          <a:noFill/>
          <a:ln>
            <a:noFill/>
          </a:ln>
        </p:spPr>
        <p:txBody>
          <a:bodyPr vertOverflow="overflow" vert="horz" wrap="none" rtlCol="0" anchor="t">
            <a:noAutofit/>
          </a:bodyPr>
          <a:lstStyle/>
          <a:p>
            <a:pPr algn="ctr">
              <a:defRPr sz="750">
                <a:solidFill>
                  <a:srgbClr val="5E6B73"/>
                </a:solidFill>
                <a:latin typeface="Aptos"/>
              </a:defRPr>
            </a:pPr>
            <a:r>
              <a:rPr lang="en-US" sz="75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8 / 17</a:t>
            </a:r>
            <a:endParaRPr sz="75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endParaRPr>
          </a:p>
        </p:txBody>
      </p:sp>
      <p:pic>
        <p:nvPicPr>
          <p:cNvPr id="10" name="Picture 9">
            <a:extLst>
              <a:ext uri="{FF2B5EF4-FFF2-40B4-BE49-F238E27FC236}">
                <a16:creationId xmlns:a16="http://schemas.microsoft.com/office/drawing/2014/main" id="{D15DF4B4-0FBF-A405-C4C6-3F6E848A3793}"/>
              </a:ext>
            </a:extLst>
          </p:cNvPr>
          <p:cNvPicPr>
            <a:picLocks noChangeAspect="1"/>
          </p:cNvPicPr>
          <p:nvPr/>
        </p:nvPicPr>
        <p:blipFill>
          <a:blip r:embed="rId3"/>
          <a:stretch>
            <a:fillRect/>
          </a:stretch>
        </p:blipFill>
        <p:spPr>
          <a:xfrm>
            <a:off x="269609" y="1279525"/>
            <a:ext cx="5734775" cy="297007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ottomRule"/>
          <p:cNvSpPr/>
          <p:nvPr/>
        </p:nvSpPr>
        <p:spPr>
          <a:xfrm>
            <a:off x="342900" y="4695825"/>
            <a:ext cx="8458200" cy="19050"/>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 name="HeaderBand"/>
          <p:cNvSpPr/>
          <p:nvPr/>
        </p:nvSpPr>
        <p:spPr>
          <a:xfrm>
            <a:off x="0" y="0"/>
            <a:ext cx="9144000" cy="523875"/>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pic>
        <p:nvPicPr>
          <p:cNvPr id="5" name="Picture 4" descr="image.png"/>
          <p:cNvPicPr/>
          <p:nvPr/>
        </p:nvPicPr>
        <p:blipFill>
          <a:blip r:embed="rId3"/>
          <a:stretch>
            <a:fillRect/>
          </a:stretch>
        </p:blipFill>
        <p:spPr>
          <a:xfrm>
            <a:off x="533400" y="1422399"/>
            <a:ext cx="5715000" cy="2324100"/>
          </a:xfrm>
          <a:prstGeom prst="rect">
            <a:avLst/>
          </a:prstGeom>
        </p:spPr>
      </p:pic>
      <p:sp>
        <p:nvSpPr>
          <p:cNvPr id="6" name="TextBox 5"/>
          <p:cNvSpPr txBox="1"/>
          <p:nvPr/>
        </p:nvSpPr>
        <p:spPr>
          <a:xfrm>
            <a:off x="6413500" y="1257300"/>
            <a:ext cx="2184400" cy="2946400"/>
          </a:xfrm>
          <a:prstGeom prst="rect">
            <a:avLst/>
          </a:prstGeom>
          <a:noFill/>
        </p:spPr>
        <p:txBody>
          <a:bodyPr wrap="square" lIns="0" tIns="0" rIns="0" bIns="0" anchor="t">
            <a:noAutofit/>
          </a:bodyPr>
          <a:lstStyle/>
          <a:p>
            <a:pPr algn="l">
              <a:lnSpc>
                <a:spcPct val="115000"/>
              </a:lnSpc>
              <a:spcAft>
                <a:spcPts val="200"/>
              </a:spcAft>
            </a:pPr>
            <a:r>
              <a:rPr sz="1150" b="1" i="0">
                <a:solidFill>
                  <a:srgbClr val="1F2933"/>
                </a:solidFill>
                <a:latin typeface="Times New Roman" panose="02020603050405020304" pitchFamily="18" charset="0"/>
                <a:cs typeface="Times New Roman" panose="02020603050405020304" pitchFamily="18" charset="0"/>
                <a:sym typeface="Times New Roman" panose="02020603050405020304" pitchFamily="18" charset="0"/>
              </a:rPr>
              <a:t>Shared truth</a:t>
            </a:r>
          </a:p>
          <a:p>
            <a:pPr algn="l">
              <a:lnSpc>
                <a:spcPct val="130000"/>
              </a:lnSpc>
              <a:spcAft>
                <a:spcPts val="500"/>
              </a:spcAft>
            </a:pPr>
            <a:r>
              <a:rPr sz="1150" b="0" i="0">
                <a:solidFill>
                  <a:srgbClr val="1F2933"/>
                </a:solidFill>
                <a:latin typeface="Times New Roman" panose="02020603050405020304" pitchFamily="18" charset="0"/>
                <a:cs typeface="Times New Roman" panose="02020603050405020304" pitchFamily="18" charset="0"/>
                <a:sym typeface="Times New Roman" panose="02020603050405020304" pitchFamily="18" charset="0"/>
              </a:rPr>
              <a:t>Truth-level clipping fraction is shared across methods.</a:t>
            </a:r>
          </a:p>
          <a:p>
            <a:pPr algn="l">
              <a:lnSpc>
                <a:spcPct val="115000"/>
              </a:lnSpc>
              <a:spcAft>
                <a:spcPts val="200"/>
              </a:spcAft>
            </a:pPr>
            <a:r>
              <a:rPr sz="1150" b="1" i="0">
                <a:solidFill>
                  <a:srgbClr val="1F2933"/>
                </a:solidFill>
                <a:latin typeface="Times New Roman" panose="02020603050405020304" pitchFamily="18" charset="0"/>
                <a:cs typeface="Times New Roman" panose="02020603050405020304" pitchFamily="18" charset="0"/>
                <a:sym typeface="Times New Roman" panose="02020603050405020304" pitchFamily="18" charset="0"/>
              </a:rPr>
              <a:t>Length-only mapping</a:t>
            </a:r>
          </a:p>
          <a:p>
            <a:pPr algn="l">
              <a:lnSpc>
                <a:spcPct val="130000"/>
              </a:lnSpc>
              <a:spcAft>
                <a:spcPts val="500"/>
              </a:spcAft>
            </a:pPr>
            <a:r>
              <a:rPr sz="1150" b="0" i="0">
                <a:solidFill>
                  <a:srgbClr val="1F2933"/>
                </a:solidFill>
                <a:latin typeface="Times New Roman" panose="02020603050405020304" pitchFamily="18" charset="0"/>
                <a:cs typeface="Times New Roman" panose="02020603050405020304" pitchFamily="18" charset="0"/>
                <a:sym typeface="Times New Roman" panose="02020603050405020304" pitchFamily="18" charset="0"/>
              </a:rPr>
              <a:t>Classical baselines map observed length to energy.</a:t>
            </a:r>
          </a:p>
          <a:p>
            <a:pPr algn="l">
              <a:lnSpc>
                <a:spcPct val="115000"/>
              </a:lnSpc>
              <a:spcAft>
                <a:spcPts val="200"/>
              </a:spcAft>
            </a:pPr>
            <a:r>
              <a:rPr sz="1150" b="1" i="0">
                <a:solidFill>
                  <a:srgbClr val="1F2933"/>
                </a:solidFill>
                <a:latin typeface="Times New Roman" panose="02020603050405020304" pitchFamily="18" charset="0"/>
                <a:cs typeface="Times New Roman" panose="02020603050405020304" pitchFamily="18" charset="0"/>
                <a:sym typeface="Times New Roman" panose="02020603050405020304" pitchFamily="18" charset="0"/>
              </a:rPr>
              <a:t>Lower bounds</a:t>
            </a:r>
          </a:p>
          <a:p>
            <a:pPr algn="l">
              <a:lnSpc>
                <a:spcPct val="130000"/>
              </a:lnSpc>
              <a:spcAft>
                <a:spcPts val="500"/>
              </a:spcAft>
            </a:pPr>
            <a:r>
              <a:rPr sz="1150" b="0" i="0">
                <a:solidFill>
                  <a:srgbClr val="1F2933"/>
                </a:solidFill>
                <a:latin typeface="Times New Roman" panose="02020603050405020304" pitchFamily="18" charset="0"/>
                <a:cs typeface="Times New Roman" panose="02020603050405020304" pitchFamily="18" charset="0"/>
                <a:sym typeface="Times New Roman" panose="02020603050405020304" pitchFamily="18" charset="0"/>
              </a:rPr>
              <a:t>Clipped tracks become lower-bound estimates.</a:t>
            </a:r>
          </a:p>
          <a:p>
            <a:pPr algn="l">
              <a:lnSpc>
                <a:spcPct val="115000"/>
              </a:lnSpc>
              <a:spcAft>
                <a:spcPts val="200"/>
              </a:spcAft>
            </a:pPr>
            <a:r>
              <a:rPr sz="1150" b="1" i="0">
                <a:solidFill>
                  <a:srgbClr val="1F2933"/>
                </a:solidFill>
                <a:latin typeface="Times New Roman" panose="02020603050405020304" pitchFamily="18" charset="0"/>
                <a:cs typeface="Times New Roman" panose="02020603050405020304" pitchFamily="18" charset="0"/>
                <a:sym typeface="Times New Roman" panose="02020603050405020304" pitchFamily="18" charset="0"/>
              </a:rPr>
              <a:t>CNN advantage</a:t>
            </a:r>
          </a:p>
          <a:p>
            <a:pPr algn="l">
              <a:lnSpc>
                <a:spcPct val="130000"/>
              </a:lnSpc>
              <a:spcAft>
                <a:spcPts val="500"/>
              </a:spcAft>
            </a:pPr>
            <a:r>
              <a:rPr sz="1150" b="0" i="0">
                <a:solidFill>
                  <a:srgbClr val="1F2933"/>
                </a:solidFill>
                <a:latin typeface="Times New Roman" panose="02020603050405020304" pitchFamily="18" charset="0"/>
                <a:cs typeface="Times New Roman" panose="02020603050405020304" pitchFamily="18" charset="0"/>
                <a:sym typeface="Times New Roman" panose="02020603050405020304" pitchFamily="18" charset="0"/>
              </a:rPr>
              <a:t>CNNs can exploit charge morphology and partial-track patterns.</a:t>
            </a:r>
          </a:p>
        </p:txBody>
      </p:sp>
      <p:sp>
        <p:nvSpPr>
          <p:cNvPr id="7" name="TextBox 6"/>
          <p:cNvSpPr txBox="1"/>
          <p:nvPr/>
        </p:nvSpPr>
        <p:spPr>
          <a:xfrm>
            <a:off x="533400" y="4191000"/>
            <a:ext cx="5715000" cy="274320"/>
          </a:xfrm>
          <a:prstGeom prst="rect">
            <a:avLst/>
          </a:prstGeom>
          <a:noFill/>
        </p:spPr>
        <p:txBody>
          <a:bodyPr wrap="square" lIns="0" tIns="0" rIns="0" bIns="0" anchor="t">
            <a:noAutofit/>
          </a:bodyPr>
          <a:lstStyle/>
          <a:p>
            <a:pPr algn="l">
              <a:lnSpc>
                <a:spcPct val="125000"/>
              </a:lnSpc>
            </a:pPr>
            <a:r>
              <a:rPr sz="1100" b="0" i="1">
                <a:solidFill>
                  <a:srgbClr val="1F2933"/>
                </a:solidFill>
                <a:latin typeface="Times New Roman" panose="02020603050405020304" pitchFamily="18" charset="0"/>
                <a:cs typeface="Times New Roman" panose="02020603050405020304" pitchFamily="18" charset="0"/>
                <a:sym typeface="Times New Roman" panose="02020603050405020304" pitchFamily="18" charset="0"/>
              </a:rPr>
              <a:t>F3: range-clipping analysis</a:t>
            </a:r>
          </a:p>
        </p:txBody>
      </p:sp>
      <p:sp>
        <p:nvSpPr>
          <p:cNvPr id="203" name="Footer"/>
          <p:cNvSpPr txBox="1"/>
          <p:nvPr/>
        </p:nvSpPr>
        <p:spPr>
          <a:xfrm>
            <a:off x="457200" y="4826000"/>
            <a:ext cx="6858000" cy="228600"/>
          </a:xfrm>
          <a:prstGeom prst="rect">
            <a:avLst/>
          </a:prstGeom>
          <a:noFill/>
          <a:ln>
            <a:noFill/>
          </a:ln>
        </p:spPr>
        <p:txBody>
          <a:bodyPr wrap="square" lIns="0" tIns="0" rIns="0" bIns="0" anchor="t"/>
          <a:lstStyle/>
          <a:p>
            <a:pPr algn="l"/>
            <a:r>
              <a:rPr lang="en-US" sz="1000" dirty="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TRK energy regression</a:t>
            </a:r>
          </a:p>
        </p:txBody>
      </p:sp>
      <p:sp>
        <p:nvSpPr>
          <p:cNvPr id="3" name="HeaderTitle"/>
          <p:cNvSpPr txBox="1"/>
          <p:nvPr/>
        </p:nvSpPr>
        <p:spPr>
          <a:xfrm>
            <a:off x="476250" y="76200"/>
            <a:ext cx="8191500" cy="415544"/>
          </a:xfrm>
          <a:prstGeom prst="rect">
            <a:avLst/>
          </a:prstGeom>
          <a:noFill/>
          <a:ln>
            <a:noFill/>
          </a:ln>
        </p:spPr>
        <p:txBody>
          <a:bodyPr vertOverflow="overflow" vert="horz" wrap="square" rtlCol="0" anchor="t">
            <a:noAutofit/>
          </a:bodyPr>
          <a:lstStyle/>
          <a:p>
            <a:pPr algn="l">
              <a:buNone/>
            </a:pPr>
            <a:r>
              <a:rPr lang="en-US" sz="2100" b="1">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rPr>
              <a:t>Physics: clipping makes length-only energy a lower bound</a:t>
            </a:r>
            <a:endParaRPr lang="en-US" sz="2100" b="1" dirty="0">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8" name="PageNum"/>
          <p:cNvSpPr txBox="1"/>
          <p:nvPr/>
        </p:nvSpPr>
        <p:spPr>
          <a:xfrm>
            <a:off x="8324850" y="4800600"/>
            <a:ext cx="685800" cy="228600"/>
          </a:xfrm>
          <a:prstGeom prst="rect">
            <a:avLst/>
          </a:prstGeom>
          <a:noFill/>
          <a:ln>
            <a:noFill/>
          </a:ln>
        </p:spPr>
        <p:txBody>
          <a:bodyPr vertOverflow="overflow" vert="horz" wrap="none" rtlCol="0" anchor="t">
            <a:noAutofit/>
          </a:bodyPr>
          <a:lstStyle/>
          <a:p>
            <a:pPr algn="ctr">
              <a:defRPr sz="750">
                <a:solidFill>
                  <a:srgbClr val="5E6B73"/>
                </a:solidFill>
                <a:latin typeface="Aptos"/>
              </a:defRPr>
            </a:pPr>
            <a:r>
              <a:rPr lang="en-US" sz="75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9 / 17</a:t>
            </a:r>
            <a:endParaRPr sz="75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9" name="TextBox 8"/>
          <p:cNvSpPr txBox="1"/>
          <p:nvPr/>
        </p:nvSpPr>
        <p:spPr>
          <a:xfrm>
            <a:off x="457200" y="698500"/>
            <a:ext cx="8229600" cy="276999"/>
          </a:xfrm>
          <a:prstGeom prst="rect">
            <a:avLst/>
          </a:prstGeom>
          <a:noFill/>
        </p:spPr>
        <p:txBody>
          <a:bodyPr vert="horz" rtlCol="0">
            <a:spAutoFit/>
          </a:bodyPr>
          <a:lstStyle/>
          <a:p>
            <a:r>
              <a:rPr lang="en-US" sz="1200" i="1">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All methods share the same truth-level clipping; CNNs can use partial-track morphology beyond observed range.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ottomRule"/>
          <p:cNvSpPr/>
          <p:nvPr/>
        </p:nvSpPr>
        <p:spPr>
          <a:xfrm>
            <a:off x="342900" y="4695825"/>
            <a:ext cx="8458200" cy="19050"/>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 name="HeaderBand"/>
          <p:cNvSpPr/>
          <p:nvPr/>
        </p:nvSpPr>
        <p:spPr>
          <a:xfrm>
            <a:off x="0" y="0"/>
            <a:ext cx="9144000" cy="523875"/>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pic>
        <p:nvPicPr>
          <p:cNvPr id="5" name="Picture 4" descr="image.png"/>
          <p:cNvPicPr>
            <a:picLocks noChangeAspect="1"/>
          </p:cNvPicPr>
          <p:nvPr/>
        </p:nvPicPr>
        <p:blipFill>
          <a:blip r:embed="rId3"/>
          <a:stretch>
            <a:fillRect/>
          </a:stretch>
        </p:blipFill>
        <p:spPr>
          <a:xfrm>
            <a:off x="1485899" y="1219200"/>
            <a:ext cx="6176841" cy="3771900"/>
          </a:xfrm>
          <a:prstGeom prst="rect">
            <a:avLst/>
          </a:prstGeom>
        </p:spPr>
      </p:pic>
      <p:sp>
        <p:nvSpPr>
          <p:cNvPr id="201" name="Subtitle"/>
          <p:cNvSpPr txBox="1"/>
          <p:nvPr/>
        </p:nvSpPr>
        <p:spPr>
          <a:xfrm>
            <a:off x="457200" y="698500"/>
            <a:ext cx="8229600" cy="279400"/>
          </a:xfrm>
          <a:prstGeom prst="rect">
            <a:avLst/>
          </a:prstGeom>
          <a:noFill/>
          <a:ln>
            <a:noFill/>
          </a:ln>
        </p:spPr>
        <p:txBody>
          <a:bodyPr wrap="square" lIns="0" tIns="0" rIns="0" bIns="0" anchor="t"/>
          <a:lstStyle/>
          <a:p>
            <a:pPr algn="l">
              <a:lnSpc>
                <a:spcPct val="120000"/>
              </a:lnSpc>
            </a:pPr>
            <a:r>
              <a:rPr lang="en-US" sz="1050" i="1">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F1 residual distributions across all methods, with Gaussian-fit overlays.</a:t>
            </a:r>
            <a:endParaRPr lang="en-US" sz="1050" i="1" dirty="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03" name="Footer"/>
          <p:cNvSpPr txBox="1"/>
          <p:nvPr/>
        </p:nvSpPr>
        <p:spPr>
          <a:xfrm>
            <a:off x="457200" y="4826000"/>
            <a:ext cx="6858000" cy="228600"/>
          </a:xfrm>
          <a:prstGeom prst="rect">
            <a:avLst/>
          </a:prstGeom>
          <a:noFill/>
          <a:ln>
            <a:noFill/>
          </a:ln>
        </p:spPr>
        <p:txBody>
          <a:bodyPr wrap="square" lIns="0" tIns="0" rIns="0" bIns="0" anchor="t"/>
          <a:lstStyle/>
          <a:p>
            <a:pPr algn="l"/>
            <a:r>
              <a:rPr lang="en-US" sz="1000" dirty="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TRK energy regression</a:t>
            </a:r>
          </a:p>
        </p:txBody>
      </p:sp>
      <p:sp>
        <p:nvSpPr>
          <p:cNvPr id="3" name="HeaderTitle"/>
          <p:cNvSpPr txBox="1"/>
          <p:nvPr/>
        </p:nvSpPr>
        <p:spPr>
          <a:xfrm>
            <a:off x="476250" y="76200"/>
            <a:ext cx="8191500" cy="415544"/>
          </a:xfrm>
          <a:prstGeom prst="rect">
            <a:avLst/>
          </a:prstGeom>
          <a:noFill/>
          <a:ln>
            <a:noFill/>
          </a:ln>
        </p:spPr>
        <p:txBody>
          <a:bodyPr vertOverflow="overflow" vert="horz" wrap="square" rtlCol="0" anchor="t">
            <a:noAutofit/>
          </a:bodyPr>
          <a:lstStyle/>
          <a:p>
            <a:pPr algn="l">
              <a:buNone/>
            </a:pPr>
            <a:r>
              <a:rPr lang="en-US" sz="2100" b="1">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rPr>
              <a:t>Appendix A: residual distributions across all methods</a:t>
            </a:r>
            <a:endParaRPr lang="en-US" sz="2100" b="1" dirty="0">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6" name="PageNum"/>
          <p:cNvSpPr txBox="1"/>
          <p:nvPr/>
        </p:nvSpPr>
        <p:spPr>
          <a:xfrm>
            <a:off x="8324850" y="4800600"/>
            <a:ext cx="685800" cy="228600"/>
          </a:xfrm>
          <a:prstGeom prst="rect">
            <a:avLst/>
          </a:prstGeom>
          <a:noFill/>
          <a:ln>
            <a:noFill/>
          </a:ln>
        </p:spPr>
        <p:txBody>
          <a:bodyPr vertOverflow="overflow" vert="horz" wrap="none" rtlCol="0" anchor="t">
            <a:noAutofit/>
          </a:bodyPr>
          <a:lstStyle/>
          <a:p>
            <a:pPr algn="ctr">
              <a:defRPr sz="750">
                <a:solidFill>
                  <a:srgbClr val="5E6B73"/>
                </a:solidFill>
                <a:latin typeface="Aptos"/>
              </a:defRPr>
            </a:pPr>
            <a:r>
              <a:rPr lang="en-US" sz="75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10 / 17</a:t>
            </a:r>
            <a:endParaRPr sz="75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ottomRule"/>
          <p:cNvSpPr/>
          <p:nvPr/>
        </p:nvSpPr>
        <p:spPr>
          <a:xfrm>
            <a:off x="342900" y="4695825"/>
            <a:ext cx="8458200" cy="19050"/>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 name="HeaderBand"/>
          <p:cNvSpPr/>
          <p:nvPr/>
        </p:nvSpPr>
        <p:spPr>
          <a:xfrm>
            <a:off x="0" y="0"/>
            <a:ext cx="9144000" cy="523875"/>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pic>
        <p:nvPicPr>
          <p:cNvPr id="5" name="Picture 4" descr="image.png"/>
          <p:cNvPicPr>
            <a:picLocks noChangeAspect="1"/>
          </p:cNvPicPr>
          <p:nvPr/>
        </p:nvPicPr>
        <p:blipFill>
          <a:blip r:embed="rId3"/>
          <a:stretch>
            <a:fillRect/>
          </a:stretch>
        </p:blipFill>
        <p:spPr>
          <a:xfrm>
            <a:off x="1015999" y="1117600"/>
            <a:ext cx="7124074" cy="3683000"/>
          </a:xfrm>
          <a:prstGeom prst="rect">
            <a:avLst/>
          </a:prstGeom>
        </p:spPr>
      </p:pic>
      <p:sp>
        <p:nvSpPr>
          <p:cNvPr id="201" name="Subtitle"/>
          <p:cNvSpPr txBox="1"/>
          <p:nvPr/>
        </p:nvSpPr>
        <p:spPr>
          <a:xfrm>
            <a:off x="457200" y="698500"/>
            <a:ext cx="8229600" cy="279400"/>
          </a:xfrm>
          <a:prstGeom prst="rect">
            <a:avLst/>
          </a:prstGeom>
          <a:noFill/>
          <a:ln>
            <a:noFill/>
          </a:ln>
        </p:spPr>
        <p:txBody>
          <a:bodyPr wrap="square" lIns="0" tIns="0" rIns="0" bIns="0" anchor="t"/>
          <a:lstStyle/>
          <a:p>
            <a:pPr algn="l"/>
            <a:r>
              <a:rPr lang="en-US" sz="1050" i="1">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F2 energy-binned RMSE by truth-energy interval.</a:t>
            </a:r>
            <a:endParaRPr lang="en-US" sz="1050" i="1" dirty="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03" name="Footer"/>
          <p:cNvSpPr txBox="1"/>
          <p:nvPr/>
        </p:nvSpPr>
        <p:spPr>
          <a:xfrm>
            <a:off x="457200" y="4826000"/>
            <a:ext cx="6858000" cy="228600"/>
          </a:xfrm>
          <a:prstGeom prst="rect">
            <a:avLst/>
          </a:prstGeom>
          <a:noFill/>
          <a:ln>
            <a:noFill/>
          </a:ln>
        </p:spPr>
        <p:txBody>
          <a:bodyPr wrap="square" lIns="0" tIns="0" rIns="0" bIns="0" anchor="t"/>
          <a:lstStyle/>
          <a:p>
            <a:pPr algn="l"/>
            <a:r>
              <a:rPr lang="en-US" sz="1000" dirty="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TRK energy regression</a:t>
            </a:r>
          </a:p>
        </p:txBody>
      </p:sp>
      <p:sp>
        <p:nvSpPr>
          <p:cNvPr id="3" name="HeaderTitle"/>
          <p:cNvSpPr txBox="1"/>
          <p:nvPr/>
        </p:nvSpPr>
        <p:spPr>
          <a:xfrm>
            <a:off x="476250" y="76200"/>
            <a:ext cx="8191500" cy="415544"/>
          </a:xfrm>
          <a:prstGeom prst="rect">
            <a:avLst/>
          </a:prstGeom>
          <a:noFill/>
          <a:ln>
            <a:noFill/>
          </a:ln>
        </p:spPr>
        <p:txBody>
          <a:bodyPr vertOverflow="overflow" vert="horz" wrap="square" rtlCol="0" anchor="t">
            <a:noAutofit/>
          </a:bodyPr>
          <a:lstStyle/>
          <a:p>
            <a:pPr algn="l">
              <a:buNone/>
            </a:pPr>
            <a:r>
              <a:rPr lang="en-US" sz="2100" b="1">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rPr>
              <a:t>Appendix B: energy-bin RMSE</a:t>
            </a:r>
            <a:endParaRPr lang="en-US" sz="2100" b="1" dirty="0">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6" name="PageNum"/>
          <p:cNvSpPr txBox="1"/>
          <p:nvPr/>
        </p:nvSpPr>
        <p:spPr>
          <a:xfrm>
            <a:off x="8324850" y="4800600"/>
            <a:ext cx="685800" cy="228600"/>
          </a:xfrm>
          <a:prstGeom prst="rect">
            <a:avLst/>
          </a:prstGeom>
          <a:noFill/>
          <a:ln>
            <a:noFill/>
          </a:ln>
        </p:spPr>
        <p:txBody>
          <a:bodyPr vertOverflow="overflow" vert="horz" wrap="none" rtlCol="0" anchor="t">
            <a:noAutofit/>
          </a:bodyPr>
          <a:lstStyle/>
          <a:p>
            <a:pPr algn="ctr">
              <a:defRPr sz="750">
                <a:solidFill>
                  <a:srgbClr val="5E6B73"/>
                </a:solidFill>
                <a:latin typeface="Aptos"/>
              </a:defRPr>
            </a:pPr>
            <a:r>
              <a:rPr lang="en-US" sz="75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11 / 17</a:t>
            </a:r>
            <a:endParaRPr sz="75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ottomRule"/>
          <p:cNvSpPr/>
          <p:nvPr/>
        </p:nvSpPr>
        <p:spPr>
          <a:xfrm>
            <a:off x="342900" y="4695825"/>
            <a:ext cx="8458200" cy="19050"/>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 name="HeaderBand"/>
          <p:cNvSpPr/>
          <p:nvPr/>
        </p:nvSpPr>
        <p:spPr>
          <a:xfrm>
            <a:off x="0" y="0"/>
            <a:ext cx="9144000" cy="523875"/>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pic>
        <p:nvPicPr>
          <p:cNvPr id="5" name="Picture 4" descr="image.png"/>
          <p:cNvPicPr>
            <a:picLocks noChangeAspect="1"/>
          </p:cNvPicPr>
          <p:nvPr/>
        </p:nvPicPr>
        <p:blipFill>
          <a:blip r:embed="rId3"/>
          <a:stretch>
            <a:fillRect/>
          </a:stretch>
        </p:blipFill>
        <p:spPr>
          <a:xfrm>
            <a:off x="381000" y="1244599"/>
            <a:ext cx="8395747" cy="3403600"/>
          </a:xfrm>
          <a:prstGeom prst="rect">
            <a:avLst/>
          </a:prstGeom>
        </p:spPr>
      </p:pic>
      <p:sp>
        <p:nvSpPr>
          <p:cNvPr id="201" name="Subtitle"/>
          <p:cNvSpPr txBox="1"/>
          <p:nvPr/>
        </p:nvSpPr>
        <p:spPr>
          <a:xfrm>
            <a:off x="457200" y="698500"/>
            <a:ext cx="8229600" cy="279400"/>
          </a:xfrm>
          <a:prstGeom prst="rect">
            <a:avLst/>
          </a:prstGeom>
          <a:noFill/>
          <a:ln>
            <a:noFill/>
          </a:ln>
        </p:spPr>
        <p:txBody>
          <a:bodyPr wrap="square" lIns="0" tIns="0" rIns="0" bIns="0" anchor="t"/>
          <a:lstStyle/>
          <a:p>
            <a:pPr algn="l"/>
            <a:r>
              <a:rPr lang="en-US" sz="1050" i="1">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F3 range-clipping diagnostic across all methods.</a:t>
            </a:r>
            <a:endParaRPr lang="en-US" sz="1050" i="1" dirty="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03" name="Footer"/>
          <p:cNvSpPr txBox="1"/>
          <p:nvPr/>
        </p:nvSpPr>
        <p:spPr>
          <a:xfrm>
            <a:off x="457200" y="4826000"/>
            <a:ext cx="6858000" cy="228600"/>
          </a:xfrm>
          <a:prstGeom prst="rect">
            <a:avLst/>
          </a:prstGeom>
          <a:noFill/>
          <a:ln>
            <a:noFill/>
          </a:ln>
        </p:spPr>
        <p:txBody>
          <a:bodyPr wrap="square" lIns="0" tIns="0" rIns="0" bIns="0" anchor="t"/>
          <a:lstStyle/>
          <a:p>
            <a:pPr algn="l"/>
            <a:r>
              <a:rPr lang="en-US" sz="1000" dirty="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TRK energy regression</a:t>
            </a:r>
          </a:p>
        </p:txBody>
      </p:sp>
      <p:sp>
        <p:nvSpPr>
          <p:cNvPr id="3" name="HeaderTitle"/>
          <p:cNvSpPr txBox="1"/>
          <p:nvPr/>
        </p:nvSpPr>
        <p:spPr>
          <a:xfrm>
            <a:off x="476250" y="76200"/>
            <a:ext cx="8191500" cy="415544"/>
          </a:xfrm>
          <a:prstGeom prst="rect">
            <a:avLst/>
          </a:prstGeom>
          <a:noFill/>
          <a:ln>
            <a:noFill/>
          </a:ln>
        </p:spPr>
        <p:txBody>
          <a:bodyPr vertOverflow="overflow" vert="horz" wrap="square" rtlCol="0" anchor="t">
            <a:noAutofit/>
          </a:bodyPr>
          <a:lstStyle/>
          <a:p>
            <a:pPr algn="l">
              <a:buNone/>
            </a:pPr>
            <a:r>
              <a:rPr lang="en-US" sz="2100" b="1">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rPr>
              <a:t>Appendix C: range-clipping diagnostic</a:t>
            </a:r>
            <a:endParaRPr lang="en-US" sz="2100" b="1" dirty="0">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6" name="PageNum"/>
          <p:cNvSpPr txBox="1"/>
          <p:nvPr/>
        </p:nvSpPr>
        <p:spPr>
          <a:xfrm>
            <a:off x="8324850" y="4800600"/>
            <a:ext cx="685800" cy="228600"/>
          </a:xfrm>
          <a:prstGeom prst="rect">
            <a:avLst/>
          </a:prstGeom>
          <a:noFill/>
          <a:ln>
            <a:noFill/>
          </a:ln>
        </p:spPr>
        <p:txBody>
          <a:bodyPr vertOverflow="overflow" vert="horz" wrap="none" rtlCol="0" anchor="t">
            <a:noAutofit/>
          </a:bodyPr>
          <a:lstStyle/>
          <a:p>
            <a:pPr algn="ctr">
              <a:defRPr sz="750">
                <a:solidFill>
                  <a:srgbClr val="5E6B73"/>
                </a:solidFill>
                <a:latin typeface="Aptos"/>
              </a:defRPr>
            </a:pPr>
            <a:r>
              <a:rPr lang="en-US" sz="75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12 / 17</a:t>
            </a:r>
            <a:endParaRPr sz="75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ottomRule"/>
          <p:cNvSpPr/>
          <p:nvPr/>
        </p:nvSpPr>
        <p:spPr>
          <a:xfrm>
            <a:off x="342900" y="4695825"/>
            <a:ext cx="8458200" cy="19050"/>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 name="HeaderBand"/>
          <p:cNvSpPr/>
          <p:nvPr/>
        </p:nvSpPr>
        <p:spPr>
          <a:xfrm>
            <a:off x="0" y="0"/>
            <a:ext cx="9144000" cy="523875"/>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pic>
        <p:nvPicPr>
          <p:cNvPr id="5" name="Picture 4" descr="image.png"/>
          <p:cNvPicPr>
            <a:picLocks noChangeAspect="1"/>
          </p:cNvPicPr>
          <p:nvPr/>
        </p:nvPicPr>
        <p:blipFill>
          <a:blip r:embed="rId3"/>
          <a:stretch>
            <a:fillRect/>
          </a:stretch>
        </p:blipFill>
        <p:spPr>
          <a:xfrm>
            <a:off x="381000" y="1320799"/>
            <a:ext cx="8391898" cy="3048000"/>
          </a:xfrm>
          <a:prstGeom prst="rect">
            <a:avLst/>
          </a:prstGeom>
        </p:spPr>
      </p:pic>
      <p:sp>
        <p:nvSpPr>
          <p:cNvPr id="201" name="Subtitle"/>
          <p:cNvSpPr txBox="1"/>
          <p:nvPr/>
        </p:nvSpPr>
        <p:spPr>
          <a:xfrm>
            <a:off x="457200" y="698500"/>
            <a:ext cx="8229600" cy="279400"/>
          </a:xfrm>
          <a:prstGeom prst="rect">
            <a:avLst/>
          </a:prstGeom>
          <a:noFill/>
          <a:ln>
            <a:noFill/>
          </a:ln>
        </p:spPr>
        <p:txBody>
          <a:bodyPr wrap="square" lIns="0" tIns="0" rIns="0" bIns="0" anchor="t"/>
          <a:lstStyle/>
          <a:p>
            <a:pPr algn="l"/>
            <a:r>
              <a:rPr lang="en-US" sz="1050" i="1">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F3.5 clipped-track recovery ratio concept.</a:t>
            </a:r>
            <a:endParaRPr lang="en-US" sz="1050" i="1" dirty="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03" name="Footer"/>
          <p:cNvSpPr txBox="1"/>
          <p:nvPr/>
        </p:nvSpPr>
        <p:spPr>
          <a:xfrm>
            <a:off x="457200" y="4826000"/>
            <a:ext cx="6858000" cy="228600"/>
          </a:xfrm>
          <a:prstGeom prst="rect">
            <a:avLst/>
          </a:prstGeom>
          <a:noFill/>
          <a:ln>
            <a:noFill/>
          </a:ln>
        </p:spPr>
        <p:txBody>
          <a:bodyPr wrap="square" lIns="0" tIns="0" rIns="0" bIns="0" anchor="t"/>
          <a:lstStyle/>
          <a:p>
            <a:pPr algn="l"/>
            <a:r>
              <a:rPr lang="en-US" sz="1000" dirty="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TRK energy regression</a:t>
            </a:r>
          </a:p>
        </p:txBody>
      </p:sp>
      <p:sp>
        <p:nvSpPr>
          <p:cNvPr id="3" name="HeaderTitle"/>
          <p:cNvSpPr txBox="1"/>
          <p:nvPr/>
        </p:nvSpPr>
        <p:spPr>
          <a:xfrm>
            <a:off x="476250" y="76200"/>
            <a:ext cx="8191500" cy="415544"/>
          </a:xfrm>
          <a:prstGeom prst="rect">
            <a:avLst/>
          </a:prstGeom>
          <a:noFill/>
          <a:ln>
            <a:noFill/>
          </a:ln>
        </p:spPr>
        <p:txBody>
          <a:bodyPr vertOverflow="overflow" vert="horz" wrap="square" rtlCol="0" anchor="t">
            <a:noAutofit/>
          </a:bodyPr>
          <a:lstStyle/>
          <a:p>
            <a:pPr algn="l">
              <a:buNone/>
            </a:pPr>
            <a:r>
              <a:rPr lang="en-US" sz="2100" b="1">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rPr>
              <a:t>Appendix D: clipped-track recovery ratio concept</a:t>
            </a:r>
            <a:endParaRPr lang="en-US" sz="2100" b="1" dirty="0">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6" name="PageNum"/>
          <p:cNvSpPr txBox="1"/>
          <p:nvPr/>
        </p:nvSpPr>
        <p:spPr>
          <a:xfrm>
            <a:off x="8324850" y="4800600"/>
            <a:ext cx="685800" cy="228600"/>
          </a:xfrm>
          <a:prstGeom prst="rect">
            <a:avLst/>
          </a:prstGeom>
          <a:noFill/>
          <a:ln>
            <a:noFill/>
          </a:ln>
        </p:spPr>
        <p:txBody>
          <a:bodyPr vertOverflow="overflow" vert="horz" wrap="none" rtlCol="0" anchor="t">
            <a:noAutofit/>
          </a:bodyPr>
          <a:lstStyle/>
          <a:p>
            <a:pPr algn="ctr">
              <a:defRPr sz="750">
                <a:solidFill>
                  <a:srgbClr val="5E6B73"/>
                </a:solidFill>
                <a:latin typeface="Aptos"/>
              </a:defRPr>
            </a:pPr>
            <a:r>
              <a:rPr lang="en-US" sz="75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13 / 17</a:t>
            </a:r>
            <a:endParaRPr sz="75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ottomRule"/>
          <p:cNvSpPr/>
          <p:nvPr/>
        </p:nvSpPr>
        <p:spPr>
          <a:xfrm>
            <a:off x="342900" y="4695825"/>
            <a:ext cx="8458200" cy="19050"/>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 name="HeaderBand"/>
          <p:cNvSpPr/>
          <p:nvPr/>
        </p:nvSpPr>
        <p:spPr>
          <a:xfrm>
            <a:off x="0" y="0"/>
            <a:ext cx="9144000" cy="523875"/>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pic>
        <p:nvPicPr>
          <p:cNvPr id="5" name="Picture 4" descr="image.png"/>
          <p:cNvPicPr>
            <a:picLocks noChangeAspect="1"/>
          </p:cNvPicPr>
          <p:nvPr/>
        </p:nvPicPr>
        <p:blipFill>
          <a:blip r:embed="rId3"/>
          <a:stretch>
            <a:fillRect/>
          </a:stretch>
        </p:blipFill>
        <p:spPr>
          <a:xfrm>
            <a:off x="820434" y="838200"/>
            <a:ext cx="7111324" cy="3683000"/>
          </a:xfrm>
          <a:prstGeom prst="rect">
            <a:avLst/>
          </a:prstGeom>
        </p:spPr>
      </p:pic>
      <p:sp>
        <p:nvSpPr>
          <p:cNvPr id="201" name="Subtitle"/>
          <p:cNvSpPr txBox="1"/>
          <p:nvPr/>
        </p:nvSpPr>
        <p:spPr>
          <a:xfrm>
            <a:off x="457200" y="698500"/>
            <a:ext cx="8229600" cy="279400"/>
          </a:xfrm>
          <a:prstGeom prst="rect">
            <a:avLst/>
          </a:prstGeom>
          <a:noFill/>
          <a:ln>
            <a:noFill/>
          </a:ln>
        </p:spPr>
        <p:txBody>
          <a:bodyPr wrap="square" lIns="0" tIns="0" rIns="0" bIns="0" anchor="t"/>
          <a:lstStyle/>
          <a:p>
            <a:pPr algn="l"/>
            <a:r>
              <a:rPr lang="en-US" sz="1050" i="1">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F5 track-count RMSE.</a:t>
            </a:r>
            <a:endParaRPr lang="en-US" sz="1050" i="1" dirty="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03" name="Footer"/>
          <p:cNvSpPr txBox="1"/>
          <p:nvPr/>
        </p:nvSpPr>
        <p:spPr>
          <a:xfrm>
            <a:off x="457200" y="4826000"/>
            <a:ext cx="6858000" cy="228600"/>
          </a:xfrm>
          <a:prstGeom prst="rect">
            <a:avLst/>
          </a:prstGeom>
          <a:noFill/>
          <a:ln>
            <a:noFill/>
          </a:ln>
        </p:spPr>
        <p:txBody>
          <a:bodyPr wrap="square" lIns="0" tIns="0" rIns="0" bIns="0" anchor="t"/>
          <a:lstStyle/>
          <a:p>
            <a:pPr algn="l"/>
            <a:r>
              <a:rPr lang="en-US" sz="1000" dirty="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TRK energy regression</a:t>
            </a:r>
          </a:p>
        </p:txBody>
      </p:sp>
      <p:sp>
        <p:nvSpPr>
          <p:cNvPr id="3" name="HeaderTitle"/>
          <p:cNvSpPr txBox="1"/>
          <p:nvPr/>
        </p:nvSpPr>
        <p:spPr>
          <a:xfrm>
            <a:off x="476250" y="76200"/>
            <a:ext cx="8191500" cy="415544"/>
          </a:xfrm>
          <a:prstGeom prst="rect">
            <a:avLst/>
          </a:prstGeom>
          <a:noFill/>
          <a:ln>
            <a:noFill/>
          </a:ln>
        </p:spPr>
        <p:txBody>
          <a:bodyPr vertOverflow="overflow" vert="horz" wrap="square" rtlCol="0" anchor="t">
            <a:noAutofit/>
          </a:bodyPr>
          <a:lstStyle/>
          <a:p>
            <a:pPr algn="l">
              <a:buNone/>
            </a:pPr>
            <a:r>
              <a:rPr lang="en-US" sz="2100" b="1">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rPr>
              <a:t>Appendix F: track-count RMSE</a:t>
            </a:r>
            <a:endParaRPr lang="en-US" sz="2100" b="1" dirty="0">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6" name="PageNum"/>
          <p:cNvSpPr txBox="1"/>
          <p:nvPr/>
        </p:nvSpPr>
        <p:spPr>
          <a:xfrm>
            <a:off x="8324850" y="4800600"/>
            <a:ext cx="685800" cy="228600"/>
          </a:xfrm>
          <a:prstGeom prst="rect">
            <a:avLst/>
          </a:prstGeom>
          <a:noFill/>
          <a:ln>
            <a:noFill/>
          </a:ln>
        </p:spPr>
        <p:txBody>
          <a:bodyPr vertOverflow="overflow" vert="horz" wrap="none" rtlCol="0" anchor="t">
            <a:noAutofit/>
          </a:bodyPr>
          <a:lstStyle/>
          <a:p>
            <a:pPr algn="ctr">
              <a:defRPr sz="750">
                <a:solidFill>
                  <a:srgbClr val="5E6B73"/>
                </a:solidFill>
                <a:latin typeface="Aptos"/>
              </a:defRPr>
            </a:pPr>
            <a:r>
              <a:rPr lang="en-US" sz="75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14 / 17</a:t>
            </a:r>
            <a:endParaRPr sz="75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ottomRule"/>
          <p:cNvSpPr/>
          <p:nvPr/>
        </p:nvSpPr>
        <p:spPr>
          <a:xfrm>
            <a:off x="342900" y="4695825"/>
            <a:ext cx="8458200" cy="19050"/>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 name="HeaderBand"/>
          <p:cNvSpPr/>
          <p:nvPr/>
        </p:nvSpPr>
        <p:spPr>
          <a:xfrm>
            <a:off x="0" y="0"/>
            <a:ext cx="9144000" cy="523875"/>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pic>
        <p:nvPicPr>
          <p:cNvPr id="5" name="Picture 4" descr="image.png"/>
          <p:cNvPicPr/>
          <p:nvPr/>
        </p:nvPicPr>
        <p:blipFill>
          <a:blip r:embed="rId3"/>
          <a:stretch>
            <a:fillRect/>
          </a:stretch>
        </p:blipFill>
        <p:spPr>
          <a:xfrm>
            <a:off x="939800" y="1371600"/>
            <a:ext cx="7264400" cy="3175000"/>
          </a:xfrm>
          <a:prstGeom prst="rect">
            <a:avLst/>
          </a:prstGeom>
        </p:spPr>
      </p:pic>
      <p:sp>
        <p:nvSpPr>
          <p:cNvPr id="201" name="Subtitle"/>
          <p:cNvSpPr txBox="1"/>
          <p:nvPr/>
        </p:nvSpPr>
        <p:spPr>
          <a:xfrm>
            <a:off x="457200" y="698500"/>
            <a:ext cx="8229600" cy="279400"/>
          </a:xfrm>
          <a:prstGeom prst="rect">
            <a:avLst/>
          </a:prstGeom>
          <a:noFill/>
          <a:ln>
            <a:noFill/>
          </a:ln>
        </p:spPr>
        <p:txBody>
          <a:bodyPr wrap="square" lIns="0" tIns="0" rIns="0" bIns="0" anchor="t"/>
          <a:lstStyle/>
          <a:p>
            <a:pPr algn="l">
              <a:lnSpc>
                <a:spcPct val="120000"/>
              </a:lnSpc>
            </a:pPr>
            <a:r>
              <a:rPr lang="en-US" sz="1050" i="1">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F7 RMSE-difference and Wilcoxon significance matrix.</a:t>
            </a:r>
            <a:endParaRPr lang="en-US" sz="1050" i="1" dirty="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03" name="Footer"/>
          <p:cNvSpPr txBox="1"/>
          <p:nvPr/>
        </p:nvSpPr>
        <p:spPr>
          <a:xfrm>
            <a:off x="457200" y="4826000"/>
            <a:ext cx="6858000" cy="228600"/>
          </a:xfrm>
          <a:prstGeom prst="rect">
            <a:avLst/>
          </a:prstGeom>
          <a:noFill/>
          <a:ln>
            <a:noFill/>
          </a:ln>
        </p:spPr>
        <p:txBody>
          <a:bodyPr wrap="square" lIns="0" tIns="0" rIns="0" bIns="0" anchor="t"/>
          <a:lstStyle/>
          <a:p>
            <a:pPr algn="l"/>
            <a:r>
              <a:rPr lang="en-US" sz="1000" dirty="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TRK energy regression</a:t>
            </a:r>
          </a:p>
        </p:txBody>
      </p:sp>
      <p:sp>
        <p:nvSpPr>
          <p:cNvPr id="3" name="HeaderTitle"/>
          <p:cNvSpPr txBox="1"/>
          <p:nvPr/>
        </p:nvSpPr>
        <p:spPr>
          <a:xfrm>
            <a:off x="476250" y="76200"/>
            <a:ext cx="8191500" cy="415544"/>
          </a:xfrm>
          <a:prstGeom prst="rect">
            <a:avLst/>
          </a:prstGeom>
          <a:noFill/>
          <a:ln>
            <a:noFill/>
          </a:ln>
        </p:spPr>
        <p:txBody>
          <a:bodyPr vertOverflow="overflow" vert="horz" wrap="square" rtlCol="0" anchor="t">
            <a:noAutofit/>
          </a:bodyPr>
          <a:lstStyle/>
          <a:p>
            <a:pPr algn="l">
              <a:buNone/>
            </a:pPr>
            <a:r>
              <a:rPr lang="en-US" sz="2100" b="1">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rPr>
              <a:t>Appendix G: pairwise significance of RMSE differences</a:t>
            </a:r>
            <a:endParaRPr lang="en-US" sz="2100" b="1" dirty="0">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6" name="PageNum"/>
          <p:cNvSpPr txBox="1"/>
          <p:nvPr/>
        </p:nvSpPr>
        <p:spPr>
          <a:xfrm>
            <a:off x="8324850" y="4800600"/>
            <a:ext cx="685800" cy="228600"/>
          </a:xfrm>
          <a:prstGeom prst="rect">
            <a:avLst/>
          </a:prstGeom>
          <a:noFill/>
          <a:ln>
            <a:noFill/>
          </a:ln>
        </p:spPr>
        <p:txBody>
          <a:bodyPr vertOverflow="overflow" vert="horz" wrap="none" rtlCol="0" anchor="t">
            <a:noAutofit/>
          </a:bodyPr>
          <a:lstStyle/>
          <a:p>
            <a:pPr algn="ctr">
              <a:defRPr sz="750">
                <a:solidFill>
                  <a:srgbClr val="5E6B73"/>
                </a:solidFill>
                <a:latin typeface="Aptos"/>
              </a:defRPr>
            </a:pPr>
            <a:r>
              <a:rPr lang="en-US" sz="75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15 / 17</a:t>
            </a:r>
            <a:endParaRPr sz="75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ottomRule"/>
          <p:cNvSpPr/>
          <p:nvPr/>
        </p:nvSpPr>
        <p:spPr>
          <a:xfrm>
            <a:off x="342900" y="4695825"/>
            <a:ext cx="8458200" cy="19050"/>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 name="HeaderBand"/>
          <p:cNvSpPr/>
          <p:nvPr/>
        </p:nvSpPr>
        <p:spPr>
          <a:xfrm>
            <a:off x="0" y="0"/>
            <a:ext cx="9144000" cy="523875"/>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pic>
        <p:nvPicPr>
          <p:cNvPr id="5" name="Picture 4" descr="image.png"/>
          <p:cNvPicPr/>
          <p:nvPr/>
        </p:nvPicPr>
        <p:blipFill>
          <a:blip r:embed="rId3"/>
          <a:stretch>
            <a:fillRect/>
          </a:stretch>
        </p:blipFill>
        <p:spPr>
          <a:xfrm>
            <a:off x="457200" y="1650999"/>
            <a:ext cx="8229600" cy="2362200"/>
          </a:xfrm>
          <a:prstGeom prst="rect">
            <a:avLst/>
          </a:prstGeom>
        </p:spPr>
      </p:pic>
      <p:sp>
        <p:nvSpPr>
          <p:cNvPr id="201" name="Subtitle"/>
          <p:cNvSpPr txBox="1"/>
          <p:nvPr/>
        </p:nvSpPr>
        <p:spPr>
          <a:xfrm>
            <a:off x="457200" y="698500"/>
            <a:ext cx="8229600" cy="279400"/>
          </a:xfrm>
          <a:prstGeom prst="rect">
            <a:avLst/>
          </a:prstGeom>
          <a:noFill/>
          <a:ln>
            <a:noFill/>
          </a:ln>
        </p:spPr>
        <p:txBody>
          <a:bodyPr wrap="square" lIns="0" tIns="0" rIns="0" bIns="0" anchor="t"/>
          <a:lstStyle/>
          <a:p>
            <a:pPr algn="l"/>
            <a:r>
              <a:rPr lang="en-US" sz="1050" i="1">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F8 residual vs truth, 1x5 method strip.</a:t>
            </a:r>
            <a:endParaRPr lang="en-US" sz="1050" i="1" dirty="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03" name="Footer"/>
          <p:cNvSpPr txBox="1"/>
          <p:nvPr/>
        </p:nvSpPr>
        <p:spPr>
          <a:xfrm>
            <a:off x="457200" y="4826000"/>
            <a:ext cx="6858000" cy="228600"/>
          </a:xfrm>
          <a:prstGeom prst="rect">
            <a:avLst/>
          </a:prstGeom>
          <a:noFill/>
          <a:ln>
            <a:noFill/>
          </a:ln>
        </p:spPr>
        <p:txBody>
          <a:bodyPr wrap="square" lIns="0" tIns="0" rIns="0" bIns="0" anchor="t"/>
          <a:lstStyle/>
          <a:p>
            <a:pPr algn="l"/>
            <a:r>
              <a:rPr lang="en-US" sz="1000" dirty="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TRK energy regression</a:t>
            </a:r>
          </a:p>
        </p:txBody>
      </p:sp>
      <p:sp>
        <p:nvSpPr>
          <p:cNvPr id="3" name="HeaderTitle"/>
          <p:cNvSpPr txBox="1"/>
          <p:nvPr/>
        </p:nvSpPr>
        <p:spPr>
          <a:xfrm>
            <a:off x="476250" y="76200"/>
            <a:ext cx="8191500" cy="415544"/>
          </a:xfrm>
          <a:prstGeom prst="rect">
            <a:avLst/>
          </a:prstGeom>
          <a:noFill/>
          <a:ln>
            <a:noFill/>
          </a:ln>
        </p:spPr>
        <p:txBody>
          <a:bodyPr vertOverflow="overflow" vert="horz" wrap="square" rtlCol="0" anchor="t">
            <a:noAutofit/>
          </a:bodyPr>
          <a:lstStyle/>
          <a:p>
            <a:pPr algn="l">
              <a:buNone/>
            </a:pPr>
            <a:r>
              <a:rPr lang="en-US" sz="2100" b="1">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rPr>
              <a:t>Appendix H: residual vs truth across methods</a:t>
            </a:r>
            <a:endParaRPr lang="en-US" sz="2100" b="1" dirty="0">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6" name="PageNum"/>
          <p:cNvSpPr txBox="1"/>
          <p:nvPr/>
        </p:nvSpPr>
        <p:spPr>
          <a:xfrm>
            <a:off x="8324850" y="4800600"/>
            <a:ext cx="685800" cy="228600"/>
          </a:xfrm>
          <a:prstGeom prst="rect">
            <a:avLst/>
          </a:prstGeom>
          <a:noFill/>
          <a:ln>
            <a:noFill/>
          </a:ln>
        </p:spPr>
        <p:txBody>
          <a:bodyPr vertOverflow="overflow" vert="horz" wrap="none" rtlCol="0" anchor="t">
            <a:noAutofit/>
          </a:bodyPr>
          <a:lstStyle/>
          <a:p>
            <a:pPr algn="ctr">
              <a:defRPr sz="750">
                <a:solidFill>
                  <a:srgbClr val="5E6B73"/>
                </a:solidFill>
                <a:latin typeface="Aptos"/>
              </a:defRPr>
            </a:pPr>
            <a:r>
              <a:rPr lang="en-US" sz="75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16 / 17</a:t>
            </a:r>
            <a:endParaRPr sz="75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ottomRule"/>
          <p:cNvSpPr/>
          <p:nvPr/>
        </p:nvSpPr>
        <p:spPr>
          <a:xfrm>
            <a:off x="342900" y="4695825"/>
            <a:ext cx="8458200" cy="19050"/>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 name="HeaderBand"/>
          <p:cNvSpPr/>
          <p:nvPr/>
        </p:nvSpPr>
        <p:spPr>
          <a:xfrm>
            <a:off x="0" y="0"/>
            <a:ext cx="9144000" cy="523875"/>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pic>
        <p:nvPicPr>
          <p:cNvPr id="5" name="Picture 4" descr="image.png"/>
          <p:cNvPicPr>
            <a:picLocks noChangeAspect="1"/>
          </p:cNvPicPr>
          <p:nvPr/>
        </p:nvPicPr>
        <p:blipFill>
          <a:blip r:embed="rId3"/>
          <a:stretch>
            <a:fillRect/>
          </a:stretch>
        </p:blipFill>
        <p:spPr>
          <a:xfrm>
            <a:off x="533401" y="1193800"/>
            <a:ext cx="3996303" cy="2857500"/>
          </a:xfrm>
          <a:prstGeom prst="rect">
            <a:avLst/>
          </a:prstGeom>
        </p:spPr>
      </p:pic>
      <p:pic>
        <p:nvPicPr>
          <p:cNvPr id="6" name="Picture 5" descr="image.png"/>
          <p:cNvPicPr>
            <a:picLocks noChangeAspect="1"/>
          </p:cNvPicPr>
          <p:nvPr/>
        </p:nvPicPr>
        <p:blipFill>
          <a:blip r:embed="rId4"/>
          <a:stretch>
            <a:fillRect/>
          </a:stretch>
        </p:blipFill>
        <p:spPr>
          <a:xfrm>
            <a:off x="4610101" y="1193800"/>
            <a:ext cx="3996303" cy="2857500"/>
          </a:xfrm>
          <a:prstGeom prst="rect">
            <a:avLst/>
          </a:prstGeom>
        </p:spPr>
      </p:pic>
      <p:sp>
        <p:nvSpPr>
          <p:cNvPr id="7" name="TextBox 6"/>
          <p:cNvSpPr txBox="1"/>
          <p:nvPr/>
        </p:nvSpPr>
        <p:spPr>
          <a:xfrm>
            <a:off x="533400" y="3987800"/>
            <a:ext cx="4000500" cy="228600"/>
          </a:xfrm>
          <a:prstGeom prst="rect">
            <a:avLst/>
          </a:prstGeom>
          <a:noFill/>
        </p:spPr>
        <p:txBody>
          <a:bodyPr wrap="square" lIns="0" tIns="0" rIns="0" bIns="0" anchor="t">
            <a:noAutofit/>
          </a:bodyPr>
          <a:lstStyle/>
          <a:p>
            <a:pPr algn="ctr">
              <a:lnSpc>
                <a:spcPct val="125000"/>
              </a:lnSpc>
            </a:pPr>
            <a:r>
              <a:rPr lang="en-US" sz="1200" b="1" i="0" dirty="0" err="1">
                <a:solidFill>
                  <a:srgbClr val="4C78A8"/>
                </a:solidFill>
                <a:latin typeface="Times New Roman" panose="02020603050405020304" pitchFamily="18" charset="0"/>
                <a:cs typeface="Times New Roman" panose="02020603050405020304" pitchFamily="18" charset="0"/>
                <a:sym typeface="Times New Roman" panose="02020603050405020304" pitchFamily="18" charset="0"/>
              </a:rPr>
              <a:t>ResNet</a:t>
            </a:r>
            <a:endParaRPr sz="1200" b="1" i="0" dirty="0">
              <a:solidFill>
                <a:srgbClr val="4C78A8"/>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8" name="TextBox 7"/>
          <p:cNvSpPr txBox="1"/>
          <p:nvPr/>
        </p:nvSpPr>
        <p:spPr>
          <a:xfrm>
            <a:off x="4610100" y="3987800"/>
            <a:ext cx="4000500" cy="228600"/>
          </a:xfrm>
          <a:prstGeom prst="rect">
            <a:avLst/>
          </a:prstGeom>
          <a:noFill/>
        </p:spPr>
        <p:txBody>
          <a:bodyPr wrap="square" lIns="0" tIns="0" rIns="0" bIns="0" anchor="t">
            <a:noAutofit/>
          </a:bodyPr>
          <a:lstStyle/>
          <a:p>
            <a:pPr algn="ctr">
              <a:lnSpc>
                <a:spcPct val="125000"/>
              </a:lnSpc>
            </a:pPr>
            <a:r>
              <a:rPr lang="en-US" sz="1200" b="1" i="0" dirty="0" err="1">
                <a:solidFill>
                  <a:srgbClr val="C44E52"/>
                </a:solidFill>
                <a:latin typeface="Times New Roman" panose="02020603050405020304" pitchFamily="18" charset="0"/>
                <a:cs typeface="Times New Roman" panose="02020603050405020304" pitchFamily="18" charset="0"/>
                <a:sym typeface="Times New Roman" panose="02020603050405020304" pitchFamily="18" charset="0"/>
              </a:rPr>
              <a:t>CrossAttention</a:t>
            </a:r>
            <a:endParaRPr sz="1200" b="1" i="0" dirty="0">
              <a:solidFill>
                <a:srgbClr val="C44E52"/>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01" name="Subtitle"/>
          <p:cNvSpPr txBox="1"/>
          <p:nvPr/>
        </p:nvSpPr>
        <p:spPr>
          <a:xfrm>
            <a:off x="457200" y="698500"/>
            <a:ext cx="8229600" cy="279400"/>
          </a:xfrm>
          <a:prstGeom prst="rect">
            <a:avLst/>
          </a:prstGeom>
          <a:noFill/>
          <a:ln>
            <a:noFill/>
          </a:ln>
        </p:spPr>
        <p:txBody>
          <a:bodyPr wrap="square" lIns="0" tIns="0" rIns="0" bIns="0" anchor="t"/>
          <a:lstStyle/>
          <a:p>
            <a:pPr algn="l"/>
            <a:r>
              <a:rPr lang="en-US" sz="1050" i="1">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Per-track-count residual checks for each CNN energy regressor.</a:t>
            </a:r>
            <a:endParaRPr lang="en-US" sz="1050" i="1" dirty="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03" name="Footer"/>
          <p:cNvSpPr txBox="1"/>
          <p:nvPr/>
        </p:nvSpPr>
        <p:spPr>
          <a:xfrm>
            <a:off x="457200" y="4826000"/>
            <a:ext cx="6858000" cy="228600"/>
          </a:xfrm>
          <a:prstGeom prst="rect">
            <a:avLst/>
          </a:prstGeom>
          <a:noFill/>
          <a:ln>
            <a:noFill/>
          </a:ln>
        </p:spPr>
        <p:txBody>
          <a:bodyPr wrap="square" lIns="0" tIns="0" rIns="0" bIns="0" anchor="t"/>
          <a:lstStyle/>
          <a:p>
            <a:pPr algn="l"/>
            <a:r>
              <a:rPr lang="en-US" sz="1000" dirty="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TRK energy regression</a:t>
            </a:r>
          </a:p>
        </p:txBody>
      </p:sp>
      <p:sp>
        <p:nvSpPr>
          <p:cNvPr id="3" name="HeaderTitle"/>
          <p:cNvSpPr txBox="1"/>
          <p:nvPr/>
        </p:nvSpPr>
        <p:spPr>
          <a:xfrm>
            <a:off x="476250" y="76200"/>
            <a:ext cx="8191500" cy="415544"/>
          </a:xfrm>
          <a:prstGeom prst="rect">
            <a:avLst/>
          </a:prstGeom>
          <a:noFill/>
          <a:ln>
            <a:noFill/>
          </a:ln>
        </p:spPr>
        <p:txBody>
          <a:bodyPr vertOverflow="overflow" vert="horz" wrap="square" rtlCol="0" anchor="t">
            <a:noAutofit/>
          </a:bodyPr>
          <a:lstStyle/>
          <a:p>
            <a:pPr algn="l">
              <a:buNone/>
            </a:pPr>
            <a:r>
              <a:rPr lang="en-US" sz="2100" b="1">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rPr>
              <a:t>Appendix I: CNN residual histograms by track count</a:t>
            </a:r>
            <a:endParaRPr lang="en-US" sz="2100" b="1" dirty="0">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9" name="PageNum"/>
          <p:cNvSpPr txBox="1"/>
          <p:nvPr/>
        </p:nvSpPr>
        <p:spPr>
          <a:xfrm>
            <a:off x="8324850" y="4800600"/>
            <a:ext cx="685800" cy="228600"/>
          </a:xfrm>
          <a:prstGeom prst="rect">
            <a:avLst/>
          </a:prstGeom>
          <a:noFill/>
          <a:ln>
            <a:noFill/>
          </a:ln>
        </p:spPr>
        <p:txBody>
          <a:bodyPr vertOverflow="overflow" vert="horz" wrap="none" rtlCol="0" anchor="t">
            <a:noAutofit/>
          </a:bodyPr>
          <a:lstStyle/>
          <a:p>
            <a:pPr algn="ctr">
              <a:defRPr sz="750">
                <a:solidFill>
                  <a:srgbClr val="5E6B73"/>
                </a:solidFill>
                <a:latin typeface="Aptos"/>
              </a:defRPr>
            </a:pPr>
            <a:r>
              <a:rPr lang="en-US" sz="75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17 / 17</a:t>
            </a:r>
            <a:endParaRPr sz="75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1779258520937]">
  <a:themeElements>
    <a:clrScheme name="Office">
      <a:dk1>
        <a:srgbClr val="000000"/>
      </a:dk1>
      <a:lt1>
        <a:srgbClr val="FFFFFF"/>
      </a:lt1>
      <a:dk2>
        <a:srgbClr val="1F4E79"/>
      </a:dk2>
      <a:lt2>
        <a:srgbClr val="EEECE1"/>
      </a:lt2>
      <a:accent1>
        <a:srgbClr val="1F4E79"/>
      </a:accent1>
      <a:accent2>
        <a:srgbClr val="C00000"/>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Times New Roman"/>
        <a:ea typeface="Times New Roman"/>
        <a:cs typeface="Times New Roman"/>
        <a:font script="Jpan" typeface="Times New Roman"/>
        <a:font script="Hang" typeface="Times New Roman"/>
        <a:font script="Hans" typeface="Times New Roman"/>
        <a:font script="Hant" typeface="Times New Roman"/>
        <a:font script="Arab" typeface="Times New Roman"/>
        <a:font script="Hebr" typeface="Times New Roman"/>
        <a:font script="Thai" typeface="Times New Roman"/>
        <a:font script="Ethi" typeface="Times New Roman"/>
        <a:font script="Beng" typeface="Times New Roman"/>
        <a:font script="Gujr" typeface="Times New Roman"/>
        <a:font script="Khmr" typeface="Times New Roman"/>
        <a:font script="Knda" typeface="Times New Roman"/>
        <a:font script="Guru" typeface="Times New Roman"/>
        <a:font script="Cans" typeface="Times New Roman"/>
        <a:font script="Cher" typeface="Times New Roman"/>
        <a:font script="Yiii" typeface="Times New Roman"/>
        <a:font script="Tibt" typeface="Times New Roman"/>
        <a:font script="Thaa" typeface="Times New Roman"/>
        <a:font script="Deva" typeface="Times New Roman"/>
        <a:font script="Telu" typeface="Times New Roman"/>
        <a:font script="Taml" typeface="Times New Roman"/>
        <a:font script="Syrc" typeface="Times New Roman"/>
        <a:font script="Orya" typeface="Times New Roman"/>
        <a:font script="Mlym" typeface="Times New Roman"/>
        <a:font script="Laoo" typeface="Times New Roman"/>
        <a:font script="Sinh" typeface="Times New Roman"/>
        <a:font script="Mong" typeface="Times New Roman"/>
        <a:font script="Viet" typeface="Times New Roman"/>
        <a:font script="Uigh" typeface="Times New Roman"/>
        <a:font script="Geor" typeface="Times New Roman"/>
      </a:majorFont>
      <a:minorFont>
        <a:latin typeface="Times New Roman"/>
        <a:ea typeface="Times New Roman"/>
        <a:cs typeface="Times New Roman"/>
        <a:font script="Jpan" typeface="Times New Roman"/>
        <a:font script="Hang" typeface="Times New Roman"/>
        <a:font script="Hans" typeface="Times New Roman"/>
        <a:font script="Hant" typeface="Times New Roman"/>
        <a:font script="Arab" typeface="Times New Roman"/>
        <a:font script="Hebr" typeface="Times New Roman"/>
        <a:font script="Thai" typeface="Times New Roman"/>
        <a:font script="Ethi" typeface="Times New Roman"/>
        <a:font script="Beng" typeface="Times New Roman"/>
        <a:font script="Gujr" typeface="Times New Roman"/>
        <a:font script="Khmr" typeface="Times New Roman"/>
        <a:font script="Knda" typeface="Times New Roman"/>
        <a:font script="Guru" typeface="Times New Roman"/>
        <a:font script="Cans" typeface="Times New Roman"/>
        <a:font script="Cher" typeface="Times New Roman"/>
        <a:font script="Yiii" typeface="Times New Roman"/>
        <a:font script="Tibt" typeface="Times New Roman"/>
        <a:font script="Thaa" typeface="Times New Roman"/>
        <a:font script="Deva" typeface="Times New Roman"/>
        <a:font script="Telu" typeface="Times New Roman"/>
        <a:font script="Taml" typeface="Times New Roman"/>
        <a:font script="Syrc" typeface="Times New Roman"/>
        <a:font script="Orya" typeface="Times New Roman"/>
        <a:font script="Mlym" typeface="Times New Roman"/>
        <a:font script="Laoo" typeface="Times New Roman"/>
        <a:font script="Sinh" typeface="Times New Roman"/>
        <a:font script="Mong" typeface="Times New Roman"/>
        <a:font script="Viet" typeface="Times New Roman"/>
        <a:font script="Uigh" typeface="Times New Roman"/>
        <a:font script="Geor" typeface="Times New Roma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1140</TotalTime>
  <Words>1625</Words>
  <Application>Microsoft Office PowerPoint</Application>
  <PresentationFormat>On-screen Show (16:9)</PresentationFormat>
  <Paragraphs>194</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Times New Roman</vt:lpstr>
      <vt:lpstr>Wingdings</vt:lpstr>
      <vt:lpstr>Office Theme [1779258520937]</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TRK Energy Regression Comparison</dc:title>
  <dc:subject>Advisor update on TRK5/TRK6 energy regression and baselines</dc:subject>
  <dc:creator>Claude Code</dc:creator>
  <dc:description>generated using python-pptx</dc:description>
  <cp:lastModifiedBy>智恒 胡</cp:lastModifiedBy>
  <cp:revision>94</cp:revision>
  <dcterms:created xsi:type="dcterms:W3CDTF">2013-01-27T09:14:00Z</dcterms:created>
  <dcterms:modified xsi:type="dcterms:W3CDTF">2026-05-28T16:19:36Z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2052-12.1.0.26375</vt:lpwstr>
  </property>
  <property fmtid="{D5CDD505-2E9C-101B-9397-08002B2CF9AE}" pid="3" name="ICV">
    <vt:lpwstr>0757AB3A121C4A0DA3E606B7A4919301_12</vt:lpwstr>
  </property>
</Properties>
</file>