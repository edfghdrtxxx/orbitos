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266" r:id="rId2"/>
    <p:sldId id="279" r:id="rId3"/>
    <p:sldId id="273" r:id="rId4"/>
    <p:sldId id="26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18" autoAdjust="0"/>
    <p:restoredTop sz="66237" autoAdjust="0"/>
  </p:normalViewPr>
  <p:slideViewPr>
    <p:cSldViewPr snapToGrid="0" snapToObjects="1">
      <p:cViewPr>
        <p:scale>
          <a:sx n="125" d="100"/>
          <a:sy n="125" d="100"/>
        </p:scale>
        <p:origin x="324" y="-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60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  <a:p>
            <a:r>
              <a:rPr lang="zh-CN" altLang="en-US" dirty="0"/>
              <a:t>各位老师好,我是2024级硕士研究生胡智恒,专业方向为粒子物理与原子核物理,导师是我们所的王惠仁(ONI HOOI JIN)研究员。</a:t>
            </a:r>
          </a:p>
          <a:p>
            <a:endParaRPr lang="zh-CN" dirty="0"/>
          </a:p>
          <a:p>
            <a:r>
              <a:rPr lang="zh-CN" altLang="en-US" dirty="0"/>
              <a:t>我本次中期考核汇报的论文题目是</a:t>
            </a:r>
            <a:r>
              <a:rPr lang="zh-CN" altLang="en-US"/>
              <a:t>《基于物理信息深度学习的MATE探测器反应重建方法》, </a:t>
            </a:r>
            <a:r>
              <a:rPr lang="zh-CN" altLang="en-US" dirty="0"/>
              <a:t>A Physics-Informed Deep-Learning Method for Reaction Reconstruction in MATE。</a:t>
            </a:r>
          </a:p>
          <a:p>
            <a:endParaRPr lang="zh-CN" dirty="0"/>
          </a:p>
          <a:p>
            <a:r>
              <a:rPr lang="zh-CN" altLang="en-US" dirty="0"/>
              <a:t>下面我从研究背景与核心思路、论文工作进展,以及参与的室组工作三个方面进行汇报。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31B7-8241-2034-1D60-055CD0A7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9E3E9-843A-EB9C-11C7-2F3D760E8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624C7-64D4-BF79-3557-988C82369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首先简要介绍研究背景。MATE是一种活性靶时间投影室,也就是Active-Target TPC,其核心特点是气体同时承担反应靶与探测介质的双重角色——整个气体体积都是靶,反应产物在产生点即被直接记录,兼具大靶厚与近4π的接收角,因而特别适合低能、低统计的次级束实验。在AT-TPC数据分析中,径迹重建通常依赖Hough变换、层次聚类、RANSAC等传统几何算法;对同Z邻近同位素这类径迹形状与能量沉积高度相似的场景,传统流水线在下游分辨上存在困难,从而构成了本项目的研究动机。</a:t>
            </a:r>
          </a:p>
          <a:p>
            <a:endParaRPr lang="zh-CN" dirty="0"/>
          </a:p>
          <a:p>
            <a:r>
              <a:rPr lang="zh-CN" altLang="en-US" dirty="0"/>
              <a:t>基于这一动机,我的论文核心思路是:在CNN框架中显式注入物理先验,构建一个端到端的物理信息深度学习框架,直接从图像输入给出粒子鉴别与几何量回归结果。需要说明的是,本工作当前阶段的直接比较对象是未注入物理先验的generic CNN(ResNet-18基线);核心是在多种粒子鉴别与物理量</a:t>
            </a:r>
            <a:r>
              <a:rPr lang="en-US" altLang="zh-CN" dirty="0"/>
              <a:t>(</a:t>
            </a:r>
            <a:r>
              <a:rPr lang="zh-CN" altLang="en-US" dirty="0"/>
              <a:t>如角度</a:t>
            </a:r>
            <a:r>
              <a:rPr lang="en-US" altLang="zh-CN" dirty="0"/>
              <a:t>, </a:t>
            </a:r>
            <a:r>
              <a:rPr lang="zh-CN" altLang="en-US" dirty="0"/>
              <a:t>能量</a:t>
            </a:r>
            <a:r>
              <a:rPr lang="en-US" altLang="zh-CN" dirty="0"/>
              <a:t>)</a:t>
            </a:r>
            <a:r>
              <a:rPr lang="zh-CN" altLang="en-US" dirty="0"/>
              <a:t>回归任务上,相较generic CNN获得稳定的性能增益,其中在小ΔA/Z同位素对这类generic CNN吃力的场景上增益尤为显著。与传统几何算法的系统对比将在后续的回归任务中展开。目前所用数据均来自MATEROOT模拟平台,其底层算法为Geant4。</a:t>
            </a:r>
          </a:p>
          <a:p>
            <a:endParaRPr lang="zh-CN" dirty="0"/>
          </a:p>
          <a:p>
            <a:r>
              <a:rPr lang="zh-CN" altLang="en-US" dirty="0"/>
              <a:t>方法上有四个要点。第一,双通道图像输入:将Pad平面上重建得到的电荷沉积图与漂移时间图作为两个通道,分辨率80×48,共同输入网络。其中电荷沉积图给出Pad平面上的横向径迹形状,漂移时间图通过漂移速度换算给出z方向深度,两者结合相当于向网络提供了径迹的三维结构信息。</a:t>
            </a:r>
          </a:p>
          <a:p>
            <a:endParaRPr lang="zh-CN" dirty="0"/>
          </a:p>
          <a:p>
            <a:r>
              <a:rPr lang="zh-CN" altLang="en-US" dirty="0"/>
              <a:t>第二,物理特征注入:我们并不仅依靠CNN自行学习,而是显式计算径迹的2D转动惯量张量分量与总电荷等物理量,作为模型物理感知特征并行输入。这些量直接编码了径迹的几何形态与能量尺度,是generic CNN难以从像素空间稳定学到的先验信息。</a:t>
            </a:r>
          </a:p>
          <a:p>
            <a:endParaRPr lang="zh-CN" dirty="0"/>
          </a:p>
          <a:p>
            <a:r>
              <a:rPr lang="zh-CN" altLang="en-US" dirty="0"/>
              <a:t>第三,Cross-Attention特征融合:将ResNet-18提取的视觉特征与物理描述子通过交叉注意力机制融合,使网络能够根据不同同位素的阻止行为对图像空间进行自适应加权。这一融合机制是本方法相对generic CNN的关键差异,也是后面结果页量化增益的来源。</a:t>
            </a:r>
          </a:p>
          <a:p>
            <a:endParaRPr lang="zh-CN" dirty="0"/>
          </a:p>
          <a:p>
            <a:r>
              <a:rPr lang="zh-CN" altLang="en-US" dirty="0"/>
              <a:t>第四,在输入预处理阶段,采用层次聚类对径迹点云进行去噪。需要说明的是,HC在传统流水线中本身就是主力重建算法之一;而在本工作中,它只作为深度学习输入的辅助预处理,用于抑制电子学噪声和坏pad对后续分析的影响。</a:t>
            </a:r>
          </a:p>
          <a:p>
            <a:endParaRPr lang="zh-CN" dirty="0"/>
          </a:p>
          <a:p>
            <a:r>
              <a:rPr lang="zh-CN" altLang="en-US" dirty="0"/>
              <a:t>右侧展示的就是MATE的active volume</a:t>
            </a:r>
            <a:r>
              <a:rPr lang="en-US" altLang="zh-CN" dirty="0"/>
              <a:t>, </a:t>
            </a:r>
            <a:r>
              <a:rPr lang="zh-CN" altLang="en-US" dirty="0"/>
              <a:t>Pad-plane readout和</a:t>
            </a:r>
            <a:r>
              <a:rPr lang="en-US" altLang="zh-CN" dirty="0"/>
              <a:t>Channel surface</a:t>
            </a:r>
            <a:r>
              <a:rPr lang="zh-CN" altLang="en-US" dirty="0"/>
              <a:t>示意图。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6AFF5-BBEB-4E73-6C28-F8BC2A1EE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88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这一页展示本方法在定量指标上的表现,分为分类与回归两类任务。</a:t>
            </a:r>
          </a:p>
          <a:p>
            <a:endParaRPr lang="zh-CN" dirty="0"/>
          </a:p>
          <a:p>
            <a:r>
              <a:rPr lang="zh-CN" altLang="en-US" dirty="0"/>
              <a:t>左图为分类任务结果,蓝色柱为ResNet基线,红色柱为注入物理特征并经Cross-Attention融合后的Physics-Informed模型。共评估了五组任务:³He/⁴He、¹³C/¹⁴C、p/d/t,以及α/non-α </a:t>
            </a:r>
            <a:r>
              <a:rPr lang="en-US" altLang="zh-CN" dirty="0"/>
              <a:t>(</a:t>
            </a:r>
            <a:r>
              <a:rPr lang="zh-CN" altLang="en-US" dirty="0"/>
              <a:t>列出的是靶核</a:t>
            </a:r>
            <a:r>
              <a:rPr lang="en-US" altLang="zh-CN" dirty="0"/>
              <a:t>, </a:t>
            </a:r>
            <a:r>
              <a:rPr lang="zh-CN" altLang="en-US" dirty="0"/>
              <a:t>束流均为</a:t>
            </a:r>
            <a:r>
              <a:rPr lang="en-US" altLang="zh-CN" dirty="0"/>
              <a:t>12C)</a:t>
            </a:r>
            <a:r>
              <a:rPr lang="zh-CN" altLang="en-US" dirty="0"/>
              <a:t>在HC特征与原始特征两种输入下的分辨。</a:t>
            </a:r>
          </a:p>
          <a:p>
            <a:endParaRPr lang="zh-CN" dirty="0"/>
          </a:p>
          <a:p>
            <a:r>
              <a:rPr lang="zh-CN" altLang="en-US" dirty="0"/>
              <a:t>首先需要强调的是方法的普适性:在这五组任务上——既包含轻核同位素分辨,也包含中等质量的¹³C/¹⁴C,还包含带去噪与不带去噪两种输入条件下的类粒子分辨——Physics-Informed模型全部优于基线,增益从0.89到6.75个百分点不等。这说明物理描述子注入与Cross-Attention融合并非对某一特定任务过拟合的技巧,而是在多种下游任务上均可稳定受益的通用设计。</a:t>
            </a:r>
          </a:p>
          <a:p>
            <a:endParaRPr lang="zh-CN" dirty="0"/>
          </a:p>
          <a:p>
            <a:r>
              <a:rPr lang="zh-CN" altLang="en-US" dirty="0"/>
              <a:t>增益最显著的是¹³C/¹⁴C一组,基线仅82.8%,Physics-Informed模型达到89.6%,提升6.75个百分点。这一组恰好是五组任务中基线表现最弱的,意味着当CNN仅依赖图像特征时最难区分的场景,也正是物理描述子先验补足信息最多的场景。对已经接近饱和的任务(如α/non-α在HC特征下基线已达95.8%),方法仍能带来约0.89个百分点的稳定提升,没有出现"顾此失彼"。</a:t>
            </a:r>
          </a:p>
          <a:p>
            <a:endParaRPr lang="zh-CN" dirty="0"/>
          </a:p>
          <a:p>
            <a:r>
              <a:rPr lang="zh-CN" altLang="en-US" dirty="0"/>
              <a:t>此外,左图的最后两组对比也提供了一个有用的消融视角:α/non-α任务下,HC特征输入的基线为95.8%,原始特征输入的基线为93.5%,相差2.3个百分点——这印证了Slide 2提到的层次聚类HC去噪作为预处理的价值,即使在同一分类任务上,与传统算法的结合去噪也能提升基线表现。</a:t>
            </a:r>
          </a:p>
          <a:p>
            <a:endParaRPr lang="zh-CN" dirty="0"/>
          </a:p>
          <a:p>
            <a:r>
              <a:rPr lang="zh-CN" altLang="en-US" dirty="0"/>
              <a:t>右图为回归任务。这里的Angle regression回归的是反应角度,即粒子径迹与探测器xyz坐标轴之间的夹角。基线MAE为1.11度,Physics-Informed模型降至0.832度,相对下降25.2%。反应角度是后续运动学重建的关键输入之一,其精度直接影响反应道的甄别与截面推断,因此这一改进具有明确的物理意义。该结果也说明Cross-Attention融合不仅提升离散分类能力,对几何量的连续回归同样有显著增益,进一步支持方法的通用性。</a:t>
            </a:r>
          </a:p>
          <a:p>
            <a:endParaRPr lang="zh-CN" dirty="0"/>
          </a:p>
          <a:p>
            <a:r>
              <a:rPr lang="zh-CN" altLang="en-US" dirty="0"/>
              <a:t>综合两图,物理特征注入与Cross-Attention融合的设计,在分类与回归两类下游任务、在轻核到中等质量核、在去噪与未去噪两种输入条件下,均得到了数据层面的稳定验证。目前结果章节与剩余的能量回归子任务仍在进行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最后简要汇报参与的室组工作。</a:t>
            </a:r>
          </a:p>
          <a:p>
            <a:endParaRPr lang="zh-CN" dirty="0"/>
          </a:p>
          <a:p>
            <a:r>
              <a:rPr lang="zh-CN" altLang="en-US" dirty="0"/>
              <a:t>2025年11月,我们组与大阪大学RCNP开展合作实验。我参与了实验前的探测器准备阶段,包括探测器端盖吊装与机械装配、外围探测器阵列与TPC的耦合、以及电子学线缆的布置与束流前状态核查等工作,配合团队共同推进了合作实验的顺利准备。</a:t>
            </a:r>
          </a:p>
          <a:p>
            <a:endParaRPr lang="zh-CN" dirty="0"/>
          </a:p>
          <a:p>
            <a:r>
              <a:rPr lang="zh-CN" altLang="en-US" dirty="0"/>
              <a:t>以上是我的中期汇报,请各位老师批评指正,谢谢。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45426"/>
            <a:ext cx="73152" cy="12801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11197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1400" kern="0" spc="600" dirty="0">
                <a:solidFill>
                  <a:srgbClr val="CADCFC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2024</a:t>
            </a:r>
            <a:r>
              <a:rPr lang="zh-CN" altLang="en-US" sz="1400" kern="0" spc="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级硕士</a:t>
            </a:r>
            <a:r>
              <a:rPr lang="en-US" sz="1400" kern="0" spc="6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中期考核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152345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MID-TERM REVIEW · MASTER'S THESIS PROGRESS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基于物理信息深度学习的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MATE </a:t>
            </a:r>
            <a:r>
              <a:rPr lang="en-US" sz="4000" b="1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探测器</a:t>
            </a:r>
            <a:r>
              <a:rPr lang="zh-CN" altLang="en-US" sz="4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反应重建</a:t>
            </a:r>
            <a:r>
              <a:rPr lang="en-US" sz="4000" b="1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A Physics-Informed Deep-Learning Method for Reaction Reconstruction in MATE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754880"/>
            <a:ext cx="164592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600" dirty="0">
                <a:solidFill>
                  <a:srgbClr val="6B7A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胡智恒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399" y="5806440"/>
            <a:ext cx="7882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2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r>
              <a:rPr lang="en-US" sz="1400" kern="0" spc="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400" kern="0" spc="200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粒子物理与原子核物理</a:t>
            </a:r>
            <a:r>
              <a:rPr lang="en-US" sz="1400" kern="0" spc="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</a:t>
            </a:r>
            <a:r>
              <a:rPr lang="zh-CN" altLang="en-US" sz="1400" kern="0" spc="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   王惠仁</a:t>
            </a:r>
            <a:r>
              <a:rPr lang="en-US" altLang="zh-CN" sz="1400" kern="0" spc="200" dirty="0">
                <a:solidFill>
                  <a:srgbClr val="CADCFC"/>
                </a:solidFill>
                <a:latin typeface="+mj-lt"/>
                <a:ea typeface="Microsoft YaHei" pitchFamily="34" charset="-122"/>
                <a:cs typeface="Microsoft YaHei" pitchFamily="34" charset="-120"/>
              </a:rPr>
              <a:t>(ONI HOOI JIN)</a:t>
            </a:r>
            <a:r>
              <a:rPr lang="zh-CN" altLang="en-US" sz="1400" kern="0" spc="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5166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中国科学院 近代物理研究所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Institute of Modern Physics, CAS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5779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2026 · 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 / </a:t>
            </a: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IMP–CAS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93145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F6DA-BB3D-56FA-7768-F8D9BB2B0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C00EED-DC31-E96C-8945-7C9DF90A0406}"/>
              </a:ext>
            </a:extLst>
          </p:cNvPr>
          <p:cNvSpPr/>
          <p:nvPr/>
        </p:nvSpPr>
        <p:spPr>
          <a:xfrm>
            <a:off x="457200" y="548640"/>
            <a:ext cx="91440" cy="5760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0A1A71-AD65-B6CD-6726-36B93816E5FC}"/>
              </a:ext>
            </a:extLst>
          </p:cNvPr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 / </a:t>
            </a: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C69509-3659-F16F-0474-1994F35DC678}"/>
              </a:ext>
            </a:extLst>
          </p:cNvPr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IMP–CAS</a:t>
            </a:r>
            <a:endParaRPr lang="en-US" sz="1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FF3188-CC4A-2794-9AA0-C9F9B55B9D78}"/>
              </a:ext>
            </a:extLst>
          </p:cNvPr>
          <p:cNvSpPr/>
          <p:nvPr/>
        </p:nvSpPr>
        <p:spPr>
          <a:xfrm>
            <a:off x="731520" y="4572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论文工作（进展）</a:t>
            </a:r>
            <a:endParaRPr lang="en-US" sz="3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244CE6D-C2B0-0284-D1E2-0D7A9F31BAEA}"/>
              </a:ext>
            </a:extLst>
          </p:cNvPr>
          <p:cNvSpPr/>
          <p:nvPr/>
        </p:nvSpPr>
        <p:spPr>
          <a:xfrm>
            <a:off x="9418320" y="594360"/>
            <a:ext cx="21945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DEC769-D0AD-910B-7016-97E24410790B}"/>
              </a:ext>
            </a:extLst>
          </p:cNvPr>
          <p:cNvSpPr/>
          <p:nvPr/>
        </p:nvSpPr>
        <p:spPr>
          <a:xfrm>
            <a:off x="9312166" y="594360"/>
            <a:ext cx="230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Physics-Informed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848A0F2-09CD-18E1-C2AD-ADE8548526A5}"/>
              </a:ext>
            </a:extLst>
          </p:cNvPr>
          <p:cNvSpPr/>
          <p:nvPr/>
        </p:nvSpPr>
        <p:spPr>
          <a:xfrm>
            <a:off x="731520" y="12618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面向 MATE（AT-TPC</a:t>
            </a:r>
            <a:r>
              <a:rPr lang="en-US" altLang="zh-CN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r>
              <a:rPr lang="en-US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，将 ResNet-18 视觉特征与物理描述子通过 Cross-Attention 融合</a:t>
            </a:r>
            <a:endParaRPr lang="en-US" sz="13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15EF4F2-4DA8-16F9-C6FD-2754EAE54907}"/>
              </a:ext>
            </a:extLst>
          </p:cNvPr>
          <p:cNvSpPr/>
          <p:nvPr/>
        </p:nvSpPr>
        <p:spPr>
          <a:xfrm>
            <a:off x="731520" y="1691640"/>
            <a:ext cx="10881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FD4EF9-D708-71E7-D608-23C4A0210933}"/>
              </a:ext>
            </a:extLst>
          </p:cNvPr>
          <p:cNvSpPr/>
          <p:nvPr/>
        </p:nvSpPr>
        <p:spPr>
          <a:xfrm>
            <a:off x="731520" y="17782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 与 核心思路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7B63DA4-E99A-1F3D-5867-D86E8F0100E5}"/>
              </a:ext>
            </a:extLst>
          </p:cNvPr>
          <p:cNvSpPr/>
          <p:nvPr/>
        </p:nvSpPr>
        <p:spPr>
          <a:xfrm>
            <a:off x="731520" y="2330676"/>
            <a:ext cx="10185133" cy="56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Times New Roman"/>
              </a:rPr>
              <a:t>Active-Target TPC </a:t>
            </a:r>
            <a:r>
              <a:rPr lang="zh-CN" altLang="en-US" sz="1300" dirty="0">
                <a:solidFill>
                  <a:srgbClr val="36454F"/>
                </a:solidFill>
                <a:latin typeface="Times New Roman"/>
              </a:rPr>
              <a:t>气体同时作为反应靶与探测介质</a:t>
            </a:r>
            <a:endParaRPr lang="en-US" sz="1300" dirty="0">
              <a:solidFill>
                <a:srgbClr val="36454F"/>
              </a:solidFill>
              <a:latin typeface="Times New Roman"/>
            </a:endParaRPr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Times New Roman"/>
              </a:rPr>
              <a:t>AT-TPC 中的传统 PID 方法对</a:t>
            </a:r>
            <a:r>
              <a:rPr lang="en-US" sz="1300" b="1" dirty="0">
                <a:solidFill>
                  <a:srgbClr val="1E2761"/>
                </a:solidFill>
                <a:latin typeface="Times New Roman"/>
              </a:rPr>
              <a:t>同 Z </a:t>
            </a:r>
            <a:r>
              <a:rPr lang="en-US" sz="1300" b="1" dirty="0" err="1">
                <a:solidFill>
                  <a:srgbClr val="1E2761"/>
                </a:solidFill>
                <a:latin typeface="Times New Roman"/>
              </a:rPr>
              <a:t>邻近同位素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的分辨能力显著退化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02E5E06-760D-41DE-3734-92A4844067F3}"/>
              </a:ext>
            </a:extLst>
          </p:cNvPr>
          <p:cNvSpPr/>
          <p:nvPr/>
        </p:nvSpPr>
        <p:spPr>
          <a:xfrm>
            <a:off x="731520" y="5852160"/>
            <a:ext cx="10881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ACF4351-07E0-C667-A8AA-6DB605EA7FF1}"/>
              </a:ext>
            </a:extLst>
          </p:cNvPr>
          <p:cNvSpPr/>
          <p:nvPr/>
        </p:nvSpPr>
        <p:spPr>
          <a:xfrm>
            <a:off x="91440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论文初稿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 |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结果章节与能量回归子</a:t>
            </a:r>
            <a:r>
              <a:rPr lang="zh-CN" alt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细化中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endParaRPr lang="en-US" sz="11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34E16B9-0D54-4FC0-27FF-F3040F3087EF}"/>
              </a:ext>
            </a:extLst>
          </p:cNvPr>
          <p:cNvPicPr>
            <a:picLocks/>
          </p:cNvPicPr>
          <p:nvPr/>
        </p:nvPicPr>
        <p:blipFill>
          <a:blip r:embed="rId3"/>
          <a:srcRect t="18411" r="62337" b="17724"/>
          <a:stretch>
            <a:fillRect/>
          </a:stretch>
        </p:blipFill>
        <p:spPr>
          <a:xfrm>
            <a:off x="1098288" y="3472226"/>
            <a:ext cx="2843919" cy="22316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740F7D2-FAA7-B38F-0A8E-F271560FB50C}"/>
              </a:ext>
            </a:extLst>
          </p:cNvPr>
          <p:cNvPicPr>
            <a:picLocks/>
          </p:cNvPicPr>
          <p:nvPr/>
        </p:nvPicPr>
        <p:blipFill>
          <a:blip r:embed="rId3"/>
          <a:srcRect l="52044" t="5767" r="938" b="1185"/>
          <a:stretch>
            <a:fillRect/>
          </a:stretch>
        </p:blipFill>
        <p:spPr>
          <a:xfrm>
            <a:off x="4693514" y="3475661"/>
            <a:ext cx="2681969" cy="224080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0676537-79CB-1754-5024-DE53FCEF0024}"/>
              </a:ext>
            </a:extLst>
          </p:cNvPr>
          <p:cNvSpPr txBox="1"/>
          <p:nvPr/>
        </p:nvSpPr>
        <p:spPr>
          <a:xfrm>
            <a:off x="1805948" y="3099246"/>
            <a:ext cx="1812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(a) MATE active volume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1A849C-FC79-F933-348C-D2AF0F35FDD4}"/>
              </a:ext>
            </a:extLst>
          </p:cNvPr>
          <p:cNvSpPr txBox="1"/>
          <p:nvPr/>
        </p:nvSpPr>
        <p:spPr>
          <a:xfrm>
            <a:off x="5120236" y="3097686"/>
            <a:ext cx="1894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(b) Pad-plane readout (y-z)</a:t>
            </a:r>
          </a:p>
        </p:txBody>
      </p:sp>
      <p:pic>
        <p:nvPicPr>
          <p:cNvPr id="12" name="图片 19" descr="new_channel1_3d">
            <a:extLst>
              <a:ext uri="{FF2B5EF4-FFF2-40B4-BE49-F238E27FC236}">
                <a16:creationId xmlns:a16="http://schemas.microsoft.com/office/drawing/2014/main" id="{F83FCEB5-544B-0645-AF8B-4160CC8BF20E}"/>
              </a:ext>
            </a:extLst>
          </p:cNvPr>
          <p:cNvPicPr>
            <a:picLocks/>
          </p:cNvPicPr>
          <p:nvPr/>
        </p:nvPicPr>
        <p:blipFill>
          <a:blip r:embed="rId4"/>
          <a:srcRect l="2142" t="18257" r="50693"/>
          <a:stretch>
            <a:fillRect/>
          </a:stretch>
        </p:blipFill>
        <p:spPr>
          <a:xfrm>
            <a:off x="8377048" y="3467640"/>
            <a:ext cx="2681969" cy="224080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6EB8D5E-CB21-EE4A-D6EC-8AEB48CCADCF}"/>
              </a:ext>
            </a:extLst>
          </p:cNvPr>
          <p:cNvSpPr txBox="1"/>
          <p:nvPr/>
        </p:nvSpPr>
        <p:spPr>
          <a:xfrm>
            <a:off x="8692811" y="3097686"/>
            <a:ext cx="1894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</a:t>
            </a:r>
            <a:r>
              <a:rPr lang="en-US" altLang="zh-CN" sz="1200" dirty="0"/>
              <a:t>c</a:t>
            </a:r>
            <a:r>
              <a:rPr lang="en-US" sz="1200" dirty="0"/>
              <a:t>) Channel surface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1CE357-52BC-9B16-6E2E-E5BB0D9A0AD9}"/>
              </a:ext>
            </a:extLst>
          </p:cNvPr>
          <p:cNvSpPr txBox="1"/>
          <p:nvPr/>
        </p:nvSpPr>
        <p:spPr>
          <a:xfrm>
            <a:off x="5768740" y="1757457"/>
            <a:ext cx="5691740" cy="1123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双通道输入：电荷沉积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+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漂移时间图像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     （80×48）</a:t>
            </a:r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物理</a:t>
            </a:r>
            <a:r>
              <a:rPr lang="zh-CN" altLang="en-US" sz="1300" dirty="0">
                <a:solidFill>
                  <a:srgbClr val="36454F"/>
                </a:solidFill>
                <a:latin typeface="Times New Roman"/>
              </a:rPr>
              <a:t>特征注入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：2D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转动惯量张量分量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+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总电荷</a:t>
            </a:r>
            <a:endParaRPr lang="en-US" sz="1300" dirty="0">
              <a:solidFill>
                <a:srgbClr val="36454F"/>
              </a:solidFill>
              <a:latin typeface="Times New Roman"/>
            </a:endParaRPr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6454F"/>
                </a:solidFill>
                <a:latin typeface="Times New Roman"/>
              </a:rPr>
              <a:t>Cross-Attention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融合使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CNN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按同位素阻止行为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自适应</a:t>
            </a:r>
            <a:r>
              <a:rPr lang="zh-CN" altLang="en-US" sz="1300" dirty="0">
                <a:solidFill>
                  <a:srgbClr val="36454F"/>
                </a:solidFill>
                <a:latin typeface="Times New Roman"/>
              </a:rPr>
              <a:t>空间加权</a:t>
            </a:r>
            <a:endParaRPr lang="en-US" sz="1300" dirty="0">
              <a:solidFill>
                <a:srgbClr val="36454F"/>
              </a:solidFill>
              <a:latin typeface="Times New Roman"/>
            </a:endParaRPr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HC（Hierarchical</a:t>
            </a:r>
            <a:r>
              <a:rPr lang="en-US" sz="1300" dirty="0">
                <a:solidFill>
                  <a:srgbClr val="36454F"/>
                </a:solidFill>
                <a:latin typeface="Times New Roman"/>
              </a:rPr>
              <a:t> </a:t>
            </a:r>
            <a:r>
              <a:rPr lang="en-US" sz="1300" dirty="0" err="1">
                <a:solidFill>
                  <a:srgbClr val="36454F"/>
                </a:solidFill>
                <a:latin typeface="Times New Roman"/>
              </a:rPr>
              <a:t>Clustering）层次聚类去噪作为输入预处理</a:t>
            </a:r>
            <a:endParaRPr lang="en-US" sz="1300" dirty="0">
              <a:solidFill>
                <a:srgbClr val="36454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576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91440" cy="5760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r>
              <a:rPr lang="en-US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IMP–CAS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论文工作（进展）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418320" y="594360"/>
            <a:ext cx="21945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12166" y="594360"/>
            <a:ext cx="2300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Physics-Informed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面向 MATE（AT-TPC</a:t>
            </a:r>
            <a:r>
              <a:rPr lang="en-US" altLang="zh-CN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r>
              <a:rPr lang="en-US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，将 ResNet-18 视觉特征与物理描述子通过 Cross-Attention 融合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0881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852160"/>
            <a:ext cx="10881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论文初稿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 |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结果章节与能量回归子</a:t>
            </a:r>
            <a:r>
              <a:rPr lang="zh-CN" alt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细化中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endParaRPr lang="en-US" sz="11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A673632-7BB6-CD8F-10B7-44B0C8AEADB6}"/>
              </a:ext>
            </a:extLst>
          </p:cNvPr>
          <p:cNvPicPr>
            <a:picLocks/>
          </p:cNvPicPr>
          <p:nvPr/>
        </p:nvPicPr>
        <p:blipFill>
          <a:blip r:embed="rId3"/>
          <a:srcRect r="27621"/>
          <a:stretch>
            <a:fillRect/>
          </a:stretch>
        </p:blipFill>
        <p:spPr>
          <a:xfrm>
            <a:off x="1314281" y="1750582"/>
            <a:ext cx="7521277" cy="409157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0479727-5342-76D0-50EF-81EDD6306D60}"/>
              </a:ext>
            </a:extLst>
          </p:cNvPr>
          <p:cNvPicPr>
            <a:picLocks/>
          </p:cNvPicPr>
          <p:nvPr/>
        </p:nvPicPr>
        <p:blipFill>
          <a:blip r:embed="rId3"/>
          <a:srcRect l="79487" r="136"/>
          <a:stretch>
            <a:fillRect/>
          </a:stretch>
        </p:blipFill>
        <p:spPr>
          <a:xfrm>
            <a:off x="8846944" y="1728504"/>
            <a:ext cx="2117495" cy="40915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8BF0618-9040-6060-C9A1-E7C49B0F4C7C}"/>
              </a:ext>
            </a:extLst>
          </p:cNvPr>
          <p:cNvSpPr/>
          <p:nvPr/>
        </p:nvSpPr>
        <p:spPr>
          <a:xfrm>
            <a:off x="3366052" y="3657600"/>
            <a:ext cx="1205948" cy="2072507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4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91440" cy="5760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r>
              <a:rPr lang="en-US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/ </a:t>
            </a:r>
            <a:r>
              <a:rPr lang="en-US" altLang="zh-CN" sz="10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B7A9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IMP–CAS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4572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室组工作（贡献）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503920" y="594360"/>
            <a:ext cx="3108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0" y="594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IMP × RCNP · 2025.11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参与 RCNP（Research Center for Nuclear Physics, Osaka Univ.）合作实验 · 协助探测器准备工作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088136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14396" y="1938848"/>
            <a:ext cx="2448306" cy="3191256"/>
          </a:xfrm>
          <a:prstGeom prst="rect">
            <a:avLst/>
          </a:prstGeom>
          <a:solidFill>
            <a:srgbClr val="F5F8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63286" y="1938848"/>
            <a:ext cx="4183837" cy="3191256"/>
          </a:xfrm>
          <a:prstGeom prst="rect">
            <a:avLst/>
          </a:prstGeom>
          <a:solidFill>
            <a:srgbClr val="F5F8FF"/>
          </a:solidFill>
          <a:ln w="9525">
            <a:solidFill>
              <a:srgbClr val="CADCFC"/>
            </a:solidFill>
            <a:prstDash val="solid"/>
          </a:ln>
        </p:spPr>
      </p:sp>
      <p:pic>
        <p:nvPicPr>
          <p:cNvPr id="12" name="Image 0" descr="/sessions/bold-youthful-archimedes/mnt/outputs/pptx_build/rcnp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124" y="2048576"/>
            <a:ext cx="2228850" cy="2971800"/>
          </a:xfrm>
          <a:prstGeom prst="rect">
            <a:avLst/>
          </a:prstGeom>
        </p:spPr>
      </p:pic>
      <p:pic>
        <p:nvPicPr>
          <p:cNvPr id="13" name="Image 1" descr="/sessions/bold-youthful-archimedes/mnt/outputs/pptx_build/rcnp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014" y="2048576"/>
            <a:ext cx="3964381" cy="2971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14396" y="5184968"/>
            <a:ext cx="24483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探测器端盖吊装 · 机械装配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263286" y="5184968"/>
            <a:ext cx="41838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645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外围探测器阵列与 TPC 耦合 · 电子学线缆布置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5852160"/>
            <a:ext cx="10881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4400" y="58521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参与内容</a:t>
            </a:r>
            <a:r>
              <a:rPr lang="en-US" sz="11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探测器装配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电子学布置</a:t>
            </a:r>
            <a:r>
              <a:rPr lang="zh-CN" alt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与测试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· 束流前状态核查　|　</a:t>
            </a:r>
            <a:r>
              <a:rPr lang="en-US" sz="1100" dirty="0" err="1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共同推进</a:t>
            </a:r>
            <a:r>
              <a:rPr lang="en-US" sz="1100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IMP–RCNP 合作实验准备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45404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95232463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97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508BCED-1CC6-4E7D-9044-E512552B124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226bdc0-8597-46e4-b085-ccb306b67f4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1614</Words>
  <Application>Microsoft Office PowerPoint</Application>
  <PresentationFormat>Widescreen</PresentationFormat>
  <Paragraphs>84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Times New Roman</vt:lpstr>
      <vt:lpstr>Office Theme [1776952324631]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硕士论文中期考核 — 胡智恒</dc:title>
  <dc:subject>PptxGenJS Presentation</dc:subject>
  <dc:creator>Hu Zhi-heng</dc:creator>
  <cp:lastModifiedBy>智恒 胡</cp:lastModifiedBy>
  <cp:revision>84</cp:revision>
  <dcterms:created xsi:type="dcterms:W3CDTF">2026-04-23T13:35:04Z</dcterms:created>
  <dcterms:modified xsi:type="dcterms:W3CDTF">2026-04-24T03:00:37Z</dcterms:modified>
</cp:coreProperties>
</file>