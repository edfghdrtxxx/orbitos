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submitted title (it is the one printed in the programme). Say: By the end of this talk you will know what our ⁹Be + n spectrum shows near 7.3 MeV and what will decide between 1⁻ and 3⁻. The question line tells the room what to listen for: one level with a disputed spin, or two levels. From slide 2 on, coral marks the 1⁻ assignment and teal the 3⁻ assignment. Replace the bracketed line with the co-authors, the collaboration and the experiment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 before any method. A 2025 deuteron-scattering experiment reports a new 1⁻ state at 7.27(10) MeV. ENSDF lists a 3⁻ at 7.371 MeV, 0.1 MeV higher, which is only one standard deviation away. So the question is whether this is one level with a disputed spin or two levels. Point at the coral band touching the teal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questions; each answer raises the next. Why is the assignment disputed? Therefore we test it with a proton probe, and therefore we look at the ⁹Be + n spectrum. But that spectrum does not resolve the levels, so the last question is what will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molecular-orbital picture the two valence neutrons occupy π or σ orbitals around the 2α core, and the levels group into bands. The 3⁻ at 7.37 MeV continues the (σπ) band; the 2⁺ at 7.54 MeV continues the (σ)² band. A 1⁻ at 7.27 MeV is not part of this scheme, so the spin of the level near 7.3 MeV decides whether a new cluster state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deuteron inelastic scattering on ¹⁰Be in inverse kinematics, measured with the AT-TPC coupled to SOLARIS. The angular distribution of the 7.27 MeV peak follows the L = 1 curve, hence 1⁻. Right: in ¹⁰B, the T = 1 analog of the 7.37 MeV level is a 3⁻ at 8.898 MeV, which supports 3⁻. Therefore we test the assignment with a different probe, ¹⁰Be(p,p′), and reconstruct Eₓ from the ⁹Be + n invariant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¹⁰Be beam at 230 MeV/u hits a liquid-hydrogen target. The proton scatters inelastically and leaves ¹⁰Be excited above the neutron threshold; the excited ¹⁰Be decays to ⁹Be and a neutron. SAMURAI bends ⁹Be into FDC2 and HODF; the neutron flies straight to NEBULA. The invariant mass of the ⁹Be + n pair gives the energy above the neutron threshold; adding Sₙ gives the excitation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checks, one per particle. Beam: BigRIPS ΔE versus time of flight from F3 to F7; ¹⁰Be is 93 % of the cocktail. Fragment: after Runge–Kutta tracking, ΔE in HODF versus A/Q separates ⁹Be from the lithium and helium isotopes. Neutron: after bar-by-bar alignment the prompt γ peak has σ = 258 ps. Details are in backup slides 12 to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Excitation energy from the ⁹Be + n invariant mass, 6 to 10 MeV. Red: neutron in either wall; blue: NEBULA only; green: NEBULA-Plus only. The ticks above the frame mark the 1⁻ assignment at 7.27, the 3⁻ at 7.371 and the 2⁺ at 7.542 MeV. One peak, no separation of the three levels at the present resolution. [Presenter: fill the centroid and σ from the fit and simulation; the histogram maximum sits near 7.5 MeV, so state how the centroid compares with 7.371 MeV.]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the peak alone cannot tell the spins apart. Three steps will: clean the spectrum; measure the angular distribution of the peak and compare its shape with L = 1 and L = 3 calculations; and fit the lineshape with the simulated response, testing whether a 7.27 MeV term is needed on top of the known 7.371 and 7.542 MeV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questions. Say: These are the three points I would like you to take away. Thank you for your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Triple-differential ¹⁰Be(p,pα)⁶He cross section compared with AMD and THSR calculations; the data follow the molecular-like density, between the shell-model-like and gas-like limits. AMD: antisymmetrized molecular dynamics. THSR: the Tohsaki–Horiuchi–Schuck–Röpke wave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BigRIPS identifies each ion by ΔE and time of flight from F3 to F7 (slide 7); BDC1 and BDC2 track each ion to the target plane. Red circle: target cell, Φ 46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Steps: local fits in FDC1 and FDC2; seed at the HOD plane from FDC2; RK4 backward through the 3-D field map, fitting x, y, u, v and q = Q/p to the FDC hits; at the target, vertex, momentum and path length give Bρ and, with TOF, A/Q.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run ¹⁰Be + Cu. Time of flight versus bar ID before alignment, dT versus bar ID after alignment, and the summed dT distribution with σ = 258 ps. Reference value for the detector: σ(γ) ≈ 170 ps. [Presenter: prepare one sentence on why this run gives 258 ps.]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id Hu/OrbitOS/70_Presentations/718_DREB2026-SFS/assets/cover_samurai_rubb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3520440"/>
            <a:ext cx="5577840" cy="300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463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10" kern="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REACTIONS WITH EXOTIC BEAMS  ·  DREB2026</a:t>
            </a:r>
            <a:endParaRPr lang="en-US" sz="1600" dirty="0"/>
          </a:p>
        </p:txBody>
      </p:sp>
      <p:pic>
        <p:nvPicPr>
          <p:cNvPr id="4" name="Image 1" descr="/Users/Reid Hu/OrbitOS/70_Presentations/718_DREB2026-SFS/assets/imp_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173736"/>
            <a:ext cx="704088" cy="7589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54312" y="18288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Institute of Modern Physics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Chinese Academy of Sciences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04088" y="14173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Probing Exotic Structures in </a:t>
            </a:r>
            <a:pPr indent="0" marL="0">
              <a:lnSpc>
                <a:spcPct val="108000"/>
              </a:lnSpc>
              <a:buNone/>
            </a:pPr>
            <a:r>
              <a:rPr lang="en-US" sz="4600" b="1" baseline="3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 </a:t>
            </a:r>
            <a:pPr indent="0" marL="0">
              <a:lnSpc>
                <a:spcPct val="108000"/>
              </a:lnSpc>
              <a:buNone/>
            </a:pPr>
            <a:r>
              <a:rPr lang="en-US" sz="3000" b="1" baseline="3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n Coincidence Measurements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the SAMURAI Spectrometer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31520" y="3703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7.3 MeV: a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22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22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or both?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31520" y="4535424"/>
            <a:ext cx="5486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Fushuai Shi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31520" y="5093208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1–6 Nov 2026  ·  Shenzhen, China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31520" y="5650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co-authors  ·  collaboration  ·  experiment ID 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spin assignments compete near 7.3 MeV in 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Be.</a:t>
            </a:r>
            <a:endParaRPr lang="en-US" sz="2400" dirty="0"/>
          </a:p>
        </p:txBody>
      </p:sp>
      <p:cxnSp>
        <p:nvCxnSpPr>
          <p:cNvPr id="45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188720" y="1143000"/>
            <a:ext cx="0" cy="484632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15568" y="5504688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48640" y="539496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6.8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115568" y="4535424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442569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7.0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115568" y="3566160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345643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7.2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115568" y="2596896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" y="248716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7.4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115568" y="1627632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151790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7.6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804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buNone/>
            </a:pPr>
            <a:r>
              <a:rPr lang="en-US" sz="1200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(MeV)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188720" y="5446532"/>
            <a:ext cx="420624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1280160" y="51996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n threshold   </a:t>
            </a:r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buNone/>
            </a:pPr>
            <a:r>
              <a:rPr lang="en-US" sz="1200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6.812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188720" y="2548433"/>
            <a:ext cx="420624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1280160" y="2301545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+ α threshold   7.41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651760" y="2742286"/>
            <a:ext cx="2743200" cy="969264"/>
          </a:xfrm>
          <a:prstGeom prst="rect">
            <a:avLst/>
          </a:prstGeom>
          <a:solidFill>
            <a:srgbClr val="E4572E">
              <a:alpha val="16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2651760" y="3226918"/>
            <a:ext cx="274320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59552" y="308975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7.27(10) MeV  1</a:t>
            </a:r>
            <a:pPr indent="0" marL="0">
              <a:buNone/>
            </a:pPr>
            <a:r>
              <a:rPr lang="en-US" sz="1600" b="1" baseline="300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Chen et al. 2025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2651760" y="2737439"/>
            <a:ext cx="2743200" cy="0"/>
          </a:xfrm>
          <a:prstGeom prst="line">
            <a:avLst/>
          </a:prstGeom>
          <a:noFill/>
          <a:ln w="38100">
            <a:solidFill>
              <a:srgbClr val="128C7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559552" y="260027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7.371 MeV  3</a:t>
            </a:r>
            <a:pPr indent="0" marL="0">
              <a:buNone/>
            </a:pPr>
            <a:r>
              <a:rPr lang="en-US" sz="1600" b="1" baseline="30000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ENSDF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2651760" y="1908719"/>
            <a:ext cx="2743200" cy="0"/>
          </a:xfrm>
          <a:prstGeom prst="line">
            <a:avLst/>
          </a:prstGeom>
          <a:noFill/>
          <a:ln w="38100">
            <a:solidFill>
              <a:srgbClr val="11182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59552" y="177155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7.542 MeV  2</a:t>
            </a:r>
            <a:pPr indent="0" marL="0">
              <a:buNone/>
            </a:pPr>
            <a:r>
              <a:rPr lang="en-US" sz="1600" b="1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ENSDF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2724912" y="346466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±1σ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549640" y="868680"/>
            <a:ext cx="3093415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3" name="Shape 28"/>
          <p:cNvSpPr/>
          <p:nvPr/>
        </p:nvSpPr>
        <p:spPr>
          <a:xfrm>
            <a:off x="8549640" y="868680"/>
            <a:ext cx="54864" cy="16916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4" name="Shape 29"/>
          <p:cNvSpPr/>
          <p:nvPr/>
        </p:nvSpPr>
        <p:spPr>
          <a:xfrm>
            <a:off x="8778240" y="1051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5" name="Text 30"/>
          <p:cNvSpPr/>
          <p:nvPr/>
        </p:nvSpPr>
        <p:spPr>
          <a:xfrm>
            <a:off x="877824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1</a:t>
            </a:r>
            <a:pPr algn="ctr" indent="0" marL="0">
              <a:buNone/>
            </a:pPr>
            <a:r>
              <a:rPr lang="en-US" sz="1100" b="1" baseline="300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778240" y="1435608"/>
            <a:ext cx="2681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Carries a large fraction of the isoscalar-dipole sum rule: strong α clustering.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8778240" y="2258568"/>
            <a:ext cx="2727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Chen et al., PRL 134, 012502 (2025)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549640" y="2743200"/>
            <a:ext cx="3093415" cy="1691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9" name="Shape 34"/>
          <p:cNvSpPr/>
          <p:nvPr/>
        </p:nvSpPr>
        <p:spPr>
          <a:xfrm>
            <a:off x="8549640" y="2743200"/>
            <a:ext cx="54864" cy="1691640"/>
          </a:xfrm>
          <a:prstGeom prst="rect">
            <a:avLst/>
          </a:prstGeom>
          <a:solidFill>
            <a:srgbClr val="128C7E"/>
          </a:solidFill>
          <a:ln/>
        </p:spPr>
      </p:sp>
      <p:sp>
        <p:nvSpPr>
          <p:cNvPr id="40" name="Shape 35"/>
          <p:cNvSpPr/>
          <p:nvPr/>
        </p:nvSpPr>
        <p:spPr>
          <a:xfrm>
            <a:off x="877824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/>
        </p:spPr>
      </p:sp>
      <p:sp>
        <p:nvSpPr>
          <p:cNvPr id="41" name="Text 36"/>
          <p:cNvSpPr/>
          <p:nvPr/>
        </p:nvSpPr>
        <p:spPr>
          <a:xfrm>
            <a:off x="877824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3</a:t>
            </a:r>
            <a:pPr algn="ctr" indent="0" marL="0">
              <a:buNone/>
            </a:pPr>
            <a:r>
              <a:rPr lang="en-US" sz="1100" b="1" baseline="300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8778240" y="3310128"/>
            <a:ext cx="2681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Matches the 3</a:t>
            </a:r>
            <a:pPr indent="0" marL="0">
              <a:lnSpc>
                <a:spcPct val="105000"/>
              </a:lnSpc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isobaric analog at 8.898 MeV in </a:t>
            </a:r>
            <a:pPr indent="0" marL="0">
              <a:lnSpc>
                <a:spcPct val="105000"/>
              </a:lnSpc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(</a:t>
            </a:r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1).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8778240" y="4133088"/>
            <a:ext cx="2727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N. Kuchera et al., PRC 84, 054615 (2011)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8549640" y="466344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7.27(10) and 7.371 MeV differ by 1σ: one level with a disputed spin, or two levels?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id Hu/OrbitOS/70_Presentations/718_DREB2026-SFS/assets/src/s02_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6857" y="33650"/>
            <a:ext cx="3574390" cy="630570"/>
          </a:xfrm>
          <a:prstGeom prst="rect">
            <a:avLst/>
          </a:prstGeom>
        </p:spPr>
      </p:pic>
      <p:cxnSp>
        <p:nvCxnSpPr>
          <p:cNvPr id="22" name="直接连接符 19"/>
          <p:cNvCxnSpPr/>
          <p:nvPr/>
        </p:nvCxnSpPr>
        <p:spPr>
          <a:xfrm>
            <a:off x="0" y="69913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1"/>
          <p:cNvSpPr/>
          <p:nvPr/>
        </p:nvSpPr>
        <p:spPr>
          <a:xfrm>
            <a:off x="54864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1371600" y="2286000"/>
            <a:ext cx="0" cy="3291840"/>
          </a:xfrm>
          <a:prstGeom prst="line">
            <a:avLst/>
          </a:prstGeom>
          <a:noFill/>
          <a:ln w="25400">
            <a:solidFill>
              <a:srgbClr val="DDE2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97280" y="2011680"/>
            <a:ext cx="548640" cy="548640"/>
          </a:xfrm>
          <a:prstGeom prst="ellipse">
            <a:avLst/>
          </a:prstGeom>
          <a:solidFill>
            <a:srgbClr val="1B2D4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972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103120" y="2011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7.3 MeV assignment disputed?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1554480" y="26334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97280" y="3108960"/>
            <a:ext cx="548640" cy="548640"/>
          </a:xfrm>
          <a:prstGeom prst="ellipse">
            <a:avLst/>
          </a:prstGeom>
          <a:solidFill>
            <a:srgbClr val="1B2D4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103120" y="31089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a proton probe test it?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1554480" y="37307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97280" y="4206240"/>
            <a:ext cx="548640" cy="548640"/>
          </a:xfrm>
          <a:prstGeom prst="ellipse">
            <a:avLst/>
          </a:prstGeom>
          <a:solidFill>
            <a:srgbClr val="1B2D4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972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103120" y="42062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the </a:t>
            </a:r>
            <a:pPr indent="0" marL="0">
              <a:buNone/>
            </a:pPr>
            <a:r>
              <a:rPr lang="en-US" sz="26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n spectrum show?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1554480" y="4828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97280" y="5303520"/>
            <a:ext cx="548640" cy="548640"/>
          </a:xfrm>
          <a:prstGeom prst="ellipse">
            <a:avLst/>
          </a:prstGeom>
          <a:solidFill>
            <a:srgbClr val="1B2D4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972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2103120" y="53035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will decide 1</a:t>
            </a:r>
            <a:pPr indent="0" marL="0">
              <a:buNone/>
            </a:pPr>
            <a:r>
              <a:rPr lang="en-US" sz="26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versus 3</a:t>
            </a:r>
            <a:pPr indent="0" marL="0">
              <a:buNone/>
            </a:pPr>
            <a:r>
              <a:rPr lang="en-US" sz="26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2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Be’s cluster bands already contain a 3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2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near 7.3 MeV.</a:t>
            </a:r>
            <a:endParaRPr lang="en-US" sz="2400" dirty="0"/>
          </a:p>
        </p:txBody>
      </p:sp>
      <p:cxnSp>
        <p:nvCxnSpPr>
          <p:cNvPr id="66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914400" y="1048817"/>
            <a:ext cx="0" cy="4894783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41248" y="5943600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65760" y="58338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41248" y="5020056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65760" y="49103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41248" y="4096512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65760" y="39867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41248" y="3172968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65760" y="3063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1248" y="2249424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21396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41248" y="1325880"/>
            <a:ext cx="73152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12161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65760" y="731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buNone/>
            </a:pPr>
            <a:r>
              <a:rPr lang="en-US" sz="1200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(MeV)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400" y="2798933"/>
            <a:ext cx="763524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8065008" y="2826365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buNone/>
            </a:pPr>
            <a:r>
              <a:rPr lang="en-US" sz="1200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6.81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600200" y="5943600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87552" y="582472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2569464" y="5824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g.s.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1600200" y="4387428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87552" y="4268556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2569464" y="42685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3.37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417320" y="6108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(π)</a:t>
            </a:r>
            <a:pPr algn="ctr" indent="0" marL="0">
              <a:buNone/>
            </a:pPr>
            <a:r>
              <a:rPr lang="en-US" sz="15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3429000" y="3089849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816352" y="2970977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4398264" y="2970977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6.18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3429000" y="2461839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816352" y="2342967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4398264" y="2342967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7.54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3429000" y="1233526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816352" y="1114654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4398264" y="111465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10.2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3246120" y="6108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(σ)</a:t>
            </a:r>
            <a:pPr algn="ctr" indent="0" marL="0">
              <a:buNone/>
            </a:pPr>
            <a:r>
              <a:rPr lang="en-US" sz="15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5257800" y="3191439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645152" y="3127431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6227064" y="3127431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5.96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5257800" y="3052907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645152" y="2879171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6227064" y="2879171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6.26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5257800" y="2540340"/>
            <a:ext cx="914400" cy="0"/>
          </a:xfrm>
          <a:prstGeom prst="line">
            <a:avLst/>
          </a:prstGeom>
          <a:noFill/>
          <a:ln w="38100">
            <a:solidFill>
              <a:srgbClr val="128C7E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645152" y="2421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r" indent="0" marL="0">
              <a:buNone/>
            </a:pPr>
            <a:r>
              <a:rPr lang="en-US" sz="1400" b="1" baseline="30000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6227064" y="24214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7.37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5257800" y="1662974"/>
            <a:ext cx="91440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645152" y="1544102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pPr algn="r"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400" dirty="0"/>
          </a:p>
        </p:txBody>
      </p:sp>
      <p:sp>
        <p:nvSpPr>
          <p:cNvPr id="52" name="Text 47"/>
          <p:cNvSpPr/>
          <p:nvPr/>
        </p:nvSpPr>
        <p:spPr>
          <a:xfrm>
            <a:off x="6227064" y="154410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9.27</a:t>
            </a:r>
            <a:endParaRPr lang="en-US" sz="1400" dirty="0"/>
          </a:p>
        </p:txBody>
      </p:sp>
      <p:sp>
        <p:nvSpPr>
          <p:cNvPr id="53" name="Text 48"/>
          <p:cNvSpPr/>
          <p:nvPr/>
        </p:nvSpPr>
        <p:spPr>
          <a:xfrm>
            <a:off x="5074920" y="6108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(σπ)</a:t>
            </a:r>
            <a:endParaRPr lang="en-US" sz="1500" dirty="0"/>
          </a:p>
        </p:txBody>
      </p:sp>
      <p:sp>
        <p:nvSpPr>
          <p:cNvPr id="54" name="Shape 49"/>
          <p:cNvSpPr/>
          <p:nvPr/>
        </p:nvSpPr>
        <p:spPr>
          <a:xfrm>
            <a:off x="7086600" y="2586518"/>
            <a:ext cx="914400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473952" y="2467646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r" indent="0" marL="0">
              <a:buNone/>
            </a:pPr>
            <a:r>
              <a:rPr lang="en-US" sz="1400" b="1" baseline="300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400" dirty="0"/>
          </a:p>
        </p:txBody>
      </p:sp>
      <p:sp>
        <p:nvSpPr>
          <p:cNvPr id="56" name="Text 51"/>
          <p:cNvSpPr/>
          <p:nvPr/>
        </p:nvSpPr>
        <p:spPr>
          <a:xfrm>
            <a:off x="8055864" y="246764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7.27</a:t>
            </a:r>
            <a:endParaRPr lang="en-US" sz="1400" dirty="0"/>
          </a:p>
        </p:txBody>
      </p:sp>
      <p:sp>
        <p:nvSpPr>
          <p:cNvPr id="57" name="Text 52"/>
          <p:cNvSpPr/>
          <p:nvPr/>
        </p:nvSpPr>
        <p:spPr>
          <a:xfrm>
            <a:off x="6903720" y="6108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Chen 2025</a:t>
            </a:r>
            <a:endParaRPr lang="en-US" sz="1500" dirty="0"/>
          </a:p>
        </p:txBody>
      </p:sp>
      <p:sp>
        <p:nvSpPr>
          <p:cNvPr id="58" name="Text 53"/>
          <p:cNvSpPr/>
          <p:nvPr/>
        </p:nvSpPr>
        <p:spPr>
          <a:xfrm>
            <a:off x="9006840" y="868680"/>
            <a:ext cx="2636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Columns: orbitals of the two valence neutrons around the 2α core.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9006840" y="1892808"/>
            <a:ext cx="146304" cy="146304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60" name="Text 55"/>
          <p:cNvSpPr/>
          <p:nvPr/>
        </p:nvSpPr>
        <p:spPr>
          <a:xfrm>
            <a:off x="9281160" y="1828800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indent="0" marL="0"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 7.37 MeV continues the (σπ) band.</a:t>
            </a:r>
            <a:endParaRPr lang="en-US" sz="1500" dirty="0"/>
          </a:p>
        </p:txBody>
      </p:sp>
      <p:sp>
        <p:nvSpPr>
          <p:cNvPr id="61" name="Shape 56"/>
          <p:cNvSpPr/>
          <p:nvPr/>
        </p:nvSpPr>
        <p:spPr>
          <a:xfrm>
            <a:off x="9006840" y="2990088"/>
            <a:ext cx="146304" cy="146304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2" name="Text 57"/>
          <p:cNvSpPr/>
          <p:nvPr/>
        </p:nvSpPr>
        <p:spPr>
          <a:xfrm>
            <a:off x="9281160" y="2926080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indent="0" marL="0"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 7.54 MeV continues the (σ)</a:t>
            </a:r>
            <a:pPr indent="0" marL="0"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band.</a:t>
            </a:r>
            <a:endParaRPr lang="en-US" sz="1500" dirty="0"/>
          </a:p>
        </p:txBody>
      </p:sp>
      <p:sp>
        <p:nvSpPr>
          <p:cNvPr id="63" name="Shape 58"/>
          <p:cNvSpPr/>
          <p:nvPr/>
        </p:nvSpPr>
        <p:spPr>
          <a:xfrm>
            <a:off x="9006840" y="4087368"/>
            <a:ext cx="146304" cy="14630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4" name="Text 59"/>
          <p:cNvSpPr/>
          <p:nvPr/>
        </p:nvSpPr>
        <p:spPr>
          <a:xfrm>
            <a:off x="9281160" y="4023360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1</a:t>
            </a:r>
            <a:pPr indent="0" marL="0"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 7.27 MeV adds a state outside this scheme.</a:t>
            </a:r>
            <a:endParaRPr lang="en-US" sz="1500" dirty="0"/>
          </a:p>
        </p:txBody>
      </p:sp>
      <p:sp>
        <p:nvSpPr>
          <p:cNvPr id="65" name="Text 60"/>
          <p:cNvSpPr/>
          <p:nvPr/>
        </p:nvSpPr>
        <p:spPr>
          <a:xfrm>
            <a:off x="9006840" y="5257800"/>
            <a:ext cx="2636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Levels and configurations: W. von Oertzen et al., Phys. Rep. 432, 43 (2006). 7.27 MeV: J. Chen et al., PRL 134, 012502 (2025).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angular distribution points to 1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isobaric analogs to 3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cxnSp>
        <p:nvCxnSpPr>
          <p:cNvPr id="26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48640" y="8229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9" name="Text 4"/>
          <p:cNvSpPr/>
          <p:nvPr/>
        </p:nvSpPr>
        <p:spPr>
          <a:xfrm>
            <a:off x="548640" y="822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1</a:t>
            </a:r>
            <a:pPr algn="ctr" indent="0" marL="0">
              <a:buNone/>
            </a:pPr>
            <a:r>
              <a:rPr lang="en-US" sz="1100" b="1" baseline="300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645920" y="822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d → d′ + </a:t>
            </a:r>
            <a:pPr indent="0" marL="0">
              <a:buNone/>
            </a:pPr>
            <a:r>
              <a:rPr lang="en-US" sz="13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pPr indent="0" marL="0">
              <a:buNone/>
            </a:pPr>
            <a:r>
              <a:rPr lang="en-US" sz="13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·  AT-TPC + SOLARIS</a:t>
            </a:r>
            <a:endParaRPr lang="en-US" sz="1300" dirty="0"/>
          </a:p>
        </p:txBody>
      </p:sp>
      <p:pic>
        <p:nvPicPr>
          <p:cNvPr id="11" name="Image 2" descr="/Users/Reid Hu/OrbitOS/70_Presentations/718_DREB2026-SFS/assets/fig_chen_sp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2331720" cy="2369711"/>
          </a:xfrm>
          <a:prstGeom prst="rect">
            <a:avLst/>
          </a:prstGeom>
        </p:spPr>
      </p:pic>
      <p:pic>
        <p:nvPicPr>
          <p:cNvPr id="12" name="Image 3" descr="/Users/Reid Hu/OrbitOS/70_Presentations/718_DREB2026-SFS/assets/fig_chen_a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325880"/>
            <a:ext cx="2971800" cy="174301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0175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follow the 1</a:t>
            </a:r>
            <a:pPr indent="0" marL="0">
              <a:buNone/>
            </a:pPr>
            <a:r>
              <a:rPr lang="en-US" sz="1400" b="1" baseline="300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indent="0" marL="0">
              <a:buNone/>
            </a:pPr>
            <a:r>
              <a:rPr lang="en-US" sz="1400" b="1" i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1) curve.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548640" y="46634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Chen et al., Phys. Rev. Lett. 134, 012502 (2025)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6108192" y="868680"/>
            <a:ext cx="0" cy="397764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6355080" y="8229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28C7E"/>
          </a:solidFill>
          <a:ln/>
        </p:spPr>
      </p:sp>
      <p:sp>
        <p:nvSpPr>
          <p:cNvPr id="17" name="Text 10"/>
          <p:cNvSpPr/>
          <p:nvPr/>
        </p:nvSpPr>
        <p:spPr>
          <a:xfrm>
            <a:off x="6355080" y="822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3</a:t>
            </a:r>
            <a:pPr algn="ctr" indent="0" marL="0">
              <a:buNone/>
            </a:pPr>
            <a:r>
              <a:rPr lang="en-US" sz="1100" b="1" baseline="300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745236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Isobaric analogs  </a:t>
            </a:r>
            <a:pPr indent="0" marL="0">
              <a:buNone/>
            </a:pPr>
            <a:r>
              <a:rPr lang="en-US" sz="13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↔ </a:t>
            </a:r>
            <a:pPr indent="0" marL="0">
              <a:buNone/>
            </a:pPr>
            <a:r>
              <a:rPr lang="en-US" sz="13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(</a:t>
            </a:r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1)</a:t>
            </a:r>
            <a:endParaRPr lang="en-US" sz="1300" dirty="0"/>
          </a:p>
        </p:txBody>
      </p:sp>
      <p:pic>
        <p:nvPicPr>
          <p:cNvPr id="19" name="Image 4" descr="/Users/Reid Hu/OrbitOS/70_Presentations/718_DREB2026-SFS/assets/fig_an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34440"/>
            <a:ext cx="5257800" cy="33973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355080" y="46634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N. Kuchera et al., Phys. Rev. C 84, 054615 (2011); NNDC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548640" y="5074920"/>
            <a:ext cx="11094415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14"/>
          <p:cNvSpPr/>
          <p:nvPr/>
        </p:nvSpPr>
        <p:spPr>
          <a:xfrm>
            <a:off x="548640" y="5074920"/>
            <a:ext cx="54864" cy="9144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23" name="Text 15"/>
          <p:cNvSpPr/>
          <p:nvPr/>
        </p:nvSpPr>
        <p:spPr>
          <a:xfrm>
            <a:off x="822960" y="50749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test: 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proton probe, </a:t>
            </a:r>
            <a:pPr indent="0" marL="0">
              <a:buNone/>
            </a:pPr>
            <a:r>
              <a:rPr lang="en-US" sz="18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Be(p,p′), with </a:t>
            </a:r>
            <a:pPr indent="0" marL="0">
              <a:buNone/>
            </a:pPr>
            <a:r>
              <a:rPr lang="en-US" sz="18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n in coincidence.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SAMURAI and NEBULA detect 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+ n from 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Be(p,p′) in coincidence.</a:t>
            </a:r>
            <a:endParaRPr lang="en-US" sz="2400" dirty="0"/>
          </a:p>
        </p:txBody>
      </p:sp>
      <p:cxnSp>
        <p:nvCxnSpPr>
          <p:cNvPr id="29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pic>
        <p:nvPicPr>
          <p:cNvPr id="8" name="Image 2" descr="/Users/Reid Hu/OrbitOS/70_Presentations/718_DREB2026-SFS/assets/fig_set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6903720" cy="371350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52360" y="804672"/>
            <a:ext cx="4190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REACTION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7452360" y="1042416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9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p → p′ + </a:t>
            </a:r>
            <a:pPr indent="0" marL="0">
              <a:buNone/>
            </a:pPr>
            <a:r>
              <a:rPr lang="en-US" sz="19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9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pPr indent="0" marL="0">
              <a:buNone/>
            </a:pPr>
            <a:r>
              <a:rPr lang="en-US" sz="19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indent="0" marL="0">
              <a:buNone/>
            </a:pPr>
            <a:r>
              <a:rPr lang="en-US" sz="19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indent="0" marL="0">
              <a:buNone/>
            </a:pPr>
            <a:r>
              <a:rPr lang="en-US" sz="19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buNone/>
            </a:pPr>
            <a:r>
              <a:rPr lang="en-US" sz="19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n</a:t>
            </a:r>
            <a:endParaRPr lang="en-US" sz="1900" dirty="0"/>
          </a:p>
        </p:txBody>
      </p:sp>
      <p:sp>
        <p:nvSpPr>
          <p:cNvPr id="11" name="Shape 5"/>
          <p:cNvSpPr/>
          <p:nvPr/>
        </p:nvSpPr>
        <p:spPr>
          <a:xfrm>
            <a:off x="7452360" y="1618488"/>
            <a:ext cx="419069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7452360" y="16916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BEAM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8476488" y="1664208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Be, 230 MeV/u, 2 × 10</a:t>
            </a:r>
            <a:pPr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pps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476488" y="1956816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93 % purity · </a:t>
            </a:r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 at 250 MeV/u on 10 mm </a:t>
            </a:r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452360" y="2276856"/>
            <a:ext cx="419069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452360" y="2350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476488" y="2322576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Liquid H</a:t>
            </a:r>
            <a:pPr indent="0" marL="0">
              <a:buNone/>
            </a:pPr>
            <a:r>
              <a:rPr lang="en-US" sz="1400" baseline="-4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Φ 46 mm, 140 mg/cm</a:t>
            </a:r>
            <a:pPr indent="0" marL="0">
              <a:buNone/>
            </a:pPr>
            <a:r>
              <a:rPr lang="en-US" sz="1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452360" y="2935224"/>
            <a:ext cx="419069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452360" y="3008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476488" y="2980944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SAMURAI + FDC1, FDC2, HODF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476488" y="3273552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Runge–Kutta tracking → Bρ, A/Q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452360" y="3593592"/>
            <a:ext cx="419069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452360" y="3666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NEUTRON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476488" y="3639312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NEBULA + NEBULA-Plus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476488" y="3931920"/>
            <a:ext cx="31665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ε(1n) ≈ 40 %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452360" y="431596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X. Wang et al., NIMA (2026) 172066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NEBULA: T. Kobayashi et al., NIMB 317, 294 (2013)</a:t>
            </a:r>
            <a:endParaRPr lang="en-US" sz="1000" dirty="0"/>
          </a:p>
        </p:txBody>
      </p:sp>
      <p:pic>
        <p:nvPicPr>
          <p:cNvPr id="27" name="Image 3" descr="/Users/Reid Hu/OrbitOS/70_Presentations/718_DREB2026-SFS/assets/eq/eq_min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4916454" cy="1082010"/>
          </a:xfrm>
          <a:prstGeom prst="rect">
            <a:avLst/>
          </a:prstGeom>
        </p:spPr>
      </p:pic>
      <p:pic>
        <p:nvPicPr>
          <p:cNvPr id="28" name="Image 4" descr="/Users/Reid Hu/OrbitOS/70_Presentations/718_DREB2026-SFS/assets/eq/eq_e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74920"/>
            <a:ext cx="5224242" cy="7955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ID, fragment ID, and NEBULA timing select 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+ n events.</a:t>
            </a:r>
            <a:endParaRPr lang="en-US" sz="2400" dirty="0"/>
          </a:p>
        </p:txBody>
      </p:sp>
      <p:cxnSp>
        <p:nvCxnSpPr>
          <p:cNvPr id="43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48640" y="777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BEAM  ·  F7 ΔE vs TOF (F3–F7)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48640" y="1069848"/>
            <a:ext cx="3520440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334256" y="777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  ·  HODF ΔE vs A/Q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334256" y="1069848"/>
            <a:ext cx="3520440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119872" y="777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NEUTRON  ·  NEBULA timing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119872" y="1069848"/>
            <a:ext cx="3520440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pic>
        <p:nvPicPr>
          <p:cNvPr id="14" name="Image 2" descr="/Users/Reid Hu/OrbitOS/70_Presentations/718_DREB2026-SFS/assets/fig_beam_p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4248"/>
            <a:ext cx="3520440" cy="22273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08619" y="294141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043788" y="3360151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918320" y="337574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2295007" y="32777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2854757" y="3360151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231444" y="32376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647977" y="2698633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E4572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algn="ctr" indent="0" marL="0">
              <a:buNone/>
            </a:pPr>
            <a:r>
              <a:rPr lang="en-US" sz="1100" b="1" dirty="0">
                <a:solidFill>
                  <a:srgbClr val="E4572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100" dirty="0"/>
          </a:p>
        </p:txBody>
      </p:sp>
      <p:pic>
        <p:nvPicPr>
          <p:cNvPr id="22" name="Image 3" descr="/Users/Reid Hu/OrbitOS/70_Presentations/718_DREB2026-SFS/assets/fig_frag_p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092" y="1188720"/>
            <a:ext cx="3542768" cy="31089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21092" y="209562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E4572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algn="ctr" indent="0" marL="0">
              <a:buNone/>
            </a:pPr>
            <a:r>
              <a:rPr lang="en-US" sz="1100" b="1" dirty="0">
                <a:solidFill>
                  <a:srgbClr val="E4572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72629" y="258683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567344" y="2552639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232713" y="2577511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036868" y="3090489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232713" y="31371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</a:t>
            </a:r>
            <a:endParaRPr lang="en-US" sz="1100" dirty="0"/>
          </a:p>
        </p:txBody>
      </p:sp>
      <p:pic>
        <p:nvPicPr>
          <p:cNvPr id="29" name="Image 4" descr="/Users/Reid Hu/OrbitOS/70_Presentations/718_DREB2026-SFS/assets/fig_d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948" y="1188720"/>
            <a:ext cx="3380287" cy="31089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360152" y="1554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Cu run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48640" y="4572000"/>
            <a:ext cx="352044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2" name="Shape 24"/>
          <p:cNvSpPr/>
          <p:nvPr/>
        </p:nvSpPr>
        <p:spPr>
          <a:xfrm>
            <a:off x="548640" y="4572000"/>
            <a:ext cx="54864" cy="100584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3" name="Text 25"/>
          <p:cNvSpPr/>
          <p:nvPr/>
        </p:nvSpPr>
        <p:spPr>
          <a:xfrm>
            <a:off x="777240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93 %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777240" y="5102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the beam is </a:t>
            </a:r>
            <a:pPr indent="0" marL="0">
              <a:buNone/>
            </a:pPr>
            <a:r>
              <a:rPr lang="en-US" sz="13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4334256" y="4572000"/>
            <a:ext cx="352044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6" name="Shape 28"/>
          <p:cNvSpPr/>
          <p:nvPr/>
        </p:nvSpPr>
        <p:spPr>
          <a:xfrm>
            <a:off x="4334256" y="4572000"/>
            <a:ext cx="54864" cy="100584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37" name="Text 29"/>
          <p:cNvSpPr/>
          <p:nvPr/>
        </p:nvSpPr>
        <p:spPr>
          <a:xfrm>
            <a:off x="4562856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baseline="3000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buNone/>
            </a:pPr>
            <a:r>
              <a:rPr lang="en-US" sz="24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2400" dirty="0"/>
          </a:p>
        </p:txBody>
      </p:sp>
      <p:sp>
        <p:nvSpPr>
          <p:cNvPr id="38" name="Text 30"/>
          <p:cNvSpPr/>
          <p:nvPr/>
        </p:nvSpPr>
        <p:spPr>
          <a:xfrm>
            <a:off x="4562856" y="5102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in A/Q (Bρ + TOF) and ΔE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8119872" y="4572000"/>
            <a:ext cx="352044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0" name="Shape 32"/>
          <p:cNvSpPr/>
          <p:nvPr/>
        </p:nvSpPr>
        <p:spPr>
          <a:xfrm>
            <a:off x="8119872" y="4572000"/>
            <a:ext cx="54864" cy="100584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41" name="Text 33"/>
          <p:cNvSpPr/>
          <p:nvPr/>
        </p:nvSpPr>
        <p:spPr>
          <a:xfrm>
            <a:off x="8348472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 = 258 ps</a:t>
            </a:r>
            <a:endParaRPr lang="en-US" sz="2400" dirty="0"/>
          </a:p>
        </p:txBody>
      </p:sp>
      <p:sp>
        <p:nvSpPr>
          <p:cNvPr id="42" name="Text 34"/>
          <p:cNvSpPr/>
          <p:nvPr/>
        </p:nvSpPr>
        <p:spPr>
          <a:xfrm>
            <a:off x="8348472" y="5102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γ peak after bar-by-bar alignment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+ n spectrum shows one peak just above the neutron threshold.</a:t>
            </a:r>
            <a:endParaRPr lang="en-US" sz="2400" dirty="0"/>
          </a:p>
        </p:txBody>
      </p:sp>
      <p:cxnSp>
        <p:nvCxnSpPr>
          <p:cNvPr id="41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pic>
        <p:nvPicPr>
          <p:cNvPr id="8" name="Image 2" descr="/Users/Reid Hu/OrbitOS/70_Presentations/718_DREB2026-SFS/assets/fig_result_z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669280" cy="42689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108821" y="1481316"/>
            <a:ext cx="0" cy="3685408"/>
          </a:xfrm>
          <a:prstGeom prst="line">
            <a:avLst/>
          </a:prstGeom>
          <a:noFill/>
          <a:ln w="12700">
            <a:solidFill>
              <a:srgbClr val="8A94A6"/>
            </a:solidFill>
            <a:prstDash val="dash"/>
          </a:ln>
        </p:spPr>
      </p:sp>
      <p:sp>
        <p:nvSpPr>
          <p:cNvPr id="10" name="Text 4"/>
          <p:cNvSpPr/>
          <p:nvPr/>
        </p:nvSpPr>
        <p:spPr>
          <a:xfrm rot="16200000">
            <a:off x="1468741" y="29443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6.812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2604507" y="2304276"/>
            <a:ext cx="0" cy="2862448"/>
          </a:xfrm>
          <a:prstGeom prst="line">
            <a:avLst/>
          </a:prstGeom>
          <a:noFill/>
          <a:ln w="9525">
            <a:solidFill>
              <a:srgbClr val="E4572E"/>
            </a:solidFill>
            <a:prstDash val="sysDot"/>
          </a:ln>
        </p:spPr>
      </p:sp>
      <p:sp>
        <p:nvSpPr>
          <p:cNvPr id="12" name="Shape 6"/>
          <p:cNvSpPr/>
          <p:nvPr/>
        </p:nvSpPr>
        <p:spPr>
          <a:xfrm>
            <a:off x="2604507" y="1298448"/>
            <a:ext cx="0" cy="292596"/>
          </a:xfrm>
          <a:prstGeom prst="line">
            <a:avLst/>
          </a:prstGeom>
          <a:noFill/>
          <a:ln w="28575">
            <a:solidFill>
              <a:srgbClr val="E4572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2494779" y="1188720"/>
            <a:ext cx="109728" cy="109728"/>
          </a:xfrm>
          <a:prstGeom prst="line">
            <a:avLst/>
          </a:prstGeom>
          <a:noFill/>
          <a:ln w="9525">
            <a:solidFill>
              <a:srgbClr val="E4572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534659" y="10789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7.27  1</a:t>
            </a:r>
            <a:pPr algn="r" indent="0" marL="0">
              <a:buNone/>
            </a:pPr>
            <a:r>
              <a:rPr lang="en-US" sz="1200" b="1" baseline="300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713817" y="2304276"/>
            <a:ext cx="0" cy="2862448"/>
          </a:xfrm>
          <a:prstGeom prst="line">
            <a:avLst/>
          </a:prstGeom>
          <a:noFill/>
          <a:ln w="9525">
            <a:solidFill>
              <a:srgbClr val="128C7E"/>
            </a:solidFill>
            <a:prstDash val="sysDot"/>
          </a:ln>
        </p:spPr>
      </p:sp>
      <p:sp>
        <p:nvSpPr>
          <p:cNvPr id="16" name="Shape 10"/>
          <p:cNvSpPr/>
          <p:nvPr/>
        </p:nvSpPr>
        <p:spPr>
          <a:xfrm>
            <a:off x="2713817" y="1298448"/>
            <a:ext cx="0" cy="292596"/>
          </a:xfrm>
          <a:prstGeom prst="line">
            <a:avLst/>
          </a:prstGeom>
          <a:noFill/>
          <a:ln w="28575">
            <a:solidFill>
              <a:srgbClr val="128C7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2713817" y="1042416"/>
            <a:ext cx="0" cy="256032"/>
          </a:xfrm>
          <a:prstGeom prst="line">
            <a:avLst/>
          </a:prstGeom>
          <a:noFill/>
          <a:ln w="9525">
            <a:solidFill>
              <a:srgbClr val="128C7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165177" y="822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7.371  3</a:t>
            </a:r>
            <a:pPr algn="ctr" indent="0" marL="0">
              <a:buNone/>
            </a:pPr>
            <a:r>
              <a:rPr lang="en-US" sz="1200" b="1" baseline="30000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898888" y="2304276"/>
            <a:ext cx="0" cy="2862448"/>
          </a:xfrm>
          <a:prstGeom prst="line">
            <a:avLst/>
          </a:prstGeom>
          <a:noFill/>
          <a:ln w="9525">
            <a:solidFill>
              <a:srgbClr val="111827"/>
            </a:solidFill>
            <a:prstDash val="sysDot"/>
          </a:ln>
        </p:spPr>
      </p:sp>
      <p:sp>
        <p:nvSpPr>
          <p:cNvPr id="20" name="Shape 14"/>
          <p:cNvSpPr/>
          <p:nvPr/>
        </p:nvSpPr>
        <p:spPr>
          <a:xfrm>
            <a:off x="2898888" y="1298448"/>
            <a:ext cx="0" cy="292596"/>
          </a:xfrm>
          <a:prstGeom prst="line">
            <a:avLst/>
          </a:prstGeom>
          <a:noFill/>
          <a:ln w="28575">
            <a:solidFill>
              <a:srgbClr val="11182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 flipH="1">
            <a:off x="2898888" y="1188720"/>
            <a:ext cx="109728" cy="109728"/>
          </a:xfrm>
          <a:prstGeom prst="line">
            <a:avLst/>
          </a:prstGeom>
          <a:noFill/>
          <a:ln w="9525">
            <a:solidFill>
              <a:srgbClr val="11182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054336" y="10789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7.542  2</a:t>
            </a:r>
            <a:pPr indent="0" marL="0">
              <a:buNone/>
            </a:pPr>
            <a:r>
              <a:rPr lang="en-US" sz="1200" b="1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57227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NB / NP: neutron in NEBULA / NEBULA-Plus; NB∪NP: either. Not acceptance-corrected.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629400" y="1417320"/>
            <a:ext cx="5013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CAN SAY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629400" y="1783080"/>
            <a:ext cx="5013655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Shape 20"/>
          <p:cNvSpPr/>
          <p:nvPr/>
        </p:nvSpPr>
        <p:spPr>
          <a:xfrm>
            <a:off x="6629400" y="1783080"/>
            <a:ext cx="54864" cy="6858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27" name="Text 21"/>
          <p:cNvSpPr/>
          <p:nvPr/>
        </p:nvSpPr>
        <p:spPr>
          <a:xfrm>
            <a:off x="6885432" y="1783080"/>
            <a:ext cx="4602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peak just above </a:t>
            </a:r>
            <a:pPr indent="0" marL="0">
              <a:buNone/>
            </a:pPr>
            <a:r>
              <a:rPr lang="en-US" sz="16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buNone/>
            </a:pPr>
            <a:r>
              <a:rPr lang="en-US" sz="1600" baseline="-4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6629400" y="2633472"/>
            <a:ext cx="5013655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Shape 23"/>
          <p:cNvSpPr/>
          <p:nvPr/>
        </p:nvSpPr>
        <p:spPr>
          <a:xfrm>
            <a:off x="6629400" y="2633472"/>
            <a:ext cx="54864" cy="6858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0" name="Text 24"/>
          <p:cNvSpPr/>
          <p:nvPr/>
        </p:nvSpPr>
        <p:spPr>
          <a:xfrm>
            <a:off x="6885432" y="2633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 centroid: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9921240" y="2807208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DF3E1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9921240" y="2807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 → MeV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629400" y="3483864"/>
            <a:ext cx="5013655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Shape 28"/>
          <p:cNvSpPr/>
          <p:nvPr/>
        </p:nvSpPr>
        <p:spPr>
          <a:xfrm>
            <a:off x="6629400" y="3483864"/>
            <a:ext cx="54864" cy="6858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5" name="Text 29"/>
          <p:cNvSpPr/>
          <p:nvPr/>
        </p:nvSpPr>
        <p:spPr>
          <a:xfrm>
            <a:off x="6885432" y="34838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Resolution at </a:t>
            </a:r>
            <a:pPr indent="0" marL="0">
              <a:buNone/>
            </a:pPr>
            <a:r>
              <a:rPr lang="en-US" sz="16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buNone/>
            </a:pPr>
            <a:r>
              <a:rPr lang="en-US" sz="1600" baseline="-4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≈ 7.4 MeV:  σ =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9921240" y="3657600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DF3E1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37" name="Text 31"/>
          <p:cNvSpPr/>
          <p:nvPr/>
        </p:nvSpPr>
        <p:spPr>
          <a:xfrm>
            <a:off x="9921240" y="3657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 → keV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629400" y="4334256"/>
            <a:ext cx="5013655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9" name="Shape 33"/>
          <p:cNvSpPr/>
          <p:nvPr/>
        </p:nvSpPr>
        <p:spPr>
          <a:xfrm>
            <a:off x="6629400" y="4334256"/>
            <a:ext cx="54864" cy="914400"/>
          </a:xfrm>
          <a:prstGeom prst="rect">
            <a:avLst/>
          </a:prstGeom>
          <a:solidFill>
            <a:srgbClr val="8A94A6"/>
          </a:solidFill>
          <a:ln/>
        </p:spPr>
      </p:sp>
      <p:sp>
        <p:nvSpPr>
          <p:cNvPr id="40" name="Text 34"/>
          <p:cNvSpPr/>
          <p:nvPr/>
        </p:nvSpPr>
        <p:spPr>
          <a:xfrm>
            <a:off x="6885432" y="4334256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7.27, 7.371 and 7.542 MeV are not resolved; yields are not yet extracted.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distributions and a lineshape fit can distinguish 1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3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cxnSp>
        <p:nvCxnSpPr>
          <p:cNvPr id="30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48640" y="868680"/>
            <a:ext cx="3594506" cy="2971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Shape 4"/>
          <p:cNvSpPr/>
          <p:nvPr/>
        </p:nvSpPr>
        <p:spPr>
          <a:xfrm>
            <a:off x="548640" y="868680"/>
            <a:ext cx="54864" cy="29718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0" name="Text 5"/>
          <p:cNvSpPr/>
          <p:nvPr/>
        </p:nvSpPr>
        <p:spPr>
          <a:xfrm>
            <a:off x="82296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822960" y="1828800"/>
            <a:ext cx="3137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the spectrum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22960" y="2304288"/>
            <a:ext cx="30915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Subtract the empty-target run; correct for acceptance and efficiency.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4298594" y="868680"/>
            <a:ext cx="3594506" cy="2971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9"/>
          <p:cNvSpPr/>
          <p:nvPr/>
        </p:nvSpPr>
        <p:spPr>
          <a:xfrm>
            <a:off x="4298594" y="868680"/>
            <a:ext cx="54864" cy="29718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5" name="Text 10"/>
          <p:cNvSpPr/>
          <p:nvPr/>
        </p:nvSpPr>
        <p:spPr>
          <a:xfrm>
            <a:off x="4572914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1"/>
          <p:cNvSpPr/>
          <p:nvPr/>
        </p:nvSpPr>
        <p:spPr>
          <a:xfrm>
            <a:off x="4572914" y="1828800"/>
            <a:ext cx="3137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dσ/dΩ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572914" y="2304288"/>
            <a:ext cx="30915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Angular distribution of the peak against </a:t>
            </a:r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 and </a:t>
            </a:r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 reaction calculations.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8048549" y="868680"/>
            <a:ext cx="3594506" cy="2971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4"/>
          <p:cNvSpPr/>
          <p:nvPr/>
        </p:nvSpPr>
        <p:spPr>
          <a:xfrm>
            <a:off x="8048549" y="868680"/>
            <a:ext cx="54864" cy="297180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20" name="Text 15"/>
          <p:cNvSpPr/>
          <p:nvPr/>
        </p:nvSpPr>
        <p:spPr>
          <a:xfrm>
            <a:off x="8322869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8322869" y="1828800"/>
            <a:ext cx="3137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 the lineshape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322869" y="2304288"/>
            <a:ext cx="30915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response with 7.371 MeV 3</a:t>
            </a:r>
            <a:pPr indent="0" marL="0">
              <a:lnSpc>
                <a:spcPct val="105000"/>
              </a:lnSpc>
              <a:buNone/>
            </a:pPr>
            <a:r>
              <a:rPr lang="en-US" sz="18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7.542 MeV 2</a:t>
            </a:r>
            <a:pPr indent="0" marL="0">
              <a:lnSpc>
                <a:spcPct val="105000"/>
              </a:lnSpc>
              <a:buNone/>
            </a:pPr>
            <a:r>
              <a:rPr lang="en-US" sz="18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is a 7.27 MeV 1</a:t>
            </a:r>
            <a:pPr indent="0" marL="0">
              <a:lnSpc>
                <a:spcPct val="105000"/>
              </a:lnSpc>
              <a:buNone/>
            </a:pPr>
            <a:r>
              <a:rPr lang="en-US" sz="1800" baseline="3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term needed?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4864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480560"/>
            <a:ext cx="5469484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4480560"/>
            <a:ext cx="54864" cy="11887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4480560"/>
            <a:ext cx="50580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 part and a 7.27 MeV term needed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a 1</a:t>
            </a:r>
            <a:pPr indent="0" marL="0">
              <a:buNone/>
            </a:pPr>
            <a:r>
              <a:rPr lang="en-US" sz="1800" b="1" baseline="300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beside the 3</a:t>
            </a:r>
            <a:pPr indent="0" marL="0">
              <a:buNone/>
            </a:pPr>
            <a:r>
              <a:rPr lang="en-US" sz="1800" b="1" baseline="30000" dirty="0">
                <a:solidFill>
                  <a:srgbClr val="E457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173572" y="4480560"/>
            <a:ext cx="5469484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Shape 23"/>
          <p:cNvSpPr/>
          <p:nvPr/>
        </p:nvSpPr>
        <p:spPr>
          <a:xfrm>
            <a:off x="6173572" y="4480560"/>
            <a:ext cx="54864" cy="1188720"/>
          </a:xfrm>
          <a:prstGeom prst="rect">
            <a:avLst/>
          </a:prstGeom>
          <a:solidFill>
            <a:srgbClr val="128C7E"/>
          </a:solidFill>
          <a:ln/>
        </p:spPr>
      </p:sp>
      <p:sp>
        <p:nvSpPr>
          <p:cNvPr id="29" name="Text 24"/>
          <p:cNvSpPr/>
          <p:nvPr/>
        </p:nvSpPr>
        <p:spPr>
          <a:xfrm>
            <a:off x="6447892" y="4480560"/>
            <a:ext cx="50580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 shape, no extra term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the 3</a:t>
            </a:r>
            <a:pPr indent="0" marL="0">
              <a:buNone/>
            </a:pPr>
            <a:r>
              <a:rPr lang="en-US" sz="1800" b="1" baseline="30000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alone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2400" dirty="0"/>
          </a:p>
        </p:txBody>
      </p:sp>
      <p:cxnSp>
        <p:nvCxnSpPr>
          <p:cNvPr id="26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48640" y="1188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1463040" y="141732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</a:t>
            </a:r>
            <a:pPr indent="0" marL="0">
              <a:lnSpc>
                <a:spcPts val="3000"/>
              </a:lnSpc>
              <a:buNone/>
            </a:pPr>
            <a:r>
              <a:rPr lang="en-US" sz="2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+ n invariant-mass spectrum of </a:t>
            </a:r>
            <a:pPr indent="0" marL="0">
              <a:lnSpc>
                <a:spcPts val="3000"/>
              </a:lnSpc>
              <a:buNone/>
            </a:pPr>
            <a:r>
              <a:rPr lang="en-US" sz="2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 from (p,p′) at 230 MeV/u: independent data on the 7.3 MeV region.</a:t>
            </a:r>
            <a:endParaRPr lang="en-US" sz="2400" dirty="0"/>
          </a:p>
        </p:txBody>
      </p:sp>
      <p:sp>
        <p:nvSpPr>
          <p:cNvPr id="10" name="Shape 5"/>
          <p:cNvSpPr/>
          <p:nvPr/>
        </p:nvSpPr>
        <p:spPr>
          <a:xfrm>
            <a:off x="1463040" y="2788920"/>
            <a:ext cx="1018001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48640" y="2880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7"/>
          <p:cNvSpPr/>
          <p:nvPr/>
        </p:nvSpPr>
        <p:spPr>
          <a:xfrm>
            <a:off x="1463040" y="310896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peak just above </a:t>
            </a:r>
            <a:pPr indent="0" marL="0">
              <a:lnSpc>
                <a:spcPts val="3000"/>
              </a:lnSpc>
              <a:buNone/>
            </a:pPr>
            <a:r>
              <a:rPr lang="en-US" sz="24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ts val="3000"/>
              </a:lnSpc>
              <a:buNone/>
            </a:pPr>
            <a:r>
              <a:rPr lang="en-US" sz="2400" baseline="-4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7.27, 7.371 and 7.542 MeV are not resolved.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1463040" y="4480560"/>
            <a:ext cx="10180015" cy="0"/>
          </a:xfrm>
          <a:prstGeom prst="line">
            <a:avLst/>
          </a:prstGeom>
          <a:noFill/>
          <a:ln w="9525">
            <a:solidFill>
              <a:srgbClr val="DDE2E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4572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1463040" y="48006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Angular-distribution and lineshape analysis will test the 1</a:t>
            </a:r>
            <a:pPr indent="0" marL="0">
              <a:lnSpc>
                <a:spcPts val="3000"/>
              </a:lnSpc>
              <a:buNone/>
            </a:pPr>
            <a:r>
              <a:rPr lang="en-US" sz="24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assignment.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(p,pα) knockout supports a molecular-like 2α ground state.</a:t>
            </a:r>
            <a:endParaRPr lang="en-US" sz="2400" dirty="0"/>
          </a:p>
        </p:txBody>
      </p:sp>
      <p:cxnSp>
        <p:nvCxnSpPr>
          <p:cNvPr id="26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0454335" y="6583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/>
        </p:spPr>
      </p:sp>
      <p:sp>
        <p:nvSpPr>
          <p:cNvPr id="9" name="Text 4"/>
          <p:cNvSpPr/>
          <p:nvPr/>
        </p:nvSpPr>
        <p:spPr>
          <a:xfrm>
            <a:off x="10454335" y="658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48640" y="777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baseline="30000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Be(p,pα)</a:t>
            </a:r>
            <a:pPr indent="0" marL="0">
              <a:buNone/>
            </a:pPr>
            <a:r>
              <a:rPr lang="en-US" sz="1100" b="1" baseline="30000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</a:t>
            </a:r>
            <a:endParaRPr lang="en-US" sz="1100" dirty="0"/>
          </a:p>
        </p:txBody>
      </p:sp>
      <p:pic>
        <p:nvPicPr>
          <p:cNvPr id="11" name="Image 2" descr="/Users/Reid Hu/OrbitOS/70_Presentations/718_DREB2026-SFS/assets/fig_ppa_x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4417786" cy="4572000"/>
          </a:xfrm>
          <a:prstGeom prst="rect">
            <a:avLst/>
          </a:prstGeom>
        </p:spPr>
      </p:pic>
      <p:pic>
        <p:nvPicPr>
          <p:cNvPr id="12" name="Image 3" descr="/Users/Reid Hu/OrbitOS/70_Presentations/718_DREB2026-SFS/assets/fig_ppa_de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63040"/>
            <a:ext cx="6400800" cy="419821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61634" y="5734407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shell-model-like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7393838" y="5734407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molecular-like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9019642" y="5734407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gas-like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48640" y="60350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 J. Li et al., PRL 131, 212501 (2023); M. Lyu et al., PRC 93, 054308 (2016); PRC 97, 044612 (2018)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BDC1 and BDC2 track each </a:t>
            </a:r>
            <a:pPr indent="0" marL="0">
              <a:buNone/>
            </a:pPr>
            <a:r>
              <a:rPr lang="en-US" sz="24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ion to the Φ 46 mm target.</a:t>
            </a:r>
            <a:endParaRPr lang="en-US" sz="2400" dirty="0"/>
          </a:p>
        </p:txBody>
      </p:sp>
      <p:cxnSp>
        <p:nvCxnSpPr>
          <p:cNvPr id="26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0454335" y="6583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/>
        </p:spPr>
      </p:sp>
      <p:sp>
        <p:nvSpPr>
          <p:cNvPr id="9" name="Text 4"/>
          <p:cNvSpPr/>
          <p:nvPr/>
        </p:nvSpPr>
        <p:spPr>
          <a:xfrm>
            <a:off x="10454335" y="658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48640" y="777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BigRIPS  ·  F3 → F7 time of flight</a:t>
            </a:r>
            <a:endParaRPr lang="en-US" sz="1100" dirty="0"/>
          </a:p>
        </p:txBody>
      </p:sp>
      <p:pic>
        <p:nvPicPr>
          <p:cNvPr id="11" name="Image 2" descr="/Users/Reid Hu/OrbitOS/70_Presentations/718_DREB2026-SFS/assets/fig_bigri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486400" cy="12536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0" y="77724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BDC1 → BDC2 → target</a:t>
            </a:r>
            <a:endParaRPr lang="en-US" sz="1100" dirty="0"/>
          </a:p>
        </p:txBody>
      </p:sp>
      <p:pic>
        <p:nvPicPr>
          <p:cNvPr id="13" name="Image 3" descr="/Users/Reid Hu/OrbitOS/70_Presentations/718_DREB2026-SFS/assets/fig_bd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97280"/>
            <a:ext cx="5212080" cy="12441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640" y="2743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plane  ·  all beam</a:t>
            </a:r>
            <a:endParaRPr lang="en-US" sz="1100" dirty="0"/>
          </a:p>
        </p:txBody>
      </p:sp>
      <p:pic>
        <p:nvPicPr>
          <p:cNvPr id="15" name="Image 4" descr="/Users/Reid Hu/OrbitOS/70_Presentations/718_DREB2026-SFS/assets/fig_target_x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3427964" cy="30175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069080" y="2743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plane  ·  beam trigger</a:t>
            </a:r>
            <a:endParaRPr lang="en-US" sz="1100" dirty="0"/>
          </a:p>
        </p:txBody>
      </p:sp>
      <p:pic>
        <p:nvPicPr>
          <p:cNvPr id="17" name="Image 5" descr="/Users/Reid Hu/OrbitOS/70_Presentations/718_DREB2026-SFS/assets/fig_target_xy_tri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063240"/>
            <a:ext cx="3406280" cy="3017520"/>
          </a:xfrm>
          <a:prstGeom prst="rect">
            <a:avLst/>
          </a:prstGeom>
        </p:spPr>
      </p:pic>
      <p:pic>
        <p:nvPicPr>
          <p:cNvPr id="18" name="Image 6" descr="/Users/Reid Hu/OrbitOS/70_Presentations/718_DREB2026-SFS/assets/fig_target_phot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3063240"/>
            <a:ext cx="3724478" cy="265176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680960" y="5870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cell: X. Wang et al., NIMA (2026) 172066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Runge–Kutta tracking through the field map gives Bρ and A/Q.</a:t>
            </a:r>
            <a:endParaRPr lang="en-US" sz="2400" dirty="0"/>
          </a:p>
        </p:txBody>
      </p:sp>
      <p:cxnSp>
        <p:nvCxnSpPr>
          <p:cNvPr id="31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0454335" y="6583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/>
        </p:spPr>
      </p:sp>
      <p:sp>
        <p:nvSpPr>
          <p:cNvPr id="9" name="Text 4"/>
          <p:cNvSpPr/>
          <p:nvPr/>
        </p:nvSpPr>
        <p:spPr>
          <a:xfrm>
            <a:off x="10454335" y="658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4864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60120" y="868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track fits in FDC1 and FDC2 (χ</a:t>
            </a:r>
            <a:pPr indent="0" marL="0"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/ndf &lt; 3).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4864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60120" y="14356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Seed at the HOD plane from FDC2: position, angle, 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buNone/>
            </a:pPr>
            <a:r>
              <a:rPr lang="en-US" sz="1500" baseline="-4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4864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60120" y="20025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RK4 backward through the 3-D field map; fit (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pPr indent="0" marL="0">
              <a:buNone/>
            </a:pPr>
            <a:r>
              <a:rPr lang="en-US" sz="15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to FDC hits by χ</a:t>
            </a:r>
            <a:pPr indent="0" marL="0">
              <a:buNone/>
            </a:pPr>
            <a:r>
              <a:rPr lang="en-US" sz="1500" baseline="3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60120" y="25694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target: vertex, momentum, path length → Bρ → A/Q (with TOF).</a:t>
            </a:r>
            <a:endParaRPr lang="en-US" sz="1500" dirty="0"/>
          </a:p>
        </p:txBody>
      </p:sp>
      <p:pic>
        <p:nvPicPr>
          <p:cNvPr id="18" name="Image 2" descr="/Users/Reid Hu/OrbitOS/70_Presentations/718_DREB2026-SFS/assets/fig_fd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4720"/>
            <a:ext cx="2775521" cy="2279501"/>
          </a:xfrm>
          <a:prstGeom prst="rect">
            <a:avLst/>
          </a:prstGeom>
        </p:spPr>
      </p:pic>
      <p:pic>
        <p:nvPicPr>
          <p:cNvPr id="19" name="Image 3" descr="/Users/Reid Hu/OrbitOS/70_Presentations/718_DREB2026-SFS/assets/fig_hod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041" y="3474720"/>
            <a:ext cx="2648950" cy="2279501"/>
          </a:xfrm>
          <a:prstGeom prst="rect">
            <a:avLst/>
          </a:prstGeom>
        </p:spPr>
      </p:pic>
      <p:pic>
        <p:nvPicPr>
          <p:cNvPr id="20" name="Image 4" descr="/Users/Reid Hu/OrbitOS/70_Presentations/718_DREB2026-SFS/assets/fig_frag_p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871" y="3474720"/>
            <a:ext cx="2597571" cy="2279501"/>
          </a:xfrm>
          <a:prstGeom prst="rect">
            <a:avLst/>
          </a:prstGeom>
        </p:spPr>
      </p:pic>
      <p:pic>
        <p:nvPicPr>
          <p:cNvPr id="21" name="Image 5" descr="/Users/Reid Hu/OrbitOS/70_Presentations/718_DREB2026-SFS/assets/fig_mo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9322" y="3474720"/>
            <a:ext cx="2523733" cy="227950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8640" y="3154680"/>
            <a:ext cx="27755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Y:X on FDC1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3507041" y="3154680"/>
            <a:ext cx="26489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ΔE(HODF): FDC2_X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338871" y="3154680"/>
            <a:ext cx="5304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Charged particle PID and momentum distribution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6982018" y="412867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baseline="30000" dirty="0">
                <a:solidFill>
                  <a:srgbClr val="E4572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algn="ctr" indent="0" marL="0">
              <a:buNone/>
            </a:pPr>
            <a:r>
              <a:rPr lang="en-US" sz="1000" b="1" dirty="0">
                <a:solidFill>
                  <a:srgbClr val="E4572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7166446" y="448883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7969095" y="44637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8444766" y="44820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6846945" y="485811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8444766" y="489231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baseline="30000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877" y="44806"/>
            <a:ext cx="10927080" cy="459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NEBULA times are aligned bar by bar to the prompt γ peak.</a:t>
            </a:r>
            <a:endParaRPr lang="en-US" sz="2400" dirty="0"/>
          </a:p>
        </p:txBody>
      </p:sp>
      <p:cxnSp>
        <p:nvCxnSpPr>
          <p:cNvPr id="26" name="直接连接符 19"/>
          <p:cNvCxnSpPr/>
          <p:nvPr/>
        </p:nvCxnSpPr>
        <p:spPr>
          <a:xfrm>
            <a:off x="0" y="528955"/>
            <a:ext cx="12165965" cy="1905"/>
          </a:xfrm>
          <a:prstGeom prst="line">
            <a:avLst/>
          </a:prstGeom>
          <a:ln w="44450" cmpd="sng">
            <a:gradFill>
              <a:gsLst>
                <a:gs pos="1000">
                  <a:srgbClr val="020D09"/>
                </a:gs>
                <a:gs pos="15000">
                  <a:srgbClr val="08294D"/>
                </a:gs>
                <a:gs pos="97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0" descr="/Users/Reid Hu/OrbitOS/70_Presentations/718_DREB2026-SFS/assets/src/s03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910" y="0"/>
            <a:ext cx="709574" cy="697687"/>
          </a:xfrm>
          <a:prstGeom prst="rect">
            <a:avLst/>
          </a:prstGeom>
        </p:spPr>
      </p:pic>
      <p:pic>
        <p:nvPicPr>
          <p:cNvPr id="5" name="Image 1" descr="/Users/Reid Hu/OrbitOS/70_Presentations/718_DREB2026-SFS/assets/src/s0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" y="6565392"/>
            <a:ext cx="12190781" cy="2880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79899" y="6528816"/>
            <a:ext cx="2831897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DREB meeting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0454335" y="6583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/>
        </p:spPr>
      </p:sp>
      <p:sp>
        <p:nvSpPr>
          <p:cNvPr id="9" name="Text 4"/>
          <p:cNvSpPr/>
          <p:nvPr/>
        </p:nvSpPr>
        <p:spPr>
          <a:xfrm>
            <a:off x="10454335" y="658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</a:t>
            </a:r>
            <a:endParaRPr lang="en-US" sz="1000" dirty="0"/>
          </a:p>
        </p:txBody>
      </p:sp>
      <p:pic>
        <p:nvPicPr>
          <p:cNvPr id="10" name="Image 2" descr="/Users/Reid Hu/OrbitOS/70_Presentations/718_DREB2026-SFS/assets/fig_nebula_g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77240"/>
            <a:ext cx="2822199" cy="2377440"/>
          </a:xfrm>
          <a:prstGeom prst="rect">
            <a:avLst/>
          </a:prstGeom>
        </p:spPr>
      </p:pic>
      <p:pic>
        <p:nvPicPr>
          <p:cNvPr id="11" name="Image 3" descr="/Users/Reid Hu/OrbitOS/70_Presentations/718_DREB2026-SFS/assets/fig_nebula_pho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777240"/>
            <a:ext cx="2860223" cy="2377440"/>
          </a:xfrm>
          <a:prstGeom prst="rect">
            <a:avLst/>
          </a:prstGeom>
        </p:spPr>
      </p:pic>
      <p:pic>
        <p:nvPicPr>
          <p:cNvPr id="12" name="Image 4" descr="/Users/Reid Hu/OrbitOS/70_Presentations/718_DREB2026-SFS/assets/fig_tof_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91840"/>
            <a:ext cx="3417762" cy="2971800"/>
          </a:xfrm>
          <a:prstGeom prst="rect">
            <a:avLst/>
          </a:prstGeom>
        </p:spPr>
      </p:pic>
      <p:pic>
        <p:nvPicPr>
          <p:cNvPr id="13" name="Image 5" descr="/Users/Reid Hu/OrbitOS/70_Presentations/718_DREB2026-SFS/assets/fig_dt_i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397" y="3291840"/>
            <a:ext cx="3409507" cy="2971800"/>
          </a:xfrm>
          <a:prstGeom prst="rect">
            <a:avLst/>
          </a:prstGeom>
        </p:spPr>
      </p:pic>
      <p:pic>
        <p:nvPicPr>
          <p:cNvPr id="14" name="Image 6" descr="/Users/Reid Hu/OrbitOS/70_Presentations/718_DREB2026-SFS/assets/fig_d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898" y="3291840"/>
            <a:ext cx="3231157" cy="2971800"/>
          </a:xfrm>
          <a:prstGeom prst="rect">
            <a:avLst/>
          </a:prstGeom>
        </p:spPr>
      </p:pic>
      <p:sp>
        <p:nvSpPr>
          <p:cNvPr id="15" name="Shape 5"/>
          <p:cNvSpPr/>
          <p:nvPr/>
        </p:nvSpPr>
        <p:spPr>
          <a:xfrm>
            <a:off x="6812280" y="1143000"/>
            <a:ext cx="2743200" cy="2011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6"/>
          <p:cNvSpPr/>
          <p:nvPr/>
        </p:nvSpPr>
        <p:spPr>
          <a:xfrm>
            <a:off x="6812280" y="1143000"/>
            <a:ext cx="54864" cy="201168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17" name="Text 7"/>
          <p:cNvSpPr/>
          <p:nvPr/>
        </p:nvSpPr>
        <p:spPr>
          <a:xfrm>
            <a:off x="699516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VALUES</a:t>
            </a:r>
            <a:endParaRPr lang="en-US" sz="1100" dirty="0"/>
          </a:p>
        </p:txBody>
      </p:sp>
      <p:sp>
        <p:nvSpPr>
          <p:cNvPr id="18" name="Text 8"/>
          <p:cNvSpPr/>
          <p:nvPr/>
        </p:nvSpPr>
        <p:spPr>
          <a:xfrm>
            <a:off x="6995160" y="158191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ε(1n) ≈ 40 %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σ(γ) ≈ 170 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σ(n) ≈ 340 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at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buNone/>
            </a:pPr>
            <a:r>
              <a:rPr lang="en-US" sz="1400" baseline="-400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≈ 200 MeV</a:t>
            </a:r>
            <a:endParaRPr lang="en-US" sz="1400" dirty="0"/>
          </a:p>
        </p:txBody>
      </p:sp>
      <p:sp>
        <p:nvSpPr>
          <p:cNvPr id="19" name="Text 9"/>
          <p:cNvSpPr/>
          <p:nvPr/>
        </p:nvSpPr>
        <p:spPr>
          <a:xfrm>
            <a:off x="6995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 Kobayashi et al., NIMB 317, 294 (2013)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9738360" y="1143000"/>
            <a:ext cx="1904695" cy="2011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1"/>
          <p:cNvSpPr/>
          <p:nvPr/>
        </p:nvSpPr>
        <p:spPr>
          <a:xfrm>
            <a:off x="9738360" y="1143000"/>
            <a:ext cx="54864" cy="2011680"/>
          </a:xfrm>
          <a:prstGeom prst="rect">
            <a:avLst/>
          </a:prstGeom>
          <a:solidFill>
            <a:srgbClr val="1B2D4F"/>
          </a:solidFill>
          <a:ln/>
        </p:spPr>
      </p:sp>
      <p:sp>
        <p:nvSpPr>
          <p:cNvPr id="22" name="Text 12"/>
          <p:cNvSpPr/>
          <p:nvPr/>
        </p:nvSpPr>
        <p:spPr>
          <a:xfrm>
            <a:off x="9921240" y="1280160"/>
            <a:ext cx="1904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RUN</a:t>
            </a:r>
            <a:endParaRPr lang="en-US" sz="1100" dirty="0"/>
          </a:p>
        </p:txBody>
      </p:sp>
      <p:sp>
        <p:nvSpPr>
          <p:cNvPr id="23" name="Text 13"/>
          <p:cNvSpPr/>
          <p:nvPr/>
        </p:nvSpPr>
        <p:spPr>
          <a:xfrm>
            <a:off x="9921240" y="1554480"/>
            <a:ext cx="16303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σ(γ) = 258 ps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548933"/>
            <a:ext cx="456286" cy="31729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Probing Exotic Structures in 10Be via 9Be + n Coincidence Measurements</dc:title>
  <dc:subject>PptxGenJS Presentation</dc:subject>
  <dc:creator>Fushuai Shi</dc:creator>
  <cp:lastModifiedBy>Fushuai Shi</cp:lastModifiedBy>
  <cp:revision>1</cp:revision>
  <dcterms:created xsi:type="dcterms:W3CDTF">2026-10-21T13:59:28Z</dcterms:created>
  <dcterms:modified xsi:type="dcterms:W3CDTF">2026-10-21T13:59:28Z</dcterms:modified>
</cp:coreProperties>
</file>