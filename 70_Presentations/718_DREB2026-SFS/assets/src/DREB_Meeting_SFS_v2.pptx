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1" r:id="rId4"/>
    <p:sldId id="272" r:id="rId6"/>
    <p:sldId id="273" r:id="rId7"/>
    <p:sldId id="263" r:id="rId8"/>
    <p:sldId id="264" r:id="rId9"/>
    <p:sldId id="271" r:id="rId10"/>
    <p:sldId id="262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9800"/>
    <a:srgbClr val="00FFFF"/>
    <a:srgbClr val="FFFFFF"/>
    <a:srgbClr val="90452E"/>
    <a:srgbClr val="2E54A1"/>
    <a:srgbClr val="E91208"/>
    <a:srgbClr val="98DCED"/>
    <a:srgbClr val="99E4EB"/>
    <a:srgbClr val="A9DBDB"/>
    <a:srgbClr val="1E38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0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597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2.jpe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image" Target="../media/image1.jpeg"/><Relationship Id="rId3" Type="http://schemas.openxmlformats.org/officeDocument/2006/relationships/tags" Target="../tags/tag76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9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image" Target="../media/image1.jpeg"/><Relationship Id="rId3" Type="http://schemas.openxmlformats.org/officeDocument/2006/relationships/tags" Target="../tags/tag80.xml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83.xml"/><Relationship Id="rId10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image" Target="../media/image1.jpeg"/><Relationship Id="rId3" Type="http://schemas.openxmlformats.org/officeDocument/2006/relationships/tags" Target="../tags/tag84.xml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jpeg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1.jpeg"/><Relationship Id="rId3" Type="http://schemas.openxmlformats.org/officeDocument/2006/relationships/tags" Target="../tags/tag88.xml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1.xml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image" Target="../media/image1.jpeg"/><Relationship Id="rId6" Type="http://schemas.openxmlformats.org/officeDocument/2006/relationships/tags" Target="../tags/tag92.xml"/><Relationship Id="rId5" Type="http://schemas.openxmlformats.org/officeDocument/2006/relationships/image" Target="../media/image4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5.xml"/><Relationship Id="rId10" Type="http://schemas.openxmlformats.org/officeDocument/2006/relationships/image" Target="../media/image28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image" Target="../media/image1.jpeg"/><Relationship Id="rId3" Type="http://schemas.openxmlformats.org/officeDocument/2006/relationships/tags" Target="../tags/tag96.xml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9.xml"/><Relationship Id="rId10" Type="http://schemas.openxmlformats.org/officeDocument/2006/relationships/image" Target="../media/image33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11.jpeg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1.jpeg"/><Relationship Id="rId2" Type="http://schemas.openxmlformats.org/officeDocument/2006/relationships/tags" Target="../tags/tag100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image" Target="../media/image1.jpeg"/><Relationship Id="rId2" Type="http://schemas.openxmlformats.org/officeDocument/2006/relationships/tags" Target="../tags/tag10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9.xml"/><Relationship Id="rId2" Type="http://schemas.openxmlformats.org/officeDocument/2006/relationships/image" Target="../media/image2.jpeg"/><Relationship Id="rId1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1320" y="1765935"/>
            <a:ext cx="8849995" cy="2251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Probing Exotic Structures in </a:t>
            </a:r>
            <a:r>
              <a:rPr lang="en-US" altLang="zh-CN" sz="3600" baseline="30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  <a:r>
              <a:rPr lang="en-US" altLang="zh-C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Be </a:t>
            </a:r>
            <a:endParaRPr lang="en-US" altLang="zh-CN" sz="36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via </a:t>
            </a:r>
            <a:r>
              <a:rPr lang="en-US" altLang="zh-CN" sz="3600" baseline="30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9</a:t>
            </a:r>
            <a:r>
              <a:rPr lang="en-US" altLang="zh-C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Be + n Coincidence Measurements </a:t>
            </a:r>
            <a:endParaRPr lang="en-US" altLang="zh-CN" sz="36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with the SAMURAI Spectrometer</a:t>
            </a:r>
            <a:endParaRPr lang="en-US" altLang="zh-CN" sz="36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8340" y="4842510"/>
            <a:ext cx="8275955" cy="1130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/>
              <a:t>Fushuai Shi</a:t>
            </a:r>
            <a:endParaRPr lang="en-US" altLang="zh-CN" sz="2800"/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/>
              <a:t>Institute of Modern Physics, Chinese Academy of Sciences</a:t>
            </a:r>
            <a:endParaRPr lang="en-US" altLang="zh-CN" sz="2400"/>
          </a:p>
        </p:txBody>
      </p:sp>
      <p:pic>
        <p:nvPicPr>
          <p:cNvPr id="2097153" name="内容占位符 3" descr="IMP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632" t="9415" r="10554" b="7137"/>
          <a:stretch>
            <a:fillRect/>
          </a:stretch>
        </p:blipFill>
        <p:spPr>
          <a:xfrm>
            <a:off x="1483995" y="5405120"/>
            <a:ext cx="576580" cy="567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2550" y="283210"/>
            <a:ext cx="694690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2400" b="1"/>
              <a:t>Direct Reactions with Exotic Beam (DREB2026)</a:t>
            </a:r>
            <a:endParaRPr lang="en-US" altLang="zh-CN" sz="2400" b="1"/>
          </a:p>
          <a:p>
            <a:pPr algn="ctr">
              <a:lnSpc>
                <a:spcPct val="150000"/>
              </a:lnSpc>
            </a:pPr>
            <a:r>
              <a:rPr lang="en-US" altLang="zh-CN" b="1"/>
              <a:t>Shenzhen, China, Nov 1st-6th, 2026 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425" y="33655"/>
            <a:ext cx="3574415" cy="630555"/>
          </a:xfrm>
          <a:prstGeom prst="rect">
            <a:avLst/>
          </a:prstGeom>
        </p:spPr>
      </p:pic>
      <p:sp>
        <p:nvSpPr>
          <p:cNvPr id="19" name="MH_Others_2"/>
          <p:cNvSpPr txBox="1"/>
          <p:nvPr>
            <p:custDataLst>
              <p:tags r:id="rId3"/>
            </p:custDataLst>
          </p:nvPr>
        </p:nvSpPr>
        <p:spPr>
          <a:xfrm rot="16200000">
            <a:off x="374945" y="3197901"/>
            <a:ext cx="3128221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86677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CONTENTS</a:t>
            </a:r>
            <a:endParaRPr lang="en-US" altLang="zh-CN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MH_Number_1"/>
          <p:cNvSpPr/>
          <p:nvPr>
            <p:custDataLst>
              <p:tags r:id="rId4"/>
            </p:custDataLst>
          </p:nvPr>
        </p:nvSpPr>
        <p:spPr>
          <a:xfrm>
            <a:off x="2995014" y="2058493"/>
            <a:ext cx="432000" cy="432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86677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en-US" altLang="zh-CN" sz="2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MH_Number_3"/>
          <p:cNvSpPr/>
          <p:nvPr>
            <p:custDataLst>
              <p:tags r:id="rId5"/>
            </p:custDataLst>
          </p:nvPr>
        </p:nvSpPr>
        <p:spPr>
          <a:xfrm>
            <a:off x="2995014" y="2897592"/>
            <a:ext cx="432000" cy="432000"/>
          </a:xfrm>
          <a:prstGeom prst="ellipse">
            <a:avLst/>
          </a:prstGeom>
          <a:solidFill>
            <a:srgbClr val="2E54A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86677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en-US" altLang="zh-CN" sz="2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MH_Entry_3"/>
          <p:cNvSpPr/>
          <p:nvPr>
            <p:custDataLst>
              <p:tags r:id="rId6"/>
            </p:custDataLst>
          </p:nvPr>
        </p:nvSpPr>
        <p:spPr>
          <a:xfrm>
            <a:off x="3893580" y="1869661"/>
            <a:ext cx="5210171" cy="65468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32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Research Background</a:t>
            </a:r>
            <a:endParaRPr lang="en-US" altLang="en-US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26" name="MH_Number_4"/>
          <p:cNvSpPr/>
          <p:nvPr>
            <p:custDataLst>
              <p:tags r:id="rId7"/>
            </p:custDataLst>
          </p:nvPr>
        </p:nvSpPr>
        <p:spPr>
          <a:xfrm>
            <a:off x="2995014" y="3731547"/>
            <a:ext cx="432000" cy="432000"/>
          </a:xfrm>
          <a:prstGeom prst="ellipse">
            <a:avLst/>
          </a:prstGeom>
          <a:solidFill>
            <a:srgbClr val="1E386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86677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endParaRPr lang="en-US" altLang="zh-CN" sz="2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MH_Entry_4"/>
          <p:cNvSpPr/>
          <p:nvPr>
            <p:custDataLst>
              <p:tags r:id="rId8"/>
            </p:custDataLst>
          </p:nvPr>
        </p:nvSpPr>
        <p:spPr>
          <a:xfrm>
            <a:off x="3893820" y="4386581"/>
            <a:ext cx="4391660" cy="63944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Preliminary result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MH_Number_4"/>
          <p:cNvSpPr/>
          <p:nvPr>
            <p:custDataLst>
              <p:tags r:id="rId9"/>
            </p:custDataLst>
          </p:nvPr>
        </p:nvSpPr>
        <p:spPr>
          <a:xfrm>
            <a:off x="2995014" y="4555977"/>
            <a:ext cx="432000" cy="43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86677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r>
            <a:endParaRPr lang="en-US" altLang="zh-CN" sz="2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MH_Entry_4"/>
          <p:cNvSpPr/>
          <p:nvPr>
            <p:custDataLst>
              <p:tags r:id="rId10"/>
            </p:custDataLst>
          </p:nvPr>
        </p:nvSpPr>
        <p:spPr>
          <a:xfrm>
            <a:off x="3893581" y="2717801"/>
            <a:ext cx="5210170" cy="63944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Experimental Setup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MH_Entry_4"/>
          <p:cNvSpPr/>
          <p:nvPr>
            <p:custDataLst>
              <p:tags r:id="rId11"/>
            </p:custDataLst>
          </p:nvPr>
        </p:nvSpPr>
        <p:spPr>
          <a:xfrm>
            <a:off x="3893581" y="3552191"/>
            <a:ext cx="5210170" cy="63944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Particles detection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145728" name="直接连接符 19"/>
          <p:cNvCxnSpPr/>
          <p:nvPr/>
        </p:nvCxnSpPr>
        <p:spPr>
          <a:xfrm>
            <a:off x="0" y="69913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3120" y="948055"/>
            <a:ext cx="4980940" cy="3053080"/>
            <a:chOff x="1312" y="1493"/>
            <a:chExt cx="7844" cy="4808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12" y="1493"/>
              <a:ext cx="7845" cy="4809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834" y="5657"/>
              <a:ext cx="81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 baseline="30000"/>
                <a:t>9</a:t>
              </a:r>
              <a:r>
                <a:rPr lang="en-US" altLang="zh-CN" sz="1600" b="1"/>
                <a:t>Be</a:t>
              </a:r>
              <a:endParaRPr lang="en-US" altLang="zh-CN" sz="1600" b="1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863" y="5657"/>
              <a:ext cx="95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 baseline="30000"/>
                <a:t>10</a:t>
              </a:r>
              <a:r>
                <a:rPr lang="en-US" altLang="zh-CN" sz="1600" b="1"/>
                <a:t>Be</a:t>
              </a:r>
              <a:endParaRPr lang="en-US" altLang="zh-CN" sz="1600" b="1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029" y="5657"/>
              <a:ext cx="103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 baseline="30000"/>
                <a:t>11</a:t>
              </a:r>
              <a:r>
                <a:rPr lang="en-US" altLang="zh-CN" sz="1600" b="1"/>
                <a:t>Be</a:t>
              </a:r>
              <a:endParaRPr lang="en-US" altLang="zh-CN" sz="1600" b="1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819" y="5657"/>
              <a:ext cx="103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 baseline="30000"/>
                <a:t>12</a:t>
              </a:r>
              <a:r>
                <a:rPr lang="en-US" altLang="zh-CN" sz="1600" b="1"/>
                <a:t>Be</a:t>
              </a:r>
              <a:endParaRPr lang="en-US" altLang="zh-CN" sz="1600" b="1"/>
            </a:p>
          </p:txBody>
        </p:sp>
      </p:grpSp>
      <p:pic>
        <p:nvPicPr>
          <p:cNvPr id="209715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Research Background: α Clustering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2485" y="4115435"/>
            <a:ext cx="5532755" cy="233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000" b="1">
                <a:sym typeface="+mn-ea"/>
              </a:rPr>
              <a:t>W. Von Oertzen,et al., J. Phys.: Conf. Ser. 863, 012066 (2017)</a:t>
            </a:r>
            <a:endParaRPr lang="zh-CN" altLang="en-US" sz="1000" b="1"/>
          </a:p>
          <a:p>
            <a:pPr algn="l">
              <a:lnSpc>
                <a:spcPct val="150000"/>
              </a:lnSpc>
            </a:pPr>
            <a:r>
              <a:rPr lang="en-US" altLang="zh-CN" sz="1000" b="1">
                <a:sym typeface="+mn-ea"/>
              </a:rPr>
              <a:t>W. Von Oertzen, et al., Phys. Rep.432, 43 (2006).</a:t>
            </a:r>
            <a:endParaRPr lang="en-US" altLang="zh-CN" sz="1000" b="1">
              <a:sym typeface="+mn-ea"/>
            </a:endParaRPr>
          </a:p>
          <a:p>
            <a:pPr algn="l">
              <a:lnSpc>
                <a:spcPct val="150000"/>
              </a:lnSpc>
            </a:pPr>
            <a:endParaRPr lang="en-US" altLang="zh-CN" sz="500"/>
          </a:p>
          <a:p>
            <a:pPr>
              <a:lnSpc>
                <a:spcPct val="150000"/>
              </a:lnSpc>
            </a:pPr>
            <a:r>
              <a:rPr lang="en-US" altLang="zh-CN"/>
              <a:t>Be: 2α+Xn, two α particles form a dumbbell-shaped core, with valence neutrons moving around the alpha core, which can be described analogously to molecular orbitals (σ, π).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rcRect t="61846"/>
          <a:stretch>
            <a:fillRect/>
          </a:stretch>
        </p:blipFill>
        <p:spPr>
          <a:xfrm>
            <a:off x="386080" y="2428240"/>
            <a:ext cx="2198370" cy="78168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541135" y="4095115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P.J. Li, et al., </a:t>
            </a:r>
            <a:r>
              <a:rPr lang="en-US" altLang="zh-CN" sz="1000" b="1">
                <a:sym typeface="+mn-ea"/>
              </a:rPr>
              <a:t>Phys. Rev. Lett. </a:t>
            </a:r>
            <a:r>
              <a:rPr lang="en-US" altLang="zh-CN" sz="1000" b="1"/>
              <a:t>131, 212501 (2023).</a:t>
            </a:r>
            <a:endParaRPr lang="en-US" altLang="zh-CN" sz="1000" b="1"/>
          </a:p>
          <a:p>
            <a:r>
              <a:rPr lang="en-US" altLang="zh-CN" sz="1000" b="1">
                <a:sym typeface="+mn-ea"/>
              </a:rPr>
              <a:t>M. Lyu, et al., Phys. Rev. C 93, 054308 (2016).</a:t>
            </a:r>
            <a:endParaRPr lang="en-US" altLang="zh-CN" sz="1000" b="1"/>
          </a:p>
          <a:p>
            <a:r>
              <a:rPr lang="en-US" altLang="zh-CN" sz="1000" b="1"/>
              <a:t>M. Lyu, et al., Phys.Rev. C 97, 044612 (2018).</a:t>
            </a:r>
            <a:endParaRPr lang="en-US" altLang="zh-CN" sz="1000" b="1"/>
          </a:p>
        </p:txBody>
      </p:sp>
      <p:sp>
        <p:nvSpPr>
          <p:cNvPr id="21" name="文本框 20"/>
          <p:cNvSpPr txBox="1"/>
          <p:nvPr/>
        </p:nvSpPr>
        <p:spPr>
          <a:xfrm>
            <a:off x="6541135" y="4812030"/>
            <a:ext cx="45612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/>
              <a:t>The ground state distribution of </a:t>
            </a:r>
            <a:r>
              <a:rPr lang="en-US" altLang="zh-CN" sz="2000" baseline="30000"/>
              <a:t>10</a:t>
            </a:r>
            <a:r>
              <a:rPr lang="en-US" altLang="zh-CN" sz="2000"/>
              <a:t>Be consists of a 2α core with two valence neutrons occupying π-type orbitals.</a:t>
            </a:r>
            <a:endParaRPr lang="en-US" altLang="zh-CN" sz="2000"/>
          </a:p>
        </p:txBody>
      </p:sp>
      <p:grpSp>
        <p:nvGrpSpPr>
          <p:cNvPr id="32" name="组合 31"/>
          <p:cNvGrpSpPr/>
          <p:nvPr/>
        </p:nvGrpSpPr>
        <p:grpSpPr>
          <a:xfrm>
            <a:off x="9236075" y="1062355"/>
            <a:ext cx="1866265" cy="2823845"/>
            <a:chOff x="5844" y="1668"/>
            <a:chExt cx="2939" cy="444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5079" y="2433"/>
              <a:ext cx="4447" cy="2917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7016" y="3016"/>
              <a:ext cx="1767" cy="4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 b="1">
                  <a:solidFill>
                    <a:schemeClr val="bg1"/>
                  </a:solidFill>
                </a:rPr>
                <a:t>shell-model-like</a:t>
              </a:r>
              <a:endParaRPr lang="en-US" altLang="zh-CN" sz="900" b="1">
                <a:solidFill>
                  <a:schemeClr val="bg1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701" y="5260"/>
              <a:ext cx="950" cy="3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 b="1">
                  <a:solidFill>
                    <a:schemeClr val="bg1"/>
                  </a:solidFill>
                </a:rPr>
                <a:t>gaslike</a:t>
              </a:r>
              <a:endParaRPr lang="en-US" altLang="zh-CN" sz="900" b="1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203" y="4135"/>
              <a:ext cx="1488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 b="1">
                  <a:solidFill>
                    <a:schemeClr val="bg1"/>
                  </a:solidFill>
                </a:rPr>
                <a:t>molecularlike</a:t>
              </a:r>
              <a:endParaRPr lang="en-US" altLang="zh-CN" sz="9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6365875" y="1062355"/>
            <a:ext cx="3249930" cy="2971165"/>
            <a:chOff x="800" y="1668"/>
            <a:chExt cx="5524" cy="505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0" y="1668"/>
              <a:ext cx="4879" cy="5051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5208" y="3833"/>
              <a:ext cx="1116" cy="3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 b="1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ρ</a:t>
              </a:r>
              <a:r>
                <a:rPr lang="en-US" altLang="zh-CN" sz="900" b="1" baseline="-2500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p</a:t>
              </a:r>
              <a:endParaRPr lang="en-US" altLang="zh-CN" sz="900" b="1" baseline="-250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208" y="4347"/>
              <a:ext cx="1116" cy="3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 b="1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ρ</a:t>
              </a:r>
              <a:r>
                <a:rPr lang="en-US" altLang="zh-CN" sz="900" b="1" baseline="-2500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</a:rPr>
                <a:t>n</a:t>
              </a:r>
              <a:endParaRPr lang="en-US" altLang="zh-CN" sz="900" b="1" baseline="-250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687820" y="556895"/>
            <a:ext cx="2091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aseline="30000"/>
              <a:t>10</a:t>
            </a:r>
            <a:r>
              <a:rPr lang="en-US" altLang="zh-CN" sz="2000"/>
              <a:t>Be(p,pα)</a:t>
            </a:r>
            <a:r>
              <a:rPr lang="en-US" altLang="zh-CN" sz="2000" baseline="30000"/>
              <a:t>6</a:t>
            </a:r>
            <a:r>
              <a:rPr lang="en-US" altLang="zh-CN" sz="2000"/>
              <a:t>He</a:t>
            </a:r>
            <a:endParaRPr lang="en-US" altLang="zh-CN" sz="2000"/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255" y="1225550"/>
            <a:ext cx="4376420" cy="2828925"/>
          </a:xfrm>
          <a:prstGeom prst="rect">
            <a:avLst/>
          </a:prstGeom>
        </p:spPr>
      </p:pic>
      <p:pic>
        <p:nvPicPr>
          <p:cNvPr id="209715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Previous experimental studies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" y="1189990"/>
            <a:ext cx="2719705" cy="29768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9925" y="570865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/>
              <a:t>  </a:t>
            </a:r>
            <a:r>
              <a:rPr lang="en-US" altLang="zh-CN" sz="2000" baseline="30000"/>
              <a:t>10</a:t>
            </a:r>
            <a:r>
              <a:rPr lang="en-US" altLang="zh-CN" sz="2000"/>
              <a:t>Be+d-&gt;d’+</a:t>
            </a:r>
            <a:r>
              <a:rPr lang="en-US" altLang="zh-CN" sz="2000" baseline="30000"/>
              <a:t>10</a:t>
            </a:r>
            <a:r>
              <a:rPr lang="en-US" altLang="zh-CN" sz="2000"/>
              <a:t>Be*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942340" y="4112260"/>
            <a:ext cx="399034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J. Chen, et al., Phys. Rev. Lett. 134: 012502 </a:t>
            </a:r>
            <a:r>
              <a:rPr lang="en-US" altLang="zh-CN" sz="1000" b="1">
                <a:sym typeface="+mn-ea"/>
              </a:rPr>
              <a:t>(2025)</a:t>
            </a:r>
            <a:r>
              <a:rPr lang="en-US" altLang="zh-CN" sz="1000" b="1"/>
              <a:t>.</a:t>
            </a:r>
            <a:endParaRPr lang="en-US" altLang="zh-CN" sz="1000" b="1"/>
          </a:p>
        </p:txBody>
      </p:sp>
      <p:grpSp>
        <p:nvGrpSpPr>
          <p:cNvPr id="29" name="组合 28"/>
          <p:cNvGrpSpPr/>
          <p:nvPr/>
        </p:nvGrpSpPr>
        <p:grpSpPr>
          <a:xfrm>
            <a:off x="3213100" y="1237556"/>
            <a:ext cx="1720215" cy="1590040"/>
            <a:chOff x="13382" y="1925"/>
            <a:chExt cx="2709" cy="2395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382" y="1925"/>
              <a:ext cx="2709" cy="2395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14650" y="2081"/>
              <a:ext cx="1310" cy="3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7.27 MeV</a:t>
              </a:r>
              <a:endPara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组合 32"/>
          <p:cNvGrpSpPr>
            <a:grpSpLocks noChangeAspect="1"/>
          </p:cNvGrpSpPr>
          <p:nvPr/>
        </p:nvGrpSpPr>
        <p:grpSpPr>
          <a:xfrm>
            <a:off x="5139715" y="1237615"/>
            <a:ext cx="1243781" cy="1856740"/>
            <a:chOff x="16140" y="540"/>
            <a:chExt cx="2484" cy="3705"/>
          </a:xfrm>
        </p:grpSpPr>
        <p:pic>
          <p:nvPicPr>
            <p:cNvPr id="34" name="图片 33" descr="10B能级图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140" y="540"/>
              <a:ext cx="2467" cy="3705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35" name="矩形 34"/>
            <p:cNvSpPr/>
            <p:nvPr/>
          </p:nvSpPr>
          <p:spPr>
            <a:xfrm>
              <a:off x="16142" y="1298"/>
              <a:ext cx="2482" cy="1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5009515" y="3296285"/>
            <a:ext cx="1843405" cy="25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https://www.nndc.bnl.gov/</a:t>
            </a:r>
            <a:endParaRPr lang="en-US" altLang="zh-CN" sz="1000" b="1"/>
          </a:p>
        </p:txBody>
      </p:sp>
      <p:sp>
        <p:nvSpPr>
          <p:cNvPr id="38" name="文本框 37"/>
          <p:cNvSpPr txBox="1"/>
          <p:nvPr/>
        </p:nvSpPr>
        <p:spPr>
          <a:xfrm>
            <a:off x="808355" y="4495165"/>
            <a:ext cx="54330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The new assignment (7.27 MeV 1</a:t>
            </a:r>
            <a:r>
              <a:rPr lang="en-US" altLang="zh-CN" baseline="30000"/>
              <a:t>-</a:t>
            </a:r>
            <a:r>
              <a:rPr lang="en-US" altLang="zh-CN"/>
              <a:t>) conflicts with the NNDC 7.37 MeV. 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01535" y="4211955"/>
            <a:ext cx="3451860" cy="247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A. N. Kuchera et al., Phys. Rev. C 84, 054615 (2011).</a:t>
            </a:r>
            <a:endParaRPr lang="en-US" altLang="zh-CN" sz="1000" b="1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3100" y="2912745"/>
            <a:ext cx="1791335" cy="1130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45960" y="4495165"/>
            <a:ext cx="43770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It is inconsistent with the corresponding isospin analog states in </a:t>
            </a:r>
            <a:r>
              <a:rPr lang="en-US" altLang="zh-CN" baseline="30000">
                <a:sym typeface="+mn-ea"/>
              </a:rPr>
              <a:t>10</a:t>
            </a:r>
            <a:r>
              <a:rPr lang="en-US" altLang="zh-CN">
                <a:sym typeface="+mn-ea"/>
              </a:rPr>
              <a:t>B.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8355" y="5452745"/>
            <a:ext cx="1037780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en-US" altLang="zh-CN" b="1" i="0">
                <a:latin typeface="Arial" panose="020B0604020202020204" pitchFamily="34" charset="0"/>
                <a:ea typeface="-apple-system"/>
                <a:cs typeface="Arial" panose="020B0604020202020204" pitchFamily="34" charset="0"/>
              </a:rPr>
              <a:t>Our experiment, 10Be (p,p’)10Be, used completely different probe (p-induced, ⁹Be+n </a:t>
            </a:r>
            <a:r>
              <a:rPr lang="en-US" altLang="zh-CN" b="1" i="0">
                <a:latin typeface="Arial" panose="020B0604020202020204" pitchFamily="34" charset="0"/>
                <a:ea typeface="-apple-system"/>
                <a:cs typeface="Arial" panose="020B0604020202020204" pitchFamily="34" charset="0"/>
              </a:rPr>
              <a:t>coincidence + invariant mass) to test this specification.</a:t>
            </a:r>
            <a:endParaRPr lang="en-US" altLang="zh-CN" b="1" i="0">
              <a:latin typeface="Arial" panose="020B0604020202020204" pitchFamily="34" charset="0"/>
              <a:ea typeface="-apple-system"/>
              <a:cs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5" y="1181100"/>
            <a:ext cx="9771977" cy="5256000"/>
          </a:xfrm>
          <a:prstGeom prst="rect">
            <a:avLst/>
          </a:prstGeom>
        </p:spPr>
      </p:pic>
      <p:pic>
        <p:nvPicPr>
          <p:cNvPr id="209715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Experimental Setup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275" y="603250"/>
            <a:ext cx="43681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="1">
                <a:sym typeface="+mn-ea"/>
              </a:rPr>
              <a:t>Method: Invariant mass spectroscopy</a:t>
            </a:r>
            <a:endParaRPr lang="en-US" altLang="zh-CN" b="1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high resolution</a:t>
            </a:r>
            <a:endParaRPr lang="en-US" altLang="zh-CN" b="1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high statistics</a:t>
            </a:r>
            <a:endParaRPr lang="en-US" altLang="zh-CN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9800" y="534035"/>
            <a:ext cx="3455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Primary Beam</a:t>
            </a:r>
            <a:r>
              <a:rPr lang="zh-CN" altLang="en-US" sz="1600"/>
              <a:t>：</a:t>
            </a:r>
            <a:r>
              <a:rPr lang="en-US" altLang="zh-CN" sz="1600" baseline="30000"/>
              <a:t>18</a:t>
            </a:r>
            <a:r>
              <a:rPr lang="en-US" altLang="zh-CN" sz="1600"/>
              <a:t>O@250 MeV/u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en-US" altLang="zh-CN" sz="1600"/>
              <a:t>Production Target</a:t>
            </a:r>
            <a:r>
              <a:rPr lang="zh-CN" altLang="en-US" sz="1600"/>
              <a:t>：</a:t>
            </a:r>
            <a:r>
              <a:rPr lang="en-US" altLang="zh-CN" sz="1600" baseline="30000"/>
              <a:t>9</a:t>
            </a:r>
            <a:r>
              <a:rPr lang="en-US" altLang="zh-CN" sz="1600"/>
              <a:t>Be (10 mm)</a:t>
            </a:r>
            <a:endParaRPr lang="en-US" altLang="zh-CN" sz="1600"/>
          </a:p>
        </p:txBody>
      </p:sp>
      <p:grpSp>
        <p:nvGrpSpPr>
          <p:cNvPr id="30" name="组合 29"/>
          <p:cNvGrpSpPr/>
          <p:nvPr/>
        </p:nvGrpSpPr>
        <p:grpSpPr>
          <a:xfrm>
            <a:off x="847090" y="4483735"/>
            <a:ext cx="3046834" cy="1986266"/>
            <a:chOff x="8011" y="4304"/>
            <a:chExt cx="4123" cy="2635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23" y="4304"/>
              <a:ext cx="3215" cy="2289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8011" y="6592"/>
              <a:ext cx="4123" cy="3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 b="1"/>
                <a:t>X Wang, et al., NIMA, 2026: 172066.</a:t>
              </a:r>
              <a:endParaRPr lang="en-US" altLang="zh-CN" sz="1000" b="1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29640" y="1270635"/>
            <a:ext cx="4064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="1" baseline="30000">
                <a:sym typeface="+mn-ea"/>
              </a:rPr>
              <a:t>10</a:t>
            </a:r>
            <a:r>
              <a:rPr lang="en-US" altLang="zh-CN" b="1">
                <a:sym typeface="+mn-ea"/>
              </a:rPr>
              <a:t>Be+p-&gt; p’+</a:t>
            </a:r>
            <a:r>
              <a:rPr lang="en-US" altLang="zh-CN" b="1" baseline="30000">
                <a:sym typeface="+mn-ea"/>
              </a:rPr>
              <a:t>10</a:t>
            </a:r>
            <a:r>
              <a:rPr lang="en-US" altLang="zh-CN" b="1">
                <a:sym typeface="+mn-ea"/>
              </a:rPr>
              <a:t>Be*-&gt; </a:t>
            </a:r>
            <a:r>
              <a:rPr lang="en-US" altLang="zh-CN" b="1" baseline="30000">
                <a:sym typeface="+mn-ea"/>
              </a:rPr>
              <a:t>9</a:t>
            </a:r>
            <a:r>
              <a:rPr lang="en-US" altLang="zh-CN" b="1">
                <a:sym typeface="+mn-ea"/>
              </a:rPr>
              <a:t>Be+n</a:t>
            </a:r>
            <a:endParaRPr lang="en-US" altLang="zh-CN" b="1" baseline="3000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baseline="30000">
                <a:solidFill>
                  <a:srgbClr val="FF0000"/>
                </a:solidFill>
                <a:sym typeface="+mn-ea"/>
              </a:rPr>
              <a:t>10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Be Secondary Beam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@230 MeV/u, 2*10</a:t>
            </a:r>
            <a:r>
              <a:rPr lang="en-US" altLang="zh-CN" b="1" baseline="30000">
                <a:solidFill>
                  <a:srgbClr val="FF0000"/>
                </a:solidFill>
                <a:sym typeface="+mn-ea"/>
              </a:rPr>
              <a:t>5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 pps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57250" y="3702050"/>
            <a:ext cx="3213735" cy="697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rgbClr val="00B0F0"/>
                </a:solidFill>
                <a:sym typeface="+mn-ea"/>
              </a:rPr>
              <a:t>Secondary Target: Liq.H</a:t>
            </a:r>
            <a:endParaRPr lang="en-US" altLang="zh-CN" b="1">
              <a:solidFill>
                <a:srgbClr val="00B0F0"/>
              </a:solidFill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Φ=46 mm, T=140 mg/cm</a:t>
            </a:r>
            <a:r>
              <a:rPr lang="en-US" altLang="zh-CN" b="1" baseline="300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b="1" baseline="3000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545" y="4187825"/>
            <a:ext cx="1834515" cy="16148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01785" y="4113530"/>
            <a:ext cx="11684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00FFFF"/>
                </a:solidFill>
              </a:rPr>
              <a:t>NEBULA</a:t>
            </a:r>
            <a:endParaRPr lang="en-US" altLang="zh-CN" sz="1600" b="1">
              <a:solidFill>
                <a:srgbClr val="00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40060" y="4112895"/>
            <a:ext cx="1518920" cy="1522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ε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(1n)~40%</a:t>
            </a:r>
            <a:endParaRPr lang="en-US" altLang="zh-CN" sz="1600" b="1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σ(γ)~170 ps</a:t>
            </a:r>
            <a:endParaRPr lang="en-US" altLang="zh-CN" sz="1600" b="1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σ(n)~340 ps</a:t>
            </a:r>
            <a:endParaRPr lang="en-US" altLang="zh-CN" sz="1600" b="1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(En~200 MeV)</a:t>
            </a:r>
            <a:endParaRPr lang="en-US" altLang="zh-CN" sz="1400" b="1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048594" name="文本框 17"/>
          <p:cNvSpPr txBox="1"/>
          <p:nvPr/>
        </p:nvSpPr>
        <p:spPr>
          <a:xfrm>
            <a:off x="8789035" y="5930265"/>
            <a:ext cx="31527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</a:rPr>
              <a:t>Kobayashi T et al., NIMB, 317: 294-304 (</a:t>
            </a:r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2013</a:t>
            </a:r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670" y="2171700"/>
            <a:ext cx="1755140" cy="2049780"/>
          </a:xfrm>
          <a:prstGeom prst="rect">
            <a:avLst/>
          </a:prstGeom>
        </p:spPr>
      </p:pic>
      <p:pic>
        <p:nvPicPr>
          <p:cNvPr id="209715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PID before Target 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0" y="756285"/>
            <a:ext cx="4997450" cy="1142365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903605" y="1981200"/>
            <a:ext cx="3636010" cy="1997710"/>
            <a:chOff x="1333" y="3153"/>
            <a:chExt cx="5881" cy="3100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8"/>
            <a:srcRect t="858"/>
            <a:stretch>
              <a:fillRect/>
            </a:stretch>
          </p:blipFill>
          <p:spPr>
            <a:xfrm>
              <a:off x="1333" y="3153"/>
              <a:ext cx="5881" cy="3100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2814" y="4968"/>
              <a:ext cx="980" cy="2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10</a:t>
              </a:r>
              <a:r>
                <a:rPr lang="en-US" altLang="zh-CN" sz="1200" b="1">
                  <a:solidFill>
                    <a:schemeClr val="tx1"/>
                  </a:solidFill>
                </a:rPr>
                <a:t>Be 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228" y="4972"/>
              <a:ext cx="909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9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63" y="4618"/>
              <a:ext cx="931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11</a:t>
              </a:r>
              <a:r>
                <a:rPr lang="en-US" altLang="zh-CN" sz="1200" b="1">
                  <a:solidFill>
                    <a:schemeClr val="tx1"/>
                  </a:solidFill>
                </a:rPr>
                <a:t>Be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833" y="5352"/>
              <a:ext cx="746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8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344" y="4325"/>
              <a:ext cx="795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12</a:t>
              </a:r>
              <a:r>
                <a:rPr lang="en-US" altLang="zh-CN" sz="1200" b="1">
                  <a:solidFill>
                    <a:schemeClr val="tx1"/>
                  </a:solidFill>
                </a:rPr>
                <a:t>B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883" y="5545"/>
              <a:ext cx="79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7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471" y="5296"/>
              <a:ext cx="849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6</a:t>
              </a:r>
              <a:r>
                <a:rPr lang="en-US" altLang="zh-CN" sz="1200" b="1">
                  <a:solidFill>
                    <a:schemeClr val="tx1"/>
                  </a:solidFill>
                </a:rPr>
                <a:t>He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5475" y="917575"/>
            <a:ext cx="3823335" cy="9131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827520" y="643890"/>
            <a:ext cx="802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E69800"/>
                </a:solidFill>
              </a:rPr>
              <a:t>BDC1</a:t>
            </a:r>
            <a:endParaRPr lang="en-US" altLang="zh-CN" sz="1400" b="1">
              <a:solidFill>
                <a:srgbClr val="E698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38540" y="643890"/>
            <a:ext cx="802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E69800"/>
                </a:solidFill>
              </a:rPr>
              <a:t>BDC2</a:t>
            </a:r>
            <a:endParaRPr lang="en-US" altLang="zh-CN" sz="1400" b="1">
              <a:solidFill>
                <a:srgbClr val="E698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383520" y="643890"/>
            <a:ext cx="802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00B0F0"/>
                </a:solidFill>
              </a:rPr>
              <a:t>Target</a:t>
            </a:r>
            <a:endParaRPr lang="en-US" altLang="zh-CN" sz="1400" b="1">
              <a:solidFill>
                <a:srgbClr val="00B0F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143750" y="1769745"/>
            <a:ext cx="0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970010" y="1769745"/>
            <a:ext cx="0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0769600" y="1374140"/>
            <a:ext cx="2540" cy="780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6873875" y="2806700"/>
            <a:ext cx="1670685" cy="1550670"/>
            <a:chOff x="10058" y="6416"/>
            <a:chExt cx="3056" cy="2716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0"/>
            <a:srcRect l="64793" t="27905" r="19102" b="47997"/>
            <a:stretch>
              <a:fillRect/>
            </a:stretch>
          </p:blipFill>
          <p:spPr>
            <a:xfrm>
              <a:off x="10058" y="6416"/>
              <a:ext cx="3057" cy="2717"/>
            </a:xfrm>
            <a:prstGeom prst="rect">
              <a:avLst/>
            </a:prstGeom>
          </p:spPr>
        </p:pic>
        <p:sp>
          <p:nvSpPr>
            <p:cNvPr id="5" name="椭圆 4"/>
            <p:cNvSpPr/>
            <p:nvPr/>
          </p:nvSpPr>
          <p:spPr>
            <a:xfrm>
              <a:off x="11070" y="7274"/>
              <a:ext cx="1000" cy="96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10917" y="7166"/>
              <a:ext cx="1304" cy="117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80000">
              <a:off x="10714" y="6928"/>
              <a:ext cx="1724" cy="169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040" y="4513580"/>
            <a:ext cx="2206625" cy="1943100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899160" y="4048125"/>
            <a:ext cx="3978275" cy="2517140"/>
            <a:chOff x="1416" y="6375"/>
            <a:chExt cx="6265" cy="39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16" y="6375"/>
              <a:ext cx="6265" cy="396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853" y="9366"/>
              <a:ext cx="3499" cy="4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 b="1" baseline="30000">
                  <a:solidFill>
                    <a:schemeClr val="tx1"/>
                  </a:solidFill>
                </a:rPr>
                <a:t>10</a:t>
              </a:r>
              <a:r>
                <a:rPr lang="en-US" altLang="zh-CN" sz="1400" b="1">
                  <a:solidFill>
                    <a:schemeClr val="tx1"/>
                  </a:solidFill>
                </a:rPr>
                <a:t>Be int</a:t>
              </a:r>
              <a:r>
                <a:rPr lang="en-US" altLang="zh-CN" sz="1400" b="1">
                  <a:solidFill>
                    <a:schemeClr val="tx1"/>
                  </a:solidFill>
                </a:rPr>
                <a:t>ensity~93%</a:t>
              </a:r>
              <a:endParaRPr lang="en-US" altLang="zh-CN" sz="1400" b="1">
                <a:solidFill>
                  <a:schemeClr val="tx1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143" y="8586"/>
              <a:ext cx="90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9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462" y="8653"/>
              <a:ext cx="93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11</a:t>
              </a:r>
              <a:r>
                <a:rPr lang="en-US" altLang="zh-CN" sz="1200" b="1">
                  <a:solidFill>
                    <a:schemeClr val="tx1"/>
                  </a:solidFill>
                </a:rPr>
                <a:t>Be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885" y="8829"/>
              <a:ext cx="74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8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422" y="8057"/>
              <a:ext cx="79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12</a:t>
              </a:r>
              <a:r>
                <a:rPr lang="en-US" altLang="zh-CN" sz="1200" b="1">
                  <a:solidFill>
                    <a:schemeClr val="tx1"/>
                  </a:solidFill>
                </a:rPr>
                <a:t>B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039" y="8799"/>
              <a:ext cx="79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7</a:t>
              </a:r>
              <a:r>
                <a:rPr lang="en-US" altLang="zh-CN" sz="1200" b="1">
                  <a:solidFill>
                    <a:schemeClr val="tx1"/>
                  </a:solidFill>
                </a:rPr>
                <a:t>Li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03" y="8799"/>
              <a:ext cx="84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 baseline="30000">
                  <a:solidFill>
                    <a:schemeClr val="tx1"/>
                  </a:solidFill>
                </a:rPr>
                <a:t>6</a:t>
              </a:r>
              <a:r>
                <a:rPr lang="en-US" altLang="zh-CN" sz="1200" b="1">
                  <a:solidFill>
                    <a:schemeClr val="tx1"/>
                  </a:solidFill>
                </a:rPr>
                <a:t>He</a:t>
              </a:r>
              <a:endParaRPr lang="en-US" altLang="zh-CN" sz="1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6487795" y="1339215"/>
            <a:ext cx="4309110" cy="1714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922645" y="1356360"/>
            <a:ext cx="12903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Beam axis</a:t>
            </a:r>
            <a:endParaRPr lang="en-US" altLang="zh-CN" sz="1400" b="1">
              <a:solidFill>
                <a:srgbClr val="FF000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106285" y="1364615"/>
            <a:ext cx="3649980" cy="131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146290" y="2018030"/>
            <a:ext cx="179959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8956675" y="2018030"/>
            <a:ext cx="179959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753350" y="1679575"/>
            <a:ext cx="586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L</a:t>
            </a:r>
            <a:r>
              <a:rPr lang="en-US" altLang="zh-CN" b="1" baseline="-25000"/>
              <a:t>1-2</a:t>
            </a:r>
            <a:endParaRPr lang="en-US" altLang="zh-CN" b="1" baseline="-25000"/>
          </a:p>
        </p:txBody>
      </p:sp>
      <p:sp>
        <p:nvSpPr>
          <p:cNvPr id="42" name="文本框 41"/>
          <p:cNvSpPr txBox="1"/>
          <p:nvPr/>
        </p:nvSpPr>
        <p:spPr>
          <a:xfrm>
            <a:off x="9563735" y="1679575"/>
            <a:ext cx="586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L</a:t>
            </a:r>
            <a:r>
              <a:rPr lang="en-US" altLang="zh-CN" b="1" baseline="-25000"/>
              <a:t>2-T</a:t>
            </a:r>
            <a:endParaRPr lang="en-US" altLang="zh-CN" b="1" baseline="-25000"/>
          </a:p>
        </p:txBody>
      </p:sp>
      <p:grpSp>
        <p:nvGrpSpPr>
          <p:cNvPr id="55" name="组合 54"/>
          <p:cNvGrpSpPr/>
          <p:nvPr/>
        </p:nvGrpSpPr>
        <p:grpSpPr>
          <a:xfrm>
            <a:off x="8807450" y="4513580"/>
            <a:ext cx="2179320" cy="1931670"/>
            <a:chOff x="13974" y="7108"/>
            <a:chExt cx="3432" cy="304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974" y="7108"/>
              <a:ext cx="3433" cy="3042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14868" y="7348"/>
              <a:ext cx="203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Beam trigger</a:t>
              </a:r>
              <a:endParaRPr lang="en-US" altLang="zh-CN" sz="1200" b="1"/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7700645" y="3304540"/>
            <a:ext cx="1814830" cy="50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684135" y="3855085"/>
            <a:ext cx="1849755" cy="63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7700645" y="3225165"/>
            <a:ext cx="1473200" cy="190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7753350" y="3930015"/>
            <a:ext cx="1473200" cy="190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106285" y="1226185"/>
            <a:ext cx="3692525" cy="131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6827520" y="2102485"/>
            <a:ext cx="713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E69800"/>
                </a:solidFill>
              </a:rPr>
              <a:t>[X</a:t>
            </a:r>
            <a:r>
              <a:rPr lang="en-US" altLang="zh-CN" sz="1400" b="1" baseline="-25000">
                <a:solidFill>
                  <a:srgbClr val="E69800"/>
                </a:solidFill>
              </a:rPr>
              <a:t>1</a:t>
            </a:r>
            <a:r>
              <a:rPr lang="en-US" altLang="zh-CN" sz="1400" b="1">
                <a:solidFill>
                  <a:srgbClr val="E69800"/>
                </a:solidFill>
              </a:rPr>
              <a:t>,Y</a:t>
            </a:r>
            <a:r>
              <a:rPr lang="en-US" altLang="zh-CN" sz="1400" b="1" baseline="-25000">
                <a:solidFill>
                  <a:srgbClr val="E69800"/>
                </a:solidFill>
              </a:rPr>
              <a:t>1</a:t>
            </a:r>
            <a:r>
              <a:rPr lang="en-US" altLang="zh-CN" sz="1400" b="1">
                <a:solidFill>
                  <a:srgbClr val="E69800"/>
                </a:solidFill>
              </a:rPr>
              <a:t>]</a:t>
            </a:r>
            <a:endParaRPr lang="en-US" altLang="zh-CN" sz="1400" b="1">
              <a:solidFill>
                <a:srgbClr val="E69800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662035" y="2102485"/>
            <a:ext cx="713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E69800"/>
                </a:solidFill>
              </a:rPr>
              <a:t>[X</a:t>
            </a:r>
            <a:r>
              <a:rPr lang="en-US" altLang="zh-CN" sz="1400" b="1" baseline="-25000">
                <a:solidFill>
                  <a:srgbClr val="E69800"/>
                </a:solidFill>
              </a:rPr>
              <a:t>2</a:t>
            </a:r>
            <a:r>
              <a:rPr lang="en-US" altLang="zh-CN" sz="1400" b="1">
                <a:solidFill>
                  <a:srgbClr val="E69800"/>
                </a:solidFill>
              </a:rPr>
              <a:t>,Y</a:t>
            </a:r>
            <a:r>
              <a:rPr lang="en-US" altLang="zh-CN" sz="1400" b="1" baseline="-25000">
                <a:solidFill>
                  <a:srgbClr val="E69800"/>
                </a:solidFill>
              </a:rPr>
              <a:t>2</a:t>
            </a:r>
            <a:r>
              <a:rPr lang="en-US" altLang="zh-CN" sz="1400" b="1">
                <a:solidFill>
                  <a:srgbClr val="E69800"/>
                </a:solidFill>
              </a:rPr>
              <a:t>]</a:t>
            </a:r>
            <a:endParaRPr lang="en-US" altLang="zh-CN" sz="1400" b="1">
              <a:solidFill>
                <a:srgbClr val="E69800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612755" y="2102485"/>
            <a:ext cx="713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00B0F0"/>
                </a:solidFill>
              </a:rPr>
              <a:t>[X</a:t>
            </a:r>
            <a:r>
              <a:rPr lang="en-US" altLang="zh-CN" sz="1400" b="1" baseline="-25000">
                <a:solidFill>
                  <a:srgbClr val="00B0F0"/>
                </a:solidFill>
              </a:rPr>
              <a:t>T</a:t>
            </a:r>
            <a:r>
              <a:rPr lang="en-US" altLang="zh-CN" sz="1400" b="1">
                <a:solidFill>
                  <a:srgbClr val="00B0F0"/>
                </a:solidFill>
              </a:rPr>
              <a:t>,Y</a:t>
            </a:r>
            <a:r>
              <a:rPr lang="en-US" altLang="zh-CN" sz="1400" b="1" baseline="-25000">
                <a:solidFill>
                  <a:srgbClr val="00B0F0"/>
                </a:solidFill>
              </a:rPr>
              <a:t>T</a:t>
            </a:r>
            <a:r>
              <a:rPr lang="en-US" altLang="zh-CN" sz="1400" b="1">
                <a:solidFill>
                  <a:srgbClr val="00B0F0"/>
                </a:solidFill>
              </a:rPr>
              <a:t>]</a:t>
            </a:r>
            <a:endParaRPr lang="en-US" altLang="zh-CN" sz="1400" b="1">
              <a:solidFill>
                <a:srgbClr val="00B0F0"/>
              </a:solidFill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7696200" y="3099435"/>
            <a:ext cx="254825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7686675" y="4054475"/>
            <a:ext cx="2529205" cy="381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55" y="3976370"/>
            <a:ext cx="2521585" cy="20713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0" y="3963035"/>
            <a:ext cx="2422525" cy="20847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045" y="3603625"/>
            <a:ext cx="2835910" cy="2489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155" y="3613150"/>
            <a:ext cx="2789555" cy="2520315"/>
          </a:xfrm>
          <a:prstGeom prst="rect">
            <a:avLst/>
          </a:prstGeom>
        </p:spPr>
      </p:pic>
      <p:pic>
        <p:nvPicPr>
          <p:cNvPr id="2097152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921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Charged Particle </a:t>
            </a:r>
            <a:r>
              <a:rPr lang="en-US" altLang="zh-CN" sz="2400" b="1"/>
              <a:t>PID and Momentum Reconstruction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226185" y="3690620"/>
            <a:ext cx="1139190" cy="257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/>
              <a:t>Y:X on FDC1</a:t>
            </a:r>
            <a:endParaRPr lang="en-US" altLang="zh-CN" sz="1200" b="1"/>
          </a:p>
        </p:txBody>
      </p:sp>
      <p:sp>
        <p:nvSpPr>
          <p:cNvPr id="60" name="文本框 59"/>
          <p:cNvSpPr txBox="1"/>
          <p:nvPr/>
        </p:nvSpPr>
        <p:spPr>
          <a:xfrm>
            <a:off x="3632835" y="3690620"/>
            <a:ext cx="170688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/>
              <a:t>△</a:t>
            </a:r>
            <a:r>
              <a:rPr lang="en-US" altLang="zh-CN" sz="1200" b="1"/>
              <a:t>E(HODF): FDC2_X</a:t>
            </a:r>
            <a:endParaRPr lang="en-US" altLang="zh-CN" sz="12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950" y="794385"/>
            <a:ext cx="4592955" cy="25615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84545" y="533400"/>
            <a:ext cx="630682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Runge-Kutta</a:t>
            </a:r>
            <a:r>
              <a:rPr lang="zh-CN" altLang="en-US">
                <a:sym typeface="+mn-ea"/>
              </a:rPr>
              <a:t>重建步骤：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ym typeface="+mn-ea"/>
              </a:rPr>
              <a:t>Local track fits in FDC1 &amp; FDC2 (χ²/ndf &lt; 3)</a:t>
            </a:r>
            <a:endParaRPr lang="en-US" altLang="zh-CN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ym typeface="+mn-ea"/>
              </a:rPr>
              <a:t>Seed at the HOD plane from FDC2: position, angle, p</a:t>
            </a:r>
            <a:r>
              <a:rPr lang="en-US" altLang="zh-CN" baseline="-25000">
                <a:sym typeface="+mn-ea"/>
              </a:rPr>
              <a:t>0</a:t>
            </a:r>
            <a:endParaRPr lang="en-US" altLang="zh-CN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ym typeface="+mn-ea"/>
              </a:rPr>
              <a:t>RK4 backward through the 3-D field map; 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fit (x, y, u, v, q = Q/p) to FDC hits by χ²</a:t>
            </a:r>
            <a:endParaRPr lang="en-US" altLang="zh-CN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ym typeface="+mn-ea"/>
              </a:rPr>
              <a:t>At the target: vertex, momentum, path length → Bρ → A/Q (with TOF)</a:t>
            </a:r>
            <a:endParaRPr lang="en-US" altLang="zh-CN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4770" y="6092825"/>
            <a:ext cx="5234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Charged particle PID and momentum distribution </a:t>
            </a:r>
            <a:endParaRPr lang="en-US" altLang="zh-CN" sz="1600" b="1"/>
          </a:p>
        </p:txBody>
      </p:sp>
      <p:sp>
        <p:nvSpPr>
          <p:cNvPr id="13" name="文本框 12"/>
          <p:cNvSpPr txBox="1"/>
          <p:nvPr/>
        </p:nvSpPr>
        <p:spPr>
          <a:xfrm>
            <a:off x="1056640" y="2103755"/>
            <a:ext cx="1216025" cy="33718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r>
              <a:rPr lang="en-US" altLang="zh-CN" sz="1600" b="1" baseline="30000">
                <a:sym typeface="+mn-ea"/>
              </a:rPr>
              <a:t>10</a:t>
            </a:r>
            <a:r>
              <a:rPr lang="en-US" altLang="zh-CN" sz="1600" b="1">
                <a:sym typeface="+mn-ea"/>
              </a:rPr>
              <a:t>Be+</a:t>
            </a:r>
            <a:r>
              <a:rPr lang="en-US" altLang="zh-CN" sz="1600" b="1">
                <a:solidFill>
                  <a:srgbClr val="00B0F0"/>
                </a:solidFill>
                <a:sym typeface="+mn-ea"/>
              </a:rPr>
              <a:t>Liq.H</a:t>
            </a:r>
            <a:endParaRPr lang="en-US" altLang="zh-CN" sz="16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76" name="右箭头 75"/>
          <p:cNvSpPr/>
          <p:nvPr/>
        </p:nvSpPr>
        <p:spPr>
          <a:xfrm>
            <a:off x="5652770" y="4572000"/>
            <a:ext cx="422275" cy="35687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703320" y="4307205"/>
            <a:ext cx="323850" cy="2108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632835" y="426529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rgbClr val="FF0000"/>
                </a:solidFill>
              </a:rPr>
              <a:t>9</a:t>
            </a:r>
            <a:r>
              <a:rPr lang="en-US" altLang="zh-CN" sz="1400" b="1">
                <a:solidFill>
                  <a:srgbClr val="FF0000"/>
                </a:solidFill>
              </a:rPr>
              <a:t>Be</a:t>
            </a:r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69100" y="4307205"/>
            <a:ext cx="32385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12585" y="426529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rgbClr val="FF0000"/>
                </a:solidFill>
              </a:rPr>
              <a:t>9</a:t>
            </a:r>
            <a:r>
              <a:rPr lang="en-US" altLang="zh-CN" sz="1400" b="1">
                <a:solidFill>
                  <a:srgbClr val="FF0000"/>
                </a:solidFill>
              </a:rPr>
              <a:t>Be</a:t>
            </a:r>
            <a:endParaRPr lang="en-US" altLang="zh-CN" sz="1400" b="1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876800" y="4832350"/>
            <a:ext cx="323850" cy="20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874770" y="4816475"/>
            <a:ext cx="262890" cy="216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814570" y="478917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9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08095" y="478218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7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367530" y="4825365"/>
            <a:ext cx="262890" cy="23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945380" y="5232400"/>
            <a:ext cx="324485" cy="24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283710" y="478917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8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632835" y="5231765"/>
            <a:ext cx="323850" cy="198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65370" y="521525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6</a:t>
            </a:r>
            <a:r>
              <a:rPr lang="en-US" altLang="zh-CN" sz="1400" b="1">
                <a:solidFill>
                  <a:schemeClr val="tx1"/>
                </a:solidFill>
              </a:rPr>
              <a:t>He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54095" y="518160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4</a:t>
            </a:r>
            <a:r>
              <a:rPr lang="en-US" altLang="zh-CN" sz="1400" b="1">
                <a:solidFill>
                  <a:schemeClr val="tx1"/>
                </a:solidFill>
              </a:rPr>
              <a:t>He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359775" y="4658995"/>
            <a:ext cx="262890" cy="23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987540" y="4692015"/>
            <a:ext cx="262890" cy="23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278495" y="464248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9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4515" y="465836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7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59395" y="4658360"/>
            <a:ext cx="262890" cy="2368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786370" y="463042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8</a:t>
            </a:r>
            <a:r>
              <a:rPr lang="en-US" altLang="zh-CN" sz="1400" b="1">
                <a:solidFill>
                  <a:schemeClr val="tx1"/>
                </a:solidFill>
              </a:rPr>
              <a:t>Li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359775" y="5113655"/>
            <a:ext cx="28702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656705" y="5095240"/>
            <a:ext cx="297815" cy="229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270240" y="509587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6</a:t>
            </a:r>
            <a:r>
              <a:rPr lang="en-US" altLang="zh-CN" sz="1400" b="1">
                <a:solidFill>
                  <a:schemeClr val="tx1"/>
                </a:solidFill>
              </a:rPr>
              <a:t>He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67805" y="5052060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chemeClr val="tx1"/>
                </a:solidFill>
              </a:rPr>
              <a:t>4</a:t>
            </a:r>
            <a:r>
              <a:rPr lang="en-US" altLang="zh-CN" sz="1400" b="1">
                <a:solidFill>
                  <a:schemeClr val="tx1"/>
                </a:solidFill>
              </a:rPr>
              <a:t>He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92360" y="4170045"/>
            <a:ext cx="525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baseline="30000">
                <a:solidFill>
                  <a:srgbClr val="FF0000"/>
                </a:solidFill>
              </a:rPr>
              <a:t>9</a:t>
            </a:r>
            <a:r>
              <a:rPr lang="en-US" altLang="zh-CN" sz="1400" b="1">
                <a:solidFill>
                  <a:srgbClr val="FF0000"/>
                </a:solidFill>
              </a:rPr>
              <a:t>Be</a:t>
            </a:r>
            <a:endParaRPr lang="en-US" altLang="zh-CN" sz="1400" b="1">
              <a:solidFill>
                <a:srgbClr val="FF0000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869950" y="798830"/>
            <a:ext cx="4593600" cy="2581200"/>
          </a:xfrm>
          <a:prstGeom prst="rect">
            <a:avLst/>
          </a:prstGeom>
        </p:spPr>
      </p:pic>
      <p:pic>
        <p:nvPicPr>
          <p:cNvPr id="2097152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Neutron Detector Analysis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7100" y="5779770"/>
            <a:ext cx="10259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The neutron time-of-flight of NEBULA has been corrected and aligned, and the γ time resolution is </a:t>
            </a:r>
            <a:r>
              <a:rPr lang="en-US" altLang="zh-CN" sz="1600">
                <a:solidFill>
                  <a:srgbClr val="FF0000"/>
                </a:solidFill>
              </a:rPr>
              <a:t>σ = 258 ps.</a:t>
            </a:r>
            <a:endParaRPr lang="en-US" altLang="zh-CN" sz="1600">
              <a:solidFill>
                <a:srgbClr val="FF0000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165" y="749300"/>
            <a:ext cx="3180715" cy="26803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56640" y="2103755"/>
            <a:ext cx="1001395" cy="33718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p>
            <a:r>
              <a:rPr lang="en-US" altLang="zh-CN" sz="1600" b="1" baseline="30000">
                <a:sym typeface="+mn-ea"/>
              </a:rPr>
              <a:t>10</a:t>
            </a:r>
            <a:r>
              <a:rPr lang="en-US" altLang="zh-CN" sz="1600" b="1">
                <a:sym typeface="+mn-ea"/>
              </a:rPr>
              <a:t>Be+</a:t>
            </a:r>
            <a:r>
              <a:rPr lang="en-US" altLang="zh-CN" sz="1600" b="1">
                <a:solidFill>
                  <a:srgbClr val="E69800"/>
                </a:solidFill>
                <a:sym typeface="+mn-ea"/>
              </a:rPr>
              <a:t>Cu</a:t>
            </a:r>
            <a:endParaRPr lang="en-US" altLang="zh-CN" sz="1600" b="1">
              <a:solidFill>
                <a:srgbClr val="E69800"/>
              </a:solidFill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095" y="3648075"/>
            <a:ext cx="2390140" cy="20783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4445" y="3674110"/>
            <a:ext cx="2383155" cy="20777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445" y="3686175"/>
            <a:ext cx="2275840" cy="209359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Preliminary Result: Invariant Mass Spectrum</a:t>
            </a:r>
            <a:endParaRPr lang="zh-CN" altLang="en-US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338435" y="2426335"/>
            <a:ext cx="1455375" cy="2227546"/>
            <a:chOff x="16140" y="635"/>
            <a:chExt cx="2467" cy="3705"/>
          </a:xfrm>
        </p:grpSpPr>
        <p:pic>
          <p:nvPicPr>
            <p:cNvPr id="29" name="图片 28" descr="10B能级图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140" y="635"/>
              <a:ext cx="2467" cy="37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矩形 20"/>
            <p:cNvSpPr/>
            <p:nvPr/>
          </p:nvSpPr>
          <p:spPr>
            <a:xfrm>
              <a:off x="16176" y="1410"/>
              <a:ext cx="2374" cy="19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" name="图片 5" descr="IM_CM_HCut_NPNB_Compa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545" y="2145665"/>
            <a:ext cx="6633845" cy="27679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4545" y="609600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baseline="30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10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 Invariant Mass Calculation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68830" y="4905375"/>
            <a:ext cx="3437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Invariant mass spectrum with </a:t>
            </a:r>
            <a:r>
              <a:rPr lang="en-US" altLang="zh-CN" sz="1400" b="1" baseline="30000"/>
              <a:t>9</a:t>
            </a:r>
            <a:r>
              <a:rPr lang="en-US" altLang="zh-CN" sz="1400" b="1"/>
              <a:t>Be+n</a:t>
            </a:r>
            <a:endParaRPr lang="en-US" altLang="zh-CN" sz="1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70585" y="1037590"/>
                <a:ext cx="7889875" cy="993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lnSpc>
                    <a:spcPct val="150000"/>
                  </a:lnSpc>
                </a:pPr>
                <a:r>
                  <a:rPr lang="en-US" altLang="zh-CN" baseline="3000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10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Be invariant mass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: 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𝐸</m:t>
                            </m:r>
                            <m:r>
                              <a:rPr lang="en-US" altLang="zh-CN" sz="1600" baseline="-25000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baseline="-25000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Be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𝐸</m:t>
                            </m:r>
                            <m:r>
                              <a:rPr lang="en-US" altLang="zh-CN" sz="1600" i="1" baseline="-25000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160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n-US" altLang="zh-CN" sz="1600" i="1" baseline="-25000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9</m:t>
                                </m:r>
                                <m:r>
                                  <a:rPr lang="en-US" altLang="zh-CN" sz="1600" i="1" baseline="-25000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𝐵𝑒</m:t>
                                </m:r>
                                <m:r>
                                  <a:rPr lang="en-US" altLang="zh-CN" sz="1600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160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charset="0"/>
                                        <a:ea typeface="微软雅黑" panose="020B0503020204020204" charset="-122"/>
                                        <a:cs typeface="Cambria Math" panose="02040503050406030204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en-US" altLang="zh-CN" sz="1600" i="1" baseline="-25000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zh-CN" i="1">
                  <a:latin typeface="Arial" panose="020B0604020202020204" pitchFamily="34" charset="0"/>
                  <a:ea typeface="MS Mincho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Relative energy: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rel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CN" sz="1600" baseline="-2500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n</m:t>
                    </m:r>
                    <m:r>
                      <a:rPr lang="en-US" altLang="zh-CN" sz="16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𝑚</m:t>
                    </m:r>
                    <m:sSub>
                      <m:sSubPr>
                        <m:ctrlPr>
                          <a:rPr lang="en-US" altLang="zh-CN" sz="1600" i="1" baseline="-2500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 baseline="-250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9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aseline="-2500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Be</m:t>
                        </m:r>
                      </m:sub>
                    </m:sSub>
                  </m:oMath>
                </a14:m>
                <a:r>
                  <a:rPr lang="en-US" altLang="zh-CN" sz="200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 , 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Excitation energy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rel</m:t>
                        </m:r>
                      </m:sub>
                    </m:sSub>
                  </m:oMath>
                </a14:m>
                <a:endParaRPr lang="en-US" altLang="zh-CN" sz="16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85" y="1037590"/>
                <a:ext cx="7889875" cy="993140"/>
              </a:xfrm>
              <a:prstGeom prst="rect">
                <a:avLst/>
              </a:prstGeom>
              <a:blipFill rotWithShape="1">
                <a:blip r:embed="rId8"/>
                <a:stretch>
                  <a:fillRect t="-1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0250" y="2373630"/>
            <a:ext cx="2700020" cy="25609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031990" y="4904740"/>
            <a:ext cx="3237230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J. Chen, et al., Phys. Rev. Lett. 134: 012502 </a:t>
            </a:r>
            <a:r>
              <a:rPr lang="en-US" altLang="zh-CN" sz="1000" b="1">
                <a:sym typeface="+mn-ea"/>
              </a:rPr>
              <a:t>(2025)</a:t>
            </a:r>
            <a:r>
              <a:rPr lang="en-US" altLang="zh-CN" sz="1000" b="1"/>
              <a:t>.</a:t>
            </a:r>
            <a:endParaRPr lang="en-US" altLang="zh-CN" sz="1000" b="1"/>
          </a:p>
        </p:txBody>
      </p:sp>
      <p:sp>
        <p:nvSpPr>
          <p:cNvPr id="36" name="文本框 35"/>
          <p:cNvSpPr txBox="1"/>
          <p:nvPr/>
        </p:nvSpPr>
        <p:spPr>
          <a:xfrm>
            <a:off x="10264775" y="4894580"/>
            <a:ext cx="1843405" cy="25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https://www.nndc.bnl.gov/</a:t>
            </a:r>
            <a:endParaRPr lang="en-US" altLang="zh-CN" sz="1000" b="1"/>
          </a:p>
        </p:txBody>
      </p:sp>
      <p:sp>
        <p:nvSpPr>
          <p:cNvPr id="12" name="文本框 11"/>
          <p:cNvSpPr txBox="1"/>
          <p:nvPr/>
        </p:nvSpPr>
        <p:spPr>
          <a:xfrm>
            <a:off x="870585" y="5277485"/>
            <a:ext cx="102482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The ⁹Be + n invariant-mass spectrum shows a single peak-like structure centred at E</a:t>
            </a:r>
            <a:r>
              <a:rPr lang="en-US" altLang="en-US"/>
              <a:t>ₓ ≈ 7.37 </a:t>
            </a:r>
            <a:r>
              <a:rPr lang="en-US" altLang="zh-CN"/>
              <a:t>MeV, with σ(E</a:t>
            </a:r>
            <a:r>
              <a:rPr lang="en-US" altLang="en-US"/>
              <a:t>ₓ) = </a:t>
            </a:r>
            <a:r>
              <a:rPr lang="en-US" altLang="zh-CN"/>
              <a:t>xx keV (FWHM ≈ xx keV). </a:t>
            </a:r>
            <a:endParaRPr lang="en-US" altLang="zh-CN"/>
          </a:p>
        </p:txBody>
      </p:sp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565265"/>
            <a:ext cx="12190730" cy="288290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3" name="内容占位符 3" descr="IM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632" t="9415" r="10554" b="7137"/>
          <a:stretch>
            <a:fillRect/>
          </a:stretch>
        </p:blipFill>
        <p:spPr>
          <a:xfrm>
            <a:off x="11398885" y="0"/>
            <a:ext cx="709295" cy="697865"/>
          </a:xfrm>
          <a:prstGeom prst="rect">
            <a:avLst/>
          </a:prstGeom>
        </p:spPr>
      </p:pic>
      <p:sp>
        <p:nvSpPr>
          <p:cNvPr id="1048586" name="文本框 2"/>
          <p:cNvSpPr txBox="1"/>
          <p:nvPr/>
        </p:nvSpPr>
        <p:spPr>
          <a:xfrm>
            <a:off x="386080" y="44450"/>
            <a:ext cx="7802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sp>
        <p:nvSpPr>
          <p:cNvPr id="1048587" name="文本框 7"/>
          <p:cNvSpPr txBox="1"/>
          <p:nvPr/>
        </p:nvSpPr>
        <p:spPr>
          <a:xfrm>
            <a:off x="4679950" y="6529070"/>
            <a:ext cx="2832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DREB meeting</a:t>
            </a:r>
            <a:endParaRPr lang="en-US" sz="1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日期占位符 1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30390" y="6537285"/>
            <a:ext cx="2700000" cy="316800"/>
          </a:xfrm>
        </p:spPr>
        <p:txBody>
          <a:bodyPr>
            <a:noAutofit/>
          </a:bodyPr>
          <a:lstStyle/>
          <a:p>
            <a:fld id="{BB962C8B-B14F-4D97-AF65-F5344CB8AC3E}" type="datetime5">
              <a:rPr lang="zh-CN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zh-CN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灯片编号占位符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1186160" y="6549390"/>
            <a:ext cx="455930" cy="316865"/>
          </a:xfrm>
        </p:spPr>
        <p:txBody>
          <a:bodyPr>
            <a:noAutofit/>
          </a:bodyPr>
          <a:lstStyle/>
          <a:p>
            <a:fld id="{49AE70B2-8BF9-45C0-BB95-33D1B9D3A854}" type="slidenum">
              <a:rPr lang="zh-CN" altLang="en-US" sz="18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6960" y="1116965"/>
            <a:ext cx="98685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altLang="zh-CN" baseline="3000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Be + n coincidence measurement of </a:t>
            </a:r>
            <a:r>
              <a:rPr lang="en-US" altLang="zh-CN" baseline="3000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Be above the neutron threshold — RIBF/RIKEN, SAMURAI, ¹⁰Be at 230 MeV/u (2×10</a:t>
            </a:r>
            <a:r>
              <a:rPr lang="en-US" altLang="zh-CN" baseline="3000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pps, 93% purity) on a liquid-hydrogen target.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Excitation-energy spectrum extracted from ⁹Be + n coincidences by the invariant-mass method, 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ₓ = 6.8–10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MeV.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 peak-like structure centred at 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ₓ ≈ 7.37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MeV with σ ≈ xx keV: the 7.27 / 7.37 / 7.54 MeV triplet is not resolved, and the individual yields are not yet extracted.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p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Next: empty-target subtraction + acceptance correction → dσ/dΩ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425" y="33655"/>
            <a:ext cx="3574415" cy="630555"/>
          </a:xfrm>
          <a:prstGeom prst="rect">
            <a:avLst/>
          </a:prstGeom>
        </p:spPr>
      </p:pic>
      <p:cxnSp>
        <p:nvCxnSpPr>
          <p:cNvPr id="3145728" name="直接连接符 19"/>
          <p:cNvCxnSpPr/>
          <p:nvPr/>
        </p:nvCxnSpPr>
        <p:spPr>
          <a:xfrm>
            <a:off x="0" y="69913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525395" y="2696845"/>
            <a:ext cx="71418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 for your attention!</a:t>
            </a:r>
            <a:endParaRPr lang="en-US" altLang="zh-CN" sz="44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7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DIAGRAM_VIRTUALLY_FRAME" val="{&quot;height&quot;:271.5326377952756,&quot;left&quot;:342.227874015748,&quot;top&quot;:151.41736220472438,&quot;width&quot;:593.9221259842519}"/>
</p:tagLst>
</file>

<file path=ppt/tags/tag68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DIAGRAM_VIRTUALLY_FRAME" val="{&quot;height&quot;:271.5326377952756,&quot;left&quot;:342.227874015748,&quot;top&quot;:151.41736220472438,&quot;width&quot;:593.9221259842519}"/>
</p:tagLst>
</file>

<file path=ppt/tags/tag6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DIAGRAM_VIRTUALLY_FRAME" val="{&quot;height&quot;:271.5326377952756,&quot;left&quot;:342.227874015748,&quot;top&quot;:151.41736220472438,&quot;width&quot;:593.9221259842519}"/>
</p:tagLst>
</file>

<file path=ppt/tags/tag70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DIAGRAM_VIRTUALLY_FRAME" val="{&quot;height&quot;:271.5326377952756,&quot;left&quot;:342.227874015748,&quot;top&quot;:151.41736220472438,&quot;width&quot;:593.9221259842519}"/>
</p:tagLst>
</file>

<file path=ppt/tags/tag7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DIAGRAM_VIRTUALLY_FRAME" val="{&quot;height&quot;:271.5326377952756,&quot;left&quot;:342.227874015748,&quot;top&quot;:151.41736220472438,&quot;width&quot;:593.9221259842519}"/>
</p:tagLst>
</file>

<file path=ppt/tags/tag72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DIAGRAM_VIRTUALLY_FRAME" val="{&quot;height&quot;:271.5326377952756,&quot;left&quot;:342.227874015748,&quot;top&quot;:151.41736220472438,&quot;width&quot;:593.9221259842519}"/>
</p:tagLst>
</file>

<file path=ppt/tags/tag7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DIAGRAM_VIRTUALLY_FRAME" val="{&quot;height&quot;:271.5326377952756,&quot;left&quot;:342.227874015748,&quot;top&quot;:151.41736220472438,&quot;width&quot;:593.9221259842519}"/>
</p:tagLst>
</file>

<file path=ppt/tags/tag7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DIAGRAM_VIRTUALLY_FRAME" val="{&quot;height&quot;:271.5326377952756,&quot;left&quot;:342.227874015748,&quot;top&quot;:151.41736220472438,&quot;width&quot;:593.9221259842519}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3661</Words>
  <Application>WPS 演示</Application>
  <PresentationFormat>宽屏</PresentationFormat>
  <Paragraphs>277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</vt:lpstr>
      <vt:lpstr>Times New Roman</vt:lpstr>
      <vt:lpstr>等线</vt:lpstr>
      <vt:lpstr>-apple-system</vt:lpstr>
      <vt:lpstr>Cambria Math</vt:lpstr>
      <vt:lpstr>MS Mincho</vt:lpstr>
      <vt:lpstr>Arial Unicode MS</vt:lpstr>
      <vt:lpstr>Calibri</vt:lpstr>
      <vt:lpstr>-apple-system</vt:lpstr>
      <vt:lpstr>Be Happy</vt:lpstr>
      <vt:lpstr>Ms.Luce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Shifsh</cp:lastModifiedBy>
  <cp:revision>558</cp:revision>
  <dcterms:created xsi:type="dcterms:W3CDTF">2019-06-19T02:08:00Z</dcterms:created>
  <dcterms:modified xsi:type="dcterms:W3CDTF">2026-10-21T12:52:53Z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C5A232FD0B6B418383CC5BAA374C527C_11</vt:lpwstr>
  </property>
</Properties>
</file>