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76" r:id="rId7"/>
    <p:sldId id="262" r:id="rId8"/>
    <p:sldId id="263" r:id="rId9"/>
    <p:sldId id="264" r:id="rId10"/>
    <p:sldId id="274" r:id="rId11"/>
    <p:sldId id="266" r:id="rId12"/>
    <p:sldId id="267" r:id="rId13"/>
    <p:sldId id="268" r:id="rId14"/>
    <p:sldId id="269" r:id="rId15"/>
    <p:sldId id="270" r:id="rId16"/>
    <p:sldId id="275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91" d="100"/>
          <a:sy n="191" d="100"/>
        </p:scale>
        <p:origin x="150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232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ZhiHeng Hu  |  IMP, CAS  |  June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5528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Physics-Informed Deep Learning</a:t>
            </a:r>
            <a:endParaRPr lang="en-US" sz="3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the MATE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Isotope Identification to Full Kinematic Reconstruction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1463040" cy="22860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33756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B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ZhiHeng Hu</a:t>
            </a:r>
            <a:endParaRPr lang="en-US" sz="15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of Modern Physics, Chinese Academy of Sciences</a:t>
            </a:r>
            <a:endParaRPr lang="en-US" sz="15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0" y="2500884"/>
            <a:ext cx="2468880" cy="2208276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5875">
            <a:solidFill>
              <a:srgbClr val="0E8388"/>
            </a:solidFill>
            <a:prstDash val="solid"/>
          </a:ln>
        </p:spPr>
      </p:sp>
      <p:pic>
        <p:nvPicPr>
          <p:cNvPr id="10" name="Image 0" descr="D:\Something\research\MATE-Automation-V4\10_Papers-Thesis\Physics_Informed\figures\mate_3d_schematic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78324" y="2619756"/>
            <a:ext cx="2254195" cy="19979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Talk Covers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ZhiHeng Hu  |  IMP, CAS  |  June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1316736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detector &amp; the data challenge</a:t>
            </a:r>
            <a:endParaRPr lang="en-US" sz="15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 events as 3D point clouds — and why conventional reconstruction hits its limits.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286000"/>
            <a:ext cx="502920" cy="502920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2231136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physics-informed approach</a:t>
            </a:r>
            <a:endParaRPr lang="en-US" sz="15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explained for physicists; injecting moment-of-inertia features via cross-attention.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3145536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across three tasks</a:t>
            </a:r>
            <a:endParaRPr lang="en-US" sz="15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Isotope identification → track counting &amp; angles → kinetic-energy regression vs. classical baselines.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502920" cy="502920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4059936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outlook</a:t>
            </a:r>
            <a:endParaRPr lang="en-US" sz="15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complements ML work on real MATE beam data, and what comes next.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&amp;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 and Its Data Challenge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ZhiHeng Hu  |  IMP, CAS  |  June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67134" y="1043341"/>
            <a:ext cx="392485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is both target and tracking medium</a:t>
            </a:r>
            <a:endParaRPr lang="en-US" sz="1400" dirty="0"/>
          </a:p>
          <a:p>
            <a:pPr marL="0" lvl="1" indent="0" algn="l">
              <a:spcAft>
                <a:spcPts val="2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⁴He + 5% CO₂ at 500 mbar; active volume ≈ 300×300×200 mm³; near-4π coverage for short-range recoils.</a:t>
            </a: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endParaRPr lang="en-US" sz="140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Readout: 80×48 grid, 3792 triangular pads (3840 channels)</a:t>
            </a:r>
            <a:endParaRPr lang="en-US" sz="1400" dirty="0"/>
          </a:p>
          <a:p>
            <a:pPr marL="0" lvl="1" indent="0" algn="l">
              <a:spcAft>
                <a:spcPts val="2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event → a 3D point cloud (x, y, z, q): drift coordinate, pad plane position, deposited charge.</a:t>
            </a: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endParaRPr lang="en-US" sz="140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campaign (GEANT4 / MATEROOT)</a:t>
            </a:r>
            <a:endParaRPr lang="en-US" sz="1400" dirty="0"/>
          </a:p>
          <a:p>
            <a:pPr marL="0" lvl="1" indent="0" algn="l">
              <a:spcAft>
                <a:spcPts val="2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¹²C + ⁴He in inverse kinematics at 300 MeV; 7 species (p, d, t, ³He, α, ¹³C, ¹⁴C); up to 1.2M events per study.</a:t>
            </a: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endParaRPr lang="en-US" sz="140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bottleneck</a:t>
            </a:r>
            <a:endParaRPr lang="en-US" sz="1400" dirty="0"/>
          </a:p>
          <a:p>
            <a:pPr marL="0" lvl="1" indent="0" algn="l">
              <a:spcAft>
                <a:spcPts val="2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10⁶–10⁸ events per experiment — reconstruction and identification must be automated, fast, and objective.</a:t>
            </a:r>
            <a:endParaRPr lang="en-US" sz="1400" dirty="0"/>
          </a:p>
        </p:txBody>
      </p:sp>
      <p:pic>
        <p:nvPicPr>
          <p:cNvPr id="8" name="Image 0" descr="D:\Something\research\MATE-Automation-V4\10_Papers-Thesis\Physics_Informed\figures\mate_geometry_schema.png"/>
          <p:cNvPicPr>
            <a:picLocks/>
          </p:cNvPicPr>
          <p:nvPr/>
        </p:nvPicPr>
        <p:blipFill>
          <a:blip r:embed="rId3"/>
          <a:srcRect r="63121"/>
          <a:stretch>
            <a:fillRect/>
          </a:stretch>
        </p:blipFill>
        <p:spPr>
          <a:xfrm>
            <a:off x="4315147" y="1488212"/>
            <a:ext cx="1977256" cy="249980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74920" y="4069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 geometry: active volume and triangular-pad readout plane</a:t>
            </a:r>
            <a:endParaRPr lang="en-US" sz="1000" dirty="0"/>
          </a:p>
        </p:txBody>
      </p:sp>
      <p:pic>
        <p:nvPicPr>
          <p:cNvPr id="10" name="Image 0" descr="D:\Something\research\MATE-Automation-V4\10_Papers-Thesis\Physics_Informed\figures\mate_geometry_schema.png">
            <a:extLst>
              <a:ext uri="{FF2B5EF4-FFF2-40B4-BE49-F238E27FC236}">
                <a16:creationId xmlns:a16="http://schemas.microsoft.com/office/drawing/2014/main" id="{C44DCA01-B341-8F0E-776C-A669BE6C564E}"/>
              </a:ext>
            </a:extLst>
          </p:cNvPr>
          <p:cNvPicPr>
            <a:picLocks/>
          </p:cNvPicPr>
          <p:nvPr/>
        </p:nvPicPr>
        <p:blipFill>
          <a:blip r:embed="rId3"/>
          <a:srcRect l="51352" r="131"/>
          <a:stretch>
            <a:fillRect/>
          </a:stretch>
        </p:blipFill>
        <p:spPr>
          <a:xfrm>
            <a:off x="6275605" y="1498382"/>
            <a:ext cx="2601261" cy="24998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Conventional Reconstruction Struggles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ZhiHeng Hu  |  IMP, CAS  |  June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cuts are subjective</a:t>
            </a:r>
            <a:endParaRPr lang="en-US" sz="1400" dirty="0"/>
          </a:p>
          <a:p>
            <a:pPr marL="0" lvl="1" indent="0" algn="l">
              <a:spcAft>
                <a:spcPts val="2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placement on overlapping dE/dx distributions varies analyst-to-analyst; sensitive to gain drifts and detector non-uniformity.</a:t>
            </a: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endParaRPr lang="en-US" sz="140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Same-Z isotopes are nearly degenerate</a:t>
            </a:r>
            <a:endParaRPr lang="en-US" sz="1400" dirty="0"/>
          </a:p>
          <a:p>
            <a:pPr marL="0" lvl="1" indent="0" algn="l">
              <a:spcAft>
                <a:spcPts val="2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Stopping power orders species by Z²A — for ¹³C vs. ¹⁴C the separation is only ΔA/A ≈ 8%, so dE/dx curves almost coincide.</a:t>
            </a: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endParaRPr lang="en-US" sz="140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 observables discard structure</a:t>
            </a:r>
            <a:endParaRPr lang="en-US" sz="1400" dirty="0"/>
          </a:p>
          <a:p>
            <a:pPr marL="0" lvl="1" indent="0" algn="l">
              <a:spcAft>
                <a:spcPts val="2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a 3D track to total charge, length, or Bragg-peak amplitude throws away the spatial information that could break the degeneracy.</a:t>
            </a: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endParaRPr lang="en-US" sz="140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fitters degrade with complexity</a:t>
            </a:r>
            <a:endParaRPr lang="en-US" sz="1400" dirty="0"/>
          </a:p>
          <a:p>
            <a:pPr marL="0" lvl="1" indent="0" algn="l">
              <a:spcAft>
                <a:spcPts val="2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published RANSAC pipeline misidentifies the track count in up to 49% of short-range, high-multiplicity events.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77840" y="1554480"/>
            <a:ext cx="31089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94A3B8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69280" y="1627632"/>
            <a:ext cx="292608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ΔA/A ≈ 8%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687568" y="2233422"/>
            <a:ext cx="2889504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¹³C / ¹⁴C separation — the hardest isotope pair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577840" y="3154680"/>
            <a:ext cx="31089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94A3B8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0" y="3227832"/>
            <a:ext cx="292608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 to 49%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687568" y="3833622"/>
            <a:ext cx="2889504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track count from RANSAC at short range &amp; high multiplicity (published MATEROOT pipeline)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·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3D Point Clouds to Two-Channel Images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ZhiHeng Hu  |  IMP, CAS  |  June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  <p:pic>
        <p:nvPicPr>
          <p:cNvPr id="7" name="Image 0" descr="D:\Something\research\MATE-Automation-V4\10_Papers-Thesis\Physics_Informed\figures\data_pipelin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3444" y="1305218"/>
            <a:ext cx="6082955" cy="29388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434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chain: simulation → point cloud → projected pad-plane images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95803" y="1311180"/>
            <a:ext cx="250771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onto the y–z pad plane (80×48)</a:t>
            </a:r>
            <a:endParaRPr lang="en-US" sz="1400" dirty="0"/>
          </a:p>
          <a:p>
            <a:pPr marL="0" lvl="1" indent="0" algn="l">
              <a:spcAft>
                <a:spcPts val="2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grid matches the hardware readout one-to-one — no resampling artifacts.</a:t>
            </a: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endParaRPr lang="en-US" sz="140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0 — charge:  log(1+q) per pad</a:t>
            </a:r>
            <a:endParaRPr lang="en-US" sz="1400" dirty="0"/>
          </a:p>
          <a:p>
            <a:pPr marL="0" lvl="1" indent="0" algn="l">
              <a:spcAft>
                <a:spcPts val="2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energy deposition and the Bragg peak.</a:t>
            </a: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endParaRPr lang="en-US" sz="140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1 — drift time (normalized x̄)</a:t>
            </a:r>
            <a:endParaRPr lang="en-US" sz="1400" dirty="0"/>
          </a:p>
          <a:p>
            <a:pPr marL="0" lvl="1" indent="0" algn="l">
              <a:spcAft>
                <a:spcPts val="2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Restores the third dimension lost in projection.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·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CNN Backbone, in Physicist Terms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ZhiHeng Hu  |  IMP, CAS  |  June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160181"/>
            <a:ext cx="4297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convolution is a learned local filter</a:t>
            </a:r>
            <a:endParaRPr lang="en-US" sz="1400" dirty="0"/>
          </a:p>
          <a:p>
            <a:pPr marL="0" lvl="1" indent="0" algn="l">
              <a:spcAft>
                <a:spcPts val="2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kernels scan the image for local patterns (track edges, charge gradients); deeper layers compose them into track-level structure.</a:t>
            </a: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endParaRPr lang="en-US" sz="140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ResNet-18: stacked filters + shortcut connections</a:t>
            </a:r>
            <a:endParaRPr lang="en-US" sz="1400" dirty="0"/>
          </a:p>
          <a:p>
            <a:pPr marL="0" lvl="1" indent="0" algn="l">
              <a:spcAft>
                <a:spcPts val="2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shortcuts keep 18 layers trainable — a standard, well-understood workhorse in computer vision.</a:t>
            </a: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endParaRPr lang="en-US" sz="140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to sparse MATE images</a:t>
            </a:r>
            <a:endParaRPr lang="en-US" sz="1400" dirty="0"/>
          </a:p>
          <a:p>
            <a:pPr marL="0" lvl="1" indent="0" algn="l">
              <a:spcAft>
                <a:spcPts val="2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layer changed to 3×3, stride 1, and the early max-pool removed — the 80×48 images are small and sparse, so no aggressive downsampling.</a:t>
            </a: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endParaRPr lang="en-US" sz="140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512-dimensional event descriptor</a:t>
            </a:r>
            <a:endParaRPr lang="en-US" sz="1400" dirty="0"/>
          </a:p>
          <a:p>
            <a:pPr marL="0" lvl="1" indent="0" algn="l">
              <a:spcAft>
                <a:spcPts val="2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average pooling turns the feature maps into one vector summarizing the whole event.</a:t>
            </a:r>
            <a:endParaRPr lang="en-US" sz="1400" dirty="0"/>
          </a:p>
        </p:txBody>
      </p:sp>
      <p:pic>
        <p:nvPicPr>
          <p:cNvPr id="8" name="Image 0" descr="D:\Something\research\MATE-Automation-V4\10_Papers-Thesis\Physics_Informed\figures\Standard_ResNet18_Architectur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29750" y="1218790"/>
            <a:ext cx="4159909" cy="3017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892040" y="4389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ResNet-18 backbone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419684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· PHYSICS-INFORMED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Injecting Physics: Moment-of-Inertia + Cross-Attention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ZhiHeng Hu  |  IMP, CAS  |  June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physics features per event</a:t>
            </a:r>
            <a:endParaRPr lang="en-US" sz="1400" dirty="0"/>
          </a:p>
          <a:p>
            <a:pPr marL="0" lvl="1" indent="0" algn="l">
              <a:spcAft>
                <a:spcPts val="2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moment-of-inertia tensor of the charge image (Iyy, Izz, Iyz) plus total charge M — shape and scale observables a physicist would compute by hand.</a:t>
            </a: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endParaRPr lang="en-US" sz="140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Cross-attention: physics interrogates the image</a:t>
            </a:r>
            <a:endParaRPr lang="en-US" sz="1400" dirty="0"/>
          </a:p>
          <a:p>
            <a:pPr marL="0" lvl="1" indent="0" algn="l">
              <a:spcAft>
                <a:spcPts val="2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physics features form the query; CNN spatial tokens are keys/values. The model learns where in the image to look, conditioned on event shape.</a:t>
            </a: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endParaRPr lang="en-US" sz="140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just concatenate?</a:t>
            </a:r>
            <a:endParaRPr lang="en-US" sz="1400" dirty="0"/>
          </a:p>
          <a:p>
            <a:pPr marL="0" lvl="1" indent="0" algn="l">
              <a:spcAft>
                <a:spcPts val="2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yields spatial weighting (interpretable overlays, slide 10) and pays off most in geometric regression tasks (slides 12–15).</a:t>
            </a:r>
            <a:endParaRPr lang="en-US" sz="1400" dirty="0"/>
          </a:p>
        </p:txBody>
      </p:sp>
      <p:pic>
        <p:nvPicPr>
          <p:cNvPr id="8" name="Image 0" descr="D:\Something\research\MATE-Automation-V4\10_Papers-Thesis\Physics_Informed\figures\cross_attention_schema.png"/>
          <p:cNvPicPr>
            <a:picLocks/>
          </p:cNvPicPr>
          <p:nvPr/>
        </p:nvPicPr>
        <p:blipFill>
          <a:blip r:embed="rId3"/>
          <a:srcRect t="13289"/>
          <a:stretch>
            <a:fillRect/>
          </a:stretch>
        </p:blipFill>
        <p:spPr>
          <a:xfrm>
            <a:off x="4800600" y="1307592"/>
            <a:ext cx="4023360" cy="29900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800600" y="4389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Cross-attention fusion of physics features with CNN feature maps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· NOISE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Robustness to Electronics Noise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ZhiHeng Hu  |  IMP, CAS  |  June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4206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noise via Garfield++ post-processing</a:t>
            </a:r>
            <a:endParaRPr lang="en-US" sz="1400" dirty="0"/>
          </a:p>
          <a:p>
            <a:pPr marL="0" lvl="1" indent="0" algn="l">
              <a:spcAft>
                <a:spcPts val="2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Gaussian electronics noise (ENC 800 e⁻) injected onto pad signals, emulating the GET readout.</a:t>
            </a: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endParaRPr lang="en-US" sz="140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 denoising (Hierarchy Cluster)</a:t>
            </a:r>
            <a:endParaRPr lang="en-US" sz="1400" dirty="0"/>
          </a:p>
          <a:p>
            <a:pPr marL="0" lvl="1" indent="0" algn="l">
              <a:spcAft>
                <a:spcPts val="2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clustering in physical units (ε = 10 mm) keeps the largest physical cluster, rejecting isolated noise hits.</a:t>
            </a: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endParaRPr lang="en-US" sz="140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 ablation — architecture × preprocessing</a:t>
            </a:r>
            <a:endParaRPr lang="en-US" sz="1400" dirty="0"/>
          </a:p>
          <a:p>
            <a:pPr marL="0" lvl="1" indent="0" algn="l">
              <a:spcAft>
                <a:spcPts val="2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CrossAtt+HC: 96.6% accuracy vs. ResNet+Raw: 93.5%. HC alone contributes +1.5–2.3 pp across architectures.</a:t>
            </a:r>
            <a:endParaRPr lang="en-US" sz="1400" dirty="0"/>
          </a:p>
        </p:txBody>
      </p:sp>
      <p:pic>
        <p:nvPicPr>
          <p:cNvPr id="8" name="Image 0" descr="D:\Something\research\MATE-Automation-V4\10_Papers-Thesis\Physics_Informed\figures\hc_before_aft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00600" y="1234440"/>
            <a:ext cx="4023360" cy="19202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800600" y="3200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 preprocessing: raw noisy event (left) → denoised (right)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892040" y="3520440"/>
            <a:ext cx="18288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94A3B8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983480" y="359359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83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96.6%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5001768" y="4149090"/>
            <a:ext cx="160934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CrossAtt + HC under realistic noise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949440" y="3520440"/>
            <a:ext cx="18288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94A3B8">
                <a:alpha val="3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040880" y="359359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+1.5–2.3 pp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059168" y="4149090"/>
            <a:ext cx="160934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by HC denoising alone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PID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I — Isotope Identification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ZhiHeng Hu  |  IMP, CAS  |  June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0083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GEANT4 simulation (NimpSim), physics-informed model vs. generic ResNet-18 baseline: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271563"/>
            <a:ext cx="2651760" cy="1028349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94A3B8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307223"/>
            <a:ext cx="2468880" cy="469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83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96.1%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66928" y="1920946"/>
            <a:ext cx="2432304" cy="378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³He vs. ⁴He  (baseline: 91.9%,  +4.2 pp)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271563"/>
            <a:ext cx="2651760" cy="1028349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94A3B8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37560" y="1307223"/>
            <a:ext cx="2468880" cy="469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89.7%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355848" y="1920946"/>
            <a:ext cx="2432304" cy="378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¹³C vs. ¹⁴C — hardest pair  (baseline: 82.8%,  +6.9 pp)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271563"/>
            <a:ext cx="2651760" cy="1028349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94A3B8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307223"/>
            <a:ext cx="2468880" cy="469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93.0%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144768" y="1920946"/>
            <a:ext cx="2432304" cy="378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/ d / t  three-class</a:t>
            </a:r>
            <a:endParaRPr lang="en-US" sz="1000" dirty="0"/>
          </a:p>
        </p:txBody>
      </p:sp>
      <p:pic>
        <p:nvPicPr>
          <p:cNvPr id="17" name="Image 0" descr="D:\Something\research\MATE-Automation-V4\outputs\figures\PRES\PRES1_performance_comparis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528" y="2422383"/>
            <a:ext cx="7294334" cy="2241671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88720" y="462447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across identification tasks (left) and angle-regression error (right): physics-informed vs. baseline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INTERPRETABILITY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Black Box: Where the Model Looks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ZhiHeng Hu  |  IMP, CAS  |  June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  <p:pic>
        <p:nvPicPr>
          <p:cNvPr id="7" name="Image 0" descr="D:\Something\research\MATE-Automation-V4\10_Papers-Thesis\Physics_Informed\figures\attention_overla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1149" y="1741932"/>
            <a:ext cx="6259651" cy="19705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Cross-attention weights overlaid on input events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602657" y="1271016"/>
            <a:ext cx="2487904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maps are physically sensible</a:t>
            </a:r>
            <a:endParaRPr lang="en-US" sz="1400" dirty="0"/>
          </a:p>
          <a:p>
            <a:pPr marL="0" lvl="1" indent="0" algn="l">
              <a:spcAft>
                <a:spcPts val="2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concentrates on track endpoints and the Bragg peak — where species information lives.</a:t>
            </a: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endParaRPr lang="en-US" sz="140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diagnostic, not just a picture</a:t>
            </a:r>
            <a:endParaRPr lang="en-US" sz="1400" dirty="0"/>
          </a:p>
          <a:p>
            <a:pPr marL="0" lvl="1" indent="0" algn="l">
              <a:spcAft>
                <a:spcPts val="2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errors, the overlay shows what the model attended to — enabling physics-level debugging.</a:t>
            </a: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endParaRPr lang="en-US" sz="140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trust for physics use</a:t>
            </a:r>
            <a:endParaRPr lang="en-US" sz="1400" dirty="0"/>
          </a:p>
          <a:p>
            <a:pPr marL="0" lvl="1" indent="0" algn="l">
              <a:spcAft>
                <a:spcPts val="2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can be audited against known energy-loss behavior.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330442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TRK SERIES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“Which Particle?” — Full Kinematic Reconstruction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ZhiHeng Hu  |  IMP, CAS  |  June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48463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7160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8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TRK1 / TRK2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65960" y="13716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tracks? 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4-class multiplicity classification (1–4 tracks)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84832"/>
            <a:ext cx="48463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084832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8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TRK3 / TRK4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65960" y="208483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directions? 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Per-track polar-angle regression (4-slot masked output)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798064"/>
            <a:ext cx="48463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798064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8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TRK5 / TRK6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65960" y="2798064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energy? 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Per-event kinetic-energy regression vs. 3 classical baselines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6576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1.2M simulated α-source events; kinetic energy sampled uniformly in [0.3, 4.0] MeV per event; in each pair, the first model is the plain ResNet and the second adds cross-attention fusion.</a:t>
            </a:r>
            <a:endParaRPr lang="en-US" sz="1100" dirty="0"/>
          </a:p>
        </p:txBody>
      </p:sp>
      <p:pic>
        <p:nvPicPr>
          <p:cNvPr id="17" name="Image 0" descr="D:\Something\research\MATE-Automation-V4\outputs\figures\TRK-energy-regression\event_examples\trk_energy_examples_overvie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0" y="1325880"/>
            <a:ext cx="3383280" cy="30175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0" y="4389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multi-track events from the TRK dataset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TRAJECTORY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4789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Counting Tracks Is Solved; Angles Show the Gain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ZhiHeng Hu  |  IMP, CAS  |  June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94A3B8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490472"/>
            <a:ext cx="178308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&gt;99.99%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66928" y="2096262"/>
            <a:ext cx="1746504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track-count accuracy, both models (3 vs. 1 errors in 180k — at ceiling)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94A3B8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907792"/>
            <a:ext cx="178308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83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−16%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66928" y="3513582"/>
            <a:ext cx="1746504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MAE with cross-attention: 0.99° → 0.83°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41605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width shrinks for all track counts; the gain grows with energy.</a:t>
            </a:r>
            <a:endParaRPr lang="en-US" sz="1000" dirty="0"/>
          </a:p>
        </p:txBody>
      </p:sp>
      <p:pic>
        <p:nvPicPr>
          <p:cNvPr id="14" name="Image 0" descr="D:\Something\research\MATE-Automation-V4\outputs\figures\Angular Regression-comparison\residual_overlay_comparis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10827" y="1024663"/>
            <a:ext cx="5302183" cy="34188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2697480" y="4498848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residuals by track multiplicity: plain ResNet (TRK3-v2) vs. cross-attention (TRK4-v2), with Gaussian fits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TRAJECTORY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Angular Resolution vs. the Published RANSAC Pipeline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ZhiHeng Hu  |  IMP, CAS  |  June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  <p:pic>
        <p:nvPicPr>
          <p:cNvPr id="7" name="Image 0" descr="D:\Something\research\MATE-Automation-V4\outputs\figures\Angular Regression-comparison\angular_resolution_comparis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280160"/>
            <a:ext cx="5029200" cy="3200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4526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σ(θ) vs. particle range: CNN models vs. MATEROOT RANSAC reference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806440" y="137160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resolution beats the fitted pipeline at every range point</a:t>
            </a:r>
            <a:endParaRPr lang="en-US" sz="1400" dirty="0"/>
          </a:p>
          <a:p>
            <a:pPr marL="0" lvl="1" indent="0" algn="l">
              <a:spcAft>
                <a:spcPts val="2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≈ 2 MeV (≈83 mm range): σ ≈ 0.77° (cross-attention) and 0.90° (plain ResNet) vs. 1.25° (RANSAC), 1-track events.</a:t>
            </a: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endParaRPr lang="en-US" sz="140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per-dataset threshold tuning</a:t>
            </a:r>
            <a:endParaRPr lang="en-US" sz="1400" dirty="0"/>
          </a:p>
          <a:p>
            <a:pPr marL="0" lvl="1" indent="0" algn="l">
              <a:spcAft>
                <a:spcPts val="2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fitters need careful inlier-distance tuning; the trained network has no event-selection knobs.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806440" y="37033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Indicative comparison: CNN and RANSAC numbers come from different simulation campaigns; energy-to-range mapping approximate.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ENERGY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II — Per-Event Energy: CNNs vs. Classical Methods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ZhiHeng Hu  |  IMP, CAS  |  June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53312"/>
            <a:ext cx="4206240" cy="475488"/>
          </a:xfrm>
          <a:prstGeom prst="roundRect">
            <a:avLst>
              <a:gd name="adj" fmla="val 7692"/>
            </a:avLst>
          </a:prstGeom>
          <a:solidFill>
            <a:srgbClr val="E6F7F5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5331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Cross-attention CNN 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383280" y="135331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E8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0.019 MeV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901952"/>
            <a:ext cx="420624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90195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ResNet CNN 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383280" y="190195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E8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0.023 MeV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450592"/>
            <a:ext cx="420624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45059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RANSAC + SRIM 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383280" y="245059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0.159 MeV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999232"/>
            <a:ext cx="420624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99923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Hough + SRIM 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83280" y="299923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1.269 MeV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547872"/>
            <a:ext cx="420624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54787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 Cluster + SRIM 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383280" y="354787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1.419 MeV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1605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test set, 180k events. </a:t>
            </a: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are ≈7× better than the best classical method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pairwise differences significant; relative RMSE ≈ 0.9% for the cross-attention model).</a:t>
            </a:r>
            <a:endParaRPr lang="en-US" sz="1050" dirty="0"/>
          </a:p>
        </p:txBody>
      </p:sp>
      <p:pic>
        <p:nvPicPr>
          <p:cNvPr id="23" name="Image 0" descr="D:\Something\research\MATE-Automation-V4\outputs\figures\TRK5_TRK6_comparison\F2_per_energy_bin_rms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92040" y="832104"/>
            <a:ext cx="3931920" cy="3465576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892040" y="43708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vs. true energy: classical methods diverge at high energy; CNNs stay flat (RMSE in MeV)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ENERGY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CNNs Win: Clipped Tracks and Busy Events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ZhiHeng Hu  |  IMP, CAS  |  June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3931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clipping breaks geometric methods</a:t>
            </a:r>
            <a:endParaRPr lang="en-US" sz="1400" dirty="0"/>
          </a:p>
          <a:p>
            <a:pPr marL="0" lvl="1" indent="0" algn="l">
              <a:spcAft>
                <a:spcPts val="2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≈ 1.2 MeV an α can exit the active volume — 33% of test tracks are clipped. Track-length → SRIM inversion then underestimates energy systematically.</a:t>
            </a: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endParaRPr lang="en-US" sz="140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degrade gracefully with multiplicity</a:t>
            </a:r>
            <a:endParaRPr lang="en-US" sz="1400" dirty="0"/>
          </a:p>
          <a:p>
            <a:pPr marL="0" lvl="1" indent="0" algn="l">
              <a:spcAft>
                <a:spcPts val="2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RMSE worsens from 1→4 tracks (overlap confuses fitting); CNN error actually improves, exploiting whole-image context.</a:t>
            </a: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endParaRPr lang="en-US" sz="140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is clean</a:t>
            </a:r>
            <a:endParaRPr lang="en-US" sz="1400" dirty="0"/>
          </a:p>
          <a:p>
            <a:pPr marL="0" lvl="1" indent="0" algn="l">
              <a:spcAft>
                <a:spcPts val="2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Cross-attention CNN: bias &lt; 1 keV, median error ≈ 4 keV over [0.3, 4.0] MeV.</a:t>
            </a:r>
            <a:endParaRPr lang="en-US" sz="1400" dirty="0"/>
          </a:p>
        </p:txBody>
      </p:sp>
      <p:pic>
        <p:nvPicPr>
          <p:cNvPr id="8" name="Image 0" descr="D:\Something\research\MATE-Automation-V4\outputs\figures\TRK5_TRK6_comparison\F4_predicted_vs_truth_hexbi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26280" y="1280160"/>
            <a:ext cx="4343400" cy="31089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26280" y="44348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vs. true energy per method — classical methods bend below the diagonal once tracks clip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Complementary Work on Real Beam Data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ZhiHeng Hu  |  IMP, CAS  |  June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 et al. (SUSTech / IMP), ML event classification &amp; vertex reconstruction for ¹²C+¹²C with the MATE — submitted to Nucl. Sci. Tech.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920240" y="15819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 et al.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94960" y="15819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874520"/>
            <a:ext cx="1371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20240" y="1874520"/>
            <a:ext cx="3383280" cy="429768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1874520"/>
            <a:ext cx="3200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vs. fusion sorting; vertex (x,y,z)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94960" y="1874520"/>
            <a:ext cx="3383280" cy="429768"/>
          </a:xfrm>
          <a:prstGeom prst="roundRect">
            <a:avLst>
              <a:gd name="adj" fmla="val 8511"/>
            </a:avLst>
          </a:prstGeom>
          <a:solidFill>
            <a:srgbClr val="E6F7F5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1874520"/>
            <a:ext cx="3200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Isotope PID + multiplicity, angle &amp; energy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377440"/>
            <a:ext cx="1371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20240" y="2377440"/>
            <a:ext cx="3383280" cy="429768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0" y="2377440"/>
            <a:ext cx="3200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¹²C+¹²C beam data @ HIRFL + sim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94960" y="2377440"/>
            <a:ext cx="3383280" cy="429768"/>
          </a:xfrm>
          <a:prstGeom prst="roundRect">
            <a:avLst>
              <a:gd name="adj" fmla="val 8511"/>
            </a:avLst>
          </a:prstGeom>
          <a:solidFill>
            <a:srgbClr val="E6F7F5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2377440"/>
            <a:ext cx="3200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GEANT4 simulation campaigns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2880360"/>
            <a:ext cx="1371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920240" y="2880360"/>
            <a:ext cx="3383280" cy="429768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11680" y="2880360"/>
            <a:ext cx="3200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Off-the-shelf ResNet / VGG, shallow CNN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94960" y="2880360"/>
            <a:ext cx="3383280" cy="429768"/>
          </a:xfrm>
          <a:prstGeom prst="roundRect">
            <a:avLst>
              <a:gd name="adj" fmla="val 8511"/>
            </a:avLst>
          </a:prstGeom>
          <a:solidFill>
            <a:srgbClr val="E6F7F5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2880360"/>
            <a:ext cx="3200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ResNet-18 + physics cross-attention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383280"/>
            <a:ext cx="1371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920240" y="3383280"/>
            <a:ext cx="3383280" cy="429768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11680" y="3383280"/>
            <a:ext cx="3200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(traditional pipeline labels)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394960" y="3383280"/>
            <a:ext cx="3383280" cy="429768"/>
          </a:xfrm>
          <a:prstGeom prst="roundRect">
            <a:avLst>
              <a:gd name="adj" fmla="val 8511"/>
            </a:avLst>
          </a:prstGeom>
          <a:solidFill>
            <a:srgbClr val="E6F7F5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0" y="3383280"/>
            <a:ext cx="3200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Explicit: RANSAC, Hough, Hierarchy Cluster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3886200"/>
            <a:ext cx="1371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920240" y="3886200"/>
            <a:ext cx="3383280" cy="429768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11680" y="3886200"/>
            <a:ext cx="3200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≈97% (sim) → ≈90% (experiment)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394960" y="3886200"/>
            <a:ext cx="3383280" cy="429768"/>
          </a:xfrm>
          <a:prstGeom prst="roundRect">
            <a:avLst>
              <a:gd name="adj" fmla="val 8511"/>
            </a:avLst>
          </a:prstGeom>
          <a:solidFill>
            <a:srgbClr val="E6F7F5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0" y="3886200"/>
            <a:ext cx="3200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≈7× lower energy RMSE than best classical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43484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Together: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sim-to-real transfer (≈7 pp accuracy cost) shows real-data deployment is feasible — the natural next step for the physics-informed models presented here.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2776488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ZhiHeng Hu  |  IMP, CAS  |  June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19659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94A3B8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399032"/>
            <a:ext cx="178308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83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+6.9 pp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66928" y="2105406"/>
            <a:ext cx="1746504" cy="595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hardest isotope pair (¹³C/¹⁴C) from physics-informed fusion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1325880"/>
            <a:ext cx="19659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94A3B8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97480" y="1399032"/>
            <a:ext cx="178308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96.6%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715768" y="2105406"/>
            <a:ext cx="1746504" cy="595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under realistic electronics noise (CrossAtt+HC)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325880"/>
            <a:ext cx="19659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94A3B8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1399032"/>
            <a:ext cx="178308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83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0.83°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864608" y="2105406"/>
            <a:ext cx="1746504" cy="595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MAE — 16% better than plain CNN, ahead of RANSAC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03720" y="1325880"/>
            <a:ext cx="19659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94A3B8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95160" y="1399032"/>
            <a:ext cx="178308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≈7×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013448" y="2105406"/>
            <a:ext cx="1746504" cy="595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per-event energy RMSE than the best classical method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97180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pipeline, three reconstruction tasks</a:t>
            </a:r>
            <a:endParaRPr lang="en-US" sz="1400" dirty="0"/>
          </a:p>
          <a:p>
            <a:pPr marL="0" lvl="1" indent="0" algn="l">
              <a:spcAft>
                <a:spcPts val="2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two-channel image representation and physics-informed architecture handle identification, counting, angles, and energy.</a:t>
            </a: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endParaRPr lang="en-US" sz="140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in the architecture pays off</a:t>
            </a:r>
            <a:endParaRPr lang="en-US" sz="1400" dirty="0"/>
          </a:p>
          <a:p>
            <a:pPr marL="0" lvl="1" indent="0" algn="l">
              <a:spcAft>
                <a:spcPts val="2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Moment-of-inertia features + cross-attention improve the hardest discrimination tasks and yield interpretable attention maps.</a:t>
            </a: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endParaRPr lang="en-US" sz="140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Rigorous, like-for-like baselines</a:t>
            </a:r>
            <a:endParaRPr lang="en-US" sz="1400" dirty="0"/>
          </a:p>
          <a:p>
            <a:pPr marL="0" lvl="1" indent="0" algn="l">
              <a:spcAft>
                <a:spcPts val="2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RANSAC, Hough, and Hierarchy Cluster were optimized on the same data before comparison — the CNN advantage is not a strawman.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ZhiHeng Hu  |  IMP, CAS  |  June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5528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Outlook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real MATE beam data</a:t>
            </a:r>
            <a:endParaRPr lang="en-US" sz="1400" dirty="0"/>
          </a:p>
          <a:p>
            <a:pPr marL="0" lvl="1" indent="0" algn="l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Sim-to-real transfer is demonstrably feasible on this detector — quantify what physics-informed features buy under real noise and gain variations.</a:t>
            </a: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endParaRPr lang="en-US" sz="140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production physics campaigns</a:t>
            </a:r>
            <a:endParaRPr lang="en-US" sz="1400" dirty="0"/>
          </a:p>
          <a:p>
            <a:pPr marL="0" lvl="1" indent="0" algn="l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pipeline for channel selection and kinematic reconstruction in upcoming measurements.</a:t>
            </a: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endParaRPr lang="en-US" sz="140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 online analysis</a:t>
            </a:r>
            <a:endParaRPr lang="en-US" sz="1400" dirty="0"/>
          </a:p>
          <a:p>
            <a:pPr marL="0" lvl="1" indent="0" algn="l">
              <a:spcAft>
                <a:spcPts val="200"/>
              </a:spcAft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trained network is fast at inference — a candidate for near-real-time event filtering during beam time.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97880" y="1325880"/>
            <a:ext cx="297180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5875">
            <a:solidFill>
              <a:srgbClr val="0E8388"/>
            </a:solidFill>
            <a:prstDash val="solid"/>
          </a:ln>
        </p:spPr>
      </p:sp>
      <p:pic>
        <p:nvPicPr>
          <p:cNvPr id="8" name="Image 0" descr="D:\Something\research\MATE-Automation-V4\10_Papers-Thesis\Physics_Informed\figures\attention_overla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89320" y="1417320"/>
            <a:ext cx="2788920" cy="22402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42062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— questions welcome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9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227BA2F-539D-427C-ACAE-BB01D4496FBB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b5a42079-bb60-4562-95db-8122669ebf2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467</TotalTime>
  <Words>2114</Words>
  <Application>Microsoft Office PowerPoint</Application>
  <PresentationFormat>On-screen Show (16:9)</PresentationFormat>
  <Paragraphs>278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Physics-Informed Deep Learning for the MATE Active-Target TPC</dc:title>
  <dc:subject>PptxGenJS Presentation</dc:subject>
  <dc:creator>ZhiHeng Hu</dc:creator>
  <cp:lastModifiedBy>智恒 胡</cp:lastModifiedBy>
  <cp:revision>19</cp:revision>
  <dcterms:created xsi:type="dcterms:W3CDTF">2026-06-11T09:28:09Z</dcterms:created>
  <dcterms:modified xsi:type="dcterms:W3CDTF">2026-06-12T08:01:55Z</dcterms:modified>
</cp:coreProperties>
</file>