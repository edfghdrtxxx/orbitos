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2"/>
  </p:notesMasterIdLst>
  <p:sldIdLst>
    <p:sldId id="414" r:id="rId2"/>
    <p:sldId id="415" r:id="rId3"/>
    <p:sldId id="416" r:id="rId4"/>
    <p:sldId id="417" r:id="rId5"/>
    <p:sldId id="418" r:id="rId6"/>
    <p:sldId id="419" r:id="rId7"/>
    <p:sldId id="420" r:id="rId8"/>
    <p:sldId id="421" r:id="rId9"/>
    <p:sldId id="422" r:id="rId10"/>
    <p:sldId id="423" r:id="rId11"/>
  </p:sldIdLst>
  <p:sldSz cx="9144000" cy="5143500" type="screen16x9"/>
  <p:notesSz cx="6858000" cy="9144000"/>
  <p:custDataLst>
    <p:tags r:id="rId1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49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901" autoAdjust="0"/>
    <p:restoredTop sz="95246" autoAdjust="0"/>
  </p:normalViewPr>
  <p:slideViewPr>
    <p:cSldViewPr snapToGrid="0" snapToObjects="1" showGuides="1">
      <p:cViewPr>
        <p:scale>
          <a:sx n="225" d="100"/>
          <a:sy n="225" d="100"/>
        </p:scale>
        <p:origin x="728" y="-24"/>
      </p:cViewPr>
      <p:guideLst>
        <p:guide orient="horz" pos="2194"/>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gs" Target="tags/tag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2026/7/14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I will briefly introduce the context and the configuration of the new experiment, Previously, we conducted classification and regression studies using an isotropic alpha source, in which the number of tracks ranges from 1 to 4. After successfully determine the track multiplicity and angles for each event, the next step is to perform energy regression to figure out the ability boundary of each approach further. To this end, we will compare 5 approaches: three traditional algorithms, namely Hough, RANSAC, and Hierarchical Cluster, and two ML approaches, namely Standard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 and Cross-Attention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8A4C1-82B4-8468-3A52-F0BB2A11EE4A}"/>
            </a:ext>
          </a:extLst>
        </p:cNvPr>
        <p:cNvGrpSpPr/>
        <p:nvPr/>
      </p:nvGrpSpPr>
      <p:grpSpPr>
        <a:xfrm>
          <a:off x="0" y="0"/>
          <a:ext cx="0" cy="0"/>
          <a:chOff x="0" y="0"/>
          <a:chExt cx="0" cy="0"/>
        </a:xfrm>
      </p:grpSpPr>
      <p:sp>
        <p:nvSpPr>
          <p:cNvPr id="2" name="Notes">
            <a:extLst>
              <a:ext uri="{FF2B5EF4-FFF2-40B4-BE49-F238E27FC236}">
                <a16:creationId xmlns:a16="http://schemas.microsoft.com/office/drawing/2014/main" id="{A8F682BC-B306-9B6D-B68F-7CF6B39D2794}"/>
              </a:ext>
            </a:extLst>
          </p:cNvPr>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I will briefly introduce the context and the configuration of the new experiment, Previously, we conducted classification and regression studies using an isotropic alpha source, in which the number of tracks ranges from 1 to 4. After successfully determine the track multiplicity and angles for each event, the next step is to perform energy regression to figure out the ability boundary of each approach further. To this end, we will compare 5 approaches: three traditional algorithms, namely Hough, RANSAC, and Hierarchical Cluster, and two ML approaches, namely Standard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 and Cross-Attention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a:t>
            </a:r>
          </a:p>
        </p:txBody>
      </p:sp>
    </p:spTree>
    <p:extLst>
      <p:ext uri="{BB962C8B-B14F-4D97-AF65-F5344CB8AC3E}">
        <p14:creationId xmlns:p14="http://schemas.microsoft.com/office/powerpoint/2010/main" val="768042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3DA17-9A9B-2279-EA02-A4B120D015BE}"/>
            </a:ext>
          </a:extLst>
        </p:cNvPr>
        <p:cNvGrpSpPr/>
        <p:nvPr/>
      </p:nvGrpSpPr>
      <p:grpSpPr>
        <a:xfrm>
          <a:off x="0" y="0"/>
          <a:ext cx="0" cy="0"/>
          <a:chOff x="0" y="0"/>
          <a:chExt cx="0" cy="0"/>
        </a:xfrm>
      </p:grpSpPr>
      <p:sp>
        <p:nvSpPr>
          <p:cNvPr id="2" name="Notes">
            <a:extLst>
              <a:ext uri="{FF2B5EF4-FFF2-40B4-BE49-F238E27FC236}">
                <a16:creationId xmlns:a16="http://schemas.microsoft.com/office/drawing/2014/main" id="{73C03341-EFC2-D6E1-0F97-84F0275DCB07}"/>
              </a:ext>
            </a:extLst>
          </p:cNvPr>
          <p:cNvSpPr>
            <a:spLocks noGrp="1"/>
          </p:cNvSpPr>
          <p:nvPr>
            <p:ph type="body" idx="1"/>
          </p:nvPr>
        </p:nvSpPr>
        <p:spPr>
          <a:xfrm>
            <a:off x="685800" y="3886200"/>
            <a:ext cx="7772400" cy="4114800"/>
          </a:xfrm>
          <a:prstGeom prst="rect">
            <a:avLst/>
          </a:prstGeom>
        </p:spPr>
        <p:txBody>
          <a:bodyPr/>
          <a:lstStyle/>
          <a:p>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1584901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B2E91-9026-4F3A-E22F-AE0CFAFB635B}"/>
            </a:ext>
          </a:extLst>
        </p:cNvPr>
        <p:cNvGrpSpPr/>
        <p:nvPr/>
      </p:nvGrpSpPr>
      <p:grpSpPr>
        <a:xfrm>
          <a:off x="0" y="0"/>
          <a:ext cx="0" cy="0"/>
          <a:chOff x="0" y="0"/>
          <a:chExt cx="0" cy="0"/>
        </a:xfrm>
      </p:grpSpPr>
      <p:sp>
        <p:nvSpPr>
          <p:cNvPr id="2" name="Notes">
            <a:extLst>
              <a:ext uri="{FF2B5EF4-FFF2-40B4-BE49-F238E27FC236}">
                <a16:creationId xmlns:a16="http://schemas.microsoft.com/office/drawing/2014/main" id="{41B60E35-3CCC-B56B-C96B-6A33C9F01504}"/>
              </a:ext>
            </a:extLst>
          </p:cNvPr>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This checks whether the gain is only an average effect. The energy-binned plot shows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CrossAttention</a:t>
            </a:r>
            <a:r>
              <a:rPr lang="en-US" dirty="0">
                <a:latin typeface="Times New Roman" panose="02020603050405020304" pitchFamily="18" charset="0"/>
                <a:cs typeface="Times New Roman" panose="02020603050405020304" pitchFamily="18" charset="0"/>
                <a:sym typeface="Times New Roman" panose="02020603050405020304" pitchFamily="18" charset="0"/>
              </a:rPr>
              <a:t> remaining competitive across bins, with the advantage most visible in the low-energy region. The physics caveat is that high-energy tracks are harder because clipping becomes more frequent.</a:t>
            </a:r>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1057568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397CE-CCE9-234A-F3B4-BA3B7F7CA0EE}"/>
            </a:ext>
          </a:extLst>
        </p:cNvPr>
        <p:cNvGrpSpPr/>
        <p:nvPr/>
      </p:nvGrpSpPr>
      <p:grpSpPr>
        <a:xfrm>
          <a:off x="0" y="0"/>
          <a:ext cx="0" cy="0"/>
          <a:chOff x="0" y="0"/>
          <a:chExt cx="0" cy="0"/>
        </a:xfrm>
      </p:grpSpPr>
      <p:sp>
        <p:nvSpPr>
          <p:cNvPr id="2" name="Notes">
            <a:extLst>
              <a:ext uri="{FF2B5EF4-FFF2-40B4-BE49-F238E27FC236}">
                <a16:creationId xmlns:a16="http://schemas.microsoft.com/office/drawing/2014/main" id="{EBC4674E-E2E8-6B20-D282-6AFD206478CA}"/>
              </a:ext>
            </a:extLst>
          </p:cNvPr>
          <p:cNvSpPr>
            <a:spLocks noGrp="1"/>
          </p:cNvSpPr>
          <p:nvPr>
            <p:ph type="body" idx="1"/>
          </p:nvPr>
        </p:nvSpPr>
        <p:spPr>
          <a:xfrm>
            <a:off x="685800" y="3886200"/>
            <a:ext cx="7772400" cy="4114800"/>
          </a:xfrm>
          <a:prstGeom prst="rect">
            <a:avLst/>
          </a:prstGeom>
        </p:spPr>
        <p:txBody>
          <a:bodyPr/>
          <a:lstStyle/>
          <a:p>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1164929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3C1FE-7C8E-2176-8664-DF76D93A5E1D}"/>
            </a:ext>
          </a:extLst>
        </p:cNvPr>
        <p:cNvGrpSpPr/>
        <p:nvPr/>
      </p:nvGrpSpPr>
      <p:grpSpPr>
        <a:xfrm>
          <a:off x="0" y="0"/>
          <a:ext cx="0" cy="0"/>
          <a:chOff x="0" y="0"/>
          <a:chExt cx="0" cy="0"/>
        </a:xfrm>
      </p:grpSpPr>
      <p:sp>
        <p:nvSpPr>
          <p:cNvPr id="2" name="Notes">
            <a:extLst>
              <a:ext uri="{FF2B5EF4-FFF2-40B4-BE49-F238E27FC236}">
                <a16:creationId xmlns:a16="http://schemas.microsoft.com/office/drawing/2014/main" id="{3BD7D003-DBAC-F693-4DB9-DD8B9C55C93D}"/>
              </a:ext>
            </a:extLst>
          </p:cNvPr>
          <p:cNvSpPr>
            <a:spLocks noGrp="1"/>
          </p:cNvSpPr>
          <p:nvPr>
            <p:ph type="body" idx="1"/>
          </p:nvPr>
        </p:nvSpPr>
        <p:spPr>
          <a:xfrm>
            <a:off x="685800" y="3886200"/>
            <a:ext cx="7772400" cy="4114800"/>
          </a:xfrm>
          <a:prstGeom prst="rect">
            <a:avLst/>
          </a:prstGeom>
        </p:spPr>
        <p:txBody>
          <a:bodyPr/>
          <a:lstStyle/>
          <a:p>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16565564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7AD14-E605-48D7-6F09-08DEB2CE16CA}"/>
            </a:ext>
          </a:extLst>
        </p:cNvPr>
        <p:cNvGrpSpPr/>
        <p:nvPr/>
      </p:nvGrpSpPr>
      <p:grpSpPr>
        <a:xfrm>
          <a:off x="0" y="0"/>
          <a:ext cx="0" cy="0"/>
          <a:chOff x="0" y="0"/>
          <a:chExt cx="0" cy="0"/>
        </a:xfrm>
      </p:grpSpPr>
      <p:sp>
        <p:nvSpPr>
          <p:cNvPr id="2" name="Notes">
            <a:extLst>
              <a:ext uri="{FF2B5EF4-FFF2-40B4-BE49-F238E27FC236}">
                <a16:creationId xmlns:a16="http://schemas.microsoft.com/office/drawing/2014/main" id="{2793E9D9-9805-EDDD-1469-B2ACD6FB530B}"/>
              </a:ext>
            </a:extLst>
          </p:cNvPr>
          <p:cNvSpPr>
            <a:spLocks noGrp="1"/>
          </p:cNvSpPr>
          <p:nvPr>
            <p:ph type="body" idx="1"/>
          </p:nvPr>
        </p:nvSpPr>
        <p:spPr>
          <a:xfrm>
            <a:off x="685800" y="3886200"/>
            <a:ext cx="7772400" cy="4114800"/>
          </a:xfrm>
          <a:prstGeom prst="rect">
            <a:avLst/>
          </a:prstGeom>
        </p:spPr>
        <p:txBody>
          <a:bodyPr/>
          <a:lstStyle/>
          <a:p>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3280511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663A5-5367-EB42-4AE9-171C3203B385}"/>
            </a:ext>
          </a:extLst>
        </p:cNvPr>
        <p:cNvGrpSpPr/>
        <p:nvPr/>
      </p:nvGrpSpPr>
      <p:grpSpPr>
        <a:xfrm>
          <a:off x="0" y="0"/>
          <a:ext cx="0" cy="0"/>
          <a:chOff x="0" y="0"/>
          <a:chExt cx="0" cy="0"/>
        </a:xfrm>
      </p:grpSpPr>
      <p:sp>
        <p:nvSpPr>
          <p:cNvPr id="2" name="Notes">
            <a:extLst>
              <a:ext uri="{FF2B5EF4-FFF2-40B4-BE49-F238E27FC236}">
                <a16:creationId xmlns:a16="http://schemas.microsoft.com/office/drawing/2014/main" id="{97E9CFB3-547A-5AA4-F4F5-A8D65627BE4E}"/>
              </a:ext>
            </a:extLst>
          </p:cNvPr>
          <p:cNvSpPr>
            <a:spLocks noGrp="1"/>
          </p:cNvSpPr>
          <p:nvPr>
            <p:ph type="body" idx="1"/>
          </p:nvPr>
        </p:nvSpPr>
        <p:spPr>
          <a:xfrm>
            <a:off x="685800" y="3886200"/>
            <a:ext cx="7772400" cy="4114800"/>
          </a:xfrm>
          <a:prstGeom prst="rect">
            <a:avLst/>
          </a:prstGeom>
        </p:spPr>
        <p:txBody>
          <a:bodyPr/>
          <a:lstStyle/>
          <a:p>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436606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1BDFD-61C3-4BC9-6978-35ADF3796C96}"/>
            </a:ext>
          </a:extLst>
        </p:cNvPr>
        <p:cNvGrpSpPr/>
        <p:nvPr/>
      </p:nvGrpSpPr>
      <p:grpSpPr>
        <a:xfrm>
          <a:off x="0" y="0"/>
          <a:ext cx="0" cy="0"/>
          <a:chOff x="0" y="0"/>
          <a:chExt cx="0" cy="0"/>
        </a:xfrm>
      </p:grpSpPr>
      <p:sp>
        <p:nvSpPr>
          <p:cNvPr id="2" name="Notes">
            <a:extLst>
              <a:ext uri="{FF2B5EF4-FFF2-40B4-BE49-F238E27FC236}">
                <a16:creationId xmlns:a16="http://schemas.microsoft.com/office/drawing/2014/main" id="{310A6671-514B-BBF6-9B64-0368FD7A0E83}"/>
              </a:ext>
            </a:extLst>
          </p:cNvPr>
          <p:cNvSpPr>
            <a:spLocks noGrp="1"/>
          </p:cNvSpPr>
          <p:nvPr>
            <p:ph type="body" idx="1"/>
          </p:nvPr>
        </p:nvSpPr>
        <p:spPr>
          <a:xfrm>
            <a:off x="685800" y="3886200"/>
            <a:ext cx="7772400" cy="4114800"/>
          </a:xfrm>
          <a:prstGeom prst="rect">
            <a:avLst/>
          </a:prstGeom>
        </p:spPr>
        <p:txBody>
          <a:bodyPr/>
          <a:lstStyle/>
          <a:p>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969644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Times New Roman" panose="02020603050405020304"/>
          <a:ea typeface="Times New Roman" panose="02020603050405020304"/>
          <a:cs typeface="Times New Roman" panose="02020603050405020304"/>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Times New Roman" panose="02020603050405020304"/>
          <a:ea typeface="Times New Roman" panose="02020603050405020304"/>
          <a:cs typeface="Times New Roman" panose="02020603050405020304"/>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Times New Roman" panose="02020603050405020304"/>
          <a:ea typeface="Times New Roman" panose="02020603050405020304"/>
          <a:cs typeface="Times New Roman" panose="02020603050405020304"/>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Times New Roman" panose="02020603050405020304"/>
          <a:ea typeface="Times New Roman" panose="02020603050405020304"/>
          <a:cs typeface="Times New Roman" panose="02020603050405020304"/>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9pPr>
    </p:bodyStyle>
    <p:otherStyle>
      <a:defPPr>
        <a:defRPr lang="en-US"/>
      </a:defPPr>
      <a:lvl1pPr marL="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1pPr>
      <a:lvl2pPr marL="4572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2pPr>
      <a:lvl3pPr marL="9144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3pPr>
      <a:lvl4pPr marL="13716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4pPr>
      <a:lvl5pPr marL="18288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5pPr>
      <a:lvl6pPr marL="22860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6pPr>
      <a:lvl7pPr marL="27432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7pPr>
      <a:lvl8pPr marL="32004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8pPr>
      <a:lvl9pPr marL="36576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89AADCDC-FA84-EBEE-144B-0542336C7F43}"/>
              </a:ext>
            </a:extLst>
          </p:cNvPr>
          <p:cNvPicPr>
            <a:picLocks noChangeAspect="1"/>
          </p:cNvPicPr>
          <p:nvPr/>
        </p:nvPicPr>
        <p:blipFill rotWithShape="1">
          <a:blip r:embed="rId3"/>
          <a:srcRect l="54368" t="18846" r="-30" b="8522"/>
          <a:stretch>
            <a:fillRect/>
          </a:stretch>
        </p:blipFill>
        <p:spPr>
          <a:xfrm>
            <a:off x="208344" y="1318756"/>
            <a:ext cx="4249356" cy="3242218"/>
          </a:xfrm>
          <a:prstGeom prst="rect">
            <a:avLst/>
          </a:prstGeom>
        </p:spPr>
      </p:pic>
      <p:sp>
        <p:nvSpPr>
          <p:cNvPr id="3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9" name="Footer"/>
          <p:cNvSpPr txBox="1"/>
          <p:nvPr/>
        </p:nvSpPr>
        <p:spPr>
          <a:xfrm>
            <a:off x="457200" y="4826000"/>
            <a:ext cx="6858000" cy="228600"/>
          </a:xfrm>
          <a:prstGeom prst="rect">
            <a:avLst/>
          </a:prstGeom>
          <a:noFill/>
        </p:spPr>
        <p:txBody>
          <a:bodyPr vertOverflow="overflow" vert="horz" wrap="square" rtlCol="0" anchor="t">
            <a:noAutofit/>
          </a:bodyPr>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Experiment setup: common image input, two regression routes</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5"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1 / 10</a:t>
            </a:r>
          </a:p>
        </p:txBody>
      </p:sp>
      <p:sp>
        <p:nvSpPr>
          <p:cNvPr id="14" name="Subtitle">
            <a:extLst>
              <a:ext uri="{FF2B5EF4-FFF2-40B4-BE49-F238E27FC236}">
                <a16:creationId xmlns:a16="http://schemas.microsoft.com/office/drawing/2014/main" id="{0F2E144D-DA2C-5270-41E5-EB5B5FDA707C}"/>
              </a:ext>
            </a:extLst>
          </p:cNvPr>
          <p:cNvSpPr txBox="1"/>
          <p:nvPr/>
        </p:nvSpPr>
        <p:spPr>
          <a:xfrm>
            <a:off x="457200" y="685200"/>
            <a:ext cx="3657600" cy="508000"/>
          </a:xfrm>
          <a:prstGeom prst="rect">
            <a:avLst/>
          </a:prstGeom>
          <a:noFill/>
        </p:spPr>
        <p:txBody>
          <a:bodyPr vertOverflow="overflow" vert="horz" wrap="square" rtlCol="0" anchor="t">
            <a:noAutofit/>
          </a:bodyPr>
          <a:lstStyle/>
          <a:p>
            <a:pPr marL="171450" indent="-171450" algn="l">
              <a:buFont typeface="Wingdings" panose="05000000000000000000" pitchFamily="2" charset="2"/>
              <a:buChar char="Ø"/>
            </a:pPr>
            <a:r>
              <a:rPr lang="en-US" sz="1200" dirty="0">
                <a:latin typeface="Times New Roman"/>
                <a:cs typeface="Times New Roman"/>
              </a:rPr>
              <a:t>180,000 test events (45000 events per track number)</a:t>
            </a:r>
          </a:p>
          <a:p>
            <a:pPr marL="171450" indent="-171450" algn="l">
              <a:buFont typeface="Wingdings" panose="05000000000000000000" pitchFamily="2" charset="2"/>
              <a:buChar char="Ø"/>
            </a:pPr>
            <a:r>
              <a:rPr lang="en-US" sz="1200" dirty="0">
                <a:latin typeface="Times New Roman"/>
                <a:cs typeface="Times New Roman"/>
              </a:rPr>
              <a:t>1-4 alpha tracks per event </a:t>
            </a:r>
          </a:p>
          <a:p>
            <a:pPr marL="171450" indent="-171450" algn="l">
              <a:buFont typeface="Wingdings" panose="05000000000000000000" pitchFamily="2" charset="2"/>
              <a:buChar char="Ø"/>
            </a:pPr>
            <a:r>
              <a:rPr lang="en-US" sz="1200" dirty="0">
                <a:latin typeface="Times New Roman"/>
                <a:cs typeface="Times New Roman"/>
              </a:rPr>
              <a:t>truth E ~ U[0.3, 4.0] MeV</a:t>
            </a:r>
          </a:p>
        </p:txBody>
      </p:sp>
      <p:sp>
        <p:nvSpPr>
          <p:cNvPr id="15" name="CaptionStrip">
            <a:extLst>
              <a:ext uri="{FF2B5EF4-FFF2-40B4-BE49-F238E27FC236}">
                <a16:creationId xmlns:a16="http://schemas.microsoft.com/office/drawing/2014/main" id="{D857DBAF-E2AB-D5A8-2227-51D46B296C92}"/>
              </a:ext>
            </a:extLst>
          </p:cNvPr>
          <p:cNvSpPr txBox="1"/>
          <p:nvPr/>
        </p:nvSpPr>
        <p:spPr>
          <a:xfrm>
            <a:off x="4457700" y="545073"/>
            <a:ext cx="4343400" cy="558800"/>
          </a:xfrm>
          <a:prstGeom prst="rect">
            <a:avLst/>
          </a:prstGeom>
          <a:noFill/>
        </p:spPr>
        <p:txBody>
          <a:bodyPr vertOverflow="overflow" vert="horz" wrap="square" rtlCol="0" anchor="t">
            <a:noAutofit/>
          </a:bodyPr>
          <a:lstStyle/>
          <a:p>
            <a:pPr algn="l"/>
            <a:r>
              <a:rPr lang="en-US" sz="1050" dirty="0">
                <a:latin typeface="Times New Roman"/>
                <a:cs typeface="Times New Roman"/>
              </a:rPr>
              <a:t>Five methods compared on the same image: </a:t>
            </a:r>
          </a:p>
          <a:p>
            <a:pPr marL="171450" indent="-171450" algn="l">
              <a:buFont typeface="Wingdings" panose="05000000000000000000" pitchFamily="2" charset="2"/>
              <a:buChar char="Ø"/>
            </a:pPr>
            <a:r>
              <a:rPr lang="en-US" sz="1050" dirty="0">
                <a:latin typeface="Times New Roman"/>
                <a:cs typeface="Times New Roman"/>
              </a:rPr>
              <a:t>Cross-Attention and </a:t>
            </a:r>
            <a:r>
              <a:rPr lang="en-US" sz="1050" dirty="0" err="1">
                <a:latin typeface="Times New Roman"/>
                <a:cs typeface="Times New Roman"/>
              </a:rPr>
              <a:t>ResNet</a:t>
            </a:r>
            <a:r>
              <a:rPr lang="en-US" sz="1050" dirty="0">
                <a:latin typeface="Times New Roman"/>
                <a:cs typeface="Times New Roman"/>
              </a:rPr>
              <a:t> predict E directly (without reconstructing tracks at all)</a:t>
            </a:r>
          </a:p>
          <a:p>
            <a:pPr marL="171450" indent="-171450" algn="l">
              <a:buFont typeface="Wingdings" panose="05000000000000000000" pitchFamily="2" charset="2"/>
              <a:buChar char="Ø"/>
            </a:pPr>
            <a:r>
              <a:rPr lang="en-US" sz="1050" dirty="0">
                <a:latin typeface="Times New Roman"/>
                <a:cs typeface="Times New Roman"/>
              </a:rPr>
              <a:t>RANSAC, Hough, and Hierarchical Clustering reconstruct the track first, then convert range to energy via SRIM</a:t>
            </a:r>
            <a:r>
              <a:rPr lang="en-US" sz="1050" i="1" dirty="0">
                <a:solidFill>
                  <a:srgbClr val="555555"/>
                </a:solidFill>
                <a:latin typeface="Times New Roman"/>
                <a:cs typeface="Times New Roman"/>
              </a:rPr>
              <a:t>.</a:t>
            </a:r>
          </a:p>
          <a:p>
            <a:pPr marL="171450" indent="-171450" algn="l">
              <a:buFont typeface="Wingdings" panose="05000000000000000000" pitchFamily="2" charset="2"/>
              <a:buChar char="Ø"/>
            </a:pPr>
            <a:r>
              <a:rPr lang="en-US" sz="1050" b="1" i="1" dirty="0">
                <a:solidFill>
                  <a:srgbClr val="C00000"/>
                </a:solidFill>
                <a:latin typeface="Times New Roman"/>
                <a:cs typeface="Times New Roman"/>
              </a:rPr>
              <a:t>Objective: To compare the performance of CNNs with that of  traditional algorithms(RANSAC, Hough, and Hierarchical Clustering)</a:t>
            </a:r>
          </a:p>
        </p:txBody>
      </p:sp>
      <p:sp>
        <p:nvSpPr>
          <p:cNvPr id="21" name="TextBox 20">
            <a:extLst>
              <a:ext uri="{FF2B5EF4-FFF2-40B4-BE49-F238E27FC236}">
                <a16:creationId xmlns:a16="http://schemas.microsoft.com/office/drawing/2014/main" id="{BC1799D7-AFDE-B560-CE13-D2F35B86C601}"/>
              </a:ext>
            </a:extLst>
          </p:cNvPr>
          <p:cNvSpPr txBox="1"/>
          <p:nvPr/>
        </p:nvSpPr>
        <p:spPr>
          <a:xfrm>
            <a:off x="1405951" y="2075378"/>
            <a:ext cx="918328" cy="338554"/>
          </a:xfrm>
          <a:prstGeom prst="rect">
            <a:avLst/>
          </a:prstGeom>
          <a:noFill/>
        </p:spPr>
        <p:txBody>
          <a:bodyPr wrap="none" rtlCol="0">
            <a:spAutoFit/>
          </a:bodyPr>
          <a:lstStyle/>
          <a:p>
            <a:r>
              <a:rPr lang="en-JP" sz="1600" b="1" dirty="0">
                <a:solidFill>
                  <a:srgbClr val="164994"/>
                </a:solidFill>
              </a:rPr>
              <a:t>⍺ source</a:t>
            </a:r>
          </a:p>
        </p:txBody>
      </p:sp>
      <p:sp>
        <p:nvSpPr>
          <p:cNvPr id="22" name="TextBox 21">
            <a:extLst>
              <a:ext uri="{FF2B5EF4-FFF2-40B4-BE49-F238E27FC236}">
                <a16:creationId xmlns:a16="http://schemas.microsoft.com/office/drawing/2014/main" id="{DC1916F8-1845-76F3-7A34-FF5AD9055B4F}"/>
              </a:ext>
            </a:extLst>
          </p:cNvPr>
          <p:cNvSpPr txBox="1"/>
          <p:nvPr/>
        </p:nvSpPr>
        <p:spPr>
          <a:xfrm>
            <a:off x="631439" y="2146926"/>
            <a:ext cx="654346" cy="307777"/>
          </a:xfrm>
          <a:prstGeom prst="rect">
            <a:avLst/>
          </a:prstGeom>
          <a:noFill/>
        </p:spPr>
        <p:txBody>
          <a:bodyPr wrap="none" rtlCol="0">
            <a:spAutoFit/>
          </a:bodyPr>
          <a:lstStyle/>
          <a:p>
            <a:r>
              <a:rPr lang="en-JP" sz="1400" dirty="0">
                <a:solidFill>
                  <a:srgbClr val="FF0000"/>
                </a:solidFill>
              </a:rPr>
              <a:t>E</a:t>
            </a:r>
            <a:r>
              <a:rPr lang="en-JP" sz="1400" baseline="-25000" dirty="0">
                <a:solidFill>
                  <a:srgbClr val="FF0000"/>
                </a:solidFill>
              </a:rPr>
              <a:t>1 </a:t>
            </a:r>
            <a:r>
              <a:rPr lang="en-JP" sz="1400" dirty="0">
                <a:solidFill>
                  <a:srgbClr val="FF0000"/>
                </a:solidFill>
              </a:rPr>
              <a:t>= ? </a:t>
            </a:r>
          </a:p>
        </p:txBody>
      </p:sp>
      <p:sp>
        <p:nvSpPr>
          <p:cNvPr id="23" name="TextBox 22">
            <a:extLst>
              <a:ext uri="{FF2B5EF4-FFF2-40B4-BE49-F238E27FC236}">
                <a16:creationId xmlns:a16="http://schemas.microsoft.com/office/drawing/2014/main" id="{58A604D7-E7CA-6FA4-1B8D-90AED5EBD174}"/>
              </a:ext>
            </a:extLst>
          </p:cNvPr>
          <p:cNvSpPr txBox="1"/>
          <p:nvPr/>
        </p:nvSpPr>
        <p:spPr>
          <a:xfrm>
            <a:off x="2437352" y="2239526"/>
            <a:ext cx="654346" cy="307777"/>
          </a:xfrm>
          <a:prstGeom prst="rect">
            <a:avLst/>
          </a:prstGeom>
          <a:noFill/>
        </p:spPr>
        <p:txBody>
          <a:bodyPr wrap="none" rtlCol="0">
            <a:spAutoFit/>
          </a:bodyPr>
          <a:lstStyle/>
          <a:p>
            <a:r>
              <a:rPr lang="en-JP" sz="1400" dirty="0">
                <a:solidFill>
                  <a:srgbClr val="FF0000"/>
                </a:solidFill>
              </a:rPr>
              <a:t>E</a:t>
            </a:r>
            <a:r>
              <a:rPr lang="en-JP" sz="1400" baseline="-25000" dirty="0">
                <a:solidFill>
                  <a:srgbClr val="FF0000"/>
                </a:solidFill>
              </a:rPr>
              <a:t>2 </a:t>
            </a:r>
            <a:r>
              <a:rPr lang="en-JP" sz="1400" dirty="0">
                <a:solidFill>
                  <a:srgbClr val="FF0000"/>
                </a:solidFill>
              </a:rPr>
              <a:t>= ? </a:t>
            </a:r>
          </a:p>
        </p:txBody>
      </p:sp>
      <p:sp>
        <p:nvSpPr>
          <p:cNvPr id="44" name="TextBox 43">
            <a:extLst>
              <a:ext uri="{FF2B5EF4-FFF2-40B4-BE49-F238E27FC236}">
                <a16:creationId xmlns:a16="http://schemas.microsoft.com/office/drawing/2014/main" id="{8C072685-F9BB-3725-3E30-7532D3736A4B}"/>
              </a:ext>
            </a:extLst>
          </p:cNvPr>
          <p:cNvSpPr txBox="1"/>
          <p:nvPr/>
        </p:nvSpPr>
        <p:spPr>
          <a:xfrm>
            <a:off x="2115155" y="3047000"/>
            <a:ext cx="654346" cy="307777"/>
          </a:xfrm>
          <a:prstGeom prst="rect">
            <a:avLst/>
          </a:prstGeom>
          <a:noFill/>
        </p:spPr>
        <p:txBody>
          <a:bodyPr wrap="none" rtlCol="0">
            <a:spAutoFit/>
          </a:bodyPr>
          <a:lstStyle/>
          <a:p>
            <a:r>
              <a:rPr lang="en-JP" sz="1400" dirty="0">
                <a:solidFill>
                  <a:srgbClr val="FF0000"/>
                </a:solidFill>
              </a:rPr>
              <a:t>E</a:t>
            </a:r>
            <a:r>
              <a:rPr lang="en-JP" sz="1400" baseline="-25000" dirty="0">
                <a:solidFill>
                  <a:srgbClr val="FF0000"/>
                </a:solidFill>
              </a:rPr>
              <a:t>3 </a:t>
            </a:r>
            <a:r>
              <a:rPr lang="en-JP" sz="1400" dirty="0">
                <a:solidFill>
                  <a:srgbClr val="FF0000"/>
                </a:solidFill>
              </a:rPr>
              <a:t>= ? </a:t>
            </a:r>
          </a:p>
        </p:txBody>
      </p:sp>
      <p:sp>
        <p:nvSpPr>
          <p:cNvPr id="45" name="TextBox 44">
            <a:extLst>
              <a:ext uri="{FF2B5EF4-FFF2-40B4-BE49-F238E27FC236}">
                <a16:creationId xmlns:a16="http://schemas.microsoft.com/office/drawing/2014/main" id="{646954B0-01C8-415E-46DB-6F2566E4FC5D}"/>
              </a:ext>
            </a:extLst>
          </p:cNvPr>
          <p:cNvSpPr txBox="1"/>
          <p:nvPr/>
        </p:nvSpPr>
        <p:spPr>
          <a:xfrm>
            <a:off x="1537942" y="3451070"/>
            <a:ext cx="654346" cy="307777"/>
          </a:xfrm>
          <a:prstGeom prst="rect">
            <a:avLst/>
          </a:prstGeom>
          <a:noFill/>
        </p:spPr>
        <p:txBody>
          <a:bodyPr wrap="none" rtlCol="0">
            <a:spAutoFit/>
          </a:bodyPr>
          <a:lstStyle/>
          <a:p>
            <a:r>
              <a:rPr lang="en-JP" sz="1400" dirty="0">
                <a:solidFill>
                  <a:srgbClr val="FF0000"/>
                </a:solidFill>
              </a:rPr>
              <a:t>E</a:t>
            </a:r>
            <a:r>
              <a:rPr lang="en-JP" sz="1400" baseline="-25000" dirty="0">
                <a:solidFill>
                  <a:srgbClr val="FF0000"/>
                </a:solidFill>
              </a:rPr>
              <a:t>4 </a:t>
            </a:r>
            <a:r>
              <a:rPr lang="en-JP" sz="1400" dirty="0">
                <a:solidFill>
                  <a:srgbClr val="FF0000"/>
                </a:solidFill>
              </a:rPr>
              <a:t>= ? </a:t>
            </a:r>
          </a:p>
        </p:txBody>
      </p:sp>
      <p:pic>
        <p:nvPicPr>
          <p:cNvPr id="47" name="Picture 46">
            <a:extLst>
              <a:ext uri="{FF2B5EF4-FFF2-40B4-BE49-F238E27FC236}">
                <a16:creationId xmlns:a16="http://schemas.microsoft.com/office/drawing/2014/main" id="{D1C901AE-8A22-CF71-B5EE-28D0A2F5EF70}"/>
              </a:ext>
            </a:extLst>
          </p:cNvPr>
          <p:cNvPicPr>
            <a:picLocks noChangeAspect="1"/>
          </p:cNvPicPr>
          <p:nvPr/>
        </p:nvPicPr>
        <p:blipFill>
          <a:blip r:embed="rId3"/>
          <a:srcRect t="13036" r="47059"/>
          <a:stretch>
            <a:fillRect/>
          </a:stretch>
        </p:blipFill>
        <p:spPr>
          <a:xfrm>
            <a:off x="4686300" y="1796064"/>
            <a:ext cx="3424547" cy="2698340"/>
          </a:xfrm>
          <a:prstGeom prst="rect">
            <a:avLst/>
          </a:prstGeom>
        </p:spPr>
      </p:pic>
    </p:spTree>
    <p:extLst>
      <p:ext uri="{BB962C8B-B14F-4D97-AF65-F5344CB8AC3E}">
        <p14:creationId xmlns:p14="http://schemas.microsoft.com/office/powerpoint/2010/main" val="542463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7D2E6-8934-A80A-1DDE-C9E7D289FE21}"/>
            </a:ext>
          </a:extLst>
        </p:cNvPr>
        <p:cNvGrpSpPr/>
        <p:nvPr/>
      </p:nvGrpSpPr>
      <p:grpSpPr>
        <a:xfrm>
          <a:off x="0" y="0"/>
          <a:ext cx="0" cy="0"/>
          <a:chOff x="0" y="0"/>
          <a:chExt cx="0" cy="0"/>
        </a:xfrm>
      </p:grpSpPr>
      <p:sp>
        <p:nvSpPr>
          <p:cNvPr id="34" name="BottomRule">
            <a:extLst>
              <a:ext uri="{FF2B5EF4-FFF2-40B4-BE49-F238E27FC236}">
                <a16:creationId xmlns:a16="http://schemas.microsoft.com/office/drawing/2014/main" id="{82017C19-A698-AFFA-89ED-7DB673280F38}"/>
              </a:ext>
            </a:extLst>
          </p:cNvPr>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2" name="HeaderBand">
            <a:extLst>
              <a:ext uri="{FF2B5EF4-FFF2-40B4-BE49-F238E27FC236}">
                <a16:creationId xmlns:a16="http://schemas.microsoft.com/office/drawing/2014/main" id="{75EEAE59-8D18-79DF-A32F-A852B81D3C6D}"/>
              </a:ext>
            </a:extLst>
          </p:cNvPr>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9" name="Footer">
            <a:extLst>
              <a:ext uri="{FF2B5EF4-FFF2-40B4-BE49-F238E27FC236}">
                <a16:creationId xmlns:a16="http://schemas.microsoft.com/office/drawing/2014/main" id="{45F5ED03-CF53-4ECE-A9EE-BDCFD612D1AA}"/>
              </a:ext>
            </a:extLst>
          </p:cNvPr>
          <p:cNvSpPr txBox="1"/>
          <p:nvPr/>
        </p:nvSpPr>
        <p:spPr>
          <a:xfrm>
            <a:off x="457200" y="4826000"/>
            <a:ext cx="6858000" cy="228600"/>
          </a:xfrm>
          <a:prstGeom prst="rect">
            <a:avLst/>
          </a:prstGeom>
          <a:noFill/>
        </p:spPr>
        <p:txBody>
          <a:bodyPr vertOverflow="overflow" vert="horz" wrap="square" rtlCol="0" anchor="t">
            <a:noAutofit/>
          </a:bodyPr>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3" name="HeaderTitle">
            <a:extLst>
              <a:ext uri="{FF2B5EF4-FFF2-40B4-BE49-F238E27FC236}">
                <a16:creationId xmlns:a16="http://schemas.microsoft.com/office/drawing/2014/main" id="{A6762AC1-A353-79D0-043A-3B4441FF3CC1}"/>
              </a:ext>
            </a:extLst>
          </p:cNvPr>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Outline</a:t>
            </a:r>
          </a:p>
        </p:txBody>
      </p:sp>
      <p:sp>
        <p:nvSpPr>
          <p:cNvPr id="35" name="PageNum">
            <a:extLst>
              <a:ext uri="{FF2B5EF4-FFF2-40B4-BE49-F238E27FC236}">
                <a16:creationId xmlns:a16="http://schemas.microsoft.com/office/drawing/2014/main" id="{B367F637-3957-E534-DA0E-4B60754D8852}"/>
              </a:ext>
            </a:extLst>
          </p:cNvPr>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2 / 10</a:t>
            </a:r>
          </a:p>
        </p:txBody>
      </p:sp>
      <p:sp>
        <p:nvSpPr>
          <p:cNvPr id="8" name="TextBox 7">
            <a:extLst>
              <a:ext uri="{FF2B5EF4-FFF2-40B4-BE49-F238E27FC236}">
                <a16:creationId xmlns:a16="http://schemas.microsoft.com/office/drawing/2014/main" id="{A5114416-E0EB-3A95-2C1A-40EFFDD6A78D}"/>
              </a:ext>
            </a:extLst>
          </p:cNvPr>
          <p:cNvSpPr txBox="1"/>
          <p:nvPr/>
        </p:nvSpPr>
        <p:spPr>
          <a:xfrm>
            <a:off x="342900" y="685236"/>
            <a:ext cx="7143366" cy="2031325"/>
          </a:xfrm>
          <a:prstGeom prst="rect">
            <a:avLst/>
          </a:prstGeom>
          <a:noFill/>
        </p:spPr>
        <p:txBody>
          <a:bodyPr wrap="none" rtlCol="0">
            <a:spAutoFit/>
          </a:bodyPr>
          <a:lstStyle/>
          <a:p>
            <a:pPr marL="285750" indent="-285750">
              <a:buFont typeface="Wingdings" pitchFamily="2" charset="2"/>
              <a:buChar char="q"/>
            </a:pPr>
            <a:r>
              <a:rPr lang="en-JP" dirty="0"/>
              <a:t>1. RANSAC Anomaly Investigation and Inference</a:t>
            </a:r>
          </a:p>
          <a:p>
            <a:pPr marL="285750" indent="-285750">
              <a:buFont typeface="Wingdings" pitchFamily="2" charset="2"/>
              <a:buChar char="q"/>
            </a:pPr>
            <a:endParaRPr lang="en-JP" dirty="0"/>
          </a:p>
          <a:p>
            <a:pPr marL="285750" indent="-285750">
              <a:buFont typeface="Wingdings" pitchFamily="2" charset="2"/>
              <a:buChar char="q"/>
            </a:pPr>
            <a:endParaRPr lang="en-JP" dirty="0"/>
          </a:p>
          <a:p>
            <a:pPr marL="285750" indent="-285750">
              <a:buFont typeface="Wingdings" pitchFamily="2" charset="2"/>
              <a:buChar char="q"/>
            </a:pPr>
            <a:endParaRPr lang="en-JP" dirty="0"/>
          </a:p>
          <a:p>
            <a:pPr marL="285750" indent="-285750">
              <a:buFont typeface="Wingdings" pitchFamily="2" charset="2"/>
              <a:buChar char="q"/>
            </a:pPr>
            <a:endParaRPr lang="en-JP" dirty="0"/>
          </a:p>
          <a:p>
            <a:pPr marL="285750" indent="-285750">
              <a:buFont typeface="Wingdings" pitchFamily="2" charset="2"/>
              <a:buChar char="q"/>
            </a:pPr>
            <a:endParaRPr lang="en-JP" dirty="0"/>
          </a:p>
          <a:p>
            <a:pPr marL="285750" indent="-285750">
              <a:buFont typeface="Wingdings" pitchFamily="2" charset="2"/>
              <a:buChar char="q"/>
            </a:pPr>
            <a:r>
              <a:rPr lang="en-JP" dirty="0"/>
              <a:t>2. ResNet +  Cross Attention Unseen Channel Classification Conclusion</a:t>
            </a:r>
          </a:p>
        </p:txBody>
      </p:sp>
      <p:pic>
        <p:nvPicPr>
          <p:cNvPr id="10" name="Picture 9">
            <a:extLst>
              <a:ext uri="{FF2B5EF4-FFF2-40B4-BE49-F238E27FC236}">
                <a16:creationId xmlns:a16="http://schemas.microsoft.com/office/drawing/2014/main" id="{07681BF8-88DC-F0A1-17CE-74A73F510E14}"/>
              </a:ext>
            </a:extLst>
          </p:cNvPr>
          <p:cNvPicPr>
            <a:picLocks noChangeAspect="1"/>
          </p:cNvPicPr>
          <p:nvPr/>
        </p:nvPicPr>
        <p:blipFill>
          <a:blip r:embed="rId3"/>
          <a:srcRect l="67482" t="31389" r="12907" b="48470"/>
          <a:stretch>
            <a:fillRect/>
          </a:stretch>
        </p:blipFill>
        <p:spPr>
          <a:xfrm>
            <a:off x="3752799" y="1042935"/>
            <a:ext cx="1638402" cy="1315926"/>
          </a:xfrm>
          <a:prstGeom prst="rect">
            <a:avLst/>
          </a:prstGeom>
        </p:spPr>
      </p:pic>
      <p:graphicFrame>
        <p:nvGraphicFramePr>
          <p:cNvPr id="500" name="AcademicTable"/>
          <p:cNvGraphicFramePr>
            <a:graphicFrameLocks noGrp="1"/>
          </p:cNvGraphicFramePr>
          <p:nvPr/>
        </p:nvGraphicFramePr>
        <p:xfrm>
          <a:off x="762000" y="2743200"/>
          <a:ext cx="7620000" cy="1854200"/>
        </p:xfrm>
        <a:graphic>
          <a:graphicData uri="http://schemas.openxmlformats.org/drawingml/2006/table">
            <a:tbl>
              <a:tblPr firstRow="1"/>
              <a:tblGrid>
                <a:gridCol w="1714500">
                  <a:extLst>
                    <a:ext uri="{9D8B030D-6E8A-4147-A177-3AD203B41FA5}">
                      <a16:colId xmlns:a16="http://schemas.microsoft.com/office/drawing/2014/main" val="20000"/>
                    </a:ext>
                  </a:extLst>
                </a:gridCol>
                <a:gridCol w="2984500">
                  <a:extLst>
                    <a:ext uri="{9D8B030D-6E8A-4147-A177-3AD203B41FA5}">
                      <a16:colId xmlns:a16="http://schemas.microsoft.com/office/drawing/2014/main" val="20001"/>
                    </a:ext>
                  </a:extLst>
                </a:gridCol>
                <a:gridCol w="2921000">
                  <a:extLst>
                    <a:ext uri="{9D8B030D-6E8A-4147-A177-3AD203B41FA5}">
                      <a16:colId xmlns:a16="http://schemas.microsoft.com/office/drawing/2014/main" val="20002"/>
                    </a:ext>
                  </a:extLst>
                </a:gridCol>
              </a:tblGrid>
              <a:tr h="330200">
                <a:tc>
                  <a:txBody>
                    <a:bodyPr/>
                    <a:lstStyle/>
                    <a:p>
                      <a:pPr algn="l"/>
                      <a:r>
                        <a:rPr lang="en-US" sz="1400" b="0" spc="150" dirty="0">
                          <a:solidFill>
                            <a:srgbClr val="6E6E6E"/>
                          </a:solidFill>
                          <a:latin typeface="Times New Roman"/>
                          <a:cs typeface="Times New Roman"/>
                        </a:rPr>
                        <a:t>CHANNEL</a:t>
                      </a:r>
                    </a:p>
                  </a:txBody>
                  <a:tcPr marT="36000" marB="36000" anchor="ctr">
                    <a:lnL>
                      <a:noFill/>
                    </a:lnL>
                    <a:lnR>
                      <a:noFill/>
                    </a:lnR>
                    <a:lnT w="19050" cap="flat" cmpd="sng" algn="ctr">
                      <a:solidFill>
                        <a:srgbClr val="3A3A3A"/>
                      </a:solidFill>
                      <a:prstDash val="solid"/>
                    </a:lnT>
                    <a:lnB w="12700" cap="flat" cmpd="sng" algn="ctr">
                      <a:solidFill>
                        <a:srgbClr val="3A3A3A"/>
                      </a:solidFill>
                      <a:prstDash val="solid"/>
                    </a:lnB>
                    <a:noFill/>
                  </a:tcPr>
                </a:tc>
                <a:tc>
                  <a:txBody>
                    <a:bodyPr/>
                    <a:lstStyle/>
                    <a:p>
                      <a:pPr algn="l"/>
                      <a:r>
                        <a:rPr lang="en-US" sz="1400" b="0" spc="150" dirty="0">
                          <a:solidFill>
                            <a:srgbClr val="6E6E6E"/>
                          </a:solidFill>
                          <a:latin typeface="Times New Roman"/>
                          <a:cs typeface="Times New Roman"/>
                        </a:rPr>
                        <a:t>REACTION</a:t>
                      </a:r>
                    </a:p>
                  </a:txBody>
                  <a:tcPr marT="36000" marB="36000" anchor="ctr">
                    <a:lnL>
                      <a:noFill/>
                    </a:lnL>
                    <a:lnR>
                      <a:noFill/>
                    </a:lnR>
                    <a:lnT w="19050" cap="flat" cmpd="sng" algn="ctr">
                      <a:solidFill>
                        <a:srgbClr val="3A3A3A"/>
                      </a:solidFill>
                      <a:prstDash val="solid"/>
                    </a:lnT>
                    <a:lnB w="12700" cap="flat" cmpd="sng" algn="ctr">
                      <a:solidFill>
                        <a:srgbClr val="3A3A3A"/>
                      </a:solidFill>
                      <a:prstDash val="solid"/>
                    </a:lnB>
                    <a:noFill/>
                  </a:tcPr>
                </a:tc>
                <a:tc>
                  <a:txBody>
                    <a:bodyPr/>
                    <a:lstStyle/>
                    <a:p>
                      <a:pPr algn="l"/>
                      <a:r>
                        <a:rPr lang="en-US" sz="1400" b="0" spc="150" dirty="0">
                          <a:solidFill>
                            <a:srgbClr val="6E6E6E"/>
                          </a:solidFill>
                          <a:latin typeface="Times New Roman"/>
                          <a:cs typeface="Times New Roman"/>
                        </a:rPr>
                        <a:t>ROLE</a:t>
                      </a:r>
                    </a:p>
                  </a:txBody>
                  <a:tcPr marT="36000" marB="36000" anchor="ctr">
                    <a:lnL>
                      <a:noFill/>
                    </a:lnL>
                    <a:lnR>
                      <a:noFill/>
                    </a:lnR>
                    <a:lnT w="19050" cap="flat" cmpd="sng" algn="ctr">
                      <a:solidFill>
                        <a:srgbClr val="3A3A3A"/>
                      </a:solidFill>
                      <a:prstDash val="solid"/>
                    </a:lnT>
                    <a:lnB w="12700" cap="flat" cmpd="sng" algn="ctr">
                      <a:solidFill>
                        <a:srgbClr val="3A3A3A"/>
                      </a:solidFill>
                      <a:prstDash val="solid"/>
                    </a:lnB>
                    <a:noFill/>
                  </a:tcPr>
                </a:tc>
                <a:extLst>
                  <a:ext uri="{0D108BD9-81ED-4DB2-BD59-A6C34878D82A}">
                    <a16:rowId xmlns:a16="http://schemas.microsoft.com/office/drawing/2014/main" val="10000"/>
                  </a:ext>
                </a:extLst>
              </a:tr>
              <a:tr h="304800">
                <a:tc>
                  <a:txBody>
                    <a:bodyPr/>
                    <a:lstStyle/>
                    <a:p>
                      <a:pPr algn="l"/>
                      <a:r>
                        <a:rPr lang="en-US" sz="1400" dirty="0">
                          <a:solidFill>
                            <a:srgbClr val="222222"/>
                          </a:solidFill>
                          <a:latin typeface="Times New Roman"/>
                          <a:cs typeface="Times New Roman"/>
                        </a:rPr>
                        <a:t>A · B</a:t>
                      </a:r>
                    </a:p>
                  </a:txBody>
                  <a:tcPr marT="36000" marB="36000" anchor="ctr">
                    <a:lnL>
                      <a:noFill/>
                    </a:lnL>
                    <a:lnR>
                      <a:noFill/>
                    </a:lnR>
                    <a:lnT w="12700" cap="flat" cmpd="sng" algn="ctr">
                      <a:solidFill>
                        <a:srgbClr val="3A3A3A"/>
                      </a:solidFill>
                      <a:prstDash val="solid"/>
                      <a:round/>
                      <a:headEnd type="none" w="med" len="med"/>
                      <a:tailEnd type="none" w="med" len="med"/>
                    </a:lnT>
                    <a:lnB>
                      <a:noFill/>
                    </a:lnB>
                    <a:solidFill>
                      <a:srgbClr val="F4F2EC"/>
                    </a:solidFill>
                  </a:tcPr>
                </a:tc>
                <a:tc>
                  <a:txBody>
                    <a:bodyPr/>
                    <a:lstStyle/>
                    <a:p>
                      <a:pPr algn="l"/>
                      <a:r>
                        <a:rPr lang="en-US" sz="1400" dirty="0">
                          <a:solidFill>
                            <a:srgbClr val="222222"/>
                          </a:solidFill>
                          <a:latin typeface="Times New Roman"/>
                          <a:cs typeface="Times New Roman"/>
                        </a:rPr>
                        <a:t>¹²C(α,p) · ¹²C(α,d)</a:t>
                      </a:r>
                    </a:p>
                  </a:txBody>
                  <a:tcPr marT="36000" marB="36000" anchor="ctr">
                    <a:lnL>
                      <a:noFill/>
                    </a:lnL>
                    <a:lnR>
                      <a:noFill/>
                    </a:lnR>
                    <a:lnT w="12700" cap="flat" cmpd="sng" algn="ctr">
                      <a:solidFill>
                        <a:srgbClr val="3A3A3A"/>
                      </a:solidFill>
                      <a:prstDash val="solid"/>
                      <a:round/>
                      <a:headEnd type="none" w="med" len="med"/>
                      <a:tailEnd type="none" w="med" len="med"/>
                    </a:lnT>
                    <a:lnB>
                      <a:noFill/>
                    </a:lnB>
                    <a:solidFill>
                      <a:srgbClr val="F4F2EC"/>
                    </a:solidFill>
                  </a:tcPr>
                </a:tc>
                <a:tc>
                  <a:txBody>
                    <a:bodyPr/>
                    <a:lstStyle/>
                    <a:p>
                      <a:pPr algn="l"/>
                      <a:r>
                        <a:rPr lang="en-US" sz="1400" b="1" dirty="0">
                          <a:solidFill>
                            <a:srgbClr val="1F4E79"/>
                          </a:solidFill>
                          <a:latin typeface="Times New Roman"/>
                          <a:cs typeface="Times New Roman"/>
                        </a:rPr>
                        <a:t>Trained targets</a:t>
                      </a:r>
                    </a:p>
                  </a:txBody>
                  <a:tcPr marT="36000" marB="36000" anchor="ctr">
                    <a:lnL>
                      <a:noFill/>
                    </a:lnL>
                    <a:lnR>
                      <a:noFill/>
                    </a:lnR>
                    <a:lnT w="12700" cap="flat" cmpd="sng" algn="ctr">
                      <a:solidFill>
                        <a:srgbClr val="3A3A3A"/>
                      </a:solidFill>
                      <a:prstDash val="solid"/>
                      <a:round/>
                      <a:headEnd type="none" w="med" len="med"/>
                      <a:tailEnd type="none" w="med" len="med"/>
                    </a:lnT>
                    <a:lnB>
                      <a:noFill/>
                    </a:lnB>
                    <a:solidFill>
                      <a:srgbClr val="F4F2EC"/>
                    </a:solidFill>
                  </a:tcPr>
                </a:tc>
                <a:extLst>
                  <a:ext uri="{0D108BD9-81ED-4DB2-BD59-A6C34878D82A}">
                    <a16:rowId xmlns:a16="http://schemas.microsoft.com/office/drawing/2014/main" val="10001"/>
                  </a:ext>
                </a:extLst>
              </a:tr>
              <a:tr h="304800">
                <a:tc>
                  <a:txBody>
                    <a:bodyPr/>
                    <a:lstStyle/>
                    <a:p>
                      <a:pPr algn="l"/>
                      <a:r>
                        <a:rPr lang="en-US" sz="1400" dirty="0">
                          <a:solidFill>
                            <a:srgbClr val="222222"/>
                          </a:solidFill>
                          <a:latin typeface="Times New Roman"/>
                          <a:cs typeface="Times New Roman"/>
                        </a:rPr>
                        <a:t>C · D</a:t>
                      </a:r>
                    </a:p>
                  </a:txBody>
                  <a:tcPr marT="36000" marB="36000" anchor="ctr">
                    <a:lnL>
                      <a:noFill/>
                    </a:lnL>
                    <a:lnR>
                      <a:noFill/>
                    </a:lnR>
                    <a:lnT>
                      <a:noFill/>
                    </a:lnT>
                    <a:lnB>
                      <a:noFill/>
                    </a:lnB>
                    <a:noFill/>
                  </a:tcPr>
                </a:tc>
                <a:tc>
                  <a:txBody>
                    <a:bodyPr/>
                    <a:lstStyle/>
                    <a:p>
                      <a:pPr algn="l"/>
                      <a:r>
                        <a:rPr lang="en-US" sz="1400" dirty="0">
                          <a:solidFill>
                            <a:srgbClr val="222222"/>
                          </a:solidFill>
                          <a:latin typeface="Times New Roman"/>
                          <a:cs typeface="Times New Roman"/>
                        </a:rPr>
                        <a:t>¹²C(α,t) · ¹²C(α,³He)</a:t>
                      </a:r>
                    </a:p>
                  </a:txBody>
                  <a:tcPr marT="36000" marB="36000" anchor="ctr">
                    <a:lnL>
                      <a:noFill/>
                    </a:lnL>
                    <a:lnR>
                      <a:noFill/>
                    </a:lnR>
                    <a:lnT>
                      <a:noFill/>
                    </a:lnT>
                    <a:lnB>
                      <a:noFill/>
                    </a:lnB>
                    <a:noFill/>
                  </a:tcPr>
                </a:tc>
                <a:tc>
                  <a:txBody>
                    <a:bodyPr/>
                    <a:lstStyle/>
                    <a:p>
                      <a:pPr algn="l"/>
                      <a:r>
                        <a:rPr lang="en-US" sz="1400" dirty="0">
                          <a:solidFill>
                            <a:srgbClr val="6E6E6E"/>
                          </a:solidFill>
                          <a:latin typeface="Times New Roman"/>
                          <a:cs typeface="Times New Roman"/>
                        </a:rPr>
                        <a:t>Trained as “other” (clutter)</a:t>
                      </a:r>
                    </a:p>
                  </a:txBody>
                  <a:tcPr marT="36000" marB="36000" anchor="ctr">
                    <a:lnL>
                      <a:noFill/>
                    </a:lnL>
                    <a:lnR>
                      <a:noFill/>
                    </a:lnR>
                    <a:lnT>
                      <a:noFill/>
                    </a:lnT>
                    <a:lnB>
                      <a:noFill/>
                    </a:lnB>
                    <a:noFill/>
                  </a:tcPr>
                </a:tc>
                <a:extLst>
                  <a:ext uri="{0D108BD9-81ED-4DB2-BD59-A6C34878D82A}">
                    <a16:rowId xmlns:a16="http://schemas.microsoft.com/office/drawing/2014/main" val="10002"/>
                  </a:ext>
                </a:extLst>
              </a:tr>
              <a:tr h="304800">
                <a:tc>
                  <a:txBody>
                    <a:bodyPr/>
                    <a:lstStyle/>
                    <a:p>
                      <a:pPr algn="l"/>
                      <a:r>
                        <a:rPr lang="en-US" sz="1400" dirty="0">
                          <a:solidFill>
                            <a:srgbClr val="222222"/>
                          </a:solidFill>
                          <a:latin typeface="Times New Roman"/>
                          <a:cs typeface="Times New Roman"/>
                        </a:rPr>
                        <a:t>null</a:t>
                      </a:r>
                    </a:p>
                  </a:txBody>
                  <a:tcPr marT="36000" marB="36000" anchor="ctr">
                    <a:lnL>
                      <a:noFill/>
                    </a:lnL>
                    <a:lnR>
                      <a:noFill/>
                    </a:lnR>
                    <a:lnT>
                      <a:noFill/>
                    </a:lnT>
                    <a:lnB>
                      <a:noFill/>
                    </a:lnB>
                    <a:noFill/>
                  </a:tcPr>
                </a:tc>
                <a:tc>
                  <a:txBody>
                    <a:bodyPr/>
                    <a:lstStyle/>
                    <a:p>
                      <a:pPr algn="l"/>
                      <a:r>
                        <a:rPr lang="en-US" sz="1400" dirty="0">
                          <a:solidFill>
                            <a:srgbClr val="222222"/>
                          </a:solidFill>
                          <a:latin typeface="Times New Roman"/>
                          <a:cs typeface="Times New Roman"/>
                        </a:rPr>
                        <a:t>empty detector</a:t>
                      </a:r>
                    </a:p>
                  </a:txBody>
                  <a:tcPr marT="36000" marB="36000" anchor="ctr">
                    <a:lnL>
                      <a:noFill/>
                    </a:lnL>
                    <a:lnR>
                      <a:noFill/>
                    </a:lnR>
                    <a:lnT>
                      <a:noFill/>
                    </a:lnT>
                    <a:lnB>
                      <a:noFill/>
                    </a:lnB>
                    <a:noFill/>
                  </a:tcPr>
                </a:tc>
                <a:tc>
                  <a:txBody>
                    <a:bodyPr/>
                    <a:lstStyle/>
                    <a:p>
                      <a:pPr algn="l"/>
                      <a:r>
                        <a:rPr lang="en-US" sz="1400" dirty="0">
                          <a:solidFill>
                            <a:srgbClr val="6E6E6E"/>
                          </a:solidFill>
                          <a:latin typeface="Times New Roman"/>
                          <a:cs typeface="Times New Roman"/>
                        </a:rPr>
                        <a:t>Trained as “other”</a:t>
                      </a:r>
                    </a:p>
                  </a:txBody>
                  <a:tcPr marT="36000" marB="36000" anchor="ctr">
                    <a:lnL>
                      <a:noFill/>
                    </a:lnL>
                    <a:lnR>
                      <a:noFill/>
                    </a:lnR>
                    <a:lnT>
                      <a:noFill/>
                    </a:lnT>
                    <a:lnB>
                      <a:noFill/>
                    </a:lnB>
                    <a:noFill/>
                  </a:tcPr>
                </a:tc>
                <a:extLst>
                  <a:ext uri="{0D108BD9-81ED-4DB2-BD59-A6C34878D82A}">
                    <a16:rowId xmlns:a16="http://schemas.microsoft.com/office/drawing/2014/main" val="10003"/>
                  </a:ext>
                </a:extLst>
              </a:tr>
              <a:tr h="304800">
                <a:tc>
                  <a:txBody>
                    <a:bodyPr/>
                    <a:lstStyle/>
                    <a:p>
                      <a:pPr algn="l"/>
                      <a:r>
                        <a:rPr lang="en-US" sz="1400" dirty="0">
                          <a:solidFill>
                            <a:srgbClr val="222222"/>
                          </a:solidFill>
                          <a:latin typeface="Times New Roman"/>
                          <a:cs typeface="Times New Roman"/>
                        </a:rPr>
                        <a:t>E</a:t>
                      </a:r>
                    </a:p>
                  </a:txBody>
                  <a:tcPr marT="36000" marB="36000" anchor="ctr">
                    <a:lnL>
                      <a:noFill/>
                    </a:lnL>
                    <a:lnR>
                      <a:noFill/>
                    </a:lnR>
                    <a:lnT>
                      <a:noFill/>
                    </a:lnT>
                    <a:lnB>
                      <a:noFill/>
                    </a:lnB>
                    <a:solidFill>
                      <a:srgbClr val="F4F2EC"/>
                    </a:solidFill>
                  </a:tcPr>
                </a:tc>
                <a:tc>
                  <a:txBody>
                    <a:bodyPr/>
                    <a:lstStyle/>
                    <a:p>
                      <a:pPr algn="l"/>
                      <a:r>
                        <a:rPr lang="en-US" sz="1400" dirty="0">
                          <a:solidFill>
                            <a:srgbClr val="222222"/>
                          </a:solidFill>
                          <a:latin typeface="Times New Roman"/>
                          <a:cs typeface="Times New Roman"/>
                        </a:rPr>
                        <a:t>¹²C(α,⍺)</a:t>
                      </a:r>
                    </a:p>
                  </a:txBody>
                  <a:tcPr marT="36000" marB="36000" anchor="ctr">
                    <a:lnL>
                      <a:noFill/>
                    </a:lnL>
                    <a:lnR>
                      <a:noFill/>
                    </a:lnR>
                    <a:lnT>
                      <a:noFill/>
                    </a:lnT>
                    <a:lnB>
                      <a:noFill/>
                    </a:lnB>
                    <a:solidFill>
                      <a:srgbClr val="F4F2EC"/>
                    </a:solidFill>
                  </a:tcPr>
                </a:tc>
                <a:tc>
                  <a:txBody>
                    <a:bodyPr/>
                    <a:lstStyle/>
                    <a:p>
                      <a:pPr algn="l"/>
                      <a:r>
                        <a:rPr lang="en-US" sz="1400" b="1" dirty="0">
                          <a:solidFill>
                            <a:srgbClr val="C00000"/>
                          </a:solidFill>
                          <a:latin typeface="Times New Roman"/>
                          <a:cs typeface="Times New Roman"/>
                        </a:rPr>
                        <a:t>Unseen — interpolation probe</a:t>
                      </a:r>
                    </a:p>
                  </a:txBody>
                  <a:tcPr marT="36000" marB="36000" anchor="ctr">
                    <a:lnL>
                      <a:noFill/>
                    </a:lnL>
                    <a:lnR>
                      <a:noFill/>
                    </a:lnR>
                    <a:lnT>
                      <a:noFill/>
                    </a:lnT>
                    <a:lnB>
                      <a:noFill/>
                    </a:lnB>
                    <a:solidFill>
                      <a:srgbClr val="F4F2EC"/>
                    </a:solidFill>
                  </a:tcPr>
                </a:tc>
                <a:extLst>
                  <a:ext uri="{0D108BD9-81ED-4DB2-BD59-A6C34878D82A}">
                    <a16:rowId xmlns:a16="http://schemas.microsoft.com/office/drawing/2014/main" val="10004"/>
                  </a:ext>
                </a:extLst>
              </a:tr>
              <a:tr h="304800">
                <a:tc>
                  <a:txBody>
                    <a:bodyPr/>
                    <a:lstStyle/>
                    <a:p>
                      <a:pPr algn="l"/>
                      <a:r>
                        <a:rPr lang="en-US" sz="1400" dirty="0">
                          <a:solidFill>
                            <a:srgbClr val="222222"/>
                          </a:solidFill>
                          <a:latin typeface="Times New Roman"/>
                          <a:cs typeface="Times New Roman"/>
                        </a:rPr>
                        <a:t>F · G · H</a:t>
                      </a:r>
                    </a:p>
                  </a:txBody>
                  <a:tcPr marT="36000" marB="36000" anchor="ctr">
                    <a:lnL>
                      <a:noFill/>
                    </a:lnL>
                    <a:lnR>
                      <a:noFill/>
                    </a:lnR>
                    <a:lnT>
                      <a:noFill/>
                    </a:lnT>
                    <a:lnB w="19050" cap="flat" cmpd="sng" algn="ctr">
                      <a:solidFill>
                        <a:srgbClr val="3A3A3A"/>
                      </a:solidFill>
                      <a:prstDash val="solid"/>
                    </a:lnB>
                    <a:solidFill>
                      <a:srgbClr val="F4F2EC"/>
                    </a:solidFill>
                  </a:tcPr>
                </a:tc>
                <a:tc>
                  <a:txBody>
                    <a:bodyPr/>
                    <a:lstStyle/>
                    <a:p>
                      <a:pPr algn="l"/>
                      <a:r>
                        <a:rPr lang="en-US" sz="1400" dirty="0">
                          <a:solidFill>
                            <a:srgbClr val="222222"/>
                          </a:solidFill>
                          <a:latin typeface="Times New Roman"/>
                          <a:cs typeface="Times New Roman"/>
                        </a:rPr>
                        <a:t>¹³C · ¹⁴C · ¹²C elastic</a:t>
                      </a:r>
                    </a:p>
                  </a:txBody>
                  <a:tcPr marT="36000" marB="36000" anchor="ctr">
                    <a:lnL>
                      <a:noFill/>
                    </a:lnL>
                    <a:lnR>
                      <a:noFill/>
                    </a:lnR>
                    <a:lnT>
                      <a:noFill/>
                    </a:lnT>
                    <a:lnB w="19050" cap="flat" cmpd="sng" algn="ctr">
                      <a:solidFill>
                        <a:srgbClr val="3A3A3A"/>
                      </a:solidFill>
                      <a:prstDash val="solid"/>
                    </a:lnB>
                    <a:solidFill>
                      <a:srgbClr val="F4F2EC"/>
                    </a:solidFill>
                  </a:tcPr>
                </a:tc>
                <a:tc>
                  <a:txBody>
                    <a:bodyPr/>
                    <a:lstStyle/>
                    <a:p>
                      <a:pPr algn="l"/>
                      <a:r>
                        <a:rPr lang="en-US" sz="1400" b="1" dirty="0">
                          <a:solidFill>
                            <a:srgbClr val="C00000"/>
                          </a:solidFill>
                          <a:latin typeface="Times New Roman"/>
                          <a:cs typeface="Times New Roman"/>
                        </a:rPr>
                        <a:t>Unseen — far-OOD carbon probes</a:t>
                      </a:r>
                    </a:p>
                  </a:txBody>
                  <a:tcPr marT="36000" marB="36000" anchor="ctr">
                    <a:lnL>
                      <a:noFill/>
                    </a:lnL>
                    <a:lnR>
                      <a:noFill/>
                    </a:lnR>
                    <a:lnT>
                      <a:noFill/>
                    </a:lnT>
                    <a:lnB w="19050" cap="flat" cmpd="sng" algn="ctr">
                      <a:solidFill>
                        <a:srgbClr val="3A3A3A"/>
                      </a:solidFill>
                      <a:prstDash val="solid"/>
                    </a:lnB>
                    <a:solidFill>
                      <a:srgbClr val="F4F2EC"/>
                    </a:solidFill>
                  </a:tcPr>
                </a:tc>
                <a:extLst>
                  <a:ext uri="{0D108BD9-81ED-4DB2-BD59-A6C34878D82A}">
                    <a16:rowId xmlns:a16="http://schemas.microsoft.com/office/drawing/2014/main" val="10005"/>
                  </a:ext>
                </a:extLst>
              </a:tr>
            </a:tbl>
          </a:graphicData>
        </a:graphic>
      </p:graphicFrame>
      <p:sp>
        <p:nvSpPr>
          <p:cNvPr id="2" name="TextBox 1">
            <a:extLst>
              <a:ext uri="{FF2B5EF4-FFF2-40B4-BE49-F238E27FC236}">
                <a16:creationId xmlns:a16="http://schemas.microsoft.com/office/drawing/2014/main" id="{CDD73E3B-72ED-57A5-381C-EA40265CD9E5}"/>
              </a:ext>
            </a:extLst>
          </p:cNvPr>
          <p:cNvSpPr txBox="1"/>
          <p:nvPr/>
        </p:nvSpPr>
        <p:spPr>
          <a:xfrm>
            <a:off x="6516465" y="685236"/>
            <a:ext cx="1710725" cy="369332"/>
          </a:xfrm>
          <a:prstGeom prst="rect">
            <a:avLst/>
          </a:prstGeom>
          <a:noFill/>
        </p:spPr>
        <p:txBody>
          <a:bodyPr wrap="none" rtlCol="0">
            <a:spAutoFit/>
          </a:bodyPr>
          <a:lstStyle/>
          <a:p>
            <a:pPr marL="285750" indent="-285750">
              <a:buFont typeface="Wingdings" pitchFamily="2" charset="2"/>
              <a:buChar char="q"/>
            </a:pPr>
            <a:r>
              <a:rPr lang="en-US" altLang="zh-CN" dirty="0"/>
              <a:t>3.</a:t>
            </a:r>
            <a:r>
              <a:rPr lang="zh-CN" altLang="en-US" dirty="0"/>
              <a:t> </a:t>
            </a:r>
            <a:r>
              <a:rPr lang="en-US" altLang="zh-CN" dirty="0"/>
              <a:t>Next Steps</a:t>
            </a:r>
            <a:endParaRPr lang="en-JP" dirty="0"/>
          </a:p>
        </p:txBody>
      </p:sp>
    </p:spTree>
    <p:extLst>
      <p:ext uri="{BB962C8B-B14F-4D97-AF65-F5344CB8AC3E}">
        <p14:creationId xmlns:p14="http://schemas.microsoft.com/office/powerpoint/2010/main" val="3711932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5C215-0AA5-D5E6-0191-3958D8BE6E48}"/>
            </a:ext>
          </a:extLst>
        </p:cNvPr>
        <p:cNvGrpSpPr/>
        <p:nvPr/>
      </p:nvGrpSpPr>
      <p:grpSpPr>
        <a:xfrm>
          <a:off x="0" y="0"/>
          <a:ext cx="0" cy="0"/>
          <a:chOff x="0" y="0"/>
          <a:chExt cx="0" cy="0"/>
        </a:xfrm>
      </p:grpSpPr>
      <p:sp>
        <p:nvSpPr>
          <p:cNvPr id="4" name="BottomRule">
            <a:extLst>
              <a:ext uri="{FF2B5EF4-FFF2-40B4-BE49-F238E27FC236}">
                <a16:creationId xmlns:a16="http://schemas.microsoft.com/office/drawing/2014/main" id="{6775D0A3-0C9B-8F47-5D8F-F426FF92EC8F}"/>
              </a:ext>
            </a:extLst>
          </p:cNvPr>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a:extLst>
              <a:ext uri="{FF2B5EF4-FFF2-40B4-BE49-F238E27FC236}">
                <a16:creationId xmlns:a16="http://schemas.microsoft.com/office/drawing/2014/main" id="{B03ABAB4-BAB9-75CF-86C2-75FCC2957467}"/>
              </a:ext>
            </a:extLst>
          </p:cNvPr>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a:extLst>
              <a:ext uri="{FF2B5EF4-FFF2-40B4-BE49-F238E27FC236}">
                <a16:creationId xmlns:a16="http://schemas.microsoft.com/office/drawing/2014/main" id="{C68E85F4-AD26-74BA-A513-77EAA3C93782}"/>
              </a:ext>
            </a:extLst>
          </p:cNvP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a:extLst>
              <a:ext uri="{FF2B5EF4-FFF2-40B4-BE49-F238E27FC236}">
                <a16:creationId xmlns:a16="http://schemas.microsoft.com/office/drawing/2014/main" id="{7DBB367B-24D6-A09F-1001-B9B06538C25A}"/>
              </a:ext>
            </a:extLst>
          </p:cNvPr>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Anomaly in Conventional Methods</a:t>
            </a:r>
          </a:p>
        </p:txBody>
      </p:sp>
      <p:sp>
        <p:nvSpPr>
          <p:cNvPr id="8" name="PageNum">
            <a:extLst>
              <a:ext uri="{FF2B5EF4-FFF2-40B4-BE49-F238E27FC236}">
                <a16:creationId xmlns:a16="http://schemas.microsoft.com/office/drawing/2014/main" id="{C6C5CABA-F177-D10F-6A01-54025700B7B5}"/>
              </a:ext>
            </a:extLst>
          </p:cNvPr>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3 / 10</a:t>
            </a:r>
          </a:p>
        </p:txBody>
      </p:sp>
      <p:pic>
        <p:nvPicPr>
          <p:cNvPr id="6" name="Picture 5">
            <a:extLst>
              <a:ext uri="{FF2B5EF4-FFF2-40B4-BE49-F238E27FC236}">
                <a16:creationId xmlns:a16="http://schemas.microsoft.com/office/drawing/2014/main" id="{38A6CBB1-25B5-BAE6-C30C-FC47B5804A07}"/>
              </a:ext>
            </a:extLst>
          </p:cNvPr>
          <p:cNvPicPr>
            <a:picLocks noChangeAspect="1"/>
          </p:cNvPicPr>
          <p:nvPr/>
        </p:nvPicPr>
        <p:blipFill>
          <a:blip r:embed="rId3"/>
          <a:stretch>
            <a:fillRect/>
          </a:stretch>
        </p:blipFill>
        <p:spPr>
          <a:xfrm>
            <a:off x="0" y="763486"/>
            <a:ext cx="4721678" cy="3692727"/>
          </a:xfrm>
          <a:prstGeom prst="rect">
            <a:avLst/>
          </a:prstGeom>
        </p:spPr>
      </p:pic>
      <p:pic>
        <p:nvPicPr>
          <p:cNvPr id="9" name="Picture 8">
            <a:extLst>
              <a:ext uri="{FF2B5EF4-FFF2-40B4-BE49-F238E27FC236}">
                <a16:creationId xmlns:a16="http://schemas.microsoft.com/office/drawing/2014/main" id="{113B8B96-02DF-8B79-DC58-60561BE0F234}"/>
              </a:ext>
            </a:extLst>
          </p:cNvPr>
          <p:cNvPicPr>
            <a:picLocks noChangeAspect="1"/>
          </p:cNvPicPr>
          <p:nvPr/>
        </p:nvPicPr>
        <p:blipFill>
          <a:blip r:embed="rId4"/>
          <a:stretch>
            <a:fillRect/>
          </a:stretch>
        </p:blipFill>
        <p:spPr>
          <a:xfrm>
            <a:off x="4572000" y="802982"/>
            <a:ext cx="4526525" cy="3518775"/>
          </a:xfrm>
          <a:prstGeom prst="rect">
            <a:avLst/>
          </a:prstGeom>
        </p:spPr>
      </p:pic>
      <p:sp>
        <p:nvSpPr>
          <p:cNvPr id="5" name="Rounded Rectangle 4">
            <a:extLst>
              <a:ext uri="{FF2B5EF4-FFF2-40B4-BE49-F238E27FC236}">
                <a16:creationId xmlns:a16="http://schemas.microsoft.com/office/drawing/2014/main" id="{31290C06-3BE7-7C86-849D-EDEC0D73C45E}"/>
              </a:ext>
            </a:extLst>
          </p:cNvPr>
          <p:cNvSpPr/>
          <p:nvPr/>
        </p:nvSpPr>
        <p:spPr>
          <a:xfrm>
            <a:off x="3186077" y="959896"/>
            <a:ext cx="924791" cy="1776845"/>
          </a:xfrm>
          <a:prstGeom prst="round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2583404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48D41-4DD1-8B61-955A-3A2598CED600}"/>
            </a:ext>
          </a:extLst>
        </p:cNvPr>
        <p:cNvGrpSpPr/>
        <p:nvPr/>
      </p:nvGrpSpPr>
      <p:grpSpPr>
        <a:xfrm>
          <a:off x="0" y="0"/>
          <a:ext cx="0" cy="0"/>
          <a:chOff x="0" y="0"/>
          <a:chExt cx="0" cy="0"/>
        </a:xfrm>
      </p:grpSpPr>
      <p:sp>
        <p:nvSpPr>
          <p:cNvPr id="4" name="BottomRule">
            <a:extLst>
              <a:ext uri="{FF2B5EF4-FFF2-40B4-BE49-F238E27FC236}">
                <a16:creationId xmlns:a16="http://schemas.microsoft.com/office/drawing/2014/main" id="{A8163466-0234-B769-4F32-CB377EF452DB}"/>
              </a:ext>
            </a:extLst>
          </p:cNvPr>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a:extLst>
              <a:ext uri="{FF2B5EF4-FFF2-40B4-BE49-F238E27FC236}">
                <a16:creationId xmlns:a16="http://schemas.microsoft.com/office/drawing/2014/main" id="{6E548423-1A58-8EA6-DADD-EB9AADA75B36}"/>
              </a:ext>
            </a:extLst>
          </p:cNvPr>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a:extLst>
              <a:ext uri="{FF2B5EF4-FFF2-40B4-BE49-F238E27FC236}">
                <a16:creationId xmlns:a16="http://schemas.microsoft.com/office/drawing/2014/main" id="{8972F2EE-526D-8280-40D4-31DF54F3DEDD}"/>
              </a:ext>
            </a:extLst>
          </p:cNvP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a:extLst>
              <a:ext uri="{FF2B5EF4-FFF2-40B4-BE49-F238E27FC236}">
                <a16:creationId xmlns:a16="http://schemas.microsoft.com/office/drawing/2014/main" id="{D6589A26-DEB5-1B53-91E2-39E39A11E5A0}"/>
              </a:ext>
            </a:extLst>
          </p:cNvPr>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Identify the Anomaly in Conventional Approach Pipeline</a:t>
            </a:r>
          </a:p>
        </p:txBody>
      </p:sp>
      <p:sp>
        <p:nvSpPr>
          <p:cNvPr id="8" name="PageNum">
            <a:extLst>
              <a:ext uri="{FF2B5EF4-FFF2-40B4-BE49-F238E27FC236}">
                <a16:creationId xmlns:a16="http://schemas.microsoft.com/office/drawing/2014/main" id="{2CBF0119-6F83-CFD7-9B6E-9084A4ACF61C}"/>
              </a:ext>
            </a:extLst>
          </p:cNvPr>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4 / 10</a:t>
            </a:r>
          </a:p>
        </p:txBody>
      </p:sp>
      <p:sp>
        <p:nvSpPr>
          <p:cNvPr id="400" name="PipeBox400"/>
          <p:cNvSpPr/>
          <p:nvPr/>
        </p:nvSpPr>
        <p:spPr>
          <a:xfrm>
            <a:off x="406400" y="609600"/>
            <a:ext cx="3810000" cy="533400"/>
          </a:xfrm>
          <a:prstGeom prst="roundRect">
            <a:avLst>
              <a:gd name="adj" fmla="val 8000"/>
            </a:avLst>
          </a:prstGeom>
          <a:solidFill>
            <a:srgbClr val="FFFFFF"/>
          </a:solidFill>
          <a:ln w="12700">
            <a:solidFill>
              <a:srgbClr val="1F4E79"/>
            </a:solidFill>
          </a:ln>
        </p:spPr>
        <p:txBody>
          <a:bodyPr wrap="square" lIns="54864" tIns="18288" rIns="54864" bIns="18288" anchor="ctr">
            <a:normAutofit/>
          </a:bodyPr>
          <a:lstStyle/>
          <a:p>
            <a:pPr algn="ctr">
              <a:buNone/>
            </a:pPr>
            <a:r>
              <a:rPr lang="en-US" sz="1400" b="1" dirty="0">
                <a:solidFill>
                  <a:srgbClr val="1F4E79"/>
                </a:solidFill>
                <a:latin typeface="Times New Roman" panose="02020603050405020304" pitchFamily="18" charset="0"/>
                <a:cs typeface="Times New Roman" panose="02020603050405020304" pitchFamily="18" charset="0"/>
              </a:rPr>
              <a:t>1. Raw Hits</a:t>
            </a:r>
            <a:r>
              <a:rPr lang="en-US" sz="1400" dirty="0">
                <a:solidFill>
                  <a:srgbClr val="404040"/>
                </a:solidFill>
                <a:latin typeface="Times New Roman" panose="02020603050405020304" pitchFamily="18" charset="0"/>
                <a:cs typeface="Times New Roman" panose="02020603050405020304" pitchFamily="18" charset="0"/>
              </a:rPr>
              <a:t> — MATEROOT platform</a:t>
            </a:r>
          </a:p>
        </p:txBody>
      </p:sp>
      <p:sp>
        <p:nvSpPr>
          <p:cNvPr id="406" name="PipeArrow406"/>
          <p:cNvSpPr/>
          <p:nvPr/>
        </p:nvSpPr>
        <p:spPr>
          <a:xfrm>
            <a:off x="2120900" y="1143000"/>
            <a:ext cx="381000" cy="152400"/>
          </a:xfrm>
          <a:prstGeom prst="downArrow">
            <a:avLst/>
          </a:prstGeom>
          <a:solidFill>
            <a:srgbClr val="1F4E79"/>
          </a:solidFill>
          <a:ln>
            <a:noFill/>
          </a:ln>
        </p:spPr>
        <p:txBody>
          <a:bodyPr/>
          <a:lstStyle/>
          <a:p>
            <a:pPr>
              <a:buNone/>
            </a:pPr>
            <a:endParaRPr lang="en-US"/>
          </a:p>
        </p:txBody>
      </p:sp>
      <p:sp>
        <p:nvSpPr>
          <p:cNvPr id="401" name="PipeBox401"/>
          <p:cNvSpPr/>
          <p:nvPr/>
        </p:nvSpPr>
        <p:spPr>
          <a:xfrm>
            <a:off x="406400" y="1295400"/>
            <a:ext cx="3810000" cy="533400"/>
          </a:xfrm>
          <a:prstGeom prst="roundRect">
            <a:avLst>
              <a:gd name="adj" fmla="val 8000"/>
            </a:avLst>
          </a:prstGeom>
          <a:solidFill>
            <a:srgbClr val="FFFFFF"/>
          </a:solidFill>
          <a:ln w="12700">
            <a:solidFill>
              <a:srgbClr val="1F4E79"/>
            </a:solidFill>
          </a:ln>
        </p:spPr>
        <p:txBody>
          <a:bodyPr wrap="square" lIns="54864" tIns="18288" rIns="54864" bIns="18288" anchor="ctr">
            <a:normAutofit/>
          </a:bodyPr>
          <a:lstStyle/>
          <a:p>
            <a:pPr algn="ctr">
              <a:buNone/>
            </a:pPr>
            <a:r>
              <a:rPr lang="en-US" sz="1400" b="1" dirty="0">
                <a:solidFill>
                  <a:srgbClr val="1F4E79"/>
                </a:solidFill>
                <a:latin typeface="Times New Roman" panose="02020603050405020304" pitchFamily="18" charset="0"/>
                <a:cs typeface="Times New Roman" panose="02020603050405020304" pitchFamily="18" charset="0"/>
              </a:rPr>
              <a:t>2. Converter</a:t>
            </a:r>
            <a:r>
              <a:rPr lang="en-US" sz="1400" dirty="0">
                <a:solidFill>
                  <a:srgbClr val="404040"/>
                </a:solidFill>
                <a:latin typeface="Times New Roman" panose="02020603050405020304" pitchFamily="18" charset="0"/>
                <a:cs typeface="Times New Roman" panose="02020603050405020304" pitchFamily="18" charset="0"/>
              </a:rPr>
              <a:t> — 80×48×2 image (MATE resolution)</a:t>
            </a:r>
          </a:p>
        </p:txBody>
      </p:sp>
      <p:sp>
        <p:nvSpPr>
          <p:cNvPr id="407" name="PipeArrow407"/>
          <p:cNvSpPr/>
          <p:nvPr/>
        </p:nvSpPr>
        <p:spPr>
          <a:xfrm>
            <a:off x="2120900" y="1828800"/>
            <a:ext cx="381000" cy="152400"/>
          </a:xfrm>
          <a:prstGeom prst="downArrow">
            <a:avLst/>
          </a:prstGeom>
          <a:solidFill>
            <a:srgbClr val="1F4E79"/>
          </a:solidFill>
          <a:ln>
            <a:noFill/>
          </a:ln>
        </p:spPr>
        <p:txBody>
          <a:bodyPr/>
          <a:lstStyle/>
          <a:p>
            <a:pPr>
              <a:buNone/>
            </a:pPr>
            <a:endParaRPr lang="en-US"/>
          </a:p>
        </p:txBody>
      </p:sp>
      <p:sp>
        <p:nvSpPr>
          <p:cNvPr id="402" name="PipeBox402"/>
          <p:cNvSpPr/>
          <p:nvPr/>
        </p:nvSpPr>
        <p:spPr>
          <a:xfrm>
            <a:off x="406400" y="1981200"/>
            <a:ext cx="3810000" cy="533400"/>
          </a:xfrm>
          <a:prstGeom prst="roundRect">
            <a:avLst>
              <a:gd name="adj" fmla="val 8000"/>
            </a:avLst>
          </a:prstGeom>
          <a:solidFill>
            <a:srgbClr val="FFFFFF"/>
          </a:solidFill>
          <a:ln w="12700">
            <a:solidFill>
              <a:srgbClr val="1F4E79"/>
            </a:solidFill>
          </a:ln>
        </p:spPr>
        <p:txBody>
          <a:bodyPr wrap="square" lIns="54864" tIns="18288" rIns="54864" bIns="18288" anchor="ctr">
            <a:normAutofit/>
          </a:bodyPr>
          <a:lstStyle/>
          <a:p>
            <a:pPr algn="ctr">
              <a:buNone/>
            </a:pPr>
            <a:r>
              <a:rPr lang="en-US" sz="1400" b="1" dirty="0">
                <a:latin typeface="Times New Roman" panose="02020603050405020304" pitchFamily="18" charset="0"/>
                <a:cs typeface="Times New Roman" panose="02020603050405020304" pitchFamily="18" charset="0"/>
              </a:rPr>
              <a:t>3. Fit</a:t>
            </a:r>
            <a:r>
              <a:rPr lang="en-US" sz="1400" dirty="0">
                <a:latin typeface="Times New Roman" panose="02020603050405020304" pitchFamily="18" charset="0"/>
                <a:cs typeface="Times New Roman" panose="02020603050405020304" pitchFamily="18" charset="0"/>
              </a:rPr>
              <a:t> — track fitting </a:t>
            </a:r>
            <a:r>
              <a:rPr lang="en-US" sz="1400" b="1" u="sng" dirty="0">
                <a:solidFill>
                  <a:srgbClr val="FF0000"/>
                </a:solidFill>
                <a:latin typeface="Times New Roman" panose="02020603050405020304" pitchFamily="18" charset="0"/>
                <a:cs typeface="Times New Roman" panose="02020603050405020304" pitchFamily="18" charset="0"/>
              </a:rPr>
              <a:t>and vertex positioning</a:t>
            </a:r>
          </a:p>
        </p:txBody>
      </p:sp>
      <p:sp>
        <p:nvSpPr>
          <p:cNvPr id="408" name="PipeArrow408"/>
          <p:cNvSpPr/>
          <p:nvPr/>
        </p:nvSpPr>
        <p:spPr>
          <a:xfrm>
            <a:off x="2120900" y="2514600"/>
            <a:ext cx="381000" cy="152400"/>
          </a:xfrm>
          <a:prstGeom prst="downArrow">
            <a:avLst/>
          </a:prstGeom>
          <a:solidFill>
            <a:srgbClr val="1F4E79"/>
          </a:solidFill>
          <a:ln>
            <a:noFill/>
          </a:ln>
        </p:spPr>
        <p:txBody>
          <a:bodyPr/>
          <a:lstStyle/>
          <a:p>
            <a:pPr>
              <a:buNone/>
            </a:pPr>
            <a:endParaRPr lang="en-US"/>
          </a:p>
        </p:txBody>
      </p:sp>
      <p:sp>
        <p:nvSpPr>
          <p:cNvPr id="403" name="PipeBox403"/>
          <p:cNvSpPr/>
          <p:nvPr/>
        </p:nvSpPr>
        <p:spPr>
          <a:xfrm>
            <a:off x="406400" y="2667000"/>
            <a:ext cx="3810000" cy="533400"/>
          </a:xfrm>
          <a:prstGeom prst="roundRect">
            <a:avLst>
              <a:gd name="adj" fmla="val 8000"/>
            </a:avLst>
          </a:prstGeom>
          <a:solidFill>
            <a:srgbClr val="FFFFFF"/>
          </a:solidFill>
          <a:ln w="12700">
            <a:solidFill>
              <a:srgbClr val="1F4E79"/>
            </a:solidFill>
          </a:ln>
        </p:spPr>
        <p:txBody>
          <a:bodyPr wrap="square" lIns="54864" tIns="18288" rIns="54864" bIns="18288" anchor="ctr">
            <a:normAutofit/>
          </a:bodyPr>
          <a:lstStyle/>
          <a:p>
            <a:pPr algn="ctr">
              <a:buNone/>
            </a:pPr>
            <a:r>
              <a:rPr lang="en-US" sz="1400" b="1" dirty="0">
                <a:solidFill>
                  <a:srgbClr val="1F4E79"/>
                </a:solidFill>
                <a:latin typeface="Times New Roman" panose="02020603050405020304" pitchFamily="18" charset="0"/>
                <a:cs typeface="Times New Roman" panose="02020603050405020304" pitchFamily="18" charset="0"/>
              </a:rPr>
              <a:t>4. Reconstructed Range</a:t>
            </a:r>
            <a:r>
              <a:rPr lang="en-US" sz="1400" dirty="0">
                <a:solidFill>
                  <a:srgbClr val="404040"/>
                </a:solidFill>
                <a:latin typeface="Times New Roman" panose="02020603050405020304" pitchFamily="18" charset="0"/>
                <a:cs typeface="Times New Roman" panose="02020603050405020304" pitchFamily="18" charset="0"/>
              </a:rPr>
              <a:t> — from fit</a:t>
            </a:r>
          </a:p>
        </p:txBody>
      </p:sp>
      <p:sp>
        <p:nvSpPr>
          <p:cNvPr id="409" name="PipeArrow409"/>
          <p:cNvSpPr/>
          <p:nvPr/>
        </p:nvSpPr>
        <p:spPr>
          <a:xfrm>
            <a:off x="2120900" y="3200400"/>
            <a:ext cx="381000" cy="152400"/>
          </a:xfrm>
          <a:prstGeom prst="downArrow">
            <a:avLst/>
          </a:prstGeom>
          <a:solidFill>
            <a:srgbClr val="1F4E79"/>
          </a:solidFill>
          <a:ln>
            <a:noFill/>
          </a:ln>
        </p:spPr>
        <p:txBody>
          <a:bodyPr/>
          <a:lstStyle/>
          <a:p>
            <a:pPr>
              <a:buNone/>
            </a:pPr>
            <a:endParaRPr lang="en-US"/>
          </a:p>
        </p:txBody>
      </p:sp>
      <p:sp>
        <p:nvSpPr>
          <p:cNvPr id="404" name="PipeBox404"/>
          <p:cNvSpPr/>
          <p:nvPr/>
        </p:nvSpPr>
        <p:spPr>
          <a:xfrm>
            <a:off x="406400" y="3352800"/>
            <a:ext cx="3810000" cy="533400"/>
          </a:xfrm>
          <a:prstGeom prst="roundRect">
            <a:avLst>
              <a:gd name="adj" fmla="val 8000"/>
            </a:avLst>
          </a:prstGeom>
          <a:solidFill>
            <a:srgbClr val="FFFFFF"/>
          </a:solidFill>
          <a:ln w="12700">
            <a:solidFill>
              <a:srgbClr val="1F4E79"/>
            </a:solidFill>
            <a:prstDash val="dash"/>
          </a:ln>
        </p:spPr>
        <p:txBody>
          <a:bodyPr wrap="square" lIns="54864" tIns="18288" rIns="54864" bIns="18288" anchor="ctr">
            <a:normAutofit/>
          </a:bodyPr>
          <a:lstStyle/>
          <a:p>
            <a:pPr algn="ctr">
              <a:buNone/>
            </a:pPr>
            <a:r>
              <a:rPr lang="en-US" sz="1400" b="1" dirty="0">
                <a:solidFill>
                  <a:srgbClr val="1F4E79"/>
                </a:solidFill>
                <a:latin typeface="Times New Roman" panose="02020603050405020304" pitchFamily="18" charset="0"/>
                <a:cs typeface="Times New Roman" panose="02020603050405020304" pitchFamily="18" charset="0"/>
              </a:rPr>
              <a:t>5. LISE Projection</a:t>
            </a:r>
            <a:r>
              <a:rPr lang="en-US" sz="1400" dirty="0">
                <a:solidFill>
                  <a:srgbClr val="404040"/>
                </a:solidFill>
                <a:latin typeface="Times New Roman" panose="02020603050405020304" pitchFamily="18" charset="0"/>
                <a:cs typeface="Times New Roman" panose="02020603050405020304" pitchFamily="18" charset="0"/>
              </a:rPr>
              <a:t> — range→energy (ext.)</a:t>
            </a:r>
          </a:p>
        </p:txBody>
      </p:sp>
      <p:sp>
        <p:nvSpPr>
          <p:cNvPr id="410" name="PipeArrow410"/>
          <p:cNvSpPr/>
          <p:nvPr/>
        </p:nvSpPr>
        <p:spPr>
          <a:xfrm>
            <a:off x="2120900" y="3886200"/>
            <a:ext cx="381000" cy="152400"/>
          </a:xfrm>
          <a:prstGeom prst="downArrow">
            <a:avLst/>
          </a:prstGeom>
          <a:solidFill>
            <a:srgbClr val="1F4E79"/>
          </a:solidFill>
          <a:ln>
            <a:noFill/>
          </a:ln>
        </p:spPr>
        <p:txBody>
          <a:bodyPr/>
          <a:lstStyle/>
          <a:p>
            <a:pPr>
              <a:buNone/>
            </a:pPr>
            <a:endParaRPr lang="en-US"/>
          </a:p>
        </p:txBody>
      </p:sp>
      <p:sp>
        <p:nvSpPr>
          <p:cNvPr id="405" name="PipeBox405"/>
          <p:cNvSpPr/>
          <p:nvPr/>
        </p:nvSpPr>
        <p:spPr>
          <a:xfrm>
            <a:off x="406400" y="4038600"/>
            <a:ext cx="3810000" cy="533400"/>
          </a:xfrm>
          <a:prstGeom prst="roundRect">
            <a:avLst>
              <a:gd name="adj" fmla="val 8000"/>
            </a:avLst>
          </a:prstGeom>
          <a:solidFill>
            <a:srgbClr val="1F4E79"/>
          </a:solidFill>
          <a:ln w="12700">
            <a:solidFill>
              <a:srgbClr val="1F4E79"/>
            </a:solidFill>
          </a:ln>
        </p:spPr>
        <p:txBody>
          <a:bodyPr wrap="square" lIns="54864" tIns="18288" rIns="54864" bIns="18288" anchor="ctr">
            <a:normAutofit/>
          </a:bodyPr>
          <a:lstStyle/>
          <a:p>
            <a:pPr algn="ctr">
              <a:buNone/>
            </a:pPr>
            <a:r>
              <a:rPr lang="en-US" sz="1400" b="1" dirty="0">
                <a:solidFill>
                  <a:srgbClr val="FFFFFF"/>
                </a:solidFill>
                <a:latin typeface="Times New Roman" panose="02020603050405020304" pitchFamily="18" charset="0"/>
                <a:cs typeface="Times New Roman" panose="02020603050405020304" pitchFamily="18" charset="0"/>
              </a:rPr>
              <a:t>6. Predicted KE</a:t>
            </a:r>
            <a:r>
              <a:rPr lang="en-US" sz="1400" dirty="0">
                <a:solidFill>
                  <a:srgbClr val="FFFFFF"/>
                </a:solidFill>
                <a:latin typeface="Times New Roman" panose="02020603050405020304" pitchFamily="18" charset="0"/>
                <a:cs typeface="Times New Roman" panose="02020603050405020304" pitchFamily="18" charset="0"/>
              </a:rPr>
              <a:t> — final output</a:t>
            </a:r>
          </a:p>
        </p:txBody>
      </p:sp>
      <p:sp>
        <p:nvSpPr>
          <p:cNvPr id="411" name="Divider411"/>
          <p:cNvSpPr/>
          <p:nvPr/>
        </p:nvSpPr>
        <p:spPr>
          <a:xfrm>
            <a:off x="4700953" y="609600"/>
            <a:ext cx="12700" cy="3962400"/>
          </a:xfrm>
          <a:prstGeom prst="line">
            <a:avLst/>
          </a:prstGeom>
          <a:ln w="9525">
            <a:solidFill>
              <a:srgbClr val="1F4E79"/>
            </a:solidFill>
          </a:ln>
        </p:spPr>
        <p:txBody>
          <a:bodyPr/>
          <a:lstStyle/>
          <a:p>
            <a:pPr>
              <a:buNone/>
            </a:pPr>
            <a:endParaRPr lang="en-US"/>
          </a:p>
        </p:txBody>
      </p:sp>
      <p:pic>
        <p:nvPicPr>
          <p:cNvPr id="5" name="Picture 4">
            <a:extLst>
              <a:ext uri="{FF2B5EF4-FFF2-40B4-BE49-F238E27FC236}">
                <a16:creationId xmlns:a16="http://schemas.microsoft.com/office/drawing/2014/main" id="{F37E2CC9-6C56-4FE8-8E1D-FCD79A061628}"/>
              </a:ext>
            </a:extLst>
          </p:cNvPr>
          <p:cNvPicPr>
            <a:picLocks noChangeAspect="1"/>
          </p:cNvPicPr>
          <p:nvPr/>
        </p:nvPicPr>
        <p:blipFill>
          <a:blip r:embed="rId3"/>
          <a:srcRect l="51954" t="13717" r="234"/>
          <a:stretch>
            <a:fillRect/>
          </a:stretch>
        </p:blipFill>
        <p:spPr>
          <a:xfrm>
            <a:off x="5180332" y="739775"/>
            <a:ext cx="3210458" cy="2885395"/>
          </a:xfrm>
          <a:prstGeom prst="rect">
            <a:avLst/>
          </a:prstGeom>
        </p:spPr>
      </p:pic>
      <p:sp>
        <p:nvSpPr>
          <p:cNvPr id="7" name="PipeArrow407">
            <a:extLst>
              <a:ext uri="{FF2B5EF4-FFF2-40B4-BE49-F238E27FC236}">
                <a16:creationId xmlns:a16="http://schemas.microsoft.com/office/drawing/2014/main" id="{596357FD-1E16-915D-291E-6FD7B8D9E8A5}"/>
              </a:ext>
            </a:extLst>
          </p:cNvPr>
          <p:cNvSpPr/>
          <p:nvPr/>
        </p:nvSpPr>
        <p:spPr>
          <a:xfrm rot="16200000">
            <a:off x="4559790" y="1963249"/>
            <a:ext cx="381000" cy="635976"/>
          </a:xfrm>
          <a:prstGeom prst="downArrow">
            <a:avLst/>
          </a:prstGeom>
          <a:solidFill>
            <a:srgbClr val="1F4E79"/>
          </a:solidFill>
          <a:ln>
            <a:noFill/>
          </a:ln>
        </p:spPr>
        <p:txBody>
          <a:bodyPr/>
          <a:lstStyle/>
          <a:p>
            <a:pPr>
              <a:buNone/>
            </a:pPr>
            <a:endParaRPr lang="en-US"/>
          </a:p>
        </p:txBody>
      </p:sp>
      <p:sp>
        <p:nvSpPr>
          <p:cNvPr id="9" name="TextBox 8">
            <a:extLst>
              <a:ext uri="{FF2B5EF4-FFF2-40B4-BE49-F238E27FC236}">
                <a16:creationId xmlns:a16="http://schemas.microsoft.com/office/drawing/2014/main" id="{2206AC06-4CB1-A64A-19F6-0E049804BD5D}"/>
              </a:ext>
            </a:extLst>
          </p:cNvPr>
          <p:cNvSpPr txBox="1"/>
          <p:nvPr/>
        </p:nvSpPr>
        <p:spPr>
          <a:xfrm>
            <a:off x="4974494" y="3661370"/>
            <a:ext cx="3994641" cy="923330"/>
          </a:xfrm>
          <a:prstGeom prst="rect">
            <a:avLst/>
          </a:prstGeom>
          <a:noFill/>
        </p:spPr>
        <p:txBody>
          <a:bodyPr wrap="square" rtlCol="0">
            <a:spAutoFit/>
          </a:bodyPr>
          <a:lstStyle/>
          <a:p>
            <a:r>
              <a:rPr lang="en-JP" dirty="0"/>
              <a:t>Based on the anomaly classification, visualize the events extracted from the upper band and the shallow band</a:t>
            </a:r>
          </a:p>
        </p:txBody>
      </p:sp>
    </p:spTree>
    <p:extLst>
      <p:ext uri="{BB962C8B-B14F-4D97-AF65-F5344CB8AC3E}">
        <p14:creationId xmlns:p14="http://schemas.microsoft.com/office/powerpoint/2010/main" val="1570054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Anomaly Visualization</a:t>
            </a:r>
          </a:p>
        </p:txBody>
      </p:sp>
      <p:sp>
        <p:nvSpPr>
          <p:cNvPr id="6"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5 / 10</a:t>
            </a:r>
          </a:p>
        </p:txBody>
      </p:sp>
      <p:sp>
        <p:nvSpPr>
          <p:cNvPr id="22" name="TextBox 21">
            <a:extLst>
              <a:ext uri="{FF2B5EF4-FFF2-40B4-BE49-F238E27FC236}">
                <a16:creationId xmlns:a16="http://schemas.microsoft.com/office/drawing/2014/main" id="{961A257F-CF0E-891A-14E5-88590B22C81C}"/>
              </a:ext>
            </a:extLst>
          </p:cNvPr>
          <p:cNvSpPr txBox="1"/>
          <p:nvPr/>
        </p:nvSpPr>
        <p:spPr>
          <a:xfrm>
            <a:off x="188939" y="632420"/>
            <a:ext cx="1893467" cy="523220"/>
          </a:xfrm>
          <a:prstGeom prst="rect">
            <a:avLst/>
          </a:prstGeom>
          <a:noFill/>
        </p:spPr>
        <p:txBody>
          <a:bodyPr wrap="none" rtlCol="0">
            <a:spAutoFit/>
          </a:bodyPr>
          <a:lstStyle/>
          <a:p>
            <a:r>
              <a:rPr lang="en-JP" sz="1400" dirty="0"/>
              <a:t>Upper band K = 2</a:t>
            </a:r>
          </a:p>
          <a:p>
            <a:r>
              <a:rPr lang="en-JP" sz="1400" dirty="0"/>
              <a:t>Quantity: 1010 (</a:t>
            </a:r>
            <a:r>
              <a:rPr lang="en-US" altLang="zh-CN" sz="1400" dirty="0"/>
              <a:t>2.24</a:t>
            </a:r>
            <a:r>
              <a:rPr lang="en-JP" sz="1400" dirty="0"/>
              <a:t>%)</a:t>
            </a:r>
          </a:p>
        </p:txBody>
      </p:sp>
      <p:pic>
        <p:nvPicPr>
          <p:cNvPr id="24" name="Picture 23">
            <a:extLst>
              <a:ext uri="{FF2B5EF4-FFF2-40B4-BE49-F238E27FC236}">
                <a16:creationId xmlns:a16="http://schemas.microsoft.com/office/drawing/2014/main" id="{9903C87D-9AFB-1FDF-F9A9-1B410F21C2D7}"/>
              </a:ext>
            </a:extLst>
          </p:cNvPr>
          <p:cNvPicPr>
            <a:picLocks noChangeAspect="1"/>
          </p:cNvPicPr>
          <p:nvPr/>
        </p:nvPicPr>
        <p:blipFill>
          <a:blip r:embed="rId3"/>
          <a:stretch>
            <a:fillRect/>
          </a:stretch>
        </p:blipFill>
        <p:spPr>
          <a:xfrm>
            <a:off x="0" y="1142068"/>
            <a:ext cx="2754923" cy="1321467"/>
          </a:xfrm>
          <a:prstGeom prst="rect">
            <a:avLst/>
          </a:prstGeom>
        </p:spPr>
      </p:pic>
      <p:pic>
        <p:nvPicPr>
          <p:cNvPr id="29" name="Picture 28">
            <a:extLst>
              <a:ext uri="{FF2B5EF4-FFF2-40B4-BE49-F238E27FC236}">
                <a16:creationId xmlns:a16="http://schemas.microsoft.com/office/drawing/2014/main" id="{74A256FD-B2D5-B80F-4FF0-5A9F590A9FF4}"/>
              </a:ext>
            </a:extLst>
          </p:cNvPr>
          <p:cNvPicPr>
            <a:picLocks noChangeAspect="1"/>
          </p:cNvPicPr>
          <p:nvPr/>
        </p:nvPicPr>
        <p:blipFill>
          <a:blip r:embed="rId4"/>
          <a:stretch>
            <a:fillRect/>
          </a:stretch>
        </p:blipFill>
        <p:spPr>
          <a:xfrm>
            <a:off x="2943862" y="1142067"/>
            <a:ext cx="2754923" cy="1321467"/>
          </a:xfrm>
          <a:prstGeom prst="rect">
            <a:avLst/>
          </a:prstGeom>
        </p:spPr>
      </p:pic>
      <p:sp>
        <p:nvSpPr>
          <p:cNvPr id="31" name="TextBox 30">
            <a:extLst>
              <a:ext uri="{FF2B5EF4-FFF2-40B4-BE49-F238E27FC236}">
                <a16:creationId xmlns:a16="http://schemas.microsoft.com/office/drawing/2014/main" id="{5B3DDDD8-07DB-36AF-CB5D-34A451218151}"/>
              </a:ext>
            </a:extLst>
          </p:cNvPr>
          <p:cNvSpPr txBox="1"/>
          <p:nvPr/>
        </p:nvSpPr>
        <p:spPr>
          <a:xfrm>
            <a:off x="3183948" y="603845"/>
            <a:ext cx="1893467" cy="523220"/>
          </a:xfrm>
          <a:prstGeom prst="rect">
            <a:avLst/>
          </a:prstGeom>
          <a:noFill/>
        </p:spPr>
        <p:txBody>
          <a:bodyPr wrap="none" rtlCol="0">
            <a:spAutoFit/>
          </a:bodyPr>
          <a:lstStyle/>
          <a:p>
            <a:r>
              <a:rPr lang="en-JP" sz="1400" dirty="0"/>
              <a:t>Upper band K = </a:t>
            </a:r>
            <a:r>
              <a:rPr lang="en-US" altLang="zh-CN" sz="1400" dirty="0"/>
              <a:t>3</a:t>
            </a:r>
            <a:endParaRPr lang="en-JP" sz="1400" dirty="0"/>
          </a:p>
          <a:p>
            <a:r>
              <a:rPr lang="en-JP" sz="1400" dirty="0"/>
              <a:t>Quantity: </a:t>
            </a:r>
            <a:r>
              <a:rPr lang="en-US" altLang="zh-CN" sz="1400" dirty="0"/>
              <a:t>2478</a:t>
            </a:r>
            <a:r>
              <a:rPr lang="en-JP" sz="1400" dirty="0"/>
              <a:t> (</a:t>
            </a:r>
            <a:r>
              <a:rPr lang="en-US" altLang="zh-CN" sz="1400" dirty="0"/>
              <a:t>5.51</a:t>
            </a:r>
            <a:r>
              <a:rPr lang="en-JP" sz="1400" dirty="0"/>
              <a:t>%)</a:t>
            </a:r>
          </a:p>
        </p:txBody>
      </p:sp>
      <p:sp>
        <p:nvSpPr>
          <p:cNvPr id="32" name="TextBox 31">
            <a:extLst>
              <a:ext uri="{FF2B5EF4-FFF2-40B4-BE49-F238E27FC236}">
                <a16:creationId xmlns:a16="http://schemas.microsoft.com/office/drawing/2014/main" id="{339FA7E8-89BE-EFFD-3403-E315DE989442}"/>
              </a:ext>
            </a:extLst>
          </p:cNvPr>
          <p:cNvSpPr txBox="1"/>
          <p:nvPr/>
        </p:nvSpPr>
        <p:spPr>
          <a:xfrm>
            <a:off x="6163974" y="603845"/>
            <a:ext cx="1893467" cy="523220"/>
          </a:xfrm>
          <a:prstGeom prst="rect">
            <a:avLst/>
          </a:prstGeom>
          <a:noFill/>
        </p:spPr>
        <p:txBody>
          <a:bodyPr wrap="none" rtlCol="0">
            <a:spAutoFit/>
          </a:bodyPr>
          <a:lstStyle/>
          <a:p>
            <a:r>
              <a:rPr lang="en-JP" sz="1400" dirty="0"/>
              <a:t>Upper band K = </a:t>
            </a:r>
            <a:r>
              <a:rPr lang="en-US" altLang="zh-CN" sz="1400" dirty="0"/>
              <a:t>4</a:t>
            </a:r>
            <a:endParaRPr lang="en-JP" sz="1400" dirty="0"/>
          </a:p>
          <a:p>
            <a:r>
              <a:rPr lang="en-JP" sz="1400" dirty="0"/>
              <a:t>Quantity: 2694 (5.99%)</a:t>
            </a:r>
          </a:p>
        </p:txBody>
      </p:sp>
      <p:pic>
        <p:nvPicPr>
          <p:cNvPr id="34" name="Picture 33">
            <a:extLst>
              <a:ext uri="{FF2B5EF4-FFF2-40B4-BE49-F238E27FC236}">
                <a16:creationId xmlns:a16="http://schemas.microsoft.com/office/drawing/2014/main" id="{4821E980-5249-32EB-2938-37FAE11D4485}"/>
              </a:ext>
            </a:extLst>
          </p:cNvPr>
          <p:cNvPicPr>
            <a:picLocks noChangeAspect="1"/>
          </p:cNvPicPr>
          <p:nvPr/>
        </p:nvPicPr>
        <p:blipFill>
          <a:blip r:embed="rId5"/>
          <a:stretch>
            <a:fillRect/>
          </a:stretch>
        </p:blipFill>
        <p:spPr>
          <a:xfrm>
            <a:off x="5887724" y="1067853"/>
            <a:ext cx="2943862" cy="1412096"/>
          </a:xfrm>
          <a:prstGeom prst="rect">
            <a:avLst/>
          </a:prstGeom>
        </p:spPr>
      </p:pic>
      <p:sp>
        <p:nvSpPr>
          <p:cNvPr id="35" name="TextBox 34">
            <a:extLst>
              <a:ext uri="{FF2B5EF4-FFF2-40B4-BE49-F238E27FC236}">
                <a16:creationId xmlns:a16="http://schemas.microsoft.com/office/drawing/2014/main" id="{BA4036F9-9C60-DE8D-3963-6616C8ED7611}"/>
              </a:ext>
            </a:extLst>
          </p:cNvPr>
          <p:cNvSpPr txBox="1"/>
          <p:nvPr/>
        </p:nvSpPr>
        <p:spPr>
          <a:xfrm>
            <a:off x="188939" y="2601897"/>
            <a:ext cx="1893467" cy="523220"/>
          </a:xfrm>
          <a:prstGeom prst="rect">
            <a:avLst/>
          </a:prstGeom>
          <a:noFill/>
        </p:spPr>
        <p:txBody>
          <a:bodyPr wrap="none" rtlCol="0">
            <a:spAutoFit/>
          </a:bodyPr>
          <a:lstStyle/>
          <a:p>
            <a:r>
              <a:rPr lang="en-JP" sz="1400" dirty="0"/>
              <a:t>Shallow band K = 2</a:t>
            </a:r>
          </a:p>
          <a:p>
            <a:r>
              <a:rPr lang="en-JP" sz="1400" dirty="0"/>
              <a:t>Quantity: 1366 (3.04%)</a:t>
            </a:r>
          </a:p>
        </p:txBody>
      </p:sp>
      <p:pic>
        <p:nvPicPr>
          <p:cNvPr id="37" name="Picture 36">
            <a:extLst>
              <a:ext uri="{FF2B5EF4-FFF2-40B4-BE49-F238E27FC236}">
                <a16:creationId xmlns:a16="http://schemas.microsoft.com/office/drawing/2014/main" id="{40E6EAD4-599D-13F9-0D22-B98A7FC0611A}"/>
              </a:ext>
            </a:extLst>
          </p:cNvPr>
          <p:cNvPicPr>
            <a:picLocks noChangeAspect="1"/>
          </p:cNvPicPr>
          <p:nvPr/>
        </p:nvPicPr>
        <p:blipFill>
          <a:blip r:embed="rId6"/>
          <a:stretch>
            <a:fillRect/>
          </a:stretch>
        </p:blipFill>
        <p:spPr>
          <a:xfrm>
            <a:off x="0" y="3195738"/>
            <a:ext cx="2754923" cy="1321467"/>
          </a:xfrm>
          <a:prstGeom prst="rect">
            <a:avLst/>
          </a:prstGeom>
        </p:spPr>
      </p:pic>
      <p:sp>
        <p:nvSpPr>
          <p:cNvPr id="38" name="TextBox 37">
            <a:extLst>
              <a:ext uri="{FF2B5EF4-FFF2-40B4-BE49-F238E27FC236}">
                <a16:creationId xmlns:a16="http://schemas.microsoft.com/office/drawing/2014/main" id="{8C224F4E-4687-AD24-8D36-D740D669F496}"/>
              </a:ext>
            </a:extLst>
          </p:cNvPr>
          <p:cNvSpPr txBox="1"/>
          <p:nvPr/>
        </p:nvSpPr>
        <p:spPr>
          <a:xfrm>
            <a:off x="3183948" y="2612995"/>
            <a:ext cx="1893467" cy="523220"/>
          </a:xfrm>
          <a:prstGeom prst="rect">
            <a:avLst/>
          </a:prstGeom>
          <a:noFill/>
        </p:spPr>
        <p:txBody>
          <a:bodyPr wrap="none" rtlCol="0">
            <a:spAutoFit/>
          </a:bodyPr>
          <a:lstStyle/>
          <a:p>
            <a:r>
              <a:rPr lang="en-JP" sz="1400" dirty="0"/>
              <a:t>Shallow band K = </a:t>
            </a:r>
            <a:r>
              <a:rPr lang="en-US" altLang="zh-CN" sz="1400" dirty="0"/>
              <a:t>3</a:t>
            </a:r>
            <a:endParaRPr lang="en-JP" sz="1400" dirty="0"/>
          </a:p>
          <a:p>
            <a:r>
              <a:rPr lang="en-JP" sz="1400" dirty="0"/>
              <a:t>Quantity: 1285 (2.86%)</a:t>
            </a:r>
          </a:p>
        </p:txBody>
      </p:sp>
      <p:sp>
        <p:nvSpPr>
          <p:cNvPr id="39" name="TextBox 38">
            <a:extLst>
              <a:ext uri="{FF2B5EF4-FFF2-40B4-BE49-F238E27FC236}">
                <a16:creationId xmlns:a16="http://schemas.microsoft.com/office/drawing/2014/main" id="{FC3B146E-485D-521A-15AF-E90E587A4EDE}"/>
              </a:ext>
            </a:extLst>
          </p:cNvPr>
          <p:cNvSpPr txBox="1"/>
          <p:nvPr/>
        </p:nvSpPr>
        <p:spPr>
          <a:xfrm>
            <a:off x="6163974" y="2612995"/>
            <a:ext cx="1803699" cy="523220"/>
          </a:xfrm>
          <a:prstGeom prst="rect">
            <a:avLst/>
          </a:prstGeom>
          <a:noFill/>
        </p:spPr>
        <p:txBody>
          <a:bodyPr wrap="none" rtlCol="0">
            <a:spAutoFit/>
          </a:bodyPr>
          <a:lstStyle/>
          <a:p>
            <a:r>
              <a:rPr lang="en-JP" sz="1400" dirty="0"/>
              <a:t>Shallow band K = </a:t>
            </a:r>
            <a:r>
              <a:rPr lang="en-US" altLang="zh-CN" sz="1400" dirty="0"/>
              <a:t>4</a:t>
            </a:r>
            <a:endParaRPr lang="en-JP" sz="1400" dirty="0"/>
          </a:p>
          <a:p>
            <a:r>
              <a:rPr lang="en-JP" sz="1400" dirty="0"/>
              <a:t>Quantity: </a:t>
            </a:r>
            <a:r>
              <a:rPr lang="en-US" sz="1400" dirty="0"/>
              <a:t>687</a:t>
            </a:r>
            <a:r>
              <a:rPr lang="en-JP" sz="1400" dirty="0"/>
              <a:t> (1.53%)</a:t>
            </a:r>
          </a:p>
        </p:txBody>
      </p:sp>
      <p:pic>
        <p:nvPicPr>
          <p:cNvPr id="41" name="Picture 40">
            <a:extLst>
              <a:ext uri="{FF2B5EF4-FFF2-40B4-BE49-F238E27FC236}">
                <a16:creationId xmlns:a16="http://schemas.microsoft.com/office/drawing/2014/main" id="{F8DEF6D6-F39F-508D-B780-449B9DC250CB}"/>
              </a:ext>
            </a:extLst>
          </p:cNvPr>
          <p:cNvPicPr>
            <a:picLocks noChangeAspect="1"/>
          </p:cNvPicPr>
          <p:nvPr/>
        </p:nvPicPr>
        <p:blipFill>
          <a:blip r:embed="rId7"/>
          <a:stretch>
            <a:fillRect/>
          </a:stretch>
        </p:blipFill>
        <p:spPr>
          <a:xfrm>
            <a:off x="2943862" y="3200027"/>
            <a:ext cx="2754923" cy="1321467"/>
          </a:xfrm>
          <a:prstGeom prst="rect">
            <a:avLst/>
          </a:prstGeom>
        </p:spPr>
      </p:pic>
      <p:pic>
        <p:nvPicPr>
          <p:cNvPr id="43" name="Picture 42">
            <a:extLst>
              <a:ext uri="{FF2B5EF4-FFF2-40B4-BE49-F238E27FC236}">
                <a16:creationId xmlns:a16="http://schemas.microsoft.com/office/drawing/2014/main" id="{D8AA8254-18B5-4617-0D2C-7EFA62755BE7}"/>
              </a:ext>
            </a:extLst>
          </p:cNvPr>
          <p:cNvPicPr>
            <a:picLocks noChangeAspect="1"/>
          </p:cNvPicPr>
          <p:nvPr/>
        </p:nvPicPr>
        <p:blipFill>
          <a:blip r:embed="rId8"/>
          <a:stretch>
            <a:fillRect/>
          </a:stretch>
        </p:blipFill>
        <p:spPr>
          <a:xfrm>
            <a:off x="5887724" y="3125117"/>
            <a:ext cx="2943862" cy="1412096"/>
          </a:xfrm>
          <a:prstGeom prst="rect">
            <a:avLst/>
          </a:prstGeom>
        </p:spPr>
      </p:pic>
    </p:spTree>
    <p:extLst>
      <p:ext uri="{BB962C8B-B14F-4D97-AF65-F5344CB8AC3E}">
        <p14:creationId xmlns:p14="http://schemas.microsoft.com/office/powerpoint/2010/main" val="591684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B72E1-5092-09C9-D44B-95D9F7BB1B80}"/>
            </a:ext>
          </a:extLst>
        </p:cNvPr>
        <p:cNvGrpSpPr/>
        <p:nvPr/>
      </p:nvGrpSpPr>
      <p:grpSpPr>
        <a:xfrm>
          <a:off x="0" y="0"/>
          <a:ext cx="0" cy="0"/>
          <a:chOff x="0" y="0"/>
          <a:chExt cx="0" cy="0"/>
        </a:xfrm>
      </p:grpSpPr>
      <p:sp>
        <p:nvSpPr>
          <p:cNvPr id="4" name="BottomRule">
            <a:extLst>
              <a:ext uri="{FF2B5EF4-FFF2-40B4-BE49-F238E27FC236}">
                <a16:creationId xmlns:a16="http://schemas.microsoft.com/office/drawing/2014/main" id="{54F24F8A-1C46-8F74-0F40-2E29D04B5970}"/>
              </a:ext>
            </a:extLst>
          </p:cNvPr>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a:extLst>
              <a:ext uri="{FF2B5EF4-FFF2-40B4-BE49-F238E27FC236}">
                <a16:creationId xmlns:a16="http://schemas.microsoft.com/office/drawing/2014/main" id="{BC5B72B7-0A1C-AE21-7DE6-9879013F417B}"/>
              </a:ext>
            </a:extLst>
          </p:cNvPr>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a:extLst>
              <a:ext uri="{FF2B5EF4-FFF2-40B4-BE49-F238E27FC236}">
                <a16:creationId xmlns:a16="http://schemas.microsoft.com/office/drawing/2014/main" id="{5B513E7C-033D-C6A9-9594-6618CFC9E868}"/>
              </a:ext>
            </a:extLst>
          </p:cNvP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a:extLst>
              <a:ext uri="{FF2B5EF4-FFF2-40B4-BE49-F238E27FC236}">
                <a16:creationId xmlns:a16="http://schemas.microsoft.com/office/drawing/2014/main" id="{61C232E7-4CD3-FE44-EF3A-43A2F0CF744D}"/>
              </a:ext>
            </a:extLst>
          </p:cNvPr>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Anomaly Analysis</a:t>
            </a:r>
          </a:p>
        </p:txBody>
      </p:sp>
      <p:sp>
        <p:nvSpPr>
          <p:cNvPr id="6" name="PageNum">
            <a:extLst>
              <a:ext uri="{FF2B5EF4-FFF2-40B4-BE49-F238E27FC236}">
                <a16:creationId xmlns:a16="http://schemas.microsoft.com/office/drawing/2014/main" id="{586ABB53-B252-0AA3-7181-E8CA9BF9821D}"/>
              </a:ext>
            </a:extLst>
          </p:cNvPr>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6 / 10</a:t>
            </a:r>
          </a:p>
        </p:txBody>
      </p:sp>
      <p:pic>
        <p:nvPicPr>
          <p:cNvPr id="7" name="Picture 6">
            <a:extLst>
              <a:ext uri="{FF2B5EF4-FFF2-40B4-BE49-F238E27FC236}">
                <a16:creationId xmlns:a16="http://schemas.microsoft.com/office/drawing/2014/main" id="{68202A8B-ECA3-ADCC-EECD-A7C80BD8C1C3}"/>
              </a:ext>
            </a:extLst>
          </p:cNvPr>
          <p:cNvPicPr>
            <a:picLocks noChangeAspect="1"/>
          </p:cNvPicPr>
          <p:nvPr/>
        </p:nvPicPr>
        <p:blipFill>
          <a:blip r:embed="rId3"/>
          <a:srcRect t="17458"/>
          <a:stretch>
            <a:fillRect/>
          </a:stretch>
        </p:blipFill>
        <p:spPr>
          <a:xfrm>
            <a:off x="212481" y="913658"/>
            <a:ext cx="4992565" cy="1634577"/>
          </a:xfrm>
          <a:prstGeom prst="rect">
            <a:avLst/>
          </a:prstGeom>
        </p:spPr>
      </p:pic>
      <p:pic>
        <p:nvPicPr>
          <p:cNvPr id="9" name="Picture 8">
            <a:extLst>
              <a:ext uri="{FF2B5EF4-FFF2-40B4-BE49-F238E27FC236}">
                <a16:creationId xmlns:a16="http://schemas.microsoft.com/office/drawing/2014/main" id="{57985702-C11D-F2F2-102C-1CF7A31A8020}"/>
              </a:ext>
            </a:extLst>
          </p:cNvPr>
          <p:cNvPicPr>
            <a:picLocks noChangeAspect="1"/>
          </p:cNvPicPr>
          <p:nvPr/>
        </p:nvPicPr>
        <p:blipFill>
          <a:blip r:embed="rId4"/>
          <a:srcRect t="15893"/>
          <a:stretch>
            <a:fillRect/>
          </a:stretch>
        </p:blipFill>
        <p:spPr>
          <a:xfrm>
            <a:off x="212481" y="2968034"/>
            <a:ext cx="4992565" cy="1644141"/>
          </a:xfrm>
          <a:prstGeom prst="rect">
            <a:avLst/>
          </a:prstGeom>
        </p:spPr>
      </p:pic>
      <p:cxnSp>
        <p:nvCxnSpPr>
          <p:cNvPr id="13" name="Straight Connector 12">
            <a:extLst>
              <a:ext uri="{FF2B5EF4-FFF2-40B4-BE49-F238E27FC236}">
                <a16:creationId xmlns:a16="http://schemas.microsoft.com/office/drawing/2014/main" id="{5ED4D05E-436A-CE6B-B578-C622EDD6B7ED}"/>
              </a:ext>
            </a:extLst>
          </p:cNvPr>
          <p:cNvCxnSpPr>
            <a:cxnSpLocks/>
          </p:cNvCxnSpPr>
          <p:nvPr/>
        </p:nvCxnSpPr>
        <p:spPr>
          <a:xfrm>
            <a:off x="476250" y="2559958"/>
            <a:ext cx="4794495" cy="10589"/>
          </a:xfrm>
          <a:prstGeom prst="line">
            <a:avLst/>
          </a:prstGeom>
          <a:ln w="19050" cap="flat">
            <a:prstDash val="dash"/>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EB49945C-CD5E-A789-3DF7-A9A3E68A56C6}"/>
              </a:ext>
            </a:extLst>
          </p:cNvPr>
          <p:cNvSpPr txBox="1"/>
          <p:nvPr/>
        </p:nvSpPr>
        <p:spPr>
          <a:xfrm>
            <a:off x="111063" y="550318"/>
            <a:ext cx="4175887" cy="307777"/>
          </a:xfrm>
          <a:prstGeom prst="rect">
            <a:avLst/>
          </a:prstGeom>
          <a:noFill/>
        </p:spPr>
        <p:txBody>
          <a:bodyPr wrap="none" rtlCol="0">
            <a:spAutoFit/>
          </a:bodyPr>
          <a:lstStyle/>
          <a:p>
            <a:r>
              <a:rPr lang="en-JP" sz="1400" dirty="0"/>
              <a:t>A back-to-back pair is fitted as one track      upper band</a:t>
            </a:r>
          </a:p>
        </p:txBody>
      </p:sp>
      <p:sp>
        <p:nvSpPr>
          <p:cNvPr id="17" name="Right Arrow 16">
            <a:extLst>
              <a:ext uri="{FF2B5EF4-FFF2-40B4-BE49-F238E27FC236}">
                <a16:creationId xmlns:a16="http://schemas.microsoft.com/office/drawing/2014/main" id="{8F655399-4F65-CD7D-94DD-0001C2D7231E}"/>
              </a:ext>
            </a:extLst>
          </p:cNvPr>
          <p:cNvSpPr/>
          <p:nvPr/>
        </p:nvSpPr>
        <p:spPr>
          <a:xfrm>
            <a:off x="3141791" y="703385"/>
            <a:ext cx="164123" cy="45719"/>
          </a:xfrm>
          <a:prstGeom prst="rightArrow">
            <a:avLst/>
          </a:prstGeom>
          <a:solidFill>
            <a:schemeClr val="bg1"/>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JP"/>
          </a:p>
        </p:txBody>
      </p:sp>
      <p:sp>
        <p:nvSpPr>
          <p:cNvPr id="18" name="TextBox 17">
            <a:extLst>
              <a:ext uri="{FF2B5EF4-FFF2-40B4-BE49-F238E27FC236}">
                <a16:creationId xmlns:a16="http://schemas.microsoft.com/office/drawing/2014/main" id="{97AB24FC-2BC3-2A93-F369-686DCE6E028A}"/>
              </a:ext>
            </a:extLst>
          </p:cNvPr>
          <p:cNvSpPr txBox="1"/>
          <p:nvPr/>
        </p:nvSpPr>
        <p:spPr>
          <a:xfrm>
            <a:off x="111063" y="2660257"/>
            <a:ext cx="4802405" cy="307777"/>
          </a:xfrm>
          <a:prstGeom prst="rect">
            <a:avLst/>
          </a:prstGeom>
          <a:noFill/>
        </p:spPr>
        <p:txBody>
          <a:bodyPr wrap="none" rtlCol="0">
            <a:spAutoFit/>
          </a:bodyPr>
          <a:lstStyle/>
          <a:p>
            <a:r>
              <a:rPr lang="en-JP" sz="1400" dirty="0"/>
              <a:t>Fit 1’s corrider occupies Fit 2’s vertex-proximal     shallow band</a:t>
            </a:r>
          </a:p>
        </p:txBody>
      </p:sp>
      <p:sp>
        <p:nvSpPr>
          <p:cNvPr id="19" name="Right Arrow 18">
            <a:extLst>
              <a:ext uri="{FF2B5EF4-FFF2-40B4-BE49-F238E27FC236}">
                <a16:creationId xmlns:a16="http://schemas.microsoft.com/office/drawing/2014/main" id="{664CD998-3B77-A027-EEBD-CAD27D078C3E}"/>
              </a:ext>
            </a:extLst>
          </p:cNvPr>
          <p:cNvSpPr/>
          <p:nvPr/>
        </p:nvSpPr>
        <p:spPr>
          <a:xfrm>
            <a:off x="3634160" y="2817900"/>
            <a:ext cx="164123" cy="45719"/>
          </a:xfrm>
          <a:prstGeom prst="rightArrow">
            <a:avLst/>
          </a:prstGeom>
          <a:solidFill>
            <a:schemeClr val="bg1"/>
          </a:solidFill>
          <a:ln>
            <a:solidFill>
              <a:schemeClr val="tx1"/>
            </a:solidFill>
          </a:ln>
          <a:effectLst>
            <a:outerShdw blurRad="40000" dist="23000" dir="5400000" rotWithShape="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JP"/>
          </a:p>
        </p:txBody>
      </p:sp>
      <p:pic>
        <p:nvPicPr>
          <p:cNvPr id="21" name="Picture 20">
            <a:extLst>
              <a:ext uri="{FF2B5EF4-FFF2-40B4-BE49-F238E27FC236}">
                <a16:creationId xmlns:a16="http://schemas.microsoft.com/office/drawing/2014/main" id="{A89013FE-8C7A-CCEF-304F-0713AE0140A6}"/>
              </a:ext>
            </a:extLst>
          </p:cNvPr>
          <p:cNvPicPr>
            <a:picLocks noChangeAspect="1"/>
          </p:cNvPicPr>
          <p:nvPr/>
        </p:nvPicPr>
        <p:blipFill>
          <a:blip r:embed="rId5"/>
          <a:stretch>
            <a:fillRect/>
          </a:stretch>
        </p:blipFill>
        <p:spPr>
          <a:xfrm>
            <a:off x="5408422" y="729581"/>
            <a:ext cx="3523097" cy="2301023"/>
          </a:xfrm>
          <a:prstGeom prst="rect">
            <a:avLst/>
          </a:prstGeom>
        </p:spPr>
      </p:pic>
      <p:cxnSp>
        <p:nvCxnSpPr>
          <p:cNvPr id="23" name="Straight Connector 22">
            <a:extLst>
              <a:ext uri="{FF2B5EF4-FFF2-40B4-BE49-F238E27FC236}">
                <a16:creationId xmlns:a16="http://schemas.microsoft.com/office/drawing/2014/main" id="{1347D8E8-0453-3F25-A694-9BCDE1A0CCB8}"/>
              </a:ext>
            </a:extLst>
          </p:cNvPr>
          <p:cNvCxnSpPr>
            <a:cxnSpLocks/>
          </p:cNvCxnSpPr>
          <p:nvPr/>
        </p:nvCxnSpPr>
        <p:spPr>
          <a:xfrm flipV="1">
            <a:off x="5317637" y="715108"/>
            <a:ext cx="0" cy="3748165"/>
          </a:xfrm>
          <a:prstGeom prst="line">
            <a:avLst/>
          </a:prstGeom>
          <a:ln w="19050" cap="flat">
            <a:prstDash val="dash"/>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A816118D-0837-FD5D-90B6-F709F1C06BEE}"/>
              </a:ext>
            </a:extLst>
          </p:cNvPr>
          <p:cNvSpPr txBox="1"/>
          <p:nvPr/>
        </p:nvSpPr>
        <p:spPr>
          <a:xfrm>
            <a:off x="6121201" y="505082"/>
            <a:ext cx="2306337" cy="307777"/>
          </a:xfrm>
          <a:prstGeom prst="rect">
            <a:avLst/>
          </a:prstGeom>
          <a:noFill/>
        </p:spPr>
        <p:txBody>
          <a:bodyPr wrap="none" rtlCol="0">
            <a:spAutoFit/>
          </a:bodyPr>
          <a:lstStyle/>
          <a:p>
            <a:r>
              <a:rPr lang="en-JP" sz="1400" dirty="0"/>
              <a:t>Quantization and Verification</a:t>
            </a:r>
          </a:p>
        </p:txBody>
      </p:sp>
      <p:pic>
        <p:nvPicPr>
          <p:cNvPr id="46" name="Picture 45">
            <a:extLst>
              <a:ext uri="{FF2B5EF4-FFF2-40B4-BE49-F238E27FC236}">
                <a16:creationId xmlns:a16="http://schemas.microsoft.com/office/drawing/2014/main" id="{A5635447-CA1B-73CC-4913-0A4F4CD1CAFA}"/>
              </a:ext>
            </a:extLst>
          </p:cNvPr>
          <p:cNvPicPr>
            <a:picLocks noChangeAspect="1"/>
          </p:cNvPicPr>
          <p:nvPr/>
        </p:nvPicPr>
        <p:blipFill>
          <a:blip r:embed="rId6"/>
          <a:srcRect t="12483" b="10256"/>
          <a:stretch>
            <a:fillRect/>
          </a:stretch>
        </p:blipFill>
        <p:spPr>
          <a:xfrm>
            <a:off x="5580353" y="3104792"/>
            <a:ext cx="3469694" cy="1505308"/>
          </a:xfrm>
          <a:prstGeom prst="rect">
            <a:avLst/>
          </a:prstGeom>
        </p:spPr>
      </p:pic>
      <p:cxnSp>
        <p:nvCxnSpPr>
          <p:cNvPr id="47" name="Straight Connector 46">
            <a:extLst>
              <a:ext uri="{FF2B5EF4-FFF2-40B4-BE49-F238E27FC236}">
                <a16:creationId xmlns:a16="http://schemas.microsoft.com/office/drawing/2014/main" id="{440585F7-F55F-B633-C75E-55332ECAB518}"/>
              </a:ext>
            </a:extLst>
          </p:cNvPr>
          <p:cNvCxnSpPr>
            <a:cxnSpLocks/>
          </p:cNvCxnSpPr>
          <p:nvPr/>
        </p:nvCxnSpPr>
        <p:spPr>
          <a:xfrm>
            <a:off x="5408422" y="3056078"/>
            <a:ext cx="3259328" cy="0"/>
          </a:xfrm>
          <a:prstGeom prst="line">
            <a:avLst/>
          </a:prstGeom>
          <a:ln w="19050" cap="flat">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8389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3C0FD-6457-C72A-BF48-CEBFA4C625F7}"/>
            </a:ext>
          </a:extLst>
        </p:cNvPr>
        <p:cNvGrpSpPr/>
        <p:nvPr/>
      </p:nvGrpSpPr>
      <p:grpSpPr>
        <a:xfrm>
          <a:off x="0" y="0"/>
          <a:ext cx="0" cy="0"/>
          <a:chOff x="0" y="0"/>
          <a:chExt cx="0" cy="0"/>
        </a:xfrm>
      </p:grpSpPr>
      <p:sp>
        <p:nvSpPr>
          <p:cNvPr id="4" name="BottomRule">
            <a:extLst>
              <a:ext uri="{FF2B5EF4-FFF2-40B4-BE49-F238E27FC236}">
                <a16:creationId xmlns:a16="http://schemas.microsoft.com/office/drawing/2014/main" id="{D2D3D162-F373-AFE7-C30C-51F740142D0D}"/>
              </a:ext>
            </a:extLst>
          </p:cNvPr>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a:extLst>
              <a:ext uri="{FF2B5EF4-FFF2-40B4-BE49-F238E27FC236}">
                <a16:creationId xmlns:a16="http://schemas.microsoft.com/office/drawing/2014/main" id="{4B292923-BBD4-9B00-877A-2CF4C64AF6D8}"/>
              </a:ext>
            </a:extLst>
          </p:cNvPr>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a:extLst>
              <a:ext uri="{FF2B5EF4-FFF2-40B4-BE49-F238E27FC236}">
                <a16:creationId xmlns:a16="http://schemas.microsoft.com/office/drawing/2014/main" id="{6ACBE396-41DF-FE2C-9975-B60F1602D3B5}"/>
              </a:ext>
            </a:extLst>
          </p:cNvP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a:extLst>
              <a:ext uri="{FF2B5EF4-FFF2-40B4-BE49-F238E27FC236}">
                <a16:creationId xmlns:a16="http://schemas.microsoft.com/office/drawing/2014/main" id="{E49EB6C6-7A5E-FBAC-D59E-74690DF050D1}"/>
              </a:ext>
            </a:extLst>
          </p:cNvPr>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After Rectification</a:t>
            </a:r>
          </a:p>
        </p:txBody>
      </p:sp>
      <p:sp>
        <p:nvSpPr>
          <p:cNvPr id="6" name="PageNum">
            <a:extLst>
              <a:ext uri="{FF2B5EF4-FFF2-40B4-BE49-F238E27FC236}">
                <a16:creationId xmlns:a16="http://schemas.microsoft.com/office/drawing/2014/main" id="{CE4F2A48-4A05-6108-B940-CBCC55459EFA}"/>
              </a:ext>
            </a:extLst>
          </p:cNvPr>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7 / 10</a:t>
            </a:r>
          </a:p>
        </p:txBody>
      </p:sp>
      <p:pic>
        <p:nvPicPr>
          <p:cNvPr id="8" name="Picture 7">
            <a:extLst>
              <a:ext uri="{FF2B5EF4-FFF2-40B4-BE49-F238E27FC236}">
                <a16:creationId xmlns:a16="http://schemas.microsoft.com/office/drawing/2014/main" id="{F9F81545-19AF-E4AE-7C21-7FBC12327226}"/>
              </a:ext>
            </a:extLst>
          </p:cNvPr>
          <p:cNvPicPr>
            <a:picLocks noChangeAspect="1"/>
          </p:cNvPicPr>
          <p:nvPr/>
        </p:nvPicPr>
        <p:blipFill>
          <a:blip r:embed="rId3"/>
          <a:srcRect l="10918" t="4443" r="12030"/>
          <a:stretch>
            <a:fillRect/>
          </a:stretch>
        </p:blipFill>
        <p:spPr>
          <a:xfrm>
            <a:off x="628791" y="552199"/>
            <a:ext cx="3684735" cy="4105211"/>
          </a:xfrm>
          <a:prstGeom prst="rect">
            <a:avLst/>
          </a:prstGeom>
        </p:spPr>
      </p:pic>
      <p:pic>
        <p:nvPicPr>
          <p:cNvPr id="11" name="Picture 10">
            <a:extLst>
              <a:ext uri="{FF2B5EF4-FFF2-40B4-BE49-F238E27FC236}">
                <a16:creationId xmlns:a16="http://schemas.microsoft.com/office/drawing/2014/main" id="{31BE0A3C-1F70-7571-7810-8A437194B04A}"/>
              </a:ext>
            </a:extLst>
          </p:cNvPr>
          <p:cNvPicPr>
            <a:picLocks noChangeAspect="1"/>
          </p:cNvPicPr>
          <p:nvPr/>
        </p:nvPicPr>
        <p:blipFill>
          <a:blip r:embed="rId4"/>
          <a:srcRect l="18117" t="6326" r="18791"/>
          <a:stretch>
            <a:fillRect/>
          </a:stretch>
        </p:blipFill>
        <p:spPr>
          <a:xfrm>
            <a:off x="4939192" y="539396"/>
            <a:ext cx="3706646" cy="4130819"/>
          </a:xfrm>
          <a:prstGeom prst="rect">
            <a:avLst/>
          </a:prstGeom>
        </p:spPr>
      </p:pic>
    </p:spTree>
    <p:extLst>
      <p:ext uri="{BB962C8B-B14F-4D97-AF65-F5344CB8AC3E}">
        <p14:creationId xmlns:p14="http://schemas.microsoft.com/office/powerpoint/2010/main" val="28381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EE6FD-1CA5-741D-B369-BF6226E9F4A8}"/>
            </a:ext>
          </a:extLst>
        </p:cNvPr>
        <p:cNvGrpSpPr/>
        <p:nvPr/>
      </p:nvGrpSpPr>
      <p:grpSpPr>
        <a:xfrm>
          <a:off x="0" y="0"/>
          <a:ext cx="0" cy="0"/>
          <a:chOff x="0" y="0"/>
          <a:chExt cx="0" cy="0"/>
        </a:xfrm>
      </p:grpSpPr>
      <p:sp>
        <p:nvSpPr>
          <p:cNvPr id="4" name="BottomRule">
            <a:extLst>
              <a:ext uri="{FF2B5EF4-FFF2-40B4-BE49-F238E27FC236}">
                <a16:creationId xmlns:a16="http://schemas.microsoft.com/office/drawing/2014/main" id="{6141C899-DE7C-C9EF-698C-68FD9C82120D}"/>
              </a:ext>
            </a:extLst>
          </p:cNvPr>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a:extLst>
              <a:ext uri="{FF2B5EF4-FFF2-40B4-BE49-F238E27FC236}">
                <a16:creationId xmlns:a16="http://schemas.microsoft.com/office/drawing/2014/main" id="{D9552C60-C693-E39C-989E-F78E396EA55F}"/>
              </a:ext>
            </a:extLst>
          </p:cNvPr>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a:extLst>
              <a:ext uri="{FF2B5EF4-FFF2-40B4-BE49-F238E27FC236}">
                <a16:creationId xmlns:a16="http://schemas.microsoft.com/office/drawing/2014/main" id="{A2FB9342-CC56-F521-2E34-4ED27139EC85}"/>
              </a:ext>
            </a:extLst>
          </p:cNvP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a:extLst>
              <a:ext uri="{FF2B5EF4-FFF2-40B4-BE49-F238E27FC236}">
                <a16:creationId xmlns:a16="http://schemas.microsoft.com/office/drawing/2014/main" id="{E8EF8CC5-B6DC-728A-C2F6-D8145B14E062}"/>
              </a:ext>
            </a:extLst>
          </p:cNvPr>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Comparison of Hough</a:t>
            </a:r>
          </a:p>
        </p:txBody>
      </p:sp>
      <p:sp>
        <p:nvSpPr>
          <p:cNvPr id="6" name="PageNum">
            <a:extLst>
              <a:ext uri="{FF2B5EF4-FFF2-40B4-BE49-F238E27FC236}">
                <a16:creationId xmlns:a16="http://schemas.microsoft.com/office/drawing/2014/main" id="{8DA8D533-4213-3824-BE75-4642738E218C}"/>
              </a:ext>
            </a:extLst>
          </p:cNvPr>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8 / 10</a:t>
            </a:r>
          </a:p>
        </p:txBody>
      </p:sp>
      <p:pic>
        <p:nvPicPr>
          <p:cNvPr id="7" name="Picture 6">
            <a:extLst>
              <a:ext uri="{FF2B5EF4-FFF2-40B4-BE49-F238E27FC236}">
                <a16:creationId xmlns:a16="http://schemas.microsoft.com/office/drawing/2014/main" id="{26899CFF-2E50-352E-D984-1BAAF929A265}"/>
              </a:ext>
            </a:extLst>
          </p:cNvPr>
          <p:cNvPicPr>
            <a:picLocks noChangeAspect="1"/>
          </p:cNvPicPr>
          <p:nvPr/>
        </p:nvPicPr>
        <p:blipFill>
          <a:blip r:embed="rId3"/>
          <a:srcRect l="76345" t="4301"/>
          <a:stretch>
            <a:fillRect/>
          </a:stretch>
        </p:blipFill>
        <p:spPr>
          <a:xfrm>
            <a:off x="1975824" y="646879"/>
            <a:ext cx="2214587" cy="3973927"/>
          </a:xfrm>
          <a:prstGeom prst="rect">
            <a:avLst/>
          </a:prstGeom>
        </p:spPr>
      </p:pic>
      <p:pic>
        <p:nvPicPr>
          <p:cNvPr id="10" name="Picture 9">
            <a:extLst>
              <a:ext uri="{FF2B5EF4-FFF2-40B4-BE49-F238E27FC236}">
                <a16:creationId xmlns:a16="http://schemas.microsoft.com/office/drawing/2014/main" id="{C7F8FBB1-AE14-F043-E7B5-9BD187042602}"/>
              </a:ext>
            </a:extLst>
          </p:cNvPr>
          <p:cNvPicPr>
            <a:picLocks noChangeAspect="1"/>
          </p:cNvPicPr>
          <p:nvPr/>
        </p:nvPicPr>
        <p:blipFill>
          <a:blip r:embed="rId3"/>
          <a:srcRect l="44430" t="4301" r="44556"/>
          <a:stretch>
            <a:fillRect/>
          </a:stretch>
        </p:blipFill>
        <p:spPr>
          <a:xfrm>
            <a:off x="944693" y="646879"/>
            <a:ext cx="1031131" cy="3973928"/>
          </a:xfrm>
          <a:prstGeom prst="rect">
            <a:avLst/>
          </a:prstGeom>
        </p:spPr>
      </p:pic>
      <p:sp>
        <p:nvSpPr>
          <p:cNvPr id="12" name="TextBox 11">
            <a:extLst>
              <a:ext uri="{FF2B5EF4-FFF2-40B4-BE49-F238E27FC236}">
                <a16:creationId xmlns:a16="http://schemas.microsoft.com/office/drawing/2014/main" id="{0F9326AC-2263-AE59-86AF-DE26A18C3AC6}"/>
              </a:ext>
            </a:extLst>
          </p:cNvPr>
          <p:cNvSpPr txBox="1"/>
          <p:nvPr/>
        </p:nvSpPr>
        <p:spPr>
          <a:xfrm>
            <a:off x="4953591" y="1421366"/>
            <a:ext cx="3080991" cy="2031325"/>
          </a:xfrm>
          <a:prstGeom prst="rect">
            <a:avLst/>
          </a:prstGeom>
          <a:noFill/>
        </p:spPr>
        <p:txBody>
          <a:bodyPr wrap="square" rtlCol="0">
            <a:spAutoFit/>
          </a:bodyPr>
          <a:lstStyle/>
          <a:p>
            <a:r>
              <a:rPr lang="en-JP" dirty="0"/>
              <a:t>This is the anomaly investigation and inference for RANSAC only.</a:t>
            </a:r>
          </a:p>
          <a:p>
            <a:br>
              <a:rPr lang="en-JP" dirty="0"/>
            </a:br>
            <a:r>
              <a:rPr lang="en-JP" dirty="0"/>
              <a:t>The corresponding investigation for </a:t>
            </a:r>
            <a:r>
              <a:rPr lang="en-JP" dirty="0">
                <a:solidFill>
                  <a:srgbClr val="FF0000"/>
                </a:solidFill>
              </a:rPr>
              <a:t>Hough</a:t>
            </a:r>
            <a:r>
              <a:rPr lang="en-JP" dirty="0"/>
              <a:t> is still in progress.</a:t>
            </a:r>
          </a:p>
        </p:txBody>
      </p:sp>
      <p:sp>
        <p:nvSpPr>
          <p:cNvPr id="14" name="Rounded Rectangle 13">
            <a:extLst>
              <a:ext uri="{FF2B5EF4-FFF2-40B4-BE49-F238E27FC236}">
                <a16:creationId xmlns:a16="http://schemas.microsoft.com/office/drawing/2014/main" id="{4A187AA0-3CE8-E8DF-E54E-4ED2963854E0}"/>
              </a:ext>
            </a:extLst>
          </p:cNvPr>
          <p:cNvSpPr/>
          <p:nvPr/>
        </p:nvSpPr>
        <p:spPr>
          <a:xfrm>
            <a:off x="1964249" y="535754"/>
            <a:ext cx="1031131" cy="4048946"/>
          </a:xfrm>
          <a:prstGeom prst="round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3701561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B98FC-26B5-3D05-ACFC-740B3C60064B}"/>
            </a:ext>
          </a:extLst>
        </p:cNvPr>
        <p:cNvGrpSpPr/>
        <p:nvPr/>
      </p:nvGrpSpPr>
      <p:grpSpPr>
        <a:xfrm>
          <a:off x="0" y="0"/>
          <a:ext cx="0" cy="0"/>
          <a:chOff x="0" y="0"/>
          <a:chExt cx="0" cy="0"/>
        </a:xfrm>
      </p:grpSpPr>
      <p:sp>
        <p:nvSpPr>
          <p:cNvPr id="4" name="BottomRule">
            <a:extLst>
              <a:ext uri="{FF2B5EF4-FFF2-40B4-BE49-F238E27FC236}">
                <a16:creationId xmlns:a16="http://schemas.microsoft.com/office/drawing/2014/main" id="{DBE01102-FD0D-5891-D16D-99B0431DB30D}"/>
              </a:ext>
            </a:extLst>
          </p:cNvPr>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a:extLst>
              <a:ext uri="{FF2B5EF4-FFF2-40B4-BE49-F238E27FC236}">
                <a16:creationId xmlns:a16="http://schemas.microsoft.com/office/drawing/2014/main" id="{CA7753BD-6E27-34DD-1C84-E5805E188C27}"/>
              </a:ext>
            </a:extLst>
          </p:cNvPr>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a:extLst>
              <a:ext uri="{FF2B5EF4-FFF2-40B4-BE49-F238E27FC236}">
                <a16:creationId xmlns:a16="http://schemas.microsoft.com/office/drawing/2014/main" id="{63C358E1-5090-0434-5DDD-08A6A90C88A1}"/>
              </a:ext>
            </a:extLst>
          </p:cNvP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a:extLst>
              <a:ext uri="{FF2B5EF4-FFF2-40B4-BE49-F238E27FC236}">
                <a16:creationId xmlns:a16="http://schemas.microsoft.com/office/drawing/2014/main" id="{748D5BB8-25E7-96D2-42DD-730DE27C4981}"/>
              </a:ext>
            </a:extLst>
          </p:cNvPr>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Result of Unseen Channel Experiment</a:t>
            </a:r>
          </a:p>
        </p:txBody>
      </p:sp>
      <p:sp>
        <p:nvSpPr>
          <p:cNvPr id="6" name="PageNum">
            <a:extLst>
              <a:ext uri="{FF2B5EF4-FFF2-40B4-BE49-F238E27FC236}">
                <a16:creationId xmlns:a16="http://schemas.microsoft.com/office/drawing/2014/main" id="{EE41A416-475F-D781-366F-32FF12E263EE}"/>
              </a:ext>
            </a:extLst>
          </p:cNvPr>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9 / 10</a:t>
            </a:r>
          </a:p>
        </p:txBody>
      </p:sp>
      <p:pic>
        <p:nvPicPr>
          <p:cNvPr id="9" name="Picture 8">
            <a:extLst>
              <a:ext uri="{FF2B5EF4-FFF2-40B4-BE49-F238E27FC236}">
                <a16:creationId xmlns:a16="http://schemas.microsoft.com/office/drawing/2014/main" id="{3E50FE4D-BEBD-7DCD-8E4F-8B0751097D01}"/>
              </a:ext>
            </a:extLst>
          </p:cNvPr>
          <p:cNvPicPr>
            <a:picLocks noChangeAspect="1"/>
          </p:cNvPicPr>
          <p:nvPr/>
        </p:nvPicPr>
        <p:blipFill>
          <a:blip r:embed="rId3"/>
          <a:srcRect t="8904"/>
          <a:stretch>
            <a:fillRect/>
          </a:stretch>
        </p:blipFill>
        <p:spPr>
          <a:xfrm>
            <a:off x="2724150" y="712514"/>
            <a:ext cx="6286500" cy="3794672"/>
          </a:xfrm>
          <a:prstGeom prst="rect">
            <a:avLst/>
          </a:prstGeom>
        </p:spPr>
      </p:pic>
      <p:graphicFrame>
        <p:nvGraphicFramePr>
          <p:cNvPr id="501" name="AcademicChannels"/>
          <p:cNvGraphicFramePr>
            <a:graphicFrameLocks noGrp="1"/>
          </p:cNvGraphicFramePr>
          <p:nvPr>
            <p:extLst>
              <p:ext uri="{D42A27DB-BD31-4B8C-83A1-F6EECF244321}">
                <p14:modId xmlns:p14="http://schemas.microsoft.com/office/powerpoint/2010/main" val="1187078939"/>
              </p:ext>
            </p:extLst>
          </p:nvPr>
        </p:nvGraphicFramePr>
        <p:xfrm>
          <a:off x="133350" y="1031330"/>
          <a:ext cx="2597150" cy="2933700"/>
        </p:xfrm>
        <a:graphic>
          <a:graphicData uri="http://schemas.openxmlformats.org/drawingml/2006/table">
            <a:tbl>
              <a:tblPr firstRow="1"/>
              <a:tblGrid>
                <a:gridCol w="1022788">
                  <a:extLst>
                    <a:ext uri="{9D8B030D-6E8A-4147-A177-3AD203B41FA5}">
                      <a16:colId xmlns:a16="http://schemas.microsoft.com/office/drawing/2014/main" val="20000"/>
                    </a:ext>
                  </a:extLst>
                </a:gridCol>
                <a:gridCol w="1574362">
                  <a:extLst>
                    <a:ext uri="{9D8B030D-6E8A-4147-A177-3AD203B41FA5}">
                      <a16:colId xmlns:a16="http://schemas.microsoft.com/office/drawing/2014/main" val="20001"/>
                    </a:ext>
                  </a:extLst>
                </a:gridCol>
              </a:tblGrid>
              <a:tr h="304800">
                <a:tc>
                  <a:txBody>
                    <a:bodyPr/>
                    <a:lstStyle/>
                    <a:p>
                      <a:pPr algn="l"/>
                      <a:r>
                        <a:rPr lang="en-US" sz="1400" b="0" dirty="0">
                          <a:solidFill>
                            <a:srgbClr val="6E6E6E"/>
                          </a:solidFill>
                          <a:latin typeface="Times New Roman"/>
                          <a:cs typeface="Times New Roman"/>
                        </a:rPr>
                        <a:t>CHANNEL</a:t>
                      </a:r>
                    </a:p>
                  </a:txBody>
                  <a:tcPr marL="45720" marR="45720" marT="27000" marB="27000" anchor="ctr">
                    <a:lnL>
                      <a:noFill/>
                    </a:lnL>
                    <a:lnR>
                      <a:noFill/>
                    </a:lnR>
                    <a:lnT w="19050" cap="flat" cmpd="sng" algn="ctr">
                      <a:solidFill>
                        <a:srgbClr val="3A3A3A"/>
                      </a:solidFill>
                      <a:prstDash val="solid"/>
                    </a:lnT>
                    <a:lnB w="12700" cap="flat" cmpd="sng" algn="ctr">
                      <a:solidFill>
                        <a:srgbClr val="3A3A3A"/>
                      </a:solidFill>
                      <a:prstDash val="solid"/>
                    </a:lnB>
                    <a:noFill/>
                  </a:tcPr>
                </a:tc>
                <a:tc>
                  <a:txBody>
                    <a:bodyPr/>
                    <a:lstStyle/>
                    <a:p>
                      <a:pPr algn="l"/>
                      <a:r>
                        <a:rPr lang="en-US" sz="1400" b="0" dirty="0">
                          <a:solidFill>
                            <a:srgbClr val="6E6E6E"/>
                          </a:solidFill>
                          <a:latin typeface="Times New Roman"/>
                          <a:cs typeface="Times New Roman"/>
                        </a:rPr>
                        <a:t>REACTION</a:t>
                      </a:r>
                    </a:p>
                  </a:txBody>
                  <a:tcPr marL="45720" marR="45720" marT="27000" marB="27000" anchor="ctr">
                    <a:lnL>
                      <a:noFill/>
                    </a:lnL>
                    <a:lnR>
                      <a:noFill/>
                    </a:lnR>
                    <a:lnT w="19050" cap="flat" cmpd="sng" algn="ctr">
                      <a:solidFill>
                        <a:srgbClr val="3A3A3A"/>
                      </a:solidFill>
                      <a:prstDash val="solid"/>
                    </a:lnT>
                    <a:lnB w="12700" cap="flat" cmpd="sng" algn="ctr">
                      <a:solidFill>
                        <a:srgbClr val="3A3A3A"/>
                      </a:solidFill>
                      <a:prstDash val="solid"/>
                    </a:lnB>
                    <a:noFill/>
                  </a:tcPr>
                </a:tc>
                <a:extLst>
                  <a:ext uri="{0D108BD9-81ED-4DB2-BD59-A6C34878D82A}">
                    <a16:rowId xmlns:a16="http://schemas.microsoft.com/office/drawing/2014/main" val="10000"/>
                  </a:ext>
                </a:extLst>
              </a:tr>
              <a:tr h="292100">
                <a:tc>
                  <a:txBody>
                    <a:bodyPr/>
                    <a:lstStyle/>
                    <a:p>
                      <a:pPr algn="l"/>
                      <a:r>
                        <a:rPr lang="en-US" sz="1400" b="0" dirty="0">
                          <a:solidFill>
                            <a:srgbClr val="222222"/>
                          </a:solidFill>
                          <a:latin typeface="Times New Roman"/>
                          <a:cs typeface="Times New Roman"/>
                        </a:rPr>
                        <a:t>A</a:t>
                      </a:r>
                    </a:p>
                  </a:txBody>
                  <a:tcPr marL="45720" marR="45720" marT="27000" marB="27000" anchor="ctr">
                    <a:lnL>
                      <a:noFill/>
                    </a:lnL>
                    <a:lnR>
                      <a:noFill/>
                    </a:lnR>
                    <a:lnT w="12700" cap="flat" cmpd="sng" algn="ctr">
                      <a:solidFill>
                        <a:srgbClr val="3A3A3A"/>
                      </a:solidFill>
                      <a:prstDash val="solid"/>
                      <a:round/>
                      <a:headEnd type="none" w="med" len="med"/>
                      <a:tailEnd type="none" w="med" len="med"/>
                    </a:lnT>
                    <a:lnB>
                      <a:noFill/>
                    </a:lnB>
                    <a:noFill/>
                  </a:tcPr>
                </a:tc>
                <a:tc>
                  <a:txBody>
                    <a:bodyPr/>
                    <a:lstStyle/>
                    <a:p>
                      <a:pPr algn="l"/>
                      <a:r>
                        <a:rPr lang="en-US" sz="1400" b="0" dirty="0">
                          <a:solidFill>
                            <a:srgbClr val="222222"/>
                          </a:solidFill>
                          <a:latin typeface="Times New Roman"/>
                          <a:cs typeface="Times New Roman"/>
                        </a:rPr>
                        <a:t>¹²C(α,p)</a:t>
                      </a:r>
                    </a:p>
                  </a:txBody>
                  <a:tcPr marL="45720" marR="45720" marT="27000" marB="27000" anchor="ctr">
                    <a:lnL>
                      <a:noFill/>
                    </a:lnL>
                    <a:lnR>
                      <a:noFill/>
                    </a:lnR>
                    <a:lnT w="12700" cap="flat" cmpd="sng" algn="ctr">
                      <a:solidFill>
                        <a:srgbClr val="3A3A3A"/>
                      </a:solidFill>
                      <a:prstDash val="solid"/>
                      <a:round/>
                      <a:headEnd type="none" w="med" len="med"/>
                      <a:tailEnd type="none" w="med" len="med"/>
                    </a:lnT>
                    <a:lnB>
                      <a:noFill/>
                    </a:lnB>
                    <a:noFill/>
                  </a:tcPr>
                </a:tc>
                <a:extLst>
                  <a:ext uri="{0D108BD9-81ED-4DB2-BD59-A6C34878D82A}">
                    <a16:rowId xmlns:a16="http://schemas.microsoft.com/office/drawing/2014/main" val="10001"/>
                  </a:ext>
                </a:extLst>
              </a:tr>
              <a:tr h="292100">
                <a:tc>
                  <a:txBody>
                    <a:bodyPr/>
                    <a:lstStyle/>
                    <a:p>
                      <a:pPr algn="l"/>
                      <a:r>
                        <a:rPr lang="en-US" sz="1400" b="0" dirty="0">
                          <a:solidFill>
                            <a:srgbClr val="222222"/>
                          </a:solidFill>
                          <a:latin typeface="Times New Roman"/>
                          <a:cs typeface="Times New Roman"/>
                        </a:rPr>
                        <a:t>B</a:t>
                      </a:r>
                    </a:p>
                  </a:txBody>
                  <a:tcPr marL="45720" marR="45720" marT="27000" marB="27000" anchor="ctr">
                    <a:lnL>
                      <a:noFill/>
                    </a:lnL>
                    <a:lnR>
                      <a:noFill/>
                    </a:lnR>
                    <a:lnT>
                      <a:noFill/>
                    </a:lnT>
                    <a:lnB>
                      <a:noFill/>
                    </a:lnB>
                    <a:solidFill>
                      <a:srgbClr val="F4F2EC"/>
                    </a:solidFill>
                  </a:tcPr>
                </a:tc>
                <a:tc>
                  <a:txBody>
                    <a:bodyPr/>
                    <a:lstStyle/>
                    <a:p>
                      <a:pPr algn="l"/>
                      <a:r>
                        <a:rPr lang="en-US" sz="1400" b="0" dirty="0">
                          <a:solidFill>
                            <a:srgbClr val="222222"/>
                          </a:solidFill>
                          <a:latin typeface="Times New Roman"/>
                          <a:cs typeface="Times New Roman"/>
                        </a:rPr>
                        <a:t>¹²C(α,d)</a:t>
                      </a:r>
                    </a:p>
                  </a:txBody>
                  <a:tcPr marL="45720" marR="45720" marT="27000" marB="27000" anchor="ctr">
                    <a:lnL>
                      <a:noFill/>
                    </a:lnL>
                    <a:lnR>
                      <a:noFill/>
                    </a:lnR>
                    <a:lnT>
                      <a:noFill/>
                    </a:lnT>
                    <a:lnB>
                      <a:noFill/>
                    </a:lnB>
                    <a:solidFill>
                      <a:srgbClr val="F4F2EC"/>
                    </a:solidFill>
                  </a:tcPr>
                </a:tc>
                <a:extLst>
                  <a:ext uri="{0D108BD9-81ED-4DB2-BD59-A6C34878D82A}">
                    <a16:rowId xmlns:a16="http://schemas.microsoft.com/office/drawing/2014/main" val="10002"/>
                  </a:ext>
                </a:extLst>
              </a:tr>
              <a:tr h="292100">
                <a:tc>
                  <a:txBody>
                    <a:bodyPr/>
                    <a:lstStyle/>
                    <a:p>
                      <a:pPr algn="l"/>
                      <a:r>
                        <a:rPr lang="en-US" sz="1400" b="0" dirty="0">
                          <a:solidFill>
                            <a:srgbClr val="222222"/>
                          </a:solidFill>
                          <a:latin typeface="Times New Roman"/>
                          <a:cs typeface="Times New Roman"/>
                        </a:rPr>
                        <a:t>C</a:t>
                      </a:r>
                    </a:p>
                  </a:txBody>
                  <a:tcPr marL="45720" marR="45720" marT="27000" marB="27000" anchor="ctr">
                    <a:lnL>
                      <a:noFill/>
                    </a:lnL>
                    <a:lnR>
                      <a:noFill/>
                    </a:lnR>
                    <a:lnT>
                      <a:noFill/>
                    </a:lnT>
                    <a:lnB>
                      <a:noFill/>
                    </a:lnB>
                    <a:noFill/>
                  </a:tcPr>
                </a:tc>
                <a:tc>
                  <a:txBody>
                    <a:bodyPr/>
                    <a:lstStyle/>
                    <a:p>
                      <a:pPr algn="l"/>
                      <a:r>
                        <a:rPr lang="en-US" sz="1400" b="0" dirty="0">
                          <a:solidFill>
                            <a:srgbClr val="222222"/>
                          </a:solidFill>
                          <a:latin typeface="Times New Roman"/>
                          <a:cs typeface="Times New Roman"/>
                        </a:rPr>
                        <a:t>¹²C(α,t)</a:t>
                      </a:r>
                    </a:p>
                  </a:txBody>
                  <a:tcPr marL="45720" marR="45720" marT="27000" marB="27000" anchor="ctr">
                    <a:lnL>
                      <a:noFill/>
                    </a:lnL>
                    <a:lnR>
                      <a:noFill/>
                    </a:lnR>
                    <a:lnT>
                      <a:noFill/>
                    </a:lnT>
                    <a:lnB>
                      <a:noFill/>
                    </a:lnB>
                    <a:noFill/>
                  </a:tcPr>
                </a:tc>
                <a:extLst>
                  <a:ext uri="{0D108BD9-81ED-4DB2-BD59-A6C34878D82A}">
                    <a16:rowId xmlns:a16="http://schemas.microsoft.com/office/drawing/2014/main" val="10003"/>
                  </a:ext>
                </a:extLst>
              </a:tr>
              <a:tr h="292100">
                <a:tc>
                  <a:txBody>
                    <a:bodyPr/>
                    <a:lstStyle/>
                    <a:p>
                      <a:pPr algn="l"/>
                      <a:r>
                        <a:rPr lang="en-US" sz="1400" b="0" dirty="0">
                          <a:solidFill>
                            <a:srgbClr val="222222"/>
                          </a:solidFill>
                          <a:latin typeface="Times New Roman"/>
                          <a:cs typeface="Times New Roman"/>
                        </a:rPr>
                        <a:t>D</a:t>
                      </a:r>
                    </a:p>
                  </a:txBody>
                  <a:tcPr marL="45720" marR="45720" marT="27000" marB="27000" anchor="ctr">
                    <a:lnL>
                      <a:noFill/>
                    </a:lnL>
                    <a:lnR>
                      <a:noFill/>
                    </a:lnR>
                    <a:lnT>
                      <a:noFill/>
                    </a:lnT>
                    <a:lnB>
                      <a:noFill/>
                    </a:lnB>
                    <a:solidFill>
                      <a:srgbClr val="F4F2EC"/>
                    </a:solidFill>
                  </a:tcPr>
                </a:tc>
                <a:tc>
                  <a:txBody>
                    <a:bodyPr/>
                    <a:lstStyle/>
                    <a:p>
                      <a:pPr algn="l"/>
                      <a:r>
                        <a:rPr lang="en-US" sz="1400" b="0" dirty="0">
                          <a:solidFill>
                            <a:srgbClr val="222222"/>
                          </a:solidFill>
                          <a:latin typeface="Times New Roman"/>
                          <a:cs typeface="Times New Roman"/>
                        </a:rPr>
                        <a:t>¹²C(α,³He)</a:t>
                      </a:r>
                    </a:p>
                  </a:txBody>
                  <a:tcPr marL="45720" marR="45720" marT="27000" marB="27000" anchor="ctr">
                    <a:lnL>
                      <a:noFill/>
                    </a:lnL>
                    <a:lnR>
                      <a:noFill/>
                    </a:lnR>
                    <a:lnT>
                      <a:noFill/>
                    </a:lnT>
                    <a:lnB>
                      <a:noFill/>
                    </a:lnB>
                    <a:solidFill>
                      <a:srgbClr val="F4F2EC"/>
                    </a:solidFill>
                  </a:tcPr>
                </a:tc>
                <a:extLst>
                  <a:ext uri="{0D108BD9-81ED-4DB2-BD59-A6C34878D82A}">
                    <a16:rowId xmlns:a16="http://schemas.microsoft.com/office/drawing/2014/main" val="10004"/>
                  </a:ext>
                </a:extLst>
              </a:tr>
              <a:tr h="292100">
                <a:tc>
                  <a:txBody>
                    <a:bodyPr/>
                    <a:lstStyle/>
                    <a:p>
                      <a:pPr algn="l"/>
                      <a:r>
                        <a:rPr lang="en-US" sz="1400" b="0" dirty="0">
                          <a:solidFill>
                            <a:srgbClr val="222222"/>
                          </a:solidFill>
                          <a:latin typeface="Times New Roman"/>
                          <a:cs typeface="Times New Roman"/>
                        </a:rPr>
                        <a:t>null</a:t>
                      </a:r>
                    </a:p>
                  </a:txBody>
                  <a:tcPr marL="45720" marR="45720" marT="27000" marB="27000" anchor="ctr">
                    <a:lnL>
                      <a:noFill/>
                    </a:lnL>
                    <a:lnR>
                      <a:noFill/>
                    </a:lnR>
                    <a:lnT>
                      <a:noFill/>
                    </a:lnT>
                    <a:lnB>
                      <a:noFill/>
                    </a:lnB>
                    <a:noFill/>
                  </a:tcPr>
                </a:tc>
                <a:tc>
                  <a:txBody>
                    <a:bodyPr/>
                    <a:lstStyle/>
                    <a:p>
                      <a:pPr algn="l"/>
                      <a:r>
                        <a:rPr lang="en-US" sz="1400" b="0" dirty="0">
                          <a:solidFill>
                            <a:srgbClr val="222222"/>
                          </a:solidFill>
                          <a:latin typeface="Times New Roman"/>
                          <a:cs typeface="Times New Roman"/>
                        </a:rPr>
                        <a:t>empty detector</a:t>
                      </a:r>
                    </a:p>
                  </a:txBody>
                  <a:tcPr marL="45720" marR="45720" marT="27000" marB="27000" anchor="ctr">
                    <a:lnL>
                      <a:noFill/>
                    </a:lnL>
                    <a:lnR>
                      <a:noFill/>
                    </a:lnR>
                    <a:lnT>
                      <a:noFill/>
                    </a:lnT>
                    <a:lnB>
                      <a:noFill/>
                    </a:lnB>
                    <a:noFill/>
                  </a:tcPr>
                </a:tc>
                <a:extLst>
                  <a:ext uri="{0D108BD9-81ED-4DB2-BD59-A6C34878D82A}">
                    <a16:rowId xmlns:a16="http://schemas.microsoft.com/office/drawing/2014/main" val="10005"/>
                  </a:ext>
                </a:extLst>
              </a:tr>
              <a:tr h="292100">
                <a:tc>
                  <a:txBody>
                    <a:bodyPr/>
                    <a:lstStyle/>
                    <a:p>
                      <a:pPr algn="l"/>
                      <a:r>
                        <a:rPr lang="en-US" sz="1400" b="0" dirty="0">
                          <a:solidFill>
                            <a:srgbClr val="222222"/>
                          </a:solidFill>
                          <a:latin typeface="Times New Roman"/>
                          <a:cs typeface="Times New Roman"/>
                        </a:rPr>
                        <a:t>E</a:t>
                      </a:r>
                    </a:p>
                  </a:txBody>
                  <a:tcPr marL="45720" marR="45720" marT="27000" marB="27000" anchor="ctr">
                    <a:lnL>
                      <a:noFill/>
                    </a:lnL>
                    <a:lnR>
                      <a:noFill/>
                    </a:lnR>
                    <a:lnT>
                      <a:noFill/>
                    </a:lnT>
                    <a:lnB>
                      <a:noFill/>
                    </a:lnB>
                    <a:solidFill>
                      <a:srgbClr val="F4F2EC"/>
                    </a:solidFill>
                  </a:tcPr>
                </a:tc>
                <a:tc>
                  <a:txBody>
                    <a:bodyPr/>
                    <a:lstStyle/>
                    <a:p>
                      <a:pPr algn="l"/>
                      <a:r>
                        <a:rPr lang="en-US" sz="1400" b="0" dirty="0">
                          <a:solidFill>
                            <a:srgbClr val="222222"/>
                          </a:solidFill>
                          <a:latin typeface="Times New Roman"/>
                          <a:cs typeface="Times New Roman"/>
                        </a:rPr>
                        <a:t>¹²C(α,⍺) elastic</a:t>
                      </a:r>
                    </a:p>
                  </a:txBody>
                  <a:tcPr marL="45720" marR="45720" marT="27000" marB="27000" anchor="ctr">
                    <a:lnL>
                      <a:noFill/>
                    </a:lnL>
                    <a:lnR>
                      <a:noFill/>
                    </a:lnR>
                    <a:lnT>
                      <a:noFill/>
                    </a:lnT>
                    <a:lnB>
                      <a:noFill/>
                    </a:lnB>
                    <a:solidFill>
                      <a:srgbClr val="F4F2EC"/>
                    </a:solidFill>
                  </a:tcPr>
                </a:tc>
                <a:extLst>
                  <a:ext uri="{0D108BD9-81ED-4DB2-BD59-A6C34878D82A}">
                    <a16:rowId xmlns:a16="http://schemas.microsoft.com/office/drawing/2014/main" val="10006"/>
                  </a:ext>
                </a:extLst>
              </a:tr>
              <a:tr h="292100">
                <a:tc>
                  <a:txBody>
                    <a:bodyPr/>
                    <a:lstStyle/>
                    <a:p>
                      <a:pPr algn="l"/>
                      <a:r>
                        <a:rPr lang="en-US" sz="1400" b="0" dirty="0">
                          <a:solidFill>
                            <a:srgbClr val="222222"/>
                          </a:solidFill>
                          <a:latin typeface="Times New Roman"/>
                          <a:cs typeface="Times New Roman"/>
                        </a:rPr>
                        <a:t>F</a:t>
                      </a:r>
                    </a:p>
                  </a:txBody>
                  <a:tcPr marL="45720" marR="45720" marT="27000" marB="27000" anchor="ctr">
                    <a:lnL>
                      <a:noFill/>
                    </a:lnL>
                    <a:lnR>
                      <a:noFill/>
                    </a:lnR>
                    <a:lnT>
                      <a:noFill/>
                    </a:lnT>
                    <a:lnB>
                      <a:noFill/>
                    </a:lnB>
                    <a:noFill/>
                  </a:tcPr>
                </a:tc>
                <a:tc>
                  <a:txBody>
                    <a:bodyPr/>
                    <a:lstStyle/>
                    <a:p>
                      <a:pPr algn="l"/>
                      <a:r>
                        <a:rPr lang="en-US" sz="1400" b="0" dirty="0">
                          <a:solidFill>
                            <a:srgbClr val="222222"/>
                          </a:solidFill>
                          <a:latin typeface="Times New Roman"/>
                          <a:cs typeface="Times New Roman"/>
                        </a:rPr>
                        <a:t>¹³C(α,α) elastic</a:t>
                      </a:r>
                    </a:p>
                  </a:txBody>
                  <a:tcPr marL="45720" marR="45720" marT="27000" marB="27000" anchor="ctr">
                    <a:lnL>
                      <a:noFill/>
                    </a:lnL>
                    <a:lnR>
                      <a:noFill/>
                    </a:lnR>
                    <a:lnT>
                      <a:noFill/>
                    </a:lnT>
                    <a:lnB>
                      <a:noFill/>
                    </a:lnB>
                    <a:noFill/>
                  </a:tcPr>
                </a:tc>
                <a:extLst>
                  <a:ext uri="{0D108BD9-81ED-4DB2-BD59-A6C34878D82A}">
                    <a16:rowId xmlns:a16="http://schemas.microsoft.com/office/drawing/2014/main" val="10007"/>
                  </a:ext>
                </a:extLst>
              </a:tr>
              <a:tr h="292100">
                <a:tc>
                  <a:txBody>
                    <a:bodyPr/>
                    <a:lstStyle/>
                    <a:p>
                      <a:pPr algn="l"/>
                      <a:r>
                        <a:rPr lang="en-US" sz="1400" b="0" dirty="0">
                          <a:solidFill>
                            <a:srgbClr val="222222"/>
                          </a:solidFill>
                          <a:latin typeface="Times New Roman"/>
                          <a:cs typeface="Times New Roman"/>
                        </a:rPr>
                        <a:t>G</a:t>
                      </a:r>
                    </a:p>
                  </a:txBody>
                  <a:tcPr marL="45720" marR="45720" marT="27000" marB="27000" anchor="ctr">
                    <a:lnL>
                      <a:noFill/>
                    </a:lnL>
                    <a:lnR>
                      <a:noFill/>
                    </a:lnR>
                    <a:lnT>
                      <a:noFill/>
                    </a:lnT>
                    <a:lnB>
                      <a:noFill/>
                    </a:lnB>
                    <a:solidFill>
                      <a:srgbClr val="F4F2EC"/>
                    </a:solidFill>
                  </a:tcPr>
                </a:tc>
                <a:tc>
                  <a:txBody>
                    <a:bodyPr/>
                    <a:lstStyle/>
                    <a:p>
                      <a:pPr algn="l"/>
                      <a:r>
                        <a:rPr lang="en-US" sz="1400" b="0" dirty="0">
                          <a:solidFill>
                            <a:srgbClr val="222222"/>
                          </a:solidFill>
                          <a:latin typeface="Times New Roman"/>
                          <a:cs typeface="Times New Roman"/>
                        </a:rPr>
                        <a:t>¹⁴C(α,α) elastic</a:t>
                      </a:r>
                    </a:p>
                  </a:txBody>
                  <a:tcPr marL="45720" marR="45720" marT="27000" marB="27000" anchor="ctr">
                    <a:lnL>
                      <a:noFill/>
                    </a:lnL>
                    <a:lnR>
                      <a:noFill/>
                    </a:lnR>
                    <a:lnT>
                      <a:noFill/>
                    </a:lnT>
                    <a:lnB>
                      <a:noFill/>
                    </a:lnB>
                    <a:solidFill>
                      <a:srgbClr val="F4F2EC"/>
                    </a:solidFill>
                  </a:tcPr>
                </a:tc>
                <a:extLst>
                  <a:ext uri="{0D108BD9-81ED-4DB2-BD59-A6C34878D82A}">
                    <a16:rowId xmlns:a16="http://schemas.microsoft.com/office/drawing/2014/main" val="10008"/>
                  </a:ext>
                </a:extLst>
              </a:tr>
              <a:tr h="292100">
                <a:tc>
                  <a:txBody>
                    <a:bodyPr/>
                    <a:lstStyle/>
                    <a:p>
                      <a:pPr algn="l"/>
                      <a:r>
                        <a:rPr lang="en-US" sz="1400" b="0" dirty="0">
                          <a:solidFill>
                            <a:srgbClr val="222222"/>
                          </a:solidFill>
                          <a:latin typeface="Times New Roman"/>
                          <a:cs typeface="Times New Roman"/>
                        </a:rPr>
                        <a:t>H</a:t>
                      </a:r>
                    </a:p>
                  </a:txBody>
                  <a:tcPr marL="45720" marR="45720" marT="27000" marB="27000" anchor="ctr">
                    <a:lnL>
                      <a:noFill/>
                    </a:lnL>
                    <a:lnR>
                      <a:noFill/>
                    </a:lnR>
                    <a:lnT>
                      <a:noFill/>
                    </a:lnT>
                    <a:lnB w="19050" cap="flat" cmpd="sng" algn="ctr">
                      <a:solidFill>
                        <a:srgbClr val="3A3A3A"/>
                      </a:solidFill>
                      <a:prstDash val="solid"/>
                    </a:lnB>
                    <a:noFill/>
                  </a:tcPr>
                </a:tc>
                <a:tc>
                  <a:txBody>
                    <a:bodyPr/>
                    <a:lstStyle/>
                    <a:p>
                      <a:pPr algn="l"/>
                      <a:r>
                        <a:rPr lang="en-US" sz="1400" b="0" dirty="0">
                          <a:solidFill>
                            <a:srgbClr val="222222"/>
                          </a:solidFill>
                          <a:latin typeface="Times New Roman"/>
                          <a:cs typeface="Times New Roman"/>
                        </a:rPr>
                        <a:t>¹²C(</a:t>
                      </a:r>
                      <a:r>
                        <a:rPr lang="en-US" sz="1400" b="0" baseline="30000" dirty="0">
                          <a:solidFill>
                            <a:srgbClr val="222222"/>
                          </a:solidFill>
                          <a:latin typeface="Times New Roman"/>
                          <a:cs typeface="Times New Roman"/>
                        </a:rPr>
                        <a:t>12</a:t>
                      </a:r>
                      <a:r>
                        <a:rPr lang="en-US" sz="1400" b="0" dirty="0">
                          <a:solidFill>
                            <a:srgbClr val="222222"/>
                          </a:solidFill>
                          <a:latin typeface="Times New Roman"/>
                          <a:cs typeface="Times New Roman"/>
                        </a:rPr>
                        <a:t>C,</a:t>
                      </a:r>
                      <a:r>
                        <a:rPr lang="en-US" sz="1400" b="0" baseline="30000" dirty="0">
                          <a:solidFill>
                            <a:srgbClr val="222222"/>
                          </a:solidFill>
                          <a:latin typeface="Times New Roman"/>
                          <a:cs typeface="Times New Roman"/>
                        </a:rPr>
                        <a:t>12</a:t>
                      </a:r>
                      <a:r>
                        <a:rPr lang="en-US" sz="1400" b="0" dirty="0">
                          <a:solidFill>
                            <a:srgbClr val="222222"/>
                          </a:solidFill>
                          <a:latin typeface="Times New Roman"/>
                          <a:cs typeface="Times New Roman"/>
                        </a:rPr>
                        <a:t>C) elastic</a:t>
                      </a:r>
                    </a:p>
                  </a:txBody>
                  <a:tcPr marL="45720" marR="45720" marT="27000" marB="27000" anchor="ctr">
                    <a:lnL>
                      <a:noFill/>
                    </a:lnL>
                    <a:lnR>
                      <a:noFill/>
                    </a:lnR>
                    <a:lnT>
                      <a:noFill/>
                    </a:lnT>
                    <a:lnB w="19050" cap="flat" cmpd="sng" algn="ctr">
                      <a:solidFill>
                        <a:srgbClr val="3A3A3A"/>
                      </a:solidFill>
                      <a:prstDash val="solid"/>
                    </a:lnB>
                    <a:noFill/>
                  </a:tcPr>
                </a:tc>
                <a:extLst>
                  <a:ext uri="{0D108BD9-81ED-4DB2-BD59-A6C34878D82A}">
                    <a16:rowId xmlns:a16="http://schemas.microsoft.com/office/drawing/2014/main" val="10009"/>
                  </a:ext>
                </a:extLst>
              </a:tr>
            </a:tbl>
          </a:graphicData>
        </a:graphic>
      </p:graphicFrame>
      <p:sp>
        <p:nvSpPr>
          <p:cNvPr id="5" name="TextBox 4">
            <a:extLst>
              <a:ext uri="{FF2B5EF4-FFF2-40B4-BE49-F238E27FC236}">
                <a16:creationId xmlns:a16="http://schemas.microsoft.com/office/drawing/2014/main" id="{6433CB6F-ECA0-E318-3338-0D030EA020B0}"/>
              </a:ext>
            </a:extLst>
          </p:cNvPr>
          <p:cNvSpPr txBox="1"/>
          <p:nvPr/>
        </p:nvSpPr>
        <p:spPr>
          <a:xfrm>
            <a:off x="1431925" y="4264188"/>
            <a:ext cx="1274708" cy="369332"/>
          </a:xfrm>
          <a:prstGeom prst="rect">
            <a:avLst/>
          </a:prstGeom>
          <a:noFill/>
        </p:spPr>
        <p:txBody>
          <a:bodyPr wrap="none" rtlCol="0">
            <a:spAutoFit/>
          </a:bodyPr>
          <a:lstStyle/>
          <a:p>
            <a:r>
              <a:rPr lang="en-US" dirty="0"/>
              <a:t>D</a:t>
            </a:r>
            <a:r>
              <a:rPr lang="en-JP" dirty="0"/>
              <a:t>ata-scarce</a:t>
            </a:r>
          </a:p>
        </p:txBody>
      </p:sp>
    </p:spTree>
    <p:extLst>
      <p:ext uri="{BB962C8B-B14F-4D97-AF65-F5344CB8AC3E}">
        <p14:creationId xmlns:p14="http://schemas.microsoft.com/office/powerpoint/2010/main" val="3487791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153D8-0DF5-AAA0-211C-3B089262ED7A}"/>
            </a:ext>
          </a:extLst>
        </p:cNvPr>
        <p:cNvGrpSpPr/>
        <p:nvPr/>
      </p:nvGrpSpPr>
      <p:grpSpPr>
        <a:xfrm>
          <a:off x="0" y="0"/>
          <a:ext cx="0" cy="0"/>
          <a:chOff x="0" y="0"/>
          <a:chExt cx="0" cy="0"/>
        </a:xfrm>
      </p:grpSpPr>
      <p:sp>
        <p:nvSpPr>
          <p:cNvPr id="4" name="BottomRule">
            <a:extLst>
              <a:ext uri="{FF2B5EF4-FFF2-40B4-BE49-F238E27FC236}">
                <a16:creationId xmlns:a16="http://schemas.microsoft.com/office/drawing/2014/main" id="{29E924F7-A17A-CE0C-FCC8-163176C1C5C3}"/>
              </a:ext>
            </a:extLst>
          </p:cNvPr>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a:extLst>
              <a:ext uri="{FF2B5EF4-FFF2-40B4-BE49-F238E27FC236}">
                <a16:creationId xmlns:a16="http://schemas.microsoft.com/office/drawing/2014/main" id="{5B87739C-0823-482C-F5F2-4859261143D6}"/>
              </a:ext>
            </a:extLst>
          </p:cNvPr>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a:extLst>
              <a:ext uri="{FF2B5EF4-FFF2-40B4-BE49-F238E27FC236}">
                <a16:creationId xmlns:a16="http://schemas.microsoft.com/office/drawing/2014/main" id="{5A94D668-624D-FD3C-4CB3-CA6EBF23A885}"/>
              </a:ext>
            </a:extLst>
          </p:cNvP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a:extLst>
              <a:ext uri="{FF2B5EF4-FFF2-40B4-BE49-F238E27FC236}">
                <a16:creationId xmlns:a16="http://schemas.microsoft.com/office/drawing/2014/main" id="{B40036FD-D5E7-9A39-84AE-4A891E2EBCF6}"/>
              </a:ext>
            </a:extLst>
          </p:cNvPr>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Nest Steps</a:t>
            </a:r>
          </a:p>
        </p:txBody>
      </p:sp>
      <p:sp>
        <p:nvSpPr>
          <p:cNvPr id="6" name="PageNum">
            <a:extLst>
              <a:ext uri="{FF2B5EF4-FFF2-40B4-BE49-F238E27FC236}">
                <a16:creationId xmlns:a16="http://schemas.microsoft.com/office/drawing/2014/main" id="{073817A9-454F-59DB-711F-2DDFB721209B}"/>
              </a:ext>
            </a:extLst>
          </p:cNvPr>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10 / 10</a:t>
            </a:r>
          </a:p>
        </p:txBody>
      </p:sp>
      <p:sp>
        <p:nvSpPr>
          <p:cNvPr id="5" name="TextBox 4">
            <a:extLst>
              <a:ext uri="{FF2B5EF4-FFF2-40B4-BE49-F238E27FC236}">
                <a16:creationId xmlns:a16="http://schemas.microsoft.com/office/drawing/2014/main" id="{61F94F63-6D5A-7B01-5641-F5158FB3F1FE}"/>
              </a:ext>
            </a:extLst>
          </p:cNvPr>
          <p:cNvSpPr txBox="1"/>
          <p:nvPr/>
        </p:nvSpPr>
        <p:spPr>
          <a:xfrm>
            <a:off x="476250" y="1002089"/>
            <a:ext cx="6000361" cy="3139321"/>
          </a:xfrm>
          <a:prstGeom prst="rect">
            <a:avLst/>
          </a:prstGeom>
          <a:noFill/>
        </p:spPr>
        <p:txBody>
          <a:bodyPr wrap="none" rtlCol="0">
            <a:spAutoFit/>
          </a:bodyPr>
          <a:lstStyle/>
          <a:p>
            <a:pPr marL="285750" indent="-285750">
              <a:buFont typeface="Wingdings" pitchFamily="2" charset="2"/>
              <a:buChar char="q"/>
            </a:pPr>
            <a:r>
              <a:rPr lang="en-US" altLang="zh-CN" dirty="0"/>
              <a:t>1.</a:t>
            </a:r>
            <a:r>
              <a:rPr lang="zh-CN" altLang="en-US" dirty="0"/>
              <a:t> </a:t>
            </a:r>
            <a:r>
              <a:rPr lang="en-US" altLang="zh-CN" dirty="0"/>
              <a:t>Discuss on how to implement Hough with </a:t>
            </a:r>
            <a:r>
              <a:rPr lang="en-US" altLang="zh-CN" dirty="0" err="1"/>
              <a:t>LiLu</a:t>
            </a:r>
            <a:endParaRPr lang="en-US" altLang="zh-CN" dirty="0"/>
          </a:p>
          <a:p>
            <a:pPr marL="285750" indent="-285750">
              <a:buFont typeface="Wingdings" pitchFamily="2" charset="2"/>
              <a:buChar char="q"/>
            </a:pPr>
            <a:endParaRPr lang="en-US" dirty="0"/>
          </a:p>
          <a:p>
            <a:pPr marL="285750" indent="-285750">
              <a:buFont typeface="Wingdings" pitchFamily="2" charset="2"/>
              <a:buChar char="q"/>
            </a:pPr>
            <a:endParaRPr lang="en-US" dirty="0"/>
          </a:p>
          <a:p>
            <a:pPr marL="285750" indent="-285750">
              <a:buFont typeface="Wingdings" pitchFamily="2" charset="2"/>
              <a:buChar char="q"/>
            </a:pPr>
            <a:endParaRPr lang="en-US" dirty="0"/>
          </a:p>
          <a:p>
            <a:pPr marL="285750" indent="-285750">
              <a:buFont typeface="Wingdings" pitchFamily="2" charset="2"/>
              <a:buChar char="q"/>
            </a:pPr>
            <a:r>
              <a:rPr lang="en-US" dirty="0"/>
              <a:t>2. Manuscript Drafting</a:t>
            </a:r>
          </a:p>
          <a:p>
            <a:pPr marL="285750" indent="-285750">
              <a:buFont typeface="Wingdings" pitchFamily="2" charset="2"/>
              <a:buChar char="q"/>
            </a:pPr>
            <a:endParaRPr lang="en-US" dirty="0"/>
          </a:p>
          <a:p>
            <a:pPr marL="285750" indent="-285750">
              <a:buFont typeface="Wingdings" pitchFamily="2" charset="2"/>
              <a:buChar char="q"/>
            </a:pPr>
            <a:endParaRPr lang="en-US" dirty="0"/>
          </a:p>
          <a:p>
            <a:pPr marL="285750" indent="-285750">
              <a:buFont typeface="Wingdings" pitchFamily="2" charset="2"/>
              <a:buChar char="q"/>
            </a:pPr>
            <a:endParaRPr lang="en-US" dirty="0"/>
          </a:p>
          <a:p>
            <a:pPr marL="285750" indent="-285750">
              <a:buFont typeface="Wingdings" pitchFamily="2" charset="2"/>
              <a:buChar char="q"/>
            </a:pPr>
            <a:r>
              <a:rPr lang="en-US" dirty="0"/>
              <a:t>3. Discuss on whether it is necessary to add more new work</a:t>
            </a:r>
          </a:p>
          <a:p>
            <a:pPr marL="285750" indent="-285750">
              <a:buFont typeface="Wingdings" pitchFamily="2" charset="2"/>
              <a:buChar char="q"/>
            </a:pPr>
            <a:endParaRPr lang="en-US" dirty="0"/>
          </a:p>
          <a:p>
            <a:pPr marL="285750" indent="-285750">
              <a:buFont typeface="Wingdings" pitchFamily="2" charset="2"/>
              <a:buChar char="q"/>
            </a:pPr>
            <a:endParaRPr lang="en-JP" dirty="0"/>
          </a:p>
        </p:txBody>
      </p:sp>
    </p:spTree>
    <p:extLst>
      <p:ext uri="{BB962C8B-B14F-4D97-AF65-F5344CB8AC3E}">
        <p14:creationId xmlns:p14="http://schemas.microsoft.com/office/powerpoint/2010/main" val="325198745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PCH-F9FEA52BFE31B898BDBCBC48EA8BBA4AF57C804CB7740EBCA5B960AF1C68F17E" val="[{&quot;GradientColorId&quot;:&quot;&quot;,&quot;IsFree&quot;:true,&quot;IsGradient&quot;:false,&quot;ImagePath&quot;:&quot;&quot;,&quot;GradientColor&quot;:null,&quot;SimpleColor&quot;:&quot;#FF4040&quot;}]"/>
</p:tagLst>
</file>

<file path=ppt/theme/theme1.xml><?xml version="1.0" encoding="utf-8"?>
<a:theme xmlns:a="http://schemas.openxmlformats.org/drawingml/2006/main" name="Office Theme [1779258520937]">
  <a:themeElements>
    <a:clrScheme name="Office">
      <a:dk1>
        <a:srgbClr val="000000"/>
      </a:dk1>
      <a:lt1>
        <a:srgbClr val="FFFFFF"/>
      </a:lt1>
      <a:dk2>
        <a:srgbClr val="1F4E79"/>
      </a:dk2>
      <a:lt2>
        <a:srgbClr val="EEECE1"/>
      </a:lt2>
      <a:accent1>
        <a:srgbClr val="1F4E79"/>
      </a:accent1>
      <a:accent2>
        <a:srgbClr val="C000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99" row="3">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7149B7F6-5860-4488-B40D-90F180201131}">
  <we:reference id="wa200010001" version="1.0.0.1" store="en-US" storeType="OMEX"/>
  <we:alternateReferences>
    <we:reference id="WA200010001" version="1.0.0.1" store="" storeType="OMEX"/>
  </we:alternateReferences>
  <we:properties>
    <we:property name="claude.fileId" value="&quot;2d12da0d-5215-45ea-a035-422835fcf31d&quot;"/>
  </we:properties>
  <we:bindings/>
  <we:snapshot xmlns:r="http://schemas.openxmlformats.org/officeDocument/2006/relationships"/>
</we:webextension>
</file>

<file path=ppt/webextensions/webextension2.xml><?xml version="1.0" encoding="utf-8"?>
<we:webextension xmlns:we="http://schemas.microsoft.com/office/webextensions/webextension/2010/11" id="{8C0ED37A-9D3E-F743-98FF-A9CE265C1D5A}">
  <we:reference id="wa200010725" version="1.0.0.1" store="en-US" storeType="OMEX"/>
  <we:alternateReferences>
    <we:reference id="WA200010725" version="1.0.0.1" store="WA200010725" storeType="OMEX"/>
  </we:alternateReferences>
  <we:properties>
    <we:property name="claude.fileId" value="&quot;8827c5e6-eeeb-469e-945e-d33c0b55ba1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5261</TotalTime>
  <Words>826</Words>
  <Application>Microsoft Macintosh PowerPoint</Application>
  <PresentationFormat>On-screen Show (16:9)</PresentationFormat>
  <Paragraphs>125</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Times New Roman</vt:lpstr>
      <vt:lpstr>Wingdings</vt:lpstr>
      <vt:lpstr>Office Theme [1779258520937]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TRK Energy Regression Comparison</dc:title>
  <dc:subject>Advisor update on TRK5/TRK6 energy regression and baselines</dc:subject>
  <dc:creator>Claude Code</dc:creator>
  <dc:description>generated using python-pptx</dc:description>
  <cp:lastModifiedBy>HA139785@365mak.com</cp:lastModifiedBy>
  <cp:revision>224</cp:revision>
  <dcterms:created xsi:type="dcterms:W3CDTF">2013-01-27T09:14:00Z</dcterms:created>
  <dcterms:modified xsi:type="dcterms:W3CDTF">2026-07-16T02:00:24Z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0757AB3A121C4A0DA3E606B7A4919301_12</vt:lpwstr>
  </property>
</Properties>
</file>