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
  </p:notesMasterIdLst>
  <p:sldIdLst>
    <p:sldId id="415" r:id="rId2"/>
    <p:sldId id="414" r:id="rId3"/>
    <p:sldId id="419" r:id="rId4"/>
    <p:sldId id="416" r:id="rId5"/>
    <p:sldId id="438" r:id="rId6"/>
  </p:sldIdLst>
  <p:sldSz cx="9144000" cy="5143500" type="screen16x9"/>
  <p:notesSz cx="6858000" cy="9144000"/>
  <p:custDataLst>
    <p:tags r:id="rId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49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853" autoAdjust="0"/>
    <p:restoredTop sz="95246" autoAdjust="0"/>
  </p:normalViewPr>
  <p:slideViewPr>
    <p:cSldViewPr snapToGrid="0" snapToObjects="1" showGuides="1">
      <p:cViewPr varScale="1">
        <p:scale>
          <a:sx n="196" d="100"/>
          <a:sy n="196" d="100"/>
        </p:scale>
        <p:origin x="184" y="736"/>
      </p:cViewPr>
      <p:guideLst>
        <p:guide orient="horz" pos="219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2026/8/11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EE9AC-06B0-B1F6-7001-FBFAA181B405}"/>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2F1CC1A5-D89F-72A9-BE60-D20653228AC1}"/>
              </a:ext>
            </a:extLst>
          </p:cNvPr>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I will briefly introduce the context and the configuration of the new experiment, Previously, we conducted classification and regression studies using an isotropic alpha source, in which the number of tracks ranges from 1 to 4. After successfully determine the track multiplicity and angles for each event, the next step is to perform energy regression to figure out the ability boundary of each approach further. To this end, we will compare 5 approaches: three traditional algorithms, namely Hough, RANSAC, and Hierarchical Cluster, and two ML approaches, namely Standard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 and Cross-Attention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a:t>
            </a:r>
          </a:p>
        </p:txBody>
      </p:sp>
    </p:spTree>
    <p:extLst>
      <p:ext uri="{BB962C8B-B14F-4D97-AF65-F5344CB8AC3E}">
        <p14:creationId xmlns:p14="http://schemas.microsoft.com/office/powerpoint/2010/main" val="1064562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I will briefly introduce the context and the configuration of the new experiment, Previously, we conducted classification and regression studies using an isotropic alpha source, in which the number of tracks ranges from 1 to 4. After successfully determine the track multiplicity and angles for each event, the next step is to perform energy regression to figure out the ability boundary of each approach further. To this end, we will compare 5 approaches: three traditional algorithms, namely Hough, RANSAC, and Hierarchical Cluster, and two ML approaches, namely Standard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 and Cross-Attention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C4ED3-9477-BD06-B87D-211492347F9F}"/>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099BAF53-AE34-76D7-64AF-DB7412DD0B81}"/>
              </a:ext>
            </a:extLst>
          </p:cNvPr>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I will briefly introduce the context and the configuration of the new experiment, Previously, we conducted classification and regression studies using an isotropic alpha source, in which the number of tracks ranges from 1 to 4. After successfully determine the track multiplicity and angles for each event, the next step is to perform energy regression to figure out the ability boundary of each approach further. To this end, we will compare 5 approaches: three traditional algorithms, namely Hough, RANSAC, and Hierarchical Cluster, and two ML approaches, namely Standard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 and Cross-Attention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a:t>
            </a:r>
          </a:p>
        </p:txBody>
      </p:sp>
    </p:spTree>
    <p:extLst>
      <p:ext uri="{BB962C8B-B14F-4D97-AF65-F5344CB8AC3E}">
        <p14:creationId xmlns:p14="http://schemas.microsoft.com/office/powerpoint/2010/main" val="2610777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I will briefly introduce the context and the configuration of the new experiment, Previously, we conducted classification and regression studies using an isotropic alpha source, in which the number of tracks ranges from 1 to 4. After successfully determine the track multiplicity and angles for each event, the next step is to perform energy regression to figure out the ability boundary of each approach further. To this end, we will compare 5 approaches: three traditional algorithms, namely Hough, RANSAC, and Hierarchical Cluster, and two ML approaches, namely Standard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 and Cross-Attention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2580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Times New Roman" panose="02020603050405020304"/>
          <a:ea typeface="Times New Roman" panose="02020603050405020304"/>
          <a:cs typeface="Times New Roman" panose="02020603050405020304"/>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Times New Roman" panose="02020603050405020304"/>
          <a:ea typeface="Times New Roman" panose="02020603050405020304"/>
          <a:cs typeface="Times New Roman" panose="02020603050405020304"/>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Times New Roman" panose="02020603050405020304"/>
          <a:ea typeface="Times New Roman" panose="02020603050405020304"/>
          <a:cs typeface="Times New Roman" panose="02020603050405020304"/>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Times New Roman" panose="02020603050405020304"/>
          <a:ea typeface="Times New Roman" panose="02020603050405020304"/>
          <a:cs typeface="Times New Roman" panose="02020603050405020304"/>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9pPr>
    </p:bodyStyle>
    <p:otherStyle>
      <a:defPPr>
        <a:defRPr lang="en-US"/>
      </a:defPPr>
      <a:lvl1pPr marL="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1pPr>
      <a:lvl2pPr marL="4572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2pPr>
      <a:lvl3pPr marL="9144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3pPr>
      <a:lvl4pPr marL="13716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4pPr>
      <a:lvl5pPr marL="18288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5pPr>
      <a:lvl6pPr marL="22860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6pPr>
      <a:lvl7pPr marL="27432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7pPr>
      <a:lvl8pPr marL="32004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8pPr>
      <a:lvl9pPr marL="36576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86ABF-FD11-E73B-A621-59E71B531817}"/>
            </a:ext>
          </a:extLst>
        </p:cNvPr>
        <p:cNvGrpSpPr/>
        <p:nvPr/>
      </p:nvGrpSpPr>
      <p:grpSpPr>
        <a:xfrm>
          <a:off x="0" y="0"/>
          <a:ext cx="0" cy="0"/>
          <a:chOff x="0" y="0"/>
          <a:chExt cx="0" cy="0"/>
        </a:xfrm>
      </p:grpSpPr>
      <p:sp>
        <p:nvSpPr>
          <p:cNvPr id="32" name="HeaderBand">
            <a:extLst>
              <a:ext uri="{FF2B5EF4-FFF2-40B4-BE49-F238E27FC236}">
                <a16:creationId xmlns:a16="http://schemas.microsoft.com/office/drawing/2014/main" id="{9F512A84-249E-93A5-1169-9A479DE7988F}"/>
              </a:ext>
            </a:extLst>
          </p:cNvPr>
          <p:cNvSpPr/>
          <p:nvPr/>
        </p:nvSpPr>
        <p:spPr>
          <a:xfrm>
            <a:off x="0" y="813816"/>
            <a:ext cx="9144000" cy="356616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D9F6E513-856A-6641-5FE8-FE40BD915503}"/>
              </a:ext>
            </a:extLst>
          </p:cNvPr>
          <p:cNvSpPr txBox="1"/>
          <p:nvPr/>
        </p:nvSpPr>
        <p:spPr>
          <a:xfrm>
            <a:off x="150155" y="1321415"/>
            <a:ext cx="8841203" cy="707886"/>
          </a:xfrm>
          <a:prstGeom prst="rect">
            <a:avLst/>
          </a:prstGeom>
          <a:noFill/>
        </p:spPr>
        <p:txBody>
          <a:bodyPr wrap="none" rtlCol="0">
            <a:spAutoFit/>
          </a:bodyPr>
          <a:lstStyle/>
          <a:p>
            <a:r>
              <a:rPr lang="en-JP" sz="4000" b="1" dirty="0">
                <a:solidFill>
                  <a:schemeClr val="bg1"/>
                </a:solidFill>
              </a:rPr>
              <a:t>Projectile Fragmentation of Heavy Ions</a:t>
            </a:r>
          </a:p>
        </p:txBody>
      </p:sp>
      <p:sp>
        <p:nvSpPr>
          <p:cNvPr id="3" name="TextBox 2">
            <a:extLst>
              <a:ext uri="{FF2B5EF4-FFF2-40B4-BE49-F238E27FC236}">
                <a16:creationId xmlns:a16="http://schemas.microsoft.com/office/drawing/2014/main" id="{823334C0-BF6B-9B9E-ECEA-71A43D935CA6}"/>
              </a:ext>
            </a:extLst>
          </p:cNvPr>
          <p:cNvSpPr txBox="1"/>
          <p:nvPr/>
        </p:nvSpPr>
        <p:spPr>
          <a:xfrm>
            <a:off x="0" y="0"/>
            <a:ext cx="3420808" cy="646331"/>
          </a:xfrm>
          <a:prstGeom prst="rect">
            <a:avLst/>
          </a:prstGeom>
          <a:noFill/>
        </p:spPr>
        <p:txBody>
          <a:bodyPr wrap="none" rtlCol="0">
            <a:spAutoFit/>
          </a:bodyPr>
          <a:lstStyle/>
          <a:p>
            <a:r>
              <a:rPr lang="en-JP" sz="3600" b="1" dirty="0">
                <a:solidFill>
                  <a:srgbClr val="164994"/>
                </a:solidFill>
              </a:rPr>
              <a:t>Learning</a:t>
            </a:r>
            <a:r>
              <a:rPr lang="en-JP" sz="3600" b="1" dirty="0">
                <a:solidFill>
                  <a:schemeClr val="bg1"/>
                </a:solidFill>
              </a:rPr>
              <a:t> </a:t>
            </a:r>
            <a:r>
              <a:rPr lang="en-JP" sz="3600" b="1" dirty="0">
                <a:solidFill>
                  <a:srgbClr val="164994"/>
                </a:solidFill>
              </a:rPr>
              <a:t>Group</a:t>
            </a:r>
          </a:p>
        </p:txBody>
      </p:sp>
      <p:sp>
        <p:nvSpPr>
          <p:cNvPr id="4" name="TextBox 3">
            <a:extLst>
              <a:ext uri="{FF2B5EF4-FFF2-40B4-BE49-F238E27FC236}">
                <a16:creationId xmlns:a16="http://schemas.microsoft.com/office/drawing/2014/main" id="{E88B73B1-A1A9-2DAC-2062-506505E965DE}"/>
              </a:ext>
            </a:extLst>
          </p:cNvPr>
          <p:cNvSpPr txBox="1"/>
          <p:nvPr/>
        </p:nvSpPr>
        <p:spPr>
          <a:xfrm>
            <a:off x="3556334" y="2590980"/>
            <a:ext cx="2031325" cy="523220"/>
          </a:xfrm>
          <a:prstGeom prst="rect">
            <a:avLst/>
          </a:prstGeom>
          <a:noFill/>
        </p:spPr>
        <p:txBody>
          <a:bodyPr wrap="none" rtlCol="0">
            <a:spAutoFit/>
          </a:bodyPr>
          <a:lstStyle/>
          <a:p>
            <a:r>
              <a:rPr lang="en-JP" sz="2800" b="1" dirty="0">
                <a:solidFill>
                  <a:schemeClr val="bg1"/>
                </a:solidFill>
              </a:rPr>
              <a:t>Zhiheng Hu</a:t>
            </a:r>
          </a:p>
        </p:txBody>
      </p:sp>
      <p:sp>
        <p:nvSpPr>
          <p:cNvPr id="6" name="TextBox 5">
            <a:extLst>
              <a:ext uri="{FF2B5EF4-FFF2-40B4-BE49-F238E27FC236}">
                <a16:creationId xmlns:a16="http://schemas.microsoft.com/office/drawing/2014/main" id="{3E112290-EF8F-8B3A-39D9-403E72C54278}"/>
              </a:ext>
            </a:extLst>
          </p:cNvPr>
          <p:cNvSpPr txBox="1"/>
          <p:nvPr/>
        </p:nvSpPr>
        <p:spPr>
          <a:xfrm>
            <a:off x="3949998" y="3119440"/>
            <a:ext cx="1295291" cy="338554"/>
          </a:xfrm>
          <a:prstGeom prst="rect">
            <a:avLst/>
          </a:prstGeom>
          <a:noFill/>
        </p:spPr>
        <p:txBody>
          <a:bodyPr wrap="none" rtlCol="0">
            <a:spAutoFit/>
          </a:bodyPr>
          <a:lstStyle/>
          <a:p>
            <a:r>
              <a:rPr lang="en-JP" sz="1600" b="1" dirty="0">
                <a:solidFill>
                  <a:schemeClr val="bg1"/>
                </a:solidFill>
              </a:rPr>
              <a:t>11 Aug, 2026</a:t>
            </a:r>
          </a:p>
        </p:txBody>
      </p:sp>
      <p:pic>
        <p:nvPicPr>
          <p:cNvPr id="7" name="Picture 6">
            <a:extLst>
              <a:ext uri="{FF2B5EF4-FFF2-40B4-BE49-F238E27FC236}">
                <a16:creationId xmlns:a16="http://schemas.microsoft.com/office/drawing/2014/main" id="{21AF5EC9-1493-9D36-662C-57510585B061}"/>
              </a:ext>
            </a:extLst>
          </p:cNvPr>
          <p:cNvPicPr>
            <a:picLocks noChangeAspect="1"/>
          </p:cNvPicPr>
          <p:nvPr/>
        </p:nvPicPr>
        <p:blipFill>
          <a:blip r:embed="rId3"/>
          <a:stretch>
            <a:fillRect/>
          </a:stretch>
        </p:blipFill>
        <p:spPr>
          <a:xfrm>
            <a:off x="5199569" y="12476"/>
            <a:ext cx="3898711" cy="686820"/>
          </a:xfrm>
          <a:prstGeom prst="rect">
            <a:avLst/>
          </a:prstGeom>
        </p:spPr>
      </p:pic>
    </p:spTree>
    <p:extLst>
      <p:ext uri="{BB962C8B-B14F-4D97-AF65-F5344CB8AC3E}">
        <p14:creationId xmlns:p14="http://schemas.microsoft.com/office/powerpoint/2010/main" val="504683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HeaderBand"/>
          <p:cNvSpPr/>
          <p:nvPr/>
        </p:nvSpPr>
        <p:spPr>
          <a:xfrm>
            <a:off x="0" y="0"/>
            <a:ext cx="9144000" cy="514350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dirty="0"/>
          </a:p>
        </p:txBody>
      </p:sp>
      <p:sp>
        <p:nvSpPr>
          <p:cNvPr id="4" name="TextBox 3">
            <a:extLst>
              <a:ext uri="{FF2B5EF4-FFF2-40B4-BE49-F238E27FC236}">
                <a16:creationId xmlns:a16="http://schemas.microsoft.com/office/drawing/2014/main" id="{2AFAF8A2-B34A-EEFB-31A4-B3A41F722A21}"/>
              </a:ext>
            </a:extLst>
          </p:cNvPr>
          <p:cNvSpPr txBox="1"/>
          <p:nvPr/>
        </p:nvSpPr>
        <p:spPr>
          <a:xfrm>
            <a:off x="118872" y="201168"/>
            <a:ext cx="1505540" cy="584775"/>
          </a:xfrm>
          <a:prstGeom prst="rect">
            <a:avLst/>
          </a:prstGeom>
          <a:noFill/>
        </p:spPr>
        <p:txBody>
          <a:bodyPr wrap="none" rtlCol="0">
            <a:spAutoFit/>
          </a:bodyPr>
          <a:lstStyle/>
          <a:p>
            <a:r>
              <a:rPr lang="en-JP" sz="3200" b="1" dirty="0">
                <a:solidFill>
                  <a:schemeClr val="bg1"/>
                </a:solidFill>
              </a:rPr>
              <a:t>Outline</a:t>
            </a:r>
            <a:endParaRPr lang="en-JP" b="1" dirty="0">
              <a:solidFill>
                <a:schemeClr val="bg1"/>
              </a:solidFill>
            </a:endParaRPr>
          </a:p>
        </p:txBody>
      </p:sp>
      <p:sp>
        <p:nvSpPr>
          <p:cNvPr id="5" name="TextBox 4">
            <a:extLst>
              <a:ext uri="{FF2B5EF4-FFF2-40B4-BE49-F238E27FC236}">
                <a16:creationId xmlns:a16="http://schemas.microsoft.com/office/drawing/2014/main" id="{EA2CECC6-C093-E329-5532-80B5BC5EA92A}"/>
              </a:ext>
            </a:extLst>
          </p:cNvPr>
          <p:cNvSpPr txBox="1"/>
          <p:nvPr/>
        </p:nvSpPr>
        <p:spPr>
          <a:xfrm>
            <a:off x="118872" y="2057629"/>
            <a:ext cx="4112023" cy="369332"/>
          </a:xfrm>
          <a:prstGeom prst="rect">
            <a:avLst/>
          </a:prstGeom>
          <a:noFill/>
        </p:spPr>
        <p:txBody>
          <a:bodyPr wrap="none" rtlCol="0">
            <a:spAutoFit/>
          </a:bodyPr>
          <a:lstStyle/>
          <a:p>
            <a:pPr marL="285750" indent="-285750">
              <a:buFont typeface="Wingdings" pitchFamily="2" charset="2"/>
              <a:buChar char="Ø"/>
            </a:pPr>
            <a:r>
              <a:rPr lang="en-JP" b="1" dirty="0">
                <a:solidFill>
                  <a:schemeClr val="bg1"/>
                </a:solidFill>
              </a:rPr>
              <a:t>2. What is Projectile Fragmentation?</a:t>
            </a:r>
          </a:p>
        </p:txBody>
      </p:sp>
      <p:sp>
        <p:nvSpPr>
          <p:cNvPr id="6" name="TextBox 5">
            <a:extLst>
              <a:ext uri="{FF2B5EF4-FFF2-40B4-BE49-F238E27FC236}">
                <a16:creationId xmlns:a16="http://schemas.microsoft.com/office/drawing/2014/main" id="{EC48B2B4-2B32-B6DC-1281-86D261C9AF45}"/>
              </a:ext>
            </a:extLst>
          </p:cNvPr>
          <p:cNvSpPr txBox="1"/>
          <p:nvPr/>
        </p:nvSpPr>
        <p:spPr>
          <a:xfrm>
            <a:off x="118872" y="2809537"/>
            <a:ext cx="5299528" cy="369332"/>
          </a:xfrm>
          <a:prstGeom prst="rect">
            <a:avLst/>
          </a:prstGeom>
          <a:noFill/>
        </p:spPr>
        <p:txBody>
          <a:bodyPr wrap="none" rtlCol="0">
            <a:spAutoFit/>
          </a:bodyPr>
          <a:lstStyle/>
          <a:p>
            <a:pPr marL="285750" indent="-285750">
              <a:buFont typeface="Wingdings" pitchFamily="2" charset="2"/>
              <a:buChar char="Ø"/>
            </a:pPr>
            <a:r>
              <a:rPr lang="en-JP" b="1" dirty="0">
                <a:solidFill>
                  <a:schemeClr val="bg1"/>
                </a:solidFill>
              </a:rPr>
              <a:t>3. Why we need to use Projectile Fragmentation?</a:t>
            </a:r>
          </a:p>
        </p:txBody>
      </p:sp>
      <p:sp>
        <p:nvSpPr>
          <p:cNvPr id="7" name="TextBox 6">
            <a:extLst>
              <a:ext uri="{FF2B5EF4-FFF2-40B4-BE49-F238E27FC236}">
                <a16:creationId xmlns:a16="http://schemas.microsoft.com/office/drawing/2014/main" id="{A3A9E8EC-D5F5-D4BF-4ECC-1DB48B5F7BF2}"/>
              </a:ext>
            </a:extLst>
          </p:cNvPr>
          <p:cNvSpPr txBox="1"/>
          <p:nvPr/>
        </p:nvSpPr>
        <p:spPr>
          <a:xfrm>
            <a:off x="118872" y="3549760"/>
            <a:ext cx="4681731" cy="369332"/>
          </a:xfrm>
          <a:prstGeom prst="rect">
            <a:avLst/>
          </a:prstGeom>
          <a:noFill/>
        </p:spPr>
        <p:txBody>
          <a:bodyPr wrap="none" rtlCol="0">
            <a:spAutoFit/>
          </a:bodyPr>
          <a:lstStyle/>
          <a:p>
            <a:pPr marL="285750" indent="-285750">
              <a:buFont typeface="Wingdings" pitchFamily="2" charset="2"/>
              <a:buChar char="Ø"/>
            </a:pPr>
            <a:r>
              <a:rPr lang="en-JP" b="1" dirty="0">
                <a:solidFill>
                  <a:schemeClr val="bg1"/>
                </a:solidFill>
              </a:rPr>
              <a:t>4.The practical use of Projectile Fragment.</a:t>
            </a:r>
          </a:p>
        </p:txBody>
      </p:sp>
      <p:sp>
        <p:nvSpPr>
          <p:cNvPr id="9" name="TextBox 8">
            <a:extLst>
              <a:ext uri="{FF2B5EF4-FFF2-40B4-BE49-F238E27FC236}">
                <a16:creationId xmlns:a16="http://schemas.microsoft.com/office/drawing/2014/main" id="{ACB9AE04-8D3D-9926-60E4-A861ABB3DE8D}"/>
              </a:ext>
            </a:extLst>
          </p:cNvPr>
          <p:cNvSpPr txBox="1"/>
          <p:nvPr/>
        </p:nvSpPr>
        <p:spPr>
          <a:xfrm>
            <a:off x="118872" y="1271686"/>
            <a:ext cx="5564665" cy="369332"/>
          </a:xfrm>
          <a:prstGeom prst="rect">
            <a:avLst/>
          </a:prstGeom>
          <a:noFill/>
        </p:spPr>
        <p:txBody>
          <a:bodyPr wrap="none" rtlCol="0">
            <a:spAutoFit/>
          </a:bodyPr>
          <a:lstStyle/>
          <a:p>
            <a:pPr marL="285750" indent="-285750">
              <a:buFont typeface="Wingdings" pitchFamily="2" charset="2"/>
              <a:buChar char="Ø"/>
            </a:pPr>
            <a:r>
              <a:rPr lang="en-JP" b="1" dirty="0">
                <a:solidFill>
                  <a:schemeClr val="bg1"/>
                </a:solidFill>
              </a:rPr>
              <a:t>1.Where does Projectile Fragmentation come from?</a:t>
            </a:r>
          </a:p>
        </p:txBody>
      </p:sp>
    </p:spTree>
    <p:extLst>
      <p:ext uri="{BB962C8B-B14F-4D97-AF65-F5344CB8AC3E}">
        <p14:creationId xmlns:p14="http://schemas.microsoft.com/office/powerpoint/2010/main" val="542463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36252-61C2-FC93-FAD0-1486917F0374}"/>
            </a:ext>
          </a:extLst>
        </p:cNvPr>
        <p:cNvGrpSpPr/>
        <p:nvPr/>
      </p:nvGrpSpPr>
      <p:grpSpPr>
        <a:xfrm>
          <a:off x="0" y="0"/>
          <a:ext cx="0" cy="0"/>
          <a:chOff x="0" y="0"/>
          <a:chExt cx="0" cy="0"/>
        </a:xfrm>
      </p:grpSpPr>
      <p:sp>
        <p:nvSpPr>
          <p:cNvPr id="32" name="HeaderBand">
            <a:extLst>
              <a:ext uri="{FF2B5EF4-FFF2-40B4-BE49-F238E27FC236}">
                <a16:creationId xmlns:a16="http://schemas.microsoft.com/office/drawing/2014/main" id="{FD591B5D-5A5C-ADA4-567B-90B0BAAB7DE4}"/>
              </a:ext>
            </a:extLst>
          </p:cNvPr>
          <p:cNvSpPr/>
          <p:nvPr/>
        </p:nvSpPr>
        <p:spPr>
          <a:xfrm>
            <a:off x="0" y="0"/>
            <a:ext cx="9144000" cy="514350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dirty="0"/>
          </a:p>
        </p:txBody>
      </p:sp>
      <p:sp>
        <p:nvSpPr>
          <p:cNvPr id="4" name="TextBox 3">
            <a:extLst>
              <a:ext uri="{FF2B5EF4-FFF2-40B4-BE49-F238E27FC236}">
                <a16:creationId xmlns:a16="http://schemas.microsoft.com/office/drawing/2014/main" id="{51ABD82E-36A7-ECB7-1722-2BD4C560A340}"/>
              </a:ext>
            </a:extLst>
          </p:cNvPr>
          <p:cNvSpPr txBox="1"/>
          <p:nvPr/>
        </p:nvSpPr>
        <p:spPr>
          <a:xfrm>
            <a:off x="118872" y="201168"/>
            <a:ext cx="1505540" cy="584775"/>
          </a:xfrm>
          <a:prstGeom prst="rect">
            <a:avLst/>
          </a:prstGeom>
          <a:noFill/>
        </p:spPr>
        <p:txBody>
          <a:bodyPr wrap="none" rtlCol="0">
            <a:spAutoFit/>
          </a:bodyPr>
          <a:lstStyle/>
          <a:p>
            <a:r>
              <a:rPr lang="en-JP" sz="3200" b="1" dirty="0">
                <a:solidFill>
                  <a:schemeClr val="bg1"/>
                </a:solidFill>
              </a:rPr>
              <a:t>Outline</a:t>
            </a:r>
            <a:endParaRPr lang="en-JP" b="1" dirty="0">
              <a:solidFill>
                <a:schemeClr val="bg1"/>
              </a:solidFill>
            </a:endParaRPr>
          </a:p>
        </p:txBody>
      </p:sp>
      <p:sp>
        <p:nvSpPr>
          <p:cNvPr id="5" name="TextBox 4">
            <a:extLst>
              <a:ext uri="{FF2B5EF4-FFF2-40B4-BE49-F238E27FC236}">
                <a16:creationId xmlns:a16="http://schemas.microsoft.com/office/drawing/2014/main" id="{C66A13BB-3584-6C6A-AFB3-E2227B7F82A2}"/>
              </a:ext>
            </a:extLst>
          </p:cNvPr>
          <p:cNvSpPr txBox="1"/>
          <p:nvPr/>
        </p:nvSpPr>
        <p:spPr>
          <a:xfrm>
            <a:off x="114300" y="1270000"/>
            <a:ext cx="5562600" cy="368300"/>
          </a:xfrm>
          <a:prstGeom prst="rect">
            <a:avLst/>
          </a:prstGeom>
          <a:noFill/>
        </p:spPr>
        <p:txBody>
          <a:bodyPr wrap="none" rtlCol="0">
            <a:spAutoFit/>
          </a:bodyPr>
          <a:lstStyle/>
          <a:p>
            <a:pPr marL="285750" indent="-285750">
              <a:buFont typeface="Wingdings" pitchFamily="2" charset="2"/>
              <a:buChar char="Ø"/>
            </a:pPr>
            <a:r>
              <a:rPr lang="en-JP" b="1" dirty="0">
                <a:solidFill>
                  <a:srgbClr val="FFFFFF"/>
                </a:solidFill>
              </a:rPr>
              <a:t>1.Where does Projectile Fragmentation come from?</a:t>
            </a:r>
          </a:p>
        </p:txBody>
      </p:sp>
      <p:sp>
        <p:nvSpPr>
          <p:cNvPr id="6" name="TextBox 5">
            <a:extLst>
              <a:ext uri="{FF2B5EF4-FFF2-40B4-BE49-F238E27FC236}">
                <a16:creationId xmlns:a16="http://schemas.microsoft.com/office/drawing/2014/main" id="{2864C0E7-5459-A280-BE30-193C61B55E09}"/>
              </a:ext>
            </a:extLst>
          </p:cNvPr>
          <p:cNvSpPr txBox="1"/>
          <p:nvPr/>
        </p:nvSpPr>
        <p:spPr>
          <a:xfrm>
            <a:off x="114300" y="2057400"/>
            <a:ext cx="4114800" cy="368300"/>
          </a:xfrm>
          <a:prstGeom prst="rect">
            <a:avLst/>
          </a:prstGeom>
          <a:noFill/>
        </p:spPr>
        <p:txBody>
          <a:bodyPr wrap="none" rtlCol="0">
            <a:spAutoFit/>
          </a:bodyPr>
          <a:lstStyle/>
          <a:p>
            <a:pPr marL="285750" indent="-285750">
              <a:buFont typeface="Wingdings" pitchFamily="2" charset="2"/>
              <a:buChar char="Ø"/>
            </a:pPr>
            <a:r>
              <a:rPr lang="en-JP" b="1" dirty="0">
                <a:solidFill>
                  <a:schemeClr val="bg1">
                    <a:alpha val="50000"/>
                  </a:schemeClr>
                </a:solidFill>
              </a:rPr>
              <a:t>2. What is Projectile Fragmentation?</a:t>
            </a:r>
          </a:p>
        </p:txBody>
      </p:sp>
      <p:sp>
        <p:nvSpPr>
          <p:cNvPr id="7" name="TextBox 6">
            <a:extLst>
              <a:ext uri="{FF2B5EF4-FFF2-40B4-BE49-F238E27FC236}">
                <a16:creationId xmlns:a16="http://schemas.microsoft.com/office/drawing/2014/main" id="{8678A5E5-E64F-F1C1-85EC-6397D5FDD594}"/>
              </a:ext>
            </a:extLst>
          </p:cNvPr>
          <p:cNvSpPr txBox="1"/>
          <p:nvPr/>
        </p:nvSpPr>
        <p:spPr>
          <a:xfrm>
            <a:off x="114300" y="2806700"/>
            <a:ext cx="5295900" cy="368300"/>
          </a:xfrm>
          <a:prstGeom prst="rect">
            <a:avLst/>
          </a:prstGeom>
          <a:noFill/>
        </p:spPr>
        <p:txBody>
          <a:bodyPr wrap="none" rtlCol="0">
            <a:spAutoFit/>
          </a:bodyPr>
          <a:lstStyle/>
          <a:p>
            <a:pPr marL="285750" indent="-285750">
              <a:buFont typeface="Wingdings" pitchFamily="2" charset="2"/>
              <a:buChar char="Ø"/>
            </a:pPr>
            <a:r>
              <a:rPr lang="en-JP" b="1" dirty="0">
                <a:solidFill>
                  <a:schemeClr val="bg1">
                    <a:alpha val="50000"/>
                  </a:schemeClr>
                </a:solidFill>
              </a:rPr>
              <a:t>3. Why we need to use Projectile Fragmentation?</a:t>
            </a:r>
          </a:p>
        </p:txBody>
      </p:sp>
      <p:sp>
        <p:nvSpPr>
          <p:cNvPr id="33" name="TextBox 7"/>
          <p:cNvSpPr txBox="1"/>
          <p:nvPr/>
        </p:nvSpPr>
        <p:spPr>
          <a:xfrm>
            <a:off x="114300" y="3556000"/>
            <a:ext cx="4686300" cy="368300"/>
          </a:xfrm>
          <a:prstGeom prst="rect">
            <a:avLst/>
          </a:prstGeom>
        </p:spPr>
        <p:txBody>
          <a:bodyPr wrap="square" rtlCol="0" anchor="t">
            <a:normAutofit/>
          </a:bodyPr>
          <a:lstStyle/>
          <a:p>
            <a:pPr marL="285750" indent="-285750">
              <a:buFont typeface="Wingdings" pitchFamily="2" charset="2"/>
              <a:buChar char="Ø"/>
            </a:pPr>
            <a:r>
              <a:rPr lang="en-JP" b="1" dirty="0">
                <a:solidFill>
                  <a:schemeClr val="bg1">
                    <a:alpha val="50000"/>
                  </a:schemeClr>
                </a:solidFill>
                <a:latin typeface="Calibri"/>
                <a:ea typeface="Calibri"/>
                <a:cs typeface="Calibri"/>
              </a:rPr>
              <a:t>4.The practical use of Projectile Fragment.</a:t>
            </a:r>
          </a:p>
        </p:txBody>
      </p:sp>
    </p:spTree>
    <p:extLst>
      <p:ext uri="{BB962C8B-B14F-4D97-AF65-F5344CB8AC3E}">
        <p14:creationId xmlns:p14="http://schemas.microsoft.com/office/powerpoint/2010/main" val="337698066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BottomRule"/>
          <p:cNvSpPr/>
          <p:nvPr/>
        </p:nvSpPr>
        <p:spPr>
          <a:xfrm>
            <a:off x="342900" y="4860417"/>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9" name="Footer"/>
          <p:cNvSpPr txBox="1"/>
          <p:nvPr/>
        </p:nvSpPr>
        <p:spPr>
          <a:xfrm>
            <a:off x="457200" y="4890008"/>
            <a:ext cx="6858000" cy="228600"/>
          </a:xfrm>
          <a:prstGeom prst="rect">
            <a:avLst/>
          </a:prstGeom>
          <a:noFill/>
        </p:spPr>
        <p:txBody>
          <a:bodyPr vertOverflow="overflow" vert="horz" wrap="square" rtlCol="0" anchor="t">
            <a:noAutofit/>
          </a:bodyPr>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Learning Group</a:t>
            </a:r>
          </a:p>
        </p:txBody>
      </p:sp>
      <p:sp>
        <p:nvSpPr>
          <p:cNvPr id="3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marL="342900" indent="-342900" algn="l">
              <a:buFont typeface="Wingdings" pitchFamily="2" charset="2"/>
              <a:buChar char="Ø"/>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1. Where does Projectile Fragmentation come from?</a:t>
            </a:r>
          </a:p>
        </p:txBody>
      </p:sp>
      <p:sp>
        <p:nvSpPr>
          <p:cNvPr id="35" name="PageNum"/>
          <p:cNvSpPr txBox="1"/>
          <p:nvPr/>
        </p:nvSpPr>
        <p:spPr>
          <a:xfrm>
            <a:off x="8324850" y="4919472"/>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 / 10</a:t>
            </a:r>
          </a:p>
        </p:txBody>
      </p:sp>
      <p:sp>
        <p:nvSpPr>
          <p:cNvPr id="6" name="TextBox 5">
            <a:extLst>
              <a:ext uri="{FF2B5EF4-FFF2-40B4-BE49-F238E27FC236}">
                <a16:creationId xmlns:a16="http://schemas.microsoft.com/office/drawing/2014/main" id="{0C55DA21-10A8-86E3-9B49-277C7C089A83}"/>
              </a:ext>
            </a:extLst>
          </p:cNvPr>
          <p:cNvSpPr txBox="1"/>
          <p:nvPr/>
        </p:nvSpPr>
        <p:spPr>
          <a:xfrm>
            <a:off x="8558784" y="1984248"/>
            <a:ext cx="184731" cy="369332"/>
          </a:xfrm>
          <a:prstGeom prst="rect">
            <a:avLst/>
          </a:prstGeom>
          <a:noFill/>
        </p:spPr>
        <p:txBody>
          <a:bodyPr wrap="none" rtlCol="0">
            <a:spAutoFit/>
          </a:bodyPr>
          <a:lstStyle/>
          <a:p>
            <a:endParaRPr lang="en-JP" dirty="0"/>
          </a:p>
        </p:txBody>
      </p:sp>
      <p:pic>
        <p:nvPicPr>
          <p:cNvPr id="8" name="Picture 7">
            <a:extLst>
              <a:ext uri="{FF2B5EF4-FFF2-40B4-BE49-F238E27FC236}">
                <a16:creationId xmlns:a16="http://schemas.microsoft.com/office/drawing/2014/main" id="{6E54281B-EA8A-B9F6-3B3C-D914A06454D0}"/>
              </a:ext>
            </a:extLst>
          </p:cNvPr>
          <p:cNvPicPr>
            <a:picLocks noChangeAspect="1"/>
          </p:cNvPicPr>
          <p:nvPr/>
        </p:nvPicPr>
        <p:blipFill>
          <a:blip r:embed="rId3"/>
          <a:srcRect t="6440" b="7128"/>
          <a:stretch>
            <a:fillRect/>
          </a:stretch>
        </p:blipFill>
        <p:spPr>
          <a:xfrm>
            <a:off x="1022926" y="1266628"/>
            <a:ext cx="7098148" cy="3450935"/>
          </a:xfrm>
          <a:prstGeom prst="rect">
            <a:avLst/>
          </a:prstGeom>
        </p:spPr>
      </p:pic>
      <p:sp>
        <p:nvSpPr>
          <p:cNvPr id="9" name="Text 5">
            <a:extLst>
              <a:ext uri="{FF2B5EF4-FFF2-40B4-BE49-F238E27FC236}">
                <a16:creationId xmlns:a16="http://schemas.microsoft.com/office/drawing/2014/main" id="{9D34B6EE-0BD8-7401-E52F-4D5B90ABAEF4}"/>
              </a:ext>
            </a:extLst>
          </p:cNvPr>
          <p:cNvSpPr/>
          <p:nvPr/>
        </p:nvSpPr>
        <p:spPr>
          <a:xfrm>
            <a:off x="411480" y="619458"/>
            <a:ext cx="8321040" cy="640080"/>
          </a:xfrm>
          <a:prstGeom prst="rect">
            <a:avLst/>
          </a:prstGeom>
          <a:noFill/>
          <a:ln/>
        </p:spPr>
        <p:txBody>
          <a:bodyPr wrap="square" lIns="0" tIns="0" rIns="0" bIns="0" rtlCol="0" anchor="ctr"/>
          <a:lstStyle/>
          <a:p>
            <a:pPr marL="0" indent="0">
              <a:buNone/>
            </a:pPr>
            <a:r>
              <a:rPr lang="en-US" sz="1300" dirty="0">
                <a:solidFill>
                  <a:srgbClr val="1A2332"/>
                </a:solidFill>
                <a:latin typeface="Times New Roman"/>
                <a:ea typeface="Times New Roman" pitchFamily="34" charset="-122"/>
                <a:cs typeface="Times New Roman"/>
              </a:rPr>
              <a:t>In principle, any nuclear reaction that produces radioactive nuclei can feed a secondary beam. </a:t>
            </a:r>
            <a:r>
              <a:rPr lang="en-US" sz="1300" b="1" dirty="0">
                <a:solidFill>
                  <a:srgbClr val="C41E3A"/>
                </a:solidFill>
                <a:latin typeface="Times New Roman"/>
                <a:ea typeface="Times New Roman" pitchFamily="34" charset="-122"/>
                <a:cs typeface="Times New Roman"/>
              </a:rPr>
              <a:t>It only became practical</a:t>
            </a:r>
            <a:r>
              <a:rPr lang="en-US" sz="1300" dirty="0">
                <a:solidFill>
                  <a:srgbClr val="1A2332"/>
                </a:solidFill>
                <a:latin typeface="Times New Roman"/>
                <a:ea typeface="Times New Roman" pitchFamily="34" charset="-122"/>
                <a:cs typeface="Times New Roman"/>
              </a:rPr>
              <a:t> for reaction studies after the discovery of </a:t>
            </a:r>
            <a:r>
              <a:rPr lang="en-US" sz="1300" b="1" dirty="0">
                <a:solidFill>
                  <a:srgbClr val="C41E3A"/>
                </a:solidFill>
                <a:latin typeface="Times New Roman"/>
                <a:ea typeface="Times New Roman" pitchFamily="34" charset="-122"/>
                <a:cs typeface="Times New Roman"/>
              </a:rPr>
              <a:t>projectile fragmentation</a:t>
            </a:r>
            <a:r>
              <a:rPr lang="en-US" sz="1300" dirty="0">
                <a:solidFill>
                  <a:srgbClr val="1A2332"/>
                </a:solidFill>
                <a:latin typeface="Times New Roman"/>
                <a:ea typeface="Times New Roman" pitchFamily="34" charset="-122"/>
                <a:cs typeface="Times New Roman"/>
              </a:rPr>
              <a:t> in high-energy heavy-ion collisions.</a:t>
            </a:r>
            <a:endParaRPr lang="en-US" sz="1300" dirty="0">
              <a:latin typeface="Times New Roman"/>
              <a:cs typeface="Times New Roman"/>
            </a:endParaRPr>
          </a:p>
        </p:txBody>
      </p:sp>
    </p:spTree>
    <p:extLst>
      <p:ext uri="{BB962C8B-B14F-4D97-AF65-F5344CB8AC3E}">
        <p14:creationId xmlns:p14="http://schemas.microsoft.com/office/powerpoint/2010/main" val="1312236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a:lstStyle/>
          <a:p>
            <a:endParaRPr lang="en-JP" dirty="0"/>
          </a:p>
        </p:txBody>
      </p:sp>
      <p:sp>
        <p:nvSpPr>
          <p:cNvPr id="31" name="HeaderTitle"/>
          <p:cNvSpPr txBox="1"/>
          <p:nvPr/>
        </p:nvSpPr>
        <p:spPr>
          <a:xfrm>
            <a:off x="482600" y="76200"/>
            <a:ext cx="8191500" cy="419100"/>
          </a:xfrm>
          <a:prstGeom prst="rect">
            <a:avLst/>
          </a:prstGeom>
        </p:spPr>
        <p:txBody>
          <a:bodyPr wrap="square" rtlCol="0" anchor="t">
            <a:normAutofit/>
          </a:bodyPr>
          <a:lstStyle/>
          <a:p>
            <a:pPr marL="342900" indent="-342900" algn="l">
              <a:buFont typeface="Wingdings" pitchFamily="2" charset="2"/>
              <a:buChar char="Ø"/>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1. Where does Projectile Fragmentation come from?</a:t>
            </a:r>
          </a:p>
        </p:txBody>
      </p:sp>
      <p:sp>
        <p:nvSpPr>
          <p:cNvPr id="32" name="AnswerLead"/>
          <p:cNvSpPr txBox="1"/>
          <p:nvPr/>
        </p:nvSpPr>
        <p:spPr>
          <a:xfrm>
            <a:off x="406400" y="660400"/>
            <a:ext cx="8318500" cy="457200"/>
          </a:xfrm>
          <a:prstGeom prst="rect">
            <a:avLst/>
          </a:prstGeom>
        </p:spPr>
        <p:txBody>
          <a:bodyPr wrap="square" rtlCol="0" anchor="ctr">
            <a:normAutofit/>
          </a:bodyPr>
          <a:lstStyle/>
          <a:p>
            <a:pPr algn="l"/>
            <a:r>
              <a:rPr lang="en-US" sz="1500" b="1" dirty="0">
                <a:solidFill>
                  <a:srgbClr val="1A2332"/>
                </a:solidFill>
                <a:latin typeface="Times New Roman"/>
                <a:cs typeface="Times New Roman"/>
              </a:rPr>
              <a:t>It originates in high-energy heavy-ion collisions — first seen at the Bevalac (LBL) in 1975.</a:t>
            </a:r>
          </a:p>
        </p:txBody>
      </p:sp>
      <p:sp>
        <p:nvSpPr>
          <p:cNvPr id="33" name="Card1"/>
          <p:cNvSpPr/>
          <p:nvPr/>
        </p:nvSpPr>
        <p:spPr>
          <a:xfrm>
            <a:off x="406400" y="1219200"/>
            <a:ext cx="2641600" cy="3403600"/>
          </a:xfrm>
          <a:prstGeom prst="rect">
            <a:avLst/>
          </a:prstGeom>
          <a:solidFill>
            <a:srgbClr val="F5F7FA"/>
          </a:solidFill>
          <a:ln>
            <a:noFill/>
          </a:ln>
        </p:spPr>
        <p:txBody>
          <a:bodyPr/>
          <a:lstStyle/>
          <a:p>
            <a:endParaRPr lang="en-JP"/>
          </a:p>
        </p:txBody>
      </p:sp>
      <p:sp>
        <p:nvSpPr>
          <p:cNvPr id="34" name="Card1Accent"/>
          <p:cNvSpPr/>
          <p:nvPr/>
        </p:nvSpPr>
        <p:spPr>
          <a:xfrm>
            <a:off x="406400" y="1219200"/>
            <a:ext cx="2641600" cy="50800"/>
          </a:xfrm>
          <a:prstGeom prst="rect">
            <a:avLst/>
          </a:prstGeom>
          <a:solidFill>
            <a:srgbClr val="174994"/>
          </a:solidFill>
          <a:ln>
            <a:noFill/>
          </a:ln>
        </p:spPr>
        <p:txBody>
          <a:bodyPr/>
          <a:lstStyle/>
          <a:p>
            <a:endParaRPr lang="en-JP"/>
          </a:p>
        </p:txBody>
      </p:sp>
      <p:sp>
        <p:nvSpPr>
          <p:cNvPr id="35" name="Card1Head"/>
          <p:cNvSpPr txBox="1"/>
          <p:nvPr/>
        </p:nvSpPr>
        <p:spPr>
          <a:xfrm>
            <a:off x="558800" y="1422400"/>
            <a:ext cx="2336800" cy="304800"/>
          </a:xfrm>
          <a:prstGeom prst="rect">
            <a:avLst/>
          </a:prstGeom>
        </p:spPr>
        <p:txBody>
          <a:bodyPr wrap="square" rtlCol="0" anchor="ctr">
            <a:normAutofit/>
          </a:bodyPr>
          <a:lstStyle/>
          <a:p>
            <a:pPr algn="l"/>
            <a:r>
              <a:rPr lang="en-US" sz="1400" b="1" dirty="0">
                <a:solidFill>
                  <a:srgbClr val="174994"/>
                </a:solidFill>
                <a:latin typeface="Times New Roman"/>
                <a:cs typeface="Times New Roman"/>
              </a:rPr>
              <a:t>Historical origin</a:t>
            </a:r>
          </a:p>
        </p:txBody>
      </p:sp>
      <p:sp>
        <p:nvSpPr>
          <p:cNvPr id="36" name="Card1Body"/>
          <p:cNvSpPr txBox="1"/>
          <p:nvPr/>
        </p:nvSpPr>
        <p:spPr>
          <a:xfrm>
            <a:off x="558800" y="1828800"/>
            <a:ext cx="2336800" cy="2540000"/>
          </a:xfrm>
          <a:prstGeom prst="rect">
            <a:avLst/>
          </a:prstGeom>
        </p:spPr>
        <p:txBody>
          <a:bodyPr wrap="square" rtlCol="0" anchor="t">
            <a:normAutofit/>
          </a:bodyPr>
          <a:lstStyle/>
          <a:p>
            <a:pPr algn="l"/>
            <a:r>
              <a:rPr lang="en-US" sz="1100" dirty="0">
                <a:solidFill>
                  <a:srgbClr val="5F6B73"/>
                </a:solidFill>
                <a:latin typeface="Times New Roman"/>
                <a:cs typeface="Times New Roman"/>
              </a:rPr>
              <a:t>Greiner et al. (Phys. Rev. Lett. 35, 152) measured ¹²C &amp; ¹⁶O at 2.1 AGeV on Be–Pb targets at the Bevalac.</a:t>
            </a:r>
          </a:p>
          <a:p>
            <a:pPr algn="l"/>
            <a:endParaRPr lang="en-US" sz="1100" dirty="0">
              <a:solidFill>
                <a:srgbClr val="5F6B73"/>
              </a:solidFill>
              <a:latin typeface="Times New Roman"/>
              <a:cs typeface="Times New Roman"/>
            </a:endParaRPr>
          </a:p>
          <a:p>
            <a:pPr algn="l"/>
            <a:r>
              <a:rPr lang="en-US" sz="1100" dirty="0">
                <a:solidFill>
                  <a:srgbClr val="5F6B73"/>
                </a:solidFill>
                <a:latin typeface="Times New Roman"/>
                <a:cs typeface="Times New Roman"/>
              </a:rPr>
              <a:t>Heckman/Greiner group established forward fragmentation as a distinct reaction channel.</a:t>
            </a:r>
          </a:p>
          <a:p>
            <a:pPr algn="l"/>
            <a:endParaRPr lang="en-US" sz="1100" dirty="0">
              <a:solidFill>
                <a:srgbClr val="5F6B73"/>
              </a:solidFill>
              <a:latin typeface="Times New Roman"/>
              <a:cs typeface="Times New Roman"/>
            </a:endParaRPr>
          </a:p>
          <a:p>
            <a:pPr algn="l"/>
            <a:r>
              <a:rPr lang="en-US" sz="1100" dirty="0">
                <a:solidFill>
                  <a:srgbClr val="5F6B73"/>
                </a:solidFill>
                <a:latin typeface="Times New Roman"/>
                <a:cs typeface="Times New Roman"/>
              </a:rPr>
              <a:t>Late 1970s: method pioneered for in-flight rare-isotope beams.</a:t>
            </a:r>
          </a:p>
        </p:txBody>
      </p:sp>
      <p:sp>
        <p:nvSpPr>
          <p:cNvPr id="37" name="Card2"/>
          <p:cNvSpPr/>
          <p:nvPr/>
        </p:nvSpPr>
        <p:spPr>
          <a:xfrm>
            <a:off x="3251200" y="1219200"/>
            <a:ext cx="2641600" cy="3403600"/>
          </a:xfrm>
          <a:prstGeom prst="rect">
            <a:avLst/>
          </a:prstGeom>
          <a:solidFill>
            <a:srgbClr val="F5F7FA"/>
          </a:solidFill>
          <a:ln>
            <a:noFill/>
          </a:ln>
        </p:spPr>
        <p:txBody>
          <a:bodyPr/>
          <a:lstStyle/>
          <a:p>
            <a:endParaRPr lang="en-JP"/>
          </a:p>
        </p:txBody>
      </p:sp>
      <p:sp>
        <p:nvSpPr>
          <p:cNvPr id="38" name="Card2Accent"/>
          <p:cNvSpPr/>
          <p:nvPr/>
        </p:nvSpPr>
        <p:spPr>
          <a:xfrm>
            <a:off x="3251200" y="1219200"/>
            <a:ext cx="2641600" cy="50800"/>
          </a:xfrm>
          <a:prstGeom prst="rect">
            <a:avLst/>
          </a:prstGeom>
          <a:solidFill>
            <a:srgbClr val="174994"/>
          </a:solidFill>
          <a:ln>
            <a:noFill/>
          </a:ln>
        </p:spPr>
        <p:txBody>
          <a:bodyPr/>
          <a:lstStyle/>
          <a:p>
            <a:endParaRPr lang="en-JP"/>
          </a:p>
        </p:txBody>
      </p:sp>
      <p:sp>
        <p:nvSpPr>
          <p:cNvPr id="39" name="Card2Head"/>
          <p:cNvSpPr txBox="1"/>
          <p:nvPr/>
        </p:nvSpPr>
        <p:spPr>
          <a:xfrm>
            <a:off x="3403600" y="1422400"/>
            <a:ext cx="2336800" cy="304800"/>
          </a:xfrm>
          <a:prstGeom prst="rect">
            <a:avLst/>
          </a:prstGeom>
        </p:spPr>
        <p:txBody>
          <a:bodyPr wrap="square" rtlCol="0" anchor="ctr">
            <a:normAutofit/>
          </a:bodyPr>
          <a:lstStyle/>
          <a:p>
            <a:pPr algn="l"/>
            <a:r>
              <a:rPr lang="en-US" sz="1400" b="1" dirty="0">
                <a:solidFill>
                  <a:srgbClr val="174994"/>
                </a:solidFill>
                <a:latin typeface="Times New Roman"/>
                <a:cs typeface="Times New Roman"/>
              </a:rPr>
              <a:t>Physical process</a:t>
            </a:r>
          </a:p>
        </p:txBody>
      </p:sp>
      <p:sp>
        <p:nvSpPr>
          <p:cNvPr id="40" name="Card2Body"/>
          <p:cNvSpPr txBox="1"/>
          <p:nvPr/>
        </p:nvSpPr>
        <p:spPr>
          <a:xfrm>
            <a:off x="3403600" y="1828800"/>
            <a:ext cx="2336800" cy="2540000"/>
          </a:xfrm>
          <a:prstGeom prst="rect">
            <a:avLst/>
          </a:prstGeom>
        </p:spPr>
        <p:txBody>
          <a:bodyPr wrap="square" rtlCol="0" anchor="t">
            <a:normAutofit/>
          </a:bodyPr>
          <a:lstStyle/>
          <a:p>
            <a:pPr algn="l"/>
            <a:r>
              <a:rPr lang="en-US" sz="1100" dirty="0">
                <a:solidFill>
                  <a:srgbClr val="5F6B73"/>
                </a:solidFill>
                <a:latin typeface="Times New Roman"/>
                <a:cs typeface="Times New Roman"/>
              </a:rPr>
              <a:t>A relativistic heavy-ion projectile grazes a thin light target (Be/C).</a:t>
            </a:r>
          </a:p>
          <a:p>
            <a:pPr algn="l"/>
            <a:endParaRPr lang="en-US" sz="1100" dirty="0">
              <a:solidFill>
                <a:srgbClr val="5F6B73"/>
              </a:solidFill>
              <a:latin typeface="Times New Roman"/>
              <a:cs typeface="Times New Roman"/>
            </a:endParaRPr>
          </a:p>
          <a:p>
            <a:pPr algn="l"/>
            <a:r>
              <a:rPr lang="en-US" sz="1100" dirty="0">
                <a:solidFill>
                  <a:srgbClr val="5F6B73"/>
                </a:solidFill>
                <a:latin typeface="Times New Roman"/>
                <a:cs typeface="Times New Roman"/>
              </a:rPr>
              <a:t>Peripheral collision abrades nucleons; the excited remnant ablates and de-excites into fragments.</a:t>
            </a:r>
          </a:p>
          <a:p>
            <a:pPr algn="l"/>
            <a:endParaRPr lang="en-US" sz="1100" dirty="0">
              <a:solidFill>
                <a:srgbClr val="5F6B73"/>
              </a:solidFill>
              <a:latin typeface="Times New Roman"/>
              <a:cs typeface="Times New Roman"/>
            </a:endParaRPr>
          </a:p>
          <a:p>
            <a:pPr algn="l"/>
            <a:r>
              <a:rPr lang="en-US" sz="1100" dirty="0">
                <a:solidFill>
                  <a:srgbClr val="5F6B73"/>
                </a:solidFill>
                <a:latin typeface="Times New Roman"/>
                <a:cs typeface="Times New Roman"/>
              </a:rPr>
              <a:t>Fragments keep nearly beam velocity in a narrow forward cone.</a:t>
            </a:r>
          </a:p>
        </p:txBody>
      </p:sp>
      <p:sp>
        <p:nvSpPr>
          <p:cNvPr id="45" name="BottomRule"/>
          <p:cNvSpPr/>
          <p:nvPr/>
        </p:nvSpPr>
        <p:spPr>
          <a:xfrm>
            <a:off x="342900" y="4860417"/>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a:lstStyle/>
          <a:p>
            <a:endParaRPr lang="en-JP"/>
          </a:p>
        </p:txBody>
      </p:sp>
      <p:sp>
        <p:nvSpPr>
          <p:cNvPr id="46" name="Footer"/>
          <p:cNvSpPr txBox="1"/>
          <p:nvPr/>
        </p:nvSpPr>
        <p:spPr>
          <a:xfrm>
            <a:off x="457200" y="4889500"/>
            <a:ext cx="6858000" cy="228600"/>
          </a:xfrm>
          <a:prstGeom prst="rect">
            <a:avLst/>
          </a:prstGeom>
        </p:spPr>
        <p:txBody>
          <a:bodyPr wrap="square" rtlCol="0" anchor="t">
            <a:normAutofit lnSpcReduction="10000"/>
          </a:bodyPr>
          <a:lstStyle/>
          <a:p>
            <a:pPr algn="l"/>
            <a:r>
              <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Learning Group</a:t>
            </a:r>
          </a:p>
        </p:txBody>
      </p:sp>
      <p:sp>
        <p:nvSpPr>
          <p:cNvPr id="47" name="PageNum"/>
          <p:cNvSpPr txBox="1"/>
          <p:nvPr/>
        </p:nvSpPr>
        <p:spPr>
          <a:xfrm>
            <a:off x="8331200" y="4914900"/>
            <a:ext cx="685800" cy="228600"/>
          </a:xfrm>
          <a:prstGeom prst="rect">
            <a:avLst/>
          </a:prstGeom>
        </p:spPr>
        <p:txBody>
          <a:bodyPr wrap="square" rtlCol="0" anchor="t">
            <a:normAutofit/>
          </a:bodyPr>
          <a:lstStyle/>
          <a:p>
            <a:pPr algn="ctr"/>
            <a:r>
              <a:rPr lang="en-US" sz="75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2 / 10</a:t>
            </a:r>
          </a:p>
        </p:txBody>
      </p:sp>
    </p:spTree>
    <p:extLst>
      <p:ext uri="{BB962C8B-B14F-4D97-AF65-F5344CB8AC3E}">
        <p14:creationId xmlns:p14="http://schemas.microsoft.com/office/powerpoint/2010/main" val="30420374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CH-F9FEA52BFE31B898BDBCBC48EA8BBA4AF57C804CB7740EBCA5B960AF1C68F17E" val="[{&quot;GradientColorId&quot;:&quot;&quot;,&quot;IsFree&quot;:true,&quot;IsGradient&quot;:false,&quot;ImagePath&quot;:&quot;&quot;,&quot;GradientColor&quot;:null,&quot;SimpleColor&quot;:&quot;#FF4040&quot;}]"/>
</p:tagLst>
</file>

<file path=ppt/theme/theme1.xml><?xml version="1.0" encoding="utf-8"?>
<a:theme xmlns:a="http://schemas.openxmlformats.org/drawingml/2006/main" name="Office Theme [1779258520937]">
  <a:themeElements>
    <a:clrScheme name="Office">
      <a:dk1>
        <a:srgbClr val="000000"/>
      </a:dk1>
      <a:lt1>
        <a:srgbClr val="FFFFFF"/>
      </a:lt1>
      <a:dk2>
        <a:srgbClr val="1F4E79"/>
      </a:dk2>
      <a:lt2>
        <a:srgbClr val="EEECE1"/>
      </a:lt2>
      <a:accent1>
        <a:srgbClr val="1F4E79"/>
      </a:accent1>
      <a:accent2>
        <a:srgbClr val="C000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99" row="3">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 dockstate="right" visibility="0" width="35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7149B7F6-5860-4488-B40D-90F180201131}">
  <we:reference id="wa200010001" version="1.0.0.1" store="en-US" storeType="OMEX"/>
  <we:alternateReferences>
    <we:reference id="WA200010001" version="1.0.0.1" store="" storeType="OMEX"/>
  </we:alternateReferences>
  <we:properties>
    <we:property name="claude.fileId" value="&quot;2d12da0d-5215-45ea-a035-422835fcf31d&quot;"/>
  </we:properties>
  <we:bindings/>
  <we:snapshot xmlns:r="http://schemas.openxmlformats.org/officeDocument/2006/relationships"/>
</we:webextension>
</file>

<file path=ppt/webextensions/webextension2.xml><?xml version="1.0" encoding="utf-8"?>
<we:webextension xmlns:we="http://schemas.microsoft.com/office/webextensions/webextension/2010/11" id="{8C0ED37A-9D3E-F743-98FF-A9CE265C1D5A}">
  <we:reference id="wa200010725" version="1.0.0.1" store="en-US" storeType="OMEX"/>
  <we:alternateReferences>
    <we:reference id="WA200010725" version="1.0.0.1" store="WA200010725" storeType="OMEX"/>
  </we:alternateReferences>
  <we:properties>
    <we:property name="claude.fileId" value="&quot;8827c5e6-eeeb-469e-945e-d33c0b55ba1d&quot;"/>
  </we:properties>
  <we:bindings/>
  <we:snapshot xmlns:r="http://schemas.openxmlformats.org/officeDocument/2006/relationships"/>
</we:webextension>
</file>

<file path=ppt/webextensions/webextension3.xml><?xml version="1.0" encoding="utf-8"?>
<we:webextension xmlns:we="http://schemas.microsoft.com/office/webextensions/webextension/2010/11" id="{27D57FB0-078C-BB42-8DD2-D6D0A2132540}">
  <we:reference id="wa200011214" version="1.0.0.1" store="en-US" storeType="OMEX"/>
  <we:alternateReferences>
    <we:reference id="WA200011214" version="1.0.0.1" store="WA200011214" storeType="OMEX"/>
  </we:alternateReferences>
  <we:properties>
    <we:property name="_flush" value="1786412811844"/>
    <we:property name="_postImportCommit" value="1786412811844"/>
    <we:property name="grokConversationBinding" value="{&quot;responseId&quot;:&quot;0f4c03d9-859b-9e0b-b2f2-f26619e006c6&quot;,&quot;title&quot;:&quot;Update Header Band Shading&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13383</TotalTime>
  <Words>689</Words>
  <Application>Microsoft Macintosh PowerPoint</Application>
  <PresentationFormat>On-screen Show (16:9)</PresentationFormat>
  <Paragraphs>39</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Times New Roman</vt:lpstr>
      <vt:lpstr>Wingdings</vt:lpstr>
      <vt:lpstr>Office Theme [1779258520937]</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TRK Energy Regression Comparison</dc:title>
  <dc:subject>Advisor update on TRK5/TRK6 energy regression and baselines</dc:subject>
  <dc:creator>Claude Code</dc:creator>
  <dc:description>generated using python-pptx</dc:description>
  <cp:lastModifiedBy>HA139785@365mak.com</cp:lastModifiedBy>
  <cp:revision>251</cp:revision>
  <dcterms:created xsi:type="dcterms:W3CDTF">2013-01-27T09:14:00Z</dcterms:created>
  <dcterms:modified xsi:type="dcterms:W3CDTF">2026-08-11T02:36:16Z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0757AB3A121C4A0DA3E606B7A4919301_12</vt:lpwstr>
  </property>
</Properties>
</file>