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15"/>
  </p:notesMasterIdLst>
  <p:sldIdLst>
    <p:sldId id="492" r:id="rId2"/>
    <p:sldId id="473" r:id="rId3"/>
    <p:sldId id="474" r:id="rId4"/>
    <p:sldId id="475" r:id="rId5"/>
    <p:sldId id="487" r:id="rId6"/>
    <p:sldId id="477" r:id="rId7"/>
    <p:sldId id="478" r:id="rId8"/>
    <p:sldId id="479" r:id="rId9"/>
    <p:sldId id="480" r:id="rId10"/>
    <p:sldId id="481" r:id="rId11"/>
    <p:sldId id="482" r:id="rId12"/>
    <p:sldId id="484" r:id="rId13"/>
    <p:sldId id="48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8"/>
    <p:restoredTop sz="96414"/>
  </p:normalViewPr>
  <p:slideViewPr>
    <p:cSldViewPr snapToGrid="0" snapToObjects="1">
      <p:cViewPr varScale="1">
        <p:scale>
          <a:sx n="149" d="100"/>
          <a:sy n="149" d="100"/>
        </p:scale>
        <p:origin x="176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153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EE9AC-06B0-B1F6-7001-FBFAA181B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>
            <a:extLst>
              <a:ext uri="{FF2B5EF4-FFF2-40B4-BE49-F238E27FC236}">
                <a16:creationId xmlns:a16="http://schemas.microsoft.com/office/drawing/2014/main" id="{2F1CC1A5-D89F-72A9-BE60-D20653228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38862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大家好。我是胡智恒，今天和大家分享的是重离子弹核碎裂</a:t>
            </a:r>
            <a:r>
              <a:rPr dirty="0"/>
              <a:t>——Projectile Fragmentation of Heavy Ions。</a:t>
            </a:r>
          </a:p>
          <a:p>
            <a:endParaRPr dirty="0"/>
          </a:p>
          <a:p>
            <a:r>
              <a:rPr dirty="0" err="1"/>
              <a:t>材料主要来自谷畑勇夫（Isao</a:t>
            </a:r>
            <a:r>
              <a:rPr dirty="0"/>
              <a:t> Tanihata）在《核物理实验技术》第10章里关于放射性束产生与利用的论述。我想带大家想清楚两件事：第一，为什么高能重离子的弹核碎裂，能把次级放射性束从“原则上可行”变成一条真正能做反应实验的生产线；第二，动量分布和分离原理，又是怎样决定最终束流品质的。</a:t>
            </a:r>
          </a:p>
          <a:p>
            <a:endParaRPr dirty="0"/>
          </a:p>
          <a:p>
            <a:r>
              <a:rPr dirty="0" err="1"/>
              <a:t>我们按问题往下走，有不清楚的随时打断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Hi everyone — I'm Zhiheng Hu. Today I'll walk through projectile fragmentation of heavy ions.</a:t>
            </a:r>
          </a:p>
          <a:p>
            <a:endParaRPr dirty="0"/>
          </a:p>
          <a:p>
            <a:r>
              <a:rPr dirty="0"/>
              <a:t>This talk is based on Isao </a:t>
            </a:r>
            <a:r>
              <a:rPr dirty="0" err="1"/>
              <a:t>Tanihata's</a:t>
            </a:r>
            <a:r>
              <a:rPr dirty="0"/>
              <a:t> chapter on the production and use of radioactive beams, in Experimental Techniques in Nuclear Physics. There are really two things I want us to leave with. First: why high-energy heavy-ion fragmentation turned secondary radioactive beams from a principle into a practical production line for reaction studies. Second: how the fragment momentum distribution, and the way we separate species, set the quality of the beam you actually get on target.</a:t>
            </a:r>
          </a:p>
          <a:p>
            <a:endParaRPr dirty="0"/>
          </a:p>
          <a:p>
            <a:r>
              <a:rPr dirty="0"/>
              <a:t>I'll follow a few guiding questions. </a:t>
            </a:r>
          </a:p>
        </p:txBody>
      </p:sp>
    </p:spTree>
    <p:extLst>
      <p:ext uri="{BB962C8B-B14F-4D97-AF65-F5344CB8AC3E}">
        <p14:creationId xmlns:p14="http://schemas.microsoft.com/office/powerpoint/2010/main" val="106456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>
          <a:xfrm>
            <a:off x="685800" y="38862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先看一下今天的路线图，四个问题串起来</a:t>
            </a:r>
            <a:r>
              <a:rPr dirty="0"/>
              <a:t>：</a:t>
            </a:r>
          </a:p>
          <a:p>
            <a:endParaRPr dirty="0"/>
          </a:p>
          <a:p>
            <a:r>
              <a:rPr dirty="0" err="1"/>
              <a:t>第一，弹核碎裂从何而来</a:t>
            </a:r>
            <a:r>
              <a:rPr dirty="0"/>
              <a:t>——</a:t>
            </a:r>
            <a:r>
              <a:rPr dirty="0" err="1"/>
              <a:t>历史脉络，以及它作为一种反应机制本身的物理图像</a:t>
            </a:r>
            <a:r>
              <a:rPr dirty="0"/>
              <a:t>。</a:t>
            </a:r>
          </a:p>
          <a:p>
            <a:r>
              <a:rPr dirty="0" err="1"/>
              <a:t>第二，弹核碎裂是什么</a:t>
            </a:r>
            <a:r>
              <a:rPr dirty="0"/>
              <a:t>——</a:t>
            </a:r>
            <a:r>
              <a:rPr dirty="0" err="1"/>
              <a:t>运动学特征、动量分布，以及</a:t>
            </a:r>
            <a:r>
              <a:rPr dirty="0"/>
              <a:t> Goldhaber </a:t>
            </a:r>
            <a:r>
              <a:rPr dirty="0" err="1"/>
              <a:t>宽度怎么刻画碎片云</a:t>
            </a:r>
            <a:r>
              <a:rPr dirty="0"/>
              <a:t>。</a:t>
            </a:r>
          </a:p>
          <a:p>
            <a:r>
              <a:rPr dirty="0" err="1"/>
              <a:t>第三，我们为什么需要它</a:t>
            </a:r>
            <a:r>
              <a:rPr dirty="0"/>
              <a:t>——</a:t>
            </a:r>
            <a:r>
              <a:rPr dirty="0" err="1"/>
              <a:t>稳定线附近的经典限制，以及放射性次级束打开了什么</a:t>
            </a:r>
            <a:r>
              <a:rPr dirty="0"/>
              <a:t>。</a:t>
            </a:r>
          </a:p>
          <a:p>
            <a:r>
              <a:rPr dirty="0" err="1"/>
              <a:t>第四，实际怎么用</a:t>
            </a:r>
            <a:r>
              <a:rPr dirty="0"/>
              <a:t>——</a:t>
            </a:r>
            <a:r>
              <a:rPr dirty="0" err="1"/>
              <a:t>生产靶、接受度、磁刚度与能量损失分离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后面每一节都会对着这四个问题回答；最后我们再用同一框架做一次收束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Here's the roadmap — four questions that structure the whole </a:t>
            </a:r>
            <a:r>
              <a:rPr lang="en-JP" dirty="0"/>
              <a:t>presentation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One: where does projectile fragmentation come from — the historical path, and the physical picture of the reaction itself.</a:t>
            </a:r>
          </a:p>
          <a:p>
            <a:r>
              <a:rPr dirty="0"/>
              <a:t>Two: what is projectile fragmentation — kinematics, the momentum distribution, and how the Goldhaber width describes the fragment cloud.</a:t>
            </a:r>
          </a:p>
          <a:p>
            <a:r>
              <a:rPr dirty="0"/>
              <a:t>Three: why we need it — the classical limits near the valley of stability, and what radioactive secondary beams unlock.</a:t>
            </a:r>
          </a:p>
          <a:p>
            <a:r>
              <a:rPr dirty="0"/>
              <a:t>Four: practical use — production target, separator acceptance, and magnetic plus energy-loss separation.</a:t>
            </a:r>
          </a:p>
          <a:p>
            <a:endParaRPr dirty="0"/>
          </a:p>
          <a:p>
            <a:r>
              <a:rPr dirty="0"/>
              <a:t>Each section answers one of these; at the end we'll close with the same four answers.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第一个问题：弹核碎裂从何而来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谷畑有一句很清楚的话：原则上，任何能产生放射性核的反应，都可以喂次级束。但真正让次级束能做反应研究、而不是只能做衰变谱学，是在高能重离子碰撞里发现弹核碎裂之后，才变得实用。</a:t>
            </a:r>
          </a:p>
          <a:p>
            <a:endParaRPr dirty="0"/>
          </a:p>
          <a:p>
            <a:r>
              <a:rPr dirty="0" err="1"/>
              <a:t>左边是历史脉络。很长一段时间，束和靶都被锁在稳定核上</a:t>
            </a:r>
            <a:r>
              <a:rPr dirty="0"/>
              <a:t>——这是核物理能接触什么的根本限制。后来在高能重离子碰撞中发现：碎片大量涌进可用的前向锥，这就是弹核碎裂。第一次系统的放射性束反应研究，用的就是 PF </a:t>
            </a:r>
            <a:r>
              <a:rPr dirty="0" err="1"/>
              <a:t>产生的次级束，而不是再加速方案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右边是物理图像。束能远高于核子结合能时，弹核可以甩掉核子却不必在靶里停下来；碎片集中在窄前向锥里；而且碎片几乎继承弹核速度</a:t>
            </a:r>
            <a:r>
              <a:rPr dirty="0"/>
              <a:t>——v </a:t>
            </a:r>
            <a:r>
              <a:rPr dirty="0" err="1"/>
              <a:t>约等于</a:t>
            </a:r>
            <a:r>
              <a:rPr dirty="0"/>
              <a:t> </a:t>
            </a:r>
            <a:r>
              <a:rPr dirty="0" err="1"/>
              <a:t>v_beam。这最后一点，是在线磁分离能成立的关键运动学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所以“来源”有两层含义：作为技术路线，它是稳定线锁死之后的突破；作为反应机制，它给出了前向、同速、可收集的碎片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First question: where does projectile fragmentation come from?</a:t>
            </a:r>
          </a:p>
          <a:p>
            <a:endParaRPr dirty="0"/>
          </a:p>
          <a:p>
            <a:r>
              <a:rPr lang="en-US" dirty="0"/>
              <a:t>I</a:t>
            </a:r>
            <a:r>
              <a:rPr dirty="0"/>
              <a:t>n principle, any reaction that makes radioactive nuclei can feed a secondary beam. But secondary beams for reaction studies — not only decay spectroscopy — only became practical after projectile fragmentation was found in high-energy heavy-ion collisions.</a:t>
            </a:r>
          </a:p>
          <a:p>
            <a:br>
              <a:rPr lang="en-US" dirty="0"/>
            </a:br>
            <a:endParaRPr dirty="0"/>
          </a:p>
          <a:p>
            <a:r>
              <a:rPr dirty="0"/>
              <a:t>On the left, the history. </a:t>
            </a:r>
            <a:r>
              <a:rPr lang="en-US" dirty="0"/>
              <a:t>As </a:t>
            </a:r>
            <a:r>
              <a:rPr lang="en-US" dirty="0" err="1"/>
              <a:t>huang</a:t>
            </a:r>
            <a:r>
              <a:rPr lang="en-US" dirty="0"/>
              <a:t> </a:t>
            </a:r>
            <a:r>
              <a:rPr lang="en-US" dirty="0" err="1"/>
              <a:t>taisen</a:t>
            </a:r>
            <a:r>
              <a:rPr lang="en-US" dirty="0"/>
              <a:t> introduced precedingly, f</a:t>
            </a:r>
            <a:r>
              <a:rPr dirty="0"/>
              <a:t>or decades, beams and targets were locked to stable nuclei — a hard limit on what nuclear physics could access. Then, in high-energy heavy-ion collisions, fragments were seen pouring into a usable forward cone: projectile fragmentation. The first systematic reaction studies with radioactive beams used secondary beams from PF, not reacceleration.</a:t>
            </a:r>
          </a:p>
          <a:p>
            <a:endParaRPr dirty="0"/>
          </a:p>
          <a:p>
            <a:r>
              <a:rPr dirty="0"/>
              <a:t>On the right, the physics. When beam energy is far above the nucleon binding energy, the projectile can shed nucleons without stopping in the target. Fragments go into a narrow forward cone. And they leave with nearly the projectile velocity — v ≈ </a:t>
            </a:r>
            <a:r>
              <a:rPr dirty="0" err="1"/>
              <a:t>v_beam</a:t>
            </a:r>
            <a:r>
              <a:rPr dirty="0"/>
              <a:t>. That last point is the kinematic key to in-flight magnetic separation.</a:t>
            </a:r>
          </a:p>
          <a:p>
            <a:endParaRPr dirty="0"/>
          </a:p>
          <a:p>
            <a:r>
              <a:rPr dirty="0"/>
              <a:t>So “where it comes from” has two layers: as a technique, it broke the stability-line lock-in; as a reaction, it delivers forward, same-velocity, collectible fragments.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把次级束生产链画成五步，就很好记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第一步：高能稳定重离子初级束打进来</a:t>
            </a:r>
            <a:r>
              <a:rPr dirty="0"/>
              <a:t>。</a:t>
            </a:r>
          </a:p>
          <a:p>
            <a:r>
              <a:rPr dirty="0" err="1"/>
              <a:t>第二步：打到低</a:t>
            </a:r>
            <a:r>
              <a:rPr dirty="0"/>
              <a:t> Z </a:t>
            </a:r>
            <a:r>
              <a:rPr dirty="0" err="1"/>
              <a:t>生产靶上</a:t>
            </a:r>
            <a:r>
              <a:rPr dirty="0"/>
              <a:t>——</a:t>
            </a:r>
            <a:r>
              <a:rPr dirty="0" err="1"/>
              <a:t>铍、碳一类</a:t>
            </a:r>
            <a:r>
              <a:rPr dirty="0"/>
              <a:t>——</a:t>
            </a:r>
            <a:r>
              <a:rPr dirty="0" err="1"/>
              <a:t>碎片在前向锥里产生</a:t>
            </a:r>
            <a:r>
              <a:rPr dirty="0"/>
              <a:t>。</a:t>
            </a:r>
          </a:p>
          <a:p>
            <a:r>
              <a:rPr dirty="0" err="1"/>
              <a:t>第三步：出来的是各种</a:t>
            </a:r>
            <a:r>
              <a:rPr dirty="0"/>
              <a:t> (A,Z) 的“</a:t>
            </a:r>
            <a:r>
              <a:rPr dirty="0" err="1"/>
              <a:t>鸡尾酒</a:t>
            </a:r>
            <a:r>
              <a:rPr dirty="0"/>
              <a:t>”，</a:t>
            </a:r>
            <a:r>
              <a:rPr dirty="0" err="1"/>
              <a:t>但速度几乎都和初级束一样</a:t>
            </a:r>
            <a:r>
              <a:rPr dirty="0"/>
              <a:t>。</a:t>
            </a:r>
          </a:p>
          <a:p>
            <a:r>
              <a:rPr dirty="0" err="1"/>
              <a:t>第四步：分离器做</a:t>
            </a:r>
            <a:r>
              <a:rPr dirty="0"/>
              <a:t> </a:t>
            </a:r>
            <a:r>
              <a:rPr dirty="0" err="1"/>
              <a:t>Bρ</a:t>
            </a:r>
            <a:r>
              <a:rPr dirty="0"/>
              <a:t>–ΔE–</a:t>
            </a:r>
            <a:r>
              <a:rPr dirty="0" err="1"/>
              <a:t>Bρ，把目标核从鸡尾酒里挑出来</a:t>
            </a:r>
            <a:r>
              <a:rPr dirty="0"/>
              <a:t>。</a:t>
            </a:r>
          </a:p>
          <a:p>
            <a:r>
              <a:rPr dirty="0" err="1"/>
              <a:t>第五步：把这条次级束送到物理靶上做反应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关键在于：弹核碎裂把“产生”和“在线筛选”接成同一条生产线。不是先化学分离、再慢吞吞地提取，而是束一打靶，碎片已经带着可用的运动学往前飞，分离器在飞行中完成选核。后面讲动量云和 </a:t>
            </a:r>
            <a:r>
              <a:rPr dirty="0" err="1"/>
              <a:t>Bρ</a:t>
            </a:r>
            <a:r>
              <a:rPr dirty="0"/>
              <a:t> </a:t>
            </a:r>
            <a:r>
              <a:rPr dirty="0" err="1"/>
              <a:t>时，都会回到这张图上的第三、四步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Think of the secondary-beam chain as five steps</a:t>
            </a:r>
            <a:r>
              <a:rPr lang="en-US" dirty="0"/>
              <a:t>.</a:t>
            </a:r>
            <a:endParaRPr dirty="0"/>
          </a:p>
          <a:p>
            <a:endParaRPr dirty="0"/>
          </a:p>
          <a:p>
            <a:r>
              <a:rPr dirty="0"/>
              <a:t>One: a high-energy stable heavy-ion primary beam.</a:t>
            </a:r>
          </a:p>
          <a:p>
            <a:r>
              <a:rPr dirty="0"/>
              <a:t>Two: it hits a thin, low-Z production target — beryllium or carbon — and fragments are born in the forward cone.</a:t>
            </a:r>
          </a:p>
          <a:p>
            <a:r>
              <a:rPr dirty="0"/>
              <a:t>Three: you get a cocktail of many (A,Z) species, all at nearly the same velocity as the primary.</a:t>
            </a:r>
          </a:p>
          <a:p>
            <a:r>
              <a:rPr dirty="0"/>
              <a:t>Four: a separator runs </a:t>
            </a:r>
            <a:r>
              <a:rPr dirty="0" err="1"/>
              <a:t>Bρ</a:t>
            </a:r>
            <a:r>
              <a:rPr dirty="0"/>
              <a:t>–ΔE–</a:t>
            </a:r>
            <a:r>
              <a:rPr dirty="0" err="1"/>
              <a:t>Bρ</a:t>
            </a:r>
            <a:r>
              <a:rPr dirty="0"/>
              <a:t> and picks out the species you want.</a:t>
            </a:r>
          </a:p>
          <a:p>
            <a:r>
              <a:rPr dirty="0"/>
              <a:t>Five: that secondary beam goes onto a physics target for the reaction.</a:t>
            </a:r>
          </a:p>
          <a:p>
            <a:endParaRPr dirty="0"/>
          </a:p>
          <a:p>
            <a:r>
              <a:rPr dirty="0"/>
              <a:t>The point is that projectile fragmentation stitches production and in-flight filtering into one practical line. You are not waiting on chemistry and slow extraction: once the beam hits the target, fragments already fly forward with usable kinematics, and the separator selects them in flight. When we talk about the momentum cloud and </a:t>
            </a:r>
            <a:r>
              <a:rPr dirty="0" err="1"/>
              <a:t>Bρ</a:t>
            </a:r>
            <a:r>
              <a:rPr dirty="0"/>
              <a:t> later, we are really talking about steps three and four on this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第二个问题：弹核碎裂究竟是什么</a:t>
            </a:r>
            <a:r>
              <a:rPr dirty="0"/>
              <a:t>？</a:t>
            </a:r>
          </a:p>
          <a:p>
            <a:endParaRPr dirty="0"/>
          </a:p>
          <a:p>
            <a:r>
              <a:rPr dirty="0" err="1"/>
              <a:t>定义先讲清楚：重离子弹核与靶核碰撞，束能远高于核子结合能。在外围碰撞中，弹核被剥离掉部分核子，剩余部分以接近束流速度继续前飞</a:t>
            </a:r>
            <a:r>
              <a:rPr dirty="0"/>
              <a:t>——</a:t>
            </a:r>
            <a:r>
              <a:rPr dirty="0" err="1"/>
              <a:t>这就是弹核碎片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过程用经典的两步图像记忆</a:t>
            </a:r>
            <a:r>
              <a:rPr dirty="0"/>
              <a:t>：</a:t>
            </a:r>
          </a:p>
          <a:p>
            <a:endParaRPr dirty="0"/>
          </a:p>
          <a:p>
            <a:r>
              <a:rPr dirty="0" err="1"/>
              <a:t>第一，擦碎（Abrasion</a:t>
            </a:r>
            <a:r>
              <a:rPr dirty="0"/>
              <a:t>）。几何重叠区里的核子被“</a:t>
            </a:r>
            <a:r>
              <a:rPr dirty="0" err="1"/>
              <a:t>削掉</a:t>
            </a:r>
            <a:r>
              <a:rPr dirty="0"/>
              <a:t>”，</a:t>
            </a:r>
            <a:r>
              <a:rPr dirty="0" err="1"/>
              <a:t>留下一个热的、激发的弹核预碎片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第二，烧蚀（Ablation</a:t>
            </a:r>
            <a:r>
              <a:rPr dirty="0"/>
              <a:t>）。</a:t>
            </a:r>
            <a:r>
              <a:rPr dirty="0" err="1"/>
              <a:t>预碎片通过蒸发核子和轻集团退激，下游观测到的才是最终碎片核素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第三，前向运动学。碎片以</a:t>
            </a:r>
            <a:r>
              <a:rPr dirty="0"/>
              <a:t> v ≈ </a:t>
            </a:r>
            <a:r>
              <a:rPr dirty="0" err="1"/>
              <a:t>v_beam</a:t>
            </a:r>
            <a:r>
              <a:rPr dirty="0"/>
              <a:t> </a:t>
            </a:r>
            <a:r>
              <a:rPr dirty="0" err="1"/>
              <a:t>飞出，落在窄前向锥内</a:t>
            </a:r>
            <a:r>
              <a:rPr dirty="0"/>
              <a:t>——</a:t>
            </a:r>
            <a:r>
              <a:rPr dirty="0" err="1"/>
              <a:t>收集效率高、磁分离简单，也是通向奇异放射性束（RIB）的路径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定义讲清机制，三条讲清为何能当生产线：过程清楚、运动学干净、便于分离与收集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Second question: what is projectile fragmentation?</a:t>
            </a:r>
          </a:p>
          <a:p>
            <a:endParaRPr dirty="0"/>
          </a:p>
          <a:p>
            <a:r>
              <a:rPr dirty="0"/>
              <a:t>Start with the definition. A heavy-ion projectile collides with a target at beam energy much larger than the nucleon binding energy. In a peripheral collision, nucleons are stripped from the projectile; the remnant continues near beam velocity as a projectile fragment.</a:t>
            </a:r>
          </a:p>
          <a:p>
            <a:endParaRPr dirty="0"/>
          </a:p>
          <a:p>
            <a:r>
              <a:rPr dirty="0"/>
              <a:t>Lock in the classic two-step picture:</a:t>
            </a:r>
          </a:p>
          <a:p>
            <a:endParaRPr dirty="0"/>
          </a:p>
          <a:p>
            <a:r>
              <a:rPr dirty="0"/>
              <a:t>One — abrasion. Nucleons in the geometric overlap zone are sheared off, leaving a hot, excited </a:t>
            </a:r>
            <a:r>
              <a:rPr dirty="0" err="1"/>
              <a:t>prefragment</a:t>
            </a:r>
            <a:r>
              <a:rPr dirty="0"/>
              <a:t> of the projectile.</a:t>
            </a:r>
          </a:p>
          <a:p>
            <a:endParaRPr dirty="0"/>
          </a:p>
          <a:p>
            <a:r>
              <a:rPr dirty="0"/>
              <a:t>Two — ablation. The </a:t>
            </a:r>
            <a:r>
              <a:rPr dirty="0" err="1"/>
              <a:t>prefragment</a:t>
            </a:r>
            <a:r>
              <a:rPr dirty="0"/>
              <a:t> de-excites by evaporating nucleons and light clusters; the species observed downstream is the final fragment.</a:t>
            </a:r>
          </a:p>
          <a:p>
            <a:endParaRPr dirty="0"/>
          </a:p>
          <a:p>
            <a:r>
              <a:rPr dirty="0"/>
              <a:t>Three — forward kinematics. Fragments leave at v ≈ </a:t>
            </a:r>
            <a:r>
              <a:rPr dirty="0" err="1"/>
              <a:t>v_beam</a:t>
            </a:r>
            <a:r>
              <a:rPr dirty="0"/>
              <a:t> in a narrow forward cone — high collection efficiency, simple magnetic separation, and the path to exotic RIB beams.</a:t>
            </a:r>
          </a:p>
          <a:p>
            <a:endParaRPr dirty="0"/>
          </a:p>
          <a:p>
            <a:r>
              <a:rPr dirty="0"/>
              <a:t>Definition first (the mechanism), then why it works as a production line: clear process, clean kinematics, easy to separate and collect.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有了定义，下一步看碎片的动量分布</a:t>
            </a:r>
            <a:r>
              <a:rPr dirty="0"/>
              <a:t>——</a:t>
            </a:r>
            <a:r>
              <a:rPr dirty="0" err="1"/>
              <a:t>这直接决定分离器能吃下多少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左边图是经典例子：2.1A GeV 的碳-12 碎裂产生铍-10，画在弹核静止系里的动量分布。请注意几个普适特征。</a:t>
            </a:r>
          </a:p>
          <a:p>
            <a:endParaRPr dirty="0"/>
          </a:p>
          <a:p>
            <a:r>
              <a:rPr dirty="0" err="1"/>
              <a:t>形状是高斯的，而且对各种同位素都成立，几乎不依赖束流、能量和靶。平行方向和横向的宽度差不多</a:t>
            </a:r>
            <a:r>
              <a:rPr dirty="0"/>
              <a:t>——</a:t>
            </a:r>
            <a:r>
              <a:rPr dirty="0" err="1"/>
              <a:t>在运动系里接近各向同性。分布中心不在零，而是略向负动量偏，大约</a:t>
            </a:r>
            <a:r>
              <a:rPr dirty="0"/>
              <a:t> −10 </a:t>
            </a:r>
            <a:r>
              <a:rPr dirty="0" err="1"/>
              <a:t>到</a:t>
            </a:r>
            <a:r>
              <a:rPr dirty="0"/>
              <a:t> −130 MeV/</a:t>
            </a:r>
            <a:r>
              <a:rPr dirty="0" err="1"/>
              <a:t>c，意思是碎片比弹核稍慢一点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但关键在最后一点：碎片的总动量远大于这个中心偏移。所以在实验室系里，碎片速度仍然几乎等于束流速度。分离器吃的就是这个“同速、前向、高斯云”的图像。下一页我们用 Goldhaber </a:t>
            </a:r>
            <a:r>
              <a:rPr dirty="0" err="1"/>
              <a:t>公式把云的宽度定量下来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With the definition, look at the fragment momentum distribution — that is what decides how much the separator can capture.</a:t>
            </a:r>
          </a:p>
          <a:p>
            <a:endParaRPr dirty="0"/>
          </a:p>
          <a:p>
            <a:r>
              <a:rPr dirty="0"/>
              <a:t>The figure on the left is the classic case: beryllium-10 from carbon-12 at 2.1A GeV, plotted in the projectile rest frame. A few features are essentially universal.</a:t>
            </a:r>
          </a:p>
          <a:p>
            <a:endParaRPr dirty="0"/>
          </a:p>
          <a:p>
            <a:r>
              <a:rPr dirty="0"/>
              <a:t>The shape is Gaussian, and it fits isotope after isotope — almost independent of beam, energy, and target. Parallel and transverse widths are nearly equal: roughly isotropic in the moving frame. The center is not at zero; it sits slightly negative, about −10 to −130 MeV/c, so the fragment is a bit slower than the projectile.</a:t>
            </a:r>
          </a:p>
          <a:p>
            <a:endParaRPr dirty="0"/>
          </a:p>
          <a:p>
            <a:r>
              <a:rPr dirty="0"/>
              <a:t>The last point is the one that matters for separators: the fragment’s total momentum is still much larger than that central shift. In the lab frame, </a:t>
            </a:r>
            <a:r>
              <a:rPr dirty="0" err="1"/>
              <a:t>v_F</a:t>
            </a:r>
            <a:r>
              <a:rPr dirty="0"/>
              <a:t> stays ≈ </a:t>
            </a:r>
            <a:r>
              <a:rPr dirty="0" err="1"/>
              <a:t>v_beam</a:t>
            </a:r>
            <a:r>
              <a:rPr dirty="0"/>
              <a:t>. What the separator sees is this same-velocity, forward, Gaussian cloud. Next we quantify the cloud width with the Goldhaber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云有多宽？Goldhaber</a:t>
            </a:r>
            <a:r>
              <a:rPr dirty="0"/>
              <a:t> </a:t>
            </a:r>
            <a:r>
              <a:rPr dirty="0" err="1"/>
              <a:t>给了一个非常干净的答案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平行动量宽度写成：σ</a:t>
            </a:r>
            <a:r>
              <a:rPr dirty="0"/>
              <a:t>(P∥) = </a:t>
            </a:r>
            <a:r>
              <a:rPr dirty="0" err="1"/>
              <a:t>σ</a:t>
            </a:r>
            <a:r>
              <a:rPr dirty="0"/>
              <a:t>₀ √[A_F (</a:t>
            </a:r>
            <a:r>
              <a:rPr dirty="0" err="1"/>
              <a:t>A_p</a:t>
            </a:r>
            <a:r>
              <a:rPr dirty="0"/>
              <a:t> − A_F)/(</a:t>
            </a:r>
            <a:r>
              <a:rPr dirty="0" err="1"/>
              <a:t>A_p</a:t>
            </a:r>
            <a:r>
              <a:rPr dirty="0"/>
              <a:t> − 1)]，</a:t>
            </a:r>
            <a:r>
              <a:rPr dirty="0" err="1"/>
              <a:t>其中</a:t>
            </a:r>
            <a:r>
              <a:rPr dirty="0"/>
              <a:t> </a:t>
            </a:r>
            <a:r>
              <a:rPr dirty="0" err="1"/>
              <a:t>σ</a:t>
            </a:r>
            <a:r>
              <a:rPr dirty="0"/>
              <a:t>₀ </a:t>
            </a:r>
            <a:r>
              <a:rPr dirty="0" err="1"/>
              <a:t>大约</a:t>
            </a:r>
            <a:r>
              <a:rPr dirty="0"/>
              <a:t> 90 MeV/</a:t>
            </a:r>
            <a:r>
              <a:rPr dirty="0" err="1"/>
              <a:t>c。注意：这个宽度几乎不依赖靶质量和束能，只依赖弹核与碎片的质量数。当</a:t>
            </a:r>
            <a:r>
              <a:rPr dirty="0"/>
              <a:t> A_F </a:t>
            </a:r>
            <a:r>
              <a:rPr dirty="0" err="1"/>
              <a:t>等于</a:t>
            </a:r>
            <a:r>
              <a:rPr dirty="0"/>
              <a:t> </a:t>
            </a:r>
            <a:r>
              <a:rPr dirty="0" err="1"/>
              <a:t>A_p</a:t>
            </a:r>
            <a:r>
              <a:rPr dirty="0"/>
              <a:t> </a:t>
            </a:r>
            <a:r>
              <a:rPr dirty="0" err="1"/>
              <a:t>的一半时，宽度最大</a:t>
            </a:r>
            <a:r>
              <a:rPr dirty="0"/>
              <a:t>——</a:t>
            </a:r>
            <a:r>
              <a:rPr dirty="0" err="1"/>
              <a:t>掉核子最多的时候，涨落也最大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高能区，大约</a:t>
            </a:r>
            <a:r>
              <a:rPr dirty="0"/>
              <a:t> 200 MeV/u </a:t>
            </a:r>
            <a:r>
              <a:rPr dirty="0" err="1"/>
              <a:t>以上，横向宽度和平行宽度差不多，弹核系里近似各向同性。低能区要小心：横向会多出一项</a:t>
            </a:r>
            <a:r>
              <a:rPr dirty="0"/>
              <a:t> </a:t>
            </a:r>
            <a:r>
              <a:rPr dirty="0" err="1"/>
              <a:t>σ</a:t>
            </a:r>
            <a:r>
              <a:rPr dirty="0"/>
              <a:t>₁，</a:t>
            </a:r>
            <a:r>
              <a:rPr dirty="0" err="1"/>
              <a:t>大约</a:t>
            </a:r>
            <a:r>
              <a:rPr dirty="0"/>
              <a:t> 200 MeV/</a:t>
            </a:r>
            <a:r>
              <a:rPr dirty="0" err="1"/>
              <a:t>c；而平行宽度大致可以维持到约</a:t>
            </a:r>
            <a:r>
              <a:rPr dirty="0"/>
              <a:t> 20 MeV/u。</a:t>
            </a:r>
          </a:p>
          <a:p>
            <a:endParaRPr dirty="0"/>
          </a:p>
          <a:p>
            <a:r>
              <a:rPr dirty="0" err="1"/>
              <a:t>工程上怎么用？想要窄云，就选</a:t>
            </a:r>
            <a:r>
              <a:rPr dirty="0"/>
              <a:t> </a:t>
            </a:r>
            <a:r>
              <a:rPr dirty="0" err="1"/>
              <a:t>A_p</a:t>
            </a:r>
            <a:r>
              <a:rPr dirty="0"/>
              <a:t> </a:t>
            </a:r>
            <a:r>
              <a:rPr dirty="0" err="1"/>
              <a:t>尽量接近目标</a:t>
            </a:r>
            <a:r>
              <a:rPr dirty="0"/>
              <a:t> </a:t>
            </a:r>
            <a:r>
              <a:rPr dirty="0" err="1"/>
              <a:t>A_F，并且</a:t>
            </a:r>
            <a:r>
              <a:rPr dirty="0"/>
              <a:t> </a:t>
            </a:r>
            <a:r>
              <a:rPr dirty="0" err="1"/>
              <a:t>Z_p、N_p</a:t>
            </a:r>
            <a:r>
              <a:rPr dirty="0"/>
              <a:t> </a:t>
            </a:r>
            <a:r>
              <a:rPr dirty="0" err="1"/>
              <a:t>都不小于碎片的</a:t>
            </a:r>
            <a:r>
              <a:rPr dirty="0"/>
              <a:t> </a:t>
            </a:r>
            <a:r>
              <a:rPr dirty="0" err="1"/>
              <a:t>Z、N。换句话说：别用差太远的弹核去“硬砍”出目标核，否则</a:t>
            </a:r>
            <a:r>
              <a:rPr dirty="0"/>
              <a:t> Goldhaber </a:t>
            </a:r>
            <a:r>
              <a:rPr dirty="0" err="1"/>
              <a:t>宽度会把产额摊到更大的相空间里，固定接受度的</a:t>
            </a:r>
            <a:r>
              <a:rPr lang="en-JP" dirty="0"/>
              <a:t>探测器</a:t>
            </a:r>
            <a:r>
              <a:rPr dirty="0" err="1"/>
              <a:t>只能吃到更小的份额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How broad is the cloud? Goldhaber gives a clean answer.</a:t>
            </a:r>
          </a:p>
          <a:p>
            <a:endParaRPr dirty="0"/>
          </a:p>
          <a:p>
            <a:r>
              <a:rPr dirty="0"/>
              <a:t>The parallel momentum width is </a:t>
            </a:r>
            <a:r>
              <a:rPr dirty="0" err="1"/>
              <a:t>σ</a:t>
            </a:r>
            <a:r>
              <a:rPr dirty="0"/>
              <a:t>(P∥) = </a:t>
            </a:r>
            <a:r>
              <a:rPr dirty="0" err="1"/>
              <a:t>σ</a:t>
            </a:r>
            <a:r>
              <a:rPr dirty="0"/>
              <a:t>₀ √[A_F (</a:t>
            </a:r>
            <a:r>
              <a:rPr dirty="0" err="1"/>
              <a:t>A_p</a:t>
            </a:r>
            <a:r>
              <a:rPr dirty="0"/>
              <a:t> − A_F)/(</a:t>
            </a:r>
            <a:r>
              <a:rPr dirty="0" err="1"/>
              <a:t>A_p</a:t>
            </a:r>
            <a:r>
              <a:rPr dirty="0"/>
              <a:t> − 1)], with </a:t>
            </a:r>
            <a:r>
              <a:rPr dirty="0" err="1"/>
              <a:t>σ</a:t>
            </a:r>
            <a:r>
              <a:rPr dirty="0"/>
              <a:t>₀ around 90 MeV/c. Notice: the width is essentially independent of target mass and beam energy; it depends on the projectile and fragment mass numbers. It is widest when A_F is half of </a:t>
            </a:r>
            <a:r>
              <a:rPr dirty="0" err="1"/>
              <a:t>A_p</a:t>
            </a:r>
            <a:r>
              <a:rPr dirty="0"/>
              <a:t> — when you remove the most nucleons, the fluctuation is largest.</a:t>
            </a:r>
          </a:p>
          <a:p>
            <a:endParaRPr dirty="0"/>
          </a:p>
          <a:p>
            <a:r>
              <a:rPr dirty="0"/>
              <a:t>At high energy, roughly ≥200 MeV/u, transverse and parallel widths match: nearly isotropic in the projectile frame. At lower energy, watch the extra transverse term </a:t>
            </a:r>
            <a:r>
              <a:rPr dirty="0" err="1"/>
              <a:t>σ</a:t>
            </a:r>
            <a:r>
              <a:rPr dirty="0"/>
              <a:t>₁ ≈ 200 MeV/c; the parallel width stays roughly constant down to about 20 MeV/u.</a:t>
            </a:r>
          </a:p>
          <a:p>
            <a:endParaRPr dirty="0"/>
          </a:p>
          <a:p>
            <a:r>
              <a:rPr lang="en-US" dirty="0"/>
              <a:t>Consequently</a:t>
            </a:r>
            <a:r>
              <a:rPr dirty="0"/>
              <a:t> for a narrow cloud, choose </a:t>
            </a:r>
            <a:r>
              <a:rPr dirty="0" err="1"/>
              <a:t>A_p</a:t>
            </a:r>
            <a:r>
              <a:rPr dirty="0"/>
              <a:t> close to the target A_F, with </a:t>
            </a:r>
            <a:r>
              <a:rPr dirty="0" err="1"/>
              <a:t>Z_p</a:t>
            </a:r>
            <a:r>
              <a:rPr dirty="0"/>
              <a:t> and </a:t>
            </a:r>
            <a:r>
              <a:rPr dirty="0" err="1"/>
              <a:t>N_p</a:t>
            </a:r>
            <a:r>
              <a:rPr dirty="0"/>
              <a:t> at least as large as those of the fragment. </a:t>
            </a:r>
            <a:r>
              <a:rPr lang="en-US" dirty="0"/>
              <a:t>It is impractical to produce</a:t>
            </a:r>
            <a:r>
              <a:rPr dirty="0"/>
              <a:t> the desired nucleus from a far-away projectile — Goldhaber broadening spreads fixed yield over more phase space, and a fixed-acceptance </a:t>
            </a:r>
            <a:r>
              <a:rPr lang="en-US" dirty="0"/>
              <a:t>detector </a:t>
            </a:r>
            <a:r>
              <a:rPr dirty="0"/>
              <a:t>captures a smaller fraction.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为什么高能反而有利于收集？这张图把逻辑说透了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图2画的是相对动量宽度 </a:t>
            </a:r>
            <a:r>
              <a:rPr dirty="0" err="1"/>
              <a:t>σ</a:t>
            </a:r>
            <a:r>
              <a:rPr dirty="0"/>
              <a:t>/P </a:t>
            </a:r>
            <a:r>
              <a:rPr dirty="0" err="1"/>
              <a:t>随束能的变化。绝对宽度</a:t>
            </a:r>
            <a:r>
              <a:rPr dirty="0"/>
              <a:t> </a:t>
            </a:r>
            <a:r>
              <a:rPr dirty="0" err="1"/>
              <a:t>σ</a:t>
            </a:r>
            <a:r>
              <a:rPr dirty="0"/>
              <a:t> </a:t>
            </a:r>
            <a:r>
              <a:rPr dirty="0" err="1"/>
              <a:t>以</a:t>
            </a:r>
            <a:r>
              <a:rPr dirty="0"/>
              <a:t> MeV/c </a:t>
            </a:r>
            <a:r>
              <a:rPr dirty="0" err="1"/>
              <a:t>计大致固定</a:t>
            </a:r>
            <a:r>
              <a:rPr dirty="0"/>
              <a:t>——Goldhaber </a:t>
            </a:r>
            <a:r>
              <a:rPr dirty="0" err="1"/>
              <a:t>已经告诉我们这一点</a:t>
            </a:r>
            <a:r>
              <a:rPr dirty="0"/>
              <a:t>——</a:t>
            </a:r>
            <a:r>
              <a:rPr dirty="0" err="1"/>
              <a:t>但总动量</a:t>
            </a:r>
            <a:r>
              <a:rPr dirty="0"/>
              <a:t> P </a:t>
            </a:r>
            <a:r>
              <a:rPr dirty="0" err="1"/>
              <a:t>随能量升高。所以相对宽度</a:t>
            </a:r>
            <a:r>
              <a:rPr dirty="0"/>
              <a:t> </a:t>
            </a:r>
            <a:r>
              <a:rPr dirty="0" err="1"/>
              <a:t>σ</a:t>
            </a:r>
            <a:r>
              <a:rPr dirty="0"/>
              <a:t>/P </a:t>
            </a:r>
            <a:r>
              <a:rPr dirty="0" err="1"/>
              <a:t>往下掉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实验室角</a:t>
            </a:r>
            <a:r>
              <a:rPr dirty="0"/>
              <a:t> </a:t>
            </a:r>
            <a:r>
              <a:rPr dirty="0" err="1"/>
              <a:t>θ</a:t>
            </a:r>
            <a:r>
              <a:rPr dirty="0"/>
              <a:t> </a:t>
            </a:r>
            <a:r>
              <a:rPr dirty="0" err="1"/>
              <a:t>大约是</a:t>
            </a:r>
            <a:r>
              <a:rPr dirty="0"/>
              <a:t> </a:t>
            </a:r>
            <a:r>
              <a:rPr dirty="0" err="1"/>
              <a:t>p_t</a:t>
            </a:r>
            <a:r>
              <a:rPr dirty="0"/>
              <a:t> </a:t>
            </a:r>
            <a:r>
              <a:rPr dirty="0" err="1"/>
              <a:t>除以</a:t>
            </a:r>
            <a:r>
              <a:rPr dirty="0"/>
              <a:t> p∥。</a:t>
            </a:r>
            <a:r>
              <a:rPr dirty="0" err="1"/>
              <a:t>相对宽度变小，角分布就收窄。分离器的立体角接受度</a:t>
            </a:r>
            <a:r>
              <a:rPr dirty="0"/>
              <a:t> ΔΩ </a:t>
            </a:r>
            <a:r>
              <a:rPr dirty="0" err="1"/>
              <a:t>和动量接受度</a:t>
            </a:r>
            <a:r>
              <a:rPr dirty="0"/>
              <a:t> </a:t>
            </a:r>
            <a:r>
              <a:rPr dirty="0" err="1"/>
              <a:t>Δp</a:t>
            </a:r>
            <a:r>
              <a:rPr dirty="0"/>
              <a:t> </a:t>
            </a:r>
            <a:r>
              <a:rPr dirty="0" err="1"/>
              <a:t>是机器给定的：云越集中，落在窗口里的份额</a:t>
            </a:r>
            <a:r>
              <a:rPr dirty="0"/>
              <a:t> </a:t>
            </a:r>
            <a:r>
              <a:rPr dirty="0" err="1"/>
              <a:t>ε</a:t>
            </a:r>
            <a:r>
              <a:rPr dirty="0"/>
              <a:t> </a:t>
            </a:r>
            <a:r>
              <a:rPr dirty="0" err="1"/>
              <a:t>就越高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交付的次级强度是</a:t>
            </a:r>
            <a:r>
              <a:rPr dirty="0"/>
              <a:t> </a:t>
            </a:r>
            <a:r>
              <a:rPr dirty="0" err="1"/>
              <a:t>I_sec</a:t>
            </a:r>
            <a:r>
              <a:rPr dirty="0"/>
              <a:t> = </a:t>
            </a:r>
            <a:r>
              <a:rPr dirty="0" err="1"/>
              <a:t>R_prod</a:t>
            </a:r>
            <a:r>
              <a:rPr dirty="0"/>
              <a:t> × </a:t>
            </a:r>
            <a:r>
              <a:rPr dirty="0" err="1"/>
              <a:t>ε_coll</a:t>
            </a:r>
            <a:r>
              <a:rPr dirty="0"/>
              <a:t> × …。这里有个容易误会的点：云更宽并不等于产额更高。反应产额大致固定时，宽度只是把产额摊在更大的相空间里；机器只认固定窗口。所以高能的好处，是把同一团产额“压”进接受度。</a:t>
            </a:r>
          </a:p>
          <a:p>
            <a:endParaRPr dirty="0"/>
          </a:p>
          <a:p>
            <a:r>
              <a:rPr dirty="0" err="1"/>
              <a:t>设计</a:t>
            </a:r>
            <a:r>
              <a:rPr dirty="0"/>
              <a:t> tip </a:t>
            </a:r>
            <a:r>
              <a:rPr dirty="0" err="1"/>
              <a:t>再强调一次：选</a:t>
            </a:r>
            <a:r>
              <a:rPr dirty="0"/>
              <a:t> </a:t>
            </a:r>
            <a:r>
              <a:rPr dirty="0" err="1"/>
              <a:t>A_p</a:t>
            </a:r>
            <a:r>
              <a:rPr dirty="0"/>
              <a:t> </a:t>
            </a:r>
            <a:r>
              <a:rPr dirty="0" err="1"/>
              <a:t>接近</a:t>
            </a:r>
            <a:r>
              <a:rPr dirty="0"/>
              <a:t> </a:t>
            </a:r>
            <a:r>
              <a:rPr dirty="0" err="1"/>
              <a:t>A_F，并保证质子数、中子数足够，把展宽压到最小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Why does high energy help collection? </a:t>
            </a:r>
            <a:r>
              <a:rPr lang="en-US" dirty="0"/>
              <a:t>Let’s walk through the logic.</a:t>
            </a:r>
            <a:endParaRPr dirty="0"/>
          </a:p>
          <a:p>
            <a:r>
              <a:rPr dirty="0"/>
              <a:t>Figure 2 shows the relative momentum width </a:t>
            </a:r>
            <a:r>
              <a:rPr dirty="0" err="1"/>
              <a:t>σ</a:t>
            </a:r>
            <a:r>
              <a:rPr dirty="0"/>
              <a:t>/P versus beam energy. The absolute width </a:t>
            </a:r>
            <a:r>
              <a:rPr dirty="0" err="1"/>
              <a:t>σ</a:t>
            </a:r>
            <a:r>
              <a:rPr dirty="0"/>
              <a:t> in MeV/c is roughly fixed — Goldhaber already told us that — while the total momentum P grows with energy. So the relative width </a:t>
            </a:r>
            <a:r>
              <a:rPr dirty="0" err="1"/>
              <a:t>σ</a:t>
            </a:r>
            <a:r>
              <a:rPr dirty="0"/>
              <a:t>/P falls.</a:t>
            </a:r>
          </a:p>
          <a:p>
            <a:endParaRPr dirty="0"/>
          </a:p>
          <a:p>
            <a:r>
              <a:rPr dirty="0"/>
              <a:t>Lab angles scale like </a:t>
            </a:r>
            <a:r>
              <a:rPr dirty="0" err="1"/>
              <a:t>θ</a:t>
            </a:r>
            <a:r>
              <a:rPr dirty="0"/>
              <a:t> ≈ </a:t>
            </a:r>
            <a:r>
              <a:rPr dirty="0" err="1"/>
              <a:t>p_t</a:t>
            </a:r>
            <a:r>
              <a:rPr dirty="0"/>
              <a:t> / p∥. As the relative width shrinks, the angular distribution tightens. Separator solid-angle and momentum acceptances ΔΩ and </a:t>
            </a:r>
            <a:r>
              <a:rPr dirty="0" err="1"/>
              <a:t>Δp</a:t>
            </a:r>
            <a:r>
              <a:rPr dirty="0"/>
              <a:t> are fixed by the machine: the more concentrated the cloud, the larger the capturable fraction </a:t>
            </a:r>
            <a:r>
              <a:rPr dirty="0" err="1"/>
              <a:t>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Delivered secondary intensity is </a:t>
            </a:r>
            <a:r>
              <a:rPr dirty="0" err="1"/>
              <a:t>I_sec</a:t>
            </a:r>
            <a:r>
              <a:rPr dirty="0"/>
              <a:t> = </a:t>
            </a:r>
            <a:r>
              <a:rPr dirty="0" err="1"/>
              <a:t>R_prod</a:t>
            </a:r>
            <a:r>
              <a:rPr dirty="0"/>
              <a:t> × </a:t>
            </a:r>
            <a:r>
              <a:rPr dirty="0" err="1"/>
              <a:t>ε_coll</a:t>
            </a:r>
            <a:r>
              <a:rPr dirty="0"/>
              <a:t> × …. A common confusion: a wider cloud does not mean more production. For roughly fixed reaction yield, width only redistributes that yield in phase space; the machine still keeps a fixed window. High energy helps by packing the same yield into the acceptance.</a:t>
            </a:r>
          </a:p>
          <a:p>
            <a:endParaRPr dirty="0"/>
          </a:p>
          <a:p>
            <a:r>
              <a:rPr dirty="0"/>
              <a:t>One more time on the design tip: choose </a:t>
            </a:r>
            <a:r>
              <a:rPr dirty="0" err="1"/>
              <a:t>A_p</a:t>
            </a:r>
            <a:r>
              <a:rPr dirty="0"/>
              <a:t> near A_F, with enough protons and neutrons, to keep the broadening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第三个问题：我们为什么需要弹核碎裂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左边是生产端的挑战。结构、反应、天体物理都需要奇异核，但它们大多短寿命。稳定束加稳定靶，测量基本锁在稳定线附近的窄谷里；慢方法会丢掉最短的半衰期；依赖化学提取的路线，很多核素根本过不来。所以需要一条快的、普适的在线路径。</a:t>
            </a:r>
          </a:p>
          <a:p>
            <a:endParaRPr dirty="0"/>
          </a:p>
          <a:p>
            <a:r>
              <a:rPr dirty="0" err="1"/>
              <a:t>右边是</a:t>
            </a:r>
            <a:r>
              <a:rPr dirty="0"/>
              <a:t> PF </a:t>
            </a:r>
            <a:r>
              <a:rPr dirty="0" err="1"/>
              <a:t>给出的答案。产生发生在核时标上，大约纳秒量级。一条初级束可以同时给出很宽的</a:t>
            </a:r>
            <a:r>
              <a:rPr dirty="0"/>
              <a:t> (A,Z) </a:t>
            </a:r>
            <a:r>
              <a:rPr dirty="0" err="1"/>
              <a:t>鸡尾酒。碎片前向聚焦、速度几乎相同，于是磁分离成立，次级束还能接着做反应</a:t>
            </a:r>
            <a:r>
              <a:rPr dirty="0"/>
              <a:t>——</a:t>
            </a:r>
            <a:r>
              <a:rPr dirty="0" err="1"/>
              <a:t>不只是停下来做衰变谱学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一句话：PF</a:t>
            </a:r>
            <a:r>
              <a:rPr dirty="0"/>
              <a:t> </a:t>
            </a:r>
            <a:r>
              <a:rPr dirty="0" err="1"/>
              <a:t>把</a:t>
            </a:r>
            <a:r>
              <a:rPr dirty="0"/>
              <a:t> β </a:t>
            </a:r>
            <a:r>
              <a:rPr dirty="0" err="1"/>
              <a:t>不稳定核放进入射道，让高能放射性束反应变得现实。中子晕、厚中子皮、同位旋依赖、热</a:t>
            </a:r>
            <a:r>
              <a:rPr dirty="0"/>
              <a:t> CNO </a:t>
            </a:r>
            <a:r>
              <a:rPr dirty="0" err="1"/>
              <a:t>和大爆炸核合成路径、新同位素以及质量与矩的测量，都建立在这个基础上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Third question: why do we need projectile fragmentation?</a:t>
            </a:r>
          </a:p>
          <a:p>
            <a:endParaRPr dirty="0"/>
          </a:p>
          <a:p>
            <a:r>
              <a:rPr dirty="0"/>
              <a:t>On the left, the production challenge. Structure, reactions, and astrophysics all want exotic nuclei — and most of them are short-lived. Stable beam plus stable target keeps us in the narrow valley of stability. Slow methods lose the shortest half-lives. Chemistry-limited extraction misses many species. We need a fast, universal in-flight route.</a:t>
            </a:r>
          </a:p>
          <a:p>
            <a:endParaRPr dirty="0"/>
          </a:p>
          <a:p>
            <a:r>
              <a:rPr dirty="0"/>
              <a:t>On the right, what PF delivers. Production happens on nuclear timescales — about a nanosecond. One primary beam yields a broad (A,Z) cocktail. Fragments are forward-focused with nearly equal velocities, so magnetic separation works and the secondary beam can still do reactions — not only stop for decay spectroscopy.</a:t>
            </a:r>
          </a:p>
          <a:p>
            <a:endParaRPr dirty="0"/>
          </a:p>
          <a:p>
            <a:r>
              <a:rPr dirty="0"/>
              <a:t>In one line: PF puts a β-unstable nucleus in the entrance channel and makes energetic radioactive-beam reactions practical. Neutron halos, thick neutron skins, isospin dependence, hot CNO and Big Bang paths, new isotopes, masses and moments — all rest on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同速度为什么让磁分离成立？把公式摊开就清楚了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磁刚度</a:t>
            </a:r>
            <a:r>
              <a:rPr dirty="0"/>
              <a:t> </a:t>
            </a:r>
            <a:r>
              <a:rPr dirty="0" err="1"/>
              <a:t>Bρ</a:t>
            </a:r>
            <a:r>
              <a:rPr dirty="0"/>
              <a:t> </a:t>
            </a:r>
            <a:r>
              <a:rPr dirty="0" err="1"/>
              <a:t>正比于</a:t>
            </a:r>
            <a:r>
              <a:rPr dirty="0"/>
              <a:t> p/</a:t>
            </a:r>
            <a:r>
              <a:rPr dirty="0" err="1"/>
              <a:t>q，而动量</a:t>
            </a:r>
            <a:r>
              <a:rPr dirty="0"/>
              <a:t> p </a:t>
            </a:r>
            <a:r>
              <a:rPr dirty="0" err="1"/>
              <a:t>大约是</a:t>
            </a:r>
            <a:r>
              <a:rPr dirty="0"/>
              <a:t> A </a:t>
            </a:r>
            <a:r>
              <a:rPr dirty="0" err="1"/>
              <a:t>m_u</a:t>
            </a:r>
            <a:r>
              <a:rPr dirty="0"/>
              <a:t> </a:t>
            </a:r>
            <a:r>
              <a:rPr dirty="0" err="1"/>
              <a:t>v。如果所有碎片的</a:t>
            </a:r>
            <a:r>
              <a:rPr dirty="0"/>
              <a:t> β </a:t>
            </a:r>
            <a:r>
              <a:rPr dirty="0" err="1"/>
              <a:t>几乎一样，Bρ</a:t>
            </a:r>
            <a:r>
              <a:rPr dirty="0"/>
              <a:t> </a:t>
            </a:r>
            <a:r>
              <a:rPr dirty="0" err="1"/>
              <a:t>就正比于</a:t>
            </a:r>
            <a:r>
              <a:rPr dirty="0"/>
              <a:t> A/</a:t>
            </a:r>
            <a:r>
              <a:rPr dirty="0" err="1"/>
              <a:t>q；全剥离时进一步变成正比于</a:t>
            </a:r>
            <a:r>
              <a:rPr dirty="0"/>
              <a:t> A/</a:t>
            </a:r>
            <a:r>
              <a:rPr dirty="0" err="1"/>
              <a:t>Z。也就是说：速度相同，磁刚度直接映射到荷质比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举个具体例子：铍-11 和碳-11，全剥离、同 β。A/Z </a:t>
            </a:r>
            <a:r>
              <a:rPr dirty="0" err="1"/>
              <a:t>分别是</a:t>
            </a:r>
            <a:r>
              <a:rPr dirty="0"/>
              <a:t> 11/4 </a:t>
            </a:r>
            <a:r>
              <a:rPr dirty="0" err="1"/>
              <a:t>和</a:t>
            </a:r>
            <a:r>
              <a:rPr dirty="0"/>
              <a:t> 11/6，所以 (</a:t>
            </a:r>
            <a:r>
              <a:rPr dirty="0" err="1"/>
              <a:t>Bρ</a:t>
            </a:r>
            <a:r>
              <a:rPr dirty="0"/>
              <a:t>)_Be </a:t>
            </a:r>
            <a:r>
              <a:rPr dirty="0" err="1"/>
              <a:t>与</a:t>
            </a:r>
            <a:r>
              <a:rPr dirty="0"/>
              <a:t> (</a:t>
            </a:r>
            <a:r>
              <a:rPr dirty="0" err="1"/>
              <a:t>Bρ</a:t>
            </a:r>
            <a:r>
              <a:rPr dirty="0"/>
              <a:t>)_C </a:t>
            </a:r>
            <a:r>
              <a:rPr dirty="0" err="1"/>
              <a:t>之比是</a:t>
            </a:r>
            <a:r>
              <a:rPr dirty="0"/>
              <a:t> 3/2。它们会落在清晰分开的 </a:t>
            </a:r>
            <a:r>
              <a:rPr dirty="0" err="1"/>
              <a:t>Bρ</a:t>
            </a:r>
            <a:r>
              <a:rPr dirty="0"/>
              <a:t> </a:t>
            </a:r>
            <a:r>
              <a:rPr dirty="0" err="1"/>
              <a:t>上，第一级磁选就能分开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反过来想：如果速度乱飞，不同</a:t>
            </a:r>
            <a:r>
              <a:rPr dirty="0"/>
              <a:t> (A,Z) </a:t>
            </a:r>
            <a:r>
              <a:rPr dirty="0" err="1"/>
              <a:t>会在</a:t>
            </a:r>
            <a:r>
              <a:rPr dirty="0"/>
              <a:t> </a:t>
            </a:r>
            <a:r>
              <a:rPr dirty="0" err="1"/>
              <a:t>Bρ</a:t>
            </a:r>
            <a:r>
              <a:rPr dirty="0"/>
              <a:t> </a:t>
            </a:r>
            <a:r>
              <a:rPr dirty="0" err="1"/>
              <a:t>上搅成一团，磁选就失效了。所以前面反复强调的“v</a:t>
            </a:r>
            <a:r>
              <a:rPr dirty="0"/>
              <a:t> ≈ v_beam”，</a:t>
            </a:r>
            <a:r>
              <a:rPr dirty="0" err="1"/>
              <a:t>不是细节，而是整个在线分离架构的前提。下一页我们把这个前提接到靶和分离器的设计要求上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Why does shared velocity make magnetic separation work? Open the formulas and it is immediate.</a:t>
            </a:r>
          </a:p>
          <a:p>
            <a:endParaRPr dirty="0"/>
          </a:p>
          <a:p>
            <a:r>
              <a:rPr dirty="0"/>
              <a:t>Magnetic rigidity </a:t>
            </a:r>
            <a:r>
              <a:rPr dirty="0" err="1"/>
              <a:t>Bρ</a:t>
            </a:r>
            <a:r>
              <a:rPr dirty="0"/>
              <a:t> is proportional to p/q, and momentum p is roughly A </a:t>
            </a:r>
            <a:r>
              <a:rPr dirty="0" err="1"/>
              <a:t>m_u</a:t>
            </a:r>
            <a:r>
              <a:rPr dirty="0"/>
              <a:t> v. If every fragment has nearly the same β, </a:t>
            </a:r>
            <a:r>
              <a:rPr dirty="0" err="1"/>
              <a:t>Bρ</a:t>
            </a:r>
            <a:r>
              <a:rPr dirty="0"/>
              <a:t> scales with A/q; fully stripped, that becomes A/Z. Same speed means rigidity maps cleanly onto charge-to-mass.</a:t>
            </a:r>
          </a:p>
          <a:p>
            <a:endParaRPr dirty="0"/>
          </a:p>
          <a:p>
            <a:r>
              <a:rPr dirty="0"/>
              <a:t>Concrete example: beryllium-11 versus carbon-11, fully stripped, same β. A/Z is 11/4 versus 11/6, so the </a:t>
            </a:r>
            <a:r>
              <a:rPr dirty="0" err="1"/>
              <a:t>Bρ</a:t>
            </a:r>
            <a:r>
              <a:rPr dirty="0"/>
              <a:t> ratio is 3/2. They land at clearly separated rigidities — a first magnetic stage can split them.</a:t>
            </a:r>
          </a:p>
          <a:p>
            <a:endParaRPr dirty="0"/>
          </a:p>
          <a:p>
            <a:r>
              <a:rPr dirty="0"/>
              <a:t>Now invert the argument: if velocities differed wildly, different (A,Z) would scramble in </a:t>
            </a:r>
            <a:r>
              <a:rPr dirty="0" err="1"/>
              <a:t>Bρ</a:t>
            </a:r>
            <a:r>
              <a:rPr dirty="0"/>
              <a:t> space and magnetic selection would fail. The “v ≈ </a:t>
            </a:r>
            <a:r>
              <a:rPr dirty="0" err="1"/>
              <a:t>v_beam</a:t>
            </a:r>
            <a:r>
              <a:rPr dirty="0"/>
              <a:t>” we kept stressing is not a detail; it is the premise of the whole in-flight architecture. Next we connect that premise to target and separator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第四部分：实际怎么用。谷畑在</a:t>
            </a:r>
            <a:r>
              <a:rPr dirty="0"/>
              <a:t> B </a:t>
            </a:r>
            <a:r>
              <a:rPr dirty="0" err="1"/>
              <a:t>节给出高效次级束的三条设计要求，我建议大家对着板子记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第一，窄产生：靶和反应机制要把动量展宽、角展宽压小。PF</a:t>
            </a:r>
            <a:r>
              <a:rPr dirty="0"/>
              <a:t> </a:t>
            </a:r>
            <a:r>
              <a:rPr dirty="0" err="1"/>
              <a:t>本身、足够高的能量、以及合适的</a:t>
            </a:r>
            <a:r>
              <a:rPr dirty="0"/>
              <a:t> </a:t>
            </a:r>
            <a:r>
              <a:rPr dirty="0" err="1"/>
              <a:t>A_p，都往这个方向帮你</a:t>
            </a:r>
            <a:r>
              <a:rPr dirty="0"/>
              <a:t>。</a:t>
            </a:r>
          </a:p>
          <a:p>
            <a:r>
              <a:rPr dirty="0" err="1"/>
              <a:t>第二，大接受度：分离器的</a:t>
            </a:r>
            <a:r>
              <a:rPr dirty="0"/>
              <a:t> </a:t>
            </a:r>
            <a:r>
              <a:rPr dirty="0" err="1"/>
              <a:t>Δp、ΔΩ</a:t>
            </a:r>
            <a:r>
              <a:rPr dirty="0"/>
              <a:t> </a:t>
            </a:r>
            <a:r>
              <a:rPr dirty="0" err="1"/>
              <a:t>尽量做大</a:t>
            </a:r>
            <a:r>
              <a:rPr dirty="0"/>
              <a:t>——</a:t>
            </a:r>
            <a:r>
              <a:rPr dirty="0" err="1"/>
              <a:t>机器窗口越大，同一团云里能吃下的越多</a:t>
            </a:r>
            <a:r>
              <a:rPr dirty="0"/>
              <a:t>。</a:t>
            </a:r>
          </a:p>
          <a:p>
            <a:r>
              <a:rPr dirty="0" err="1"/>
              <a:t>第三，消色差交付：动量有展宽没关系，但不能在物理焦点上变成位置弥散。否则次级束焦斑糊掉，反应实验吃亏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下面一块讲靶材。偏好低</a:t>
            </a:r>
            <a:r>
              <a:rPr dirty="0"/>
              <a:t> </a:t>
            </a:r>
            <a:r>
              <a:rPr dirty="0" err="1"/>
              <a:t>Z，典型是铍。原因有几条：dE</a:t>
            </a:r>
            <a:r>
              <a:rPr dirty="0"/>
              <a:t>/dx </a:t>
            </a:r>
            <a:r>
              <a:rPr dirty="0" err="1"/>
              <a:t>小，同样能损下可以做更厚的靶；固定克重面密度时产额大致按</a:t>
            </a:r>
            <a:r>
              <a:rPr dirty="0"/>
              <a:t> A </a:t>
            </a:r>
            <a:r>
              <a:rPr dirty="0" err="1"/>
              <a:t>的负三分之一次方走，轻靶更合算；多重散射小，发射度涨得慢；初级束也衰减得更快。厚度要在产额和能损引起的额外</a:t>
            </a:r>
            <a:r>
              <a:rPr dirty="0"/>
              <a:t> </a:t>
            </a:r>
            <a:r>
              <a:rPr dirty="0" err="1"/>
              <a:t>Δp</a:t>
            </a:r>
            <a:r>
              <a:rPr dirty="0"/>
              <a:t> </a:t>
            </a:r>
            <a:r>
              <a:rPr dirty="0" err="1"/>
              <a:t>之间权衡</a:t>
            </a:r>
            <a:r>
              <a:rPr dirty="0"/>
              <a:t>——</a:t>
            </a:r>
            <a:r>
              <a:rPr dirty="0" err="1"/>
              <a:t>太厚时能损展宽会赶上甚至超过反应本身的</a:t>
            </a:r>
            <a:r>
              <a:rPr dirty="0"/>
              <a:t> Goldhaber </a:t>
            </a:r>
            <a:r>
              <a:rPr dirty="0" err="1"/>
              <a:t>宽度，收益就没了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Part four: practical use. </a:t>
            </a:r>
            <a:r>
              <a:rPr dirty="0" err="1"/>
              <a:t>Tanihata’s</a:t>
            </a:r>
            <a:r>
              <a:rPr dirty="0"/>
              <a:t> section B gives three design requirements for efficient secondary-beam delivery — worth keeping on the board.</a:t>
            </a:r>
          </a:p>
          <a:p>
            <a:endParaRPr dirty="0"/>
          </a:p>
          <a:p>
            <a:r>
              <a:rPr dirty="0"/>
              <a:t>One: narrow production. Choose target and reaction so momentum and angular widths stay small. PF itself, high enough energy, and a sensible </a:t>
            </a:r>
            <a:r>
              <a:rPr dirty="0" err="1"/>
              <a:t>A_p</a:t>
            </a:r>
            <a:r>
              <a:rPr dirty="0"/>
              <a:t> all push you that way.</a:t>
            </a:r>
          </a:p>
          <a:p>
            <a:r>
              <a:rPr dirty="0"/>
              <a:t>Two: large acceptance. Make separator </a:t>
            </a:r>
            <a:r>
              <a:rPr dirty="0" err="1"/>
              <a:t>Δp</a:t>
            </a:r>
            <a:r>
              <a:rPr dirty="0"/>
              <a:t> and ΔΩ as large as practical — a bigger machine window captures more of the same cloud.</a:t>
            </a:r>
          </a:p>
          <a:p>
            <a:r>
              <a:rPr dirty="0"/>
              <a:t>Three: achromatic delivery. Momentum spread is fine; it must not turn into position smear at the physics focus. Otherwise the secondary spot blurs and reaction experiments pay for it.</a:t>
            </a:r>
          </a:p>
          <a:p>
            <a:endParaRPr dirty="0"/>
          </a:p>
          <a:p>
            <a:r>
              <a:rPr dirty="0"/>
              <a:t>Below that, target material. Prefer low-Z — beryllium is the classic choice. Several reasons: lower </a:t>
            </a:r>
            <a:r>
              <a:rPr dirty="0" err="1"/>
              <a:t>dE</a:t>
            </a:r>
            <a:r>
              <a:rPr dirty="0"/>
              <a:t>/dx lets you run a thicker target for the same energy loss; at fixed g/cm² the yield scales roughly like A to the minus one-third, so light targets win; less multiple scattering means slower emittance growth; and the primary attenuates faster. Thickness is a trade: maximize yield without letting energy-loss </a:t>
            </a:r>
            <a:r>
              <a:rPr dirty="0" err="1"/>
              <a:t>Δp</a:t>
            </a:r>
            <a:r>
              <a:rPr dirty="0"/>
              <a:t> rival or beat the Goldhaber reaction width — past that point, thicker is not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4B15B-48A6-BDF9-FD90-99129758C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>
            <a:extLst>
              <a:ext uri="{FF2B5EF4-FFF2-40B4-BE49-F238E27FC236}">
                <a16:creationId xmlns:a16="http://schemas.microsoft.com/office/drawing/2014/main" id="{139E1FCC-68D5-2D63-D235-BC58AC480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3886200"/>
            <a:ext cx="7772400" cy="4114800"/>
          </a:xfrm>
          <a:prstGeom prst="rect">
            <a:avLst/>
          </a:prstGeom>
        </p:spPr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最后用大纲四个问题收束</a:t>
            </a:r>
            <a:r>
              <a:rPr dirty="0"/>
              <a:t>——</a:t>
            </a:r>
            <a:r>
              <a:rPr dirty="0" err="1"/>
              <a:t>对照板子上的四张卡片讲即可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一，从何而来？任何产放射性核的反应原则上都能喂次级束；真正实用，是高能重离子里发现</a:t>
            </a:r>
            <a:r>
              <a:rPr dirty="0"/>
              <a:t> PF </a:t>
            </a:r>
            <a:r>
              <a:rPr dirty="0" err="1"/>
              <a:t>之后。链路就是：初级重离子</a:t>
            </a:r>
            <a:r>
              <a:rPr dirty="0"/>
              <a:t> → </a:t>
            </a:r>
            <a:r>
              <a:rPr dirty="0" err="1"/>
              <a:t>生产靶</a:t>
            </a:r>
            <a:r>
              <a:rPr dirty="0"/>
              <a:t> → </a:t>
            </a:r>
            <a:r>
              <a:rPr dirty="0" err="1"/>
              <a:t>碎片云</a:t>
            </a:r>
            <a:r>
              <a:rPr dirty="0"/>
              <a:t> → </a:t>
            </a:r>
            <a:r>
              <a:rPr dirty="0" err="1"/>
              <a:t>分离器</a:t>
            </a:r>
            <a:r>
              <a:rPr dirty="0"/>
              <a:t> → </a:t>
            </a:r>
            <a:r>
              <a:rPr dirty="0" err="1"/>
              <a:t>物理靶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二，是什么？E</a:t>
            </a:r>
            <a:r>
              <a:rPr dirty="0"/>
              <a:t> </a:t>
            </a:r>
            <a:r>
              <a:rPr dirty="0" err="1"/>
              <a:t>远大于结合能时，碎片以前向窄锥、近束流速度飞出；奇异核产额可用；截面近乎能无关；Goldhaber</a:t>
            </a:r>
            <a:r>
              <a:rPr dirty="0"/>
              <a:t> </a:t>
            </a:r>
            <a:r>
              <a:rPr dirty="0" err="1"/>
              <a:t>公式定动量云，也就定了分离器能吃多少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三，为何需要？奇异核短寿命；稳定束和慢化学会丢掉它们。PF</a:t>
            </a:r>
            <a:r>
              <a:rPr dirty="0"/>
              <a:t> </a:t>
            </a:r>
            <a:r>
              <a:rPr dirty="0" err="1"/>
              <a:t>在核时标</a:t>
            </a:r>
            <a:r>
              <a:rPr dirty="0"/>
              <a:t>——</a:t>
            </a:r>
            <a:r>
              <a:rPr dirty="0" err="1"/>
              <a:t>纳秒量级</a:t>
            </a:r>
            <a:r>
              <a:rPr dirty="0"/>
              <a:t>——</a:t>
            </a:r>
            <a:r>
              <a:rPr dirty="0" err="1"/>
              <a:t>产生宽</a:t>
            </a:r>
            <a:r>
              <a:rPr dirty="0"/>
              <a:t> (A,Z) </a:t>
            </a:r>
            <a:r>
              <a:rPr dirty="0" err="1"/>
              <a:t>鸡尾酒，前向、同速，高能</a:t>
            </a:r>
            <a:r>
              <a:rPr dirty="0"/>
              <a:t> RIB </a:t>
            </a:r>
            <a:r>
              <a:rPr dirty="0" err="1"/>
              <a:t>反应才站得住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四，怎么用？同</a:t>
            </a:r>
            <a:r>
              <a:rPr dirty="0"/>
              <a:t> β </a:t>
            </a:r>
            <a:r>
              <a:rPr dirty="0" err="1"/>
              <a:t>下</a:t>
            </a:r>
            <a:r>
              <a:rPr dirty="0"/>
              <a:t> </a:t>
            </a:r>
            <a:r>
              <a:rPr dirty="0" err="1"/>
              <a:t>Bρ</a:t>
            </a:r>
            <a:r>
              <a:rPr dirty="0"/>
              <a:t> </a:t>
            </a:r>
            <a:r>
              <a:rPr dirty="0" err="1"/>
              <a:t>正比</a:t>
            </a:r>
            <a:r>
              <a:rPr dirty="0"/>
              <a:t> A/</a:t>
            </a:r>
            <a:r>
              <a:rPr dirty="0" err="1"/>
              <a:t>Z，降能片补</a:t>
            </a:r>
            <a:r>
              <a:rPr dirty="0"/>
              <a:t> Z </a:t>
            </a:r>
            <a:r>
              <a:rPr dirty="0" err="1"/>
              <a:t>纯度；设计上要窄产生、大接受、消色差交付；靶材偏低</a:t>
            </a:r>
            <a:r>
              <a:rPr dirty="0"/>
              <a:t> Z、厚度与高能配合。LISE、RIPS、A1900/ARIS、FRS </a:t>
            </a:r>
            <a:r>
              <a:rPr dirty="0" err="1"/>
              <a:t>等设施，都是这套原则的工程实现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如果今天只记住四句话：PF</a:t>
            </a:r>
            <a:r>
              <a:rPr dirty="0"/>
              <a:t> </a:t>
            </a:r>
            <a:r>
              <a:rPr dirty="0" err="1"/>
              <a:t>让次级束实用；同速让磁选成立；宽度决定收集份额；低</a:t>
            </a:r>
            <a:r>
              <a:rPr dirty="0"/>
              <a:t> Z </a:t>
            </a:r>
            <a:r>
              <a:rPr dirty="0" err="1"/>
              <a:t>加高能抬强度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Close by answering the four outline questions — walk the four cards on the slide.</a:t>
            </a:r>
          </a:p>
          <a:p>
            <a:endParaRPr dirty="0"/>
          </a:p>
          <a:p>
            <a:r>
              <a:rPr dirty="0"/>
              <a:t>One — where does it come from? Any reaction that makes radioactive nuclei can feed a secondary beam in principle; it became practical after PF was found in high-energy heavy ions. The chain is primary HI → production target → fragment cloud → separator → physics target.</a:t>
            </a:r>
          </a:p>
          <a:p>
            <a:endParaRPr dirty="0"/>
          </a:p>
          <a:p>
            <a:r>
              <a:rPr dirty="0"/>
              <a:t>Two — what is it? When E is far above binding, fragments leave in a narrow forward cone at nearly beam velocity. Exotic yields are usable; the cross section is nearly energy-independent; Goldhaber sets the momentum cloud — and thus how much the separator can capture.</a:t>
            </a:r>
          </a:p>
          <a:p>
            <a:endParaRPr dirty="0"/>
          </a:p>
          <a:p>
            <a:r>
              <a:rPr dirty="0"/>
              <a:t>Three — why do we need it? Exotics are short-lived; stable beams and slow chemistry lose them. PF produces on nuclear timescales — nanoseconds — a broad (A,Z) cocktail that is forward-focused and equal-velocity, so energetic RIB reactions actually work.</a:t>
            </a:r>
          </a:p>
          <a:p>
            <a:endParaRPr dirty="0"/>
          </a:p>
          <a:p>
            <a:r>
              <a:rPr dirty="0"/>
              <a:t>Four — practical use? Same β makes </a:t>
            </a:r>
            <a:r>
              <a:rPr dirty="0" err="1"/>
              <a:t>Bρ</a:t>
            </a:r>
            <a:r>
              <a:rPr dirty="0"/>
              <a:t> scale with A/Z; the degrader adds Z purity. Design for narrow production, large acceptance, and achromatic delivery. Prefer low-Z targets, sensible thickness, and high energy. LISE, RIPS, A1900/ARIS, FRS and the rest are this principle engineered.</a:t>
            </a:r>
          </a:p>
          <a:p>
            <a:endParaRPr dirty="0"/>
          </a:p>
          <a:p>
            <a:r>
              <a:rPr dirty="0"/>
              <a:t>If you keep only four lines: PF made secondary beams practical; same velocity makes magnetic selection work; cloud width sets the capturable fraction; low-Z plus high energy raise delivered intensity.</a:t>
            </a:r>
          </a:p>
        </p:txBody>
      </p:sp>
    </p:spTree>
    <p:extLst>
      <p:ext uri="{BB962C8B-B14F-4D97-AF65-F5344CB8AC3E}">
        <p14:creationId xmlns:p14="http://schemas.microsoft.com/office/powerpoint/2010/main" val="3769602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中文</a:t>
            </a:r>
            <a:r>
              <a:rPr dirty="0"/>
              <a:t>】</a:t>
            </a:r>
          </a:p>
          <a:p>
            <a:r>
              <a:rPr dirty="0" err="1"/>
              <a:t>谢谢大家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材料来源是</a:t>
            </a:r>
            <a:r>
              <a:rPr dirty="0"/>
              <a:t> I. </a:t>
            </a:r>
            <a:r>
              <a:rPr dirty="0" err="1"/>
              <a:t>Tanihata</a:t>
            </a:r>
            <a:r>
              <a:rPr dirty="0"/>
              <a:t>，《</a:t>
            </a:r>
            <a:r>
              <a:rPr dirty="0" err="1"/>
              <a:t>放射性束的产生与利用</a:t>
            </a:r>
            <a:r>
              <a:rPr dirty="0"/>
              <a:t>》，</a:t>
            </a:r>
            <a:r>
              <a:rPr dirty="0" err="1"/>
              <a:t>收在</a:t>
            </a:r>
            <a:r>
              <a:rPr dirty="0"/>
              <a:t> Experimental Techniques in Nuclear Physics </a:t>
            </a:r>
            <a:r>
              <a:rPr dirty="0" err="1"/>
              <a:t>第</a:t>
            </a:r>
            <a:r>
              <a:rPr dirty="0"/>
              <a:t> 10 </a:t>
            </a:r>
            <a:r>
              <a:rPr dirty="0" err="1"/>
              <a:t>章。如果对某一张图、某个公式，或者你们自己束线</a:t>
            </a:r>
            <a:r>
              <a:rPr dirty="0"/>
              <a:t>/</a:t>
            </a:r>
            <a:r>
              <a:rPr dirty="0" err="1"/>
              <a:t>实验上的对应关系有问题，我们现在可以展开讨论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[English]</a:t>
            </a:r>
          </a:p>
          <a:p>
            <a:r>
              <a:rPr dirty="0"/>
              <a:t>Thank you.</a:t>
            </a:r>
          </a:p>
          <a:p>
            <a:endParaRPr dirty="0"/>
          </a:p>
          <a:p>
            <a:r>
              <a:rPr dirty="0"/>
              <a:t>The source is I. </a:t>
            </a:r>
            <a:r>
              <a:rPr dirty="0" err="1"/>
              <a:t>Tanihata</a:t>
            </a:r>
            <a:r>
              <a:rPr dirty="0"/>
              <a:t>, Production and Use of Radioactive Beams, Chapter 10 of Experimental Techniques in Nuclear Physics. Happy to take questions — on a figure, a formula, or how this maps onto your own beam line or experiment. Let's discuss.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63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86ABF-FD11-E73B-A621-59E71B531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3" name="Title"/>
          <p:cNvSpPr txBox="1"/>
          <p:nvPr/>
        </p:nvSpPr>
        <p:spPr>
          <a:xfrm>
            <a:off x="457200" y="1778000"/>
            <a:ext cx="8229600" cy="7366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Projectile Fragmentation of Heavy Ions</a:t>
            </a:r>
          </a:p>
        </p:txBody>
      </p:sp>
      <p:sp>
        <p:nvSpPr>
          <p:cNvPr id="4" name="Author"/>
          <p:cNvSpPr txBox="1"/>
          <p:nvPr/>
        </p:nvSpPr>
        <p:spPr>
          <a:xfrm>
            <a:off x="457200" y="2616200"/>
            <a:ext cx="8229600" cy="4064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A8C4E8"/>
                </a:solidFill>
                <a:latin typeface="Times New Roman"/>
                <a:ea typeface="Times New Roman"/>
                <a:cs typeface="Times New Roman"/>
              </a:rPr>
              <a:t>Zhiheng Hu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457200" y="4292600"/>
            <a:ext cx="8229600" cy="3175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  <a:latin typeface="Times New Roman"/>
                <a:ea typeface="Times New Roman"/>
                <a:cs typeface="Times New Roman"/>
              </a:rPr>
              <a:t>Learning Group  ·  Zhiheng Hu  ·  11 Aug 2026</a:t>
            </a:r>
          </a:p>
        </p:txBody>
      </p:sp>
    </p:spTree>
    <p:extLst>
      <p:ext uri="{BB962C8B-B14F-4D97-AF65-F5344CB8AC3E}">
        <p14:creationId xmlns:p14="http://schemas.microsoft.com/office/powerpoint/2010/main" val="210042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HeaderBa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FAF8A2-B34A-EEFB-31A4-B3A41F722A21}"/>
              </a:ext>
            </a:extLst>
          </p:cNvPr>
          <p:cNvSpPr txBox="1"/>
          <p:nvPr/>
        </p:nvSpPr>
        <p:spPr>
          <a:xfrm>
            <a:off x="118872" y="201168"/>
            <a:ext cx="15055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3200" b="1" dirty="0">
                <a:solidFill>
                  <a:schemeClr val="bg1"/>
                </a:solidFill>
              </a:rPr>
              <a:t>Outline</a:t>
            </a:r>
            <a:endParaRPr lang="en-JP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CECC6-C093-E329-5532-80B5BC5EA92A}"/>
              </a:ext>
            </a:extLst>
          </p:cNvPr>
          <p:cNvSpPr txBox="1"/>
          <p:nvPr/>
        </p:nvSpPr>
        <p:spPr>
          <a:xfrm>
            <a:off x="118872" y="2057629"/>
            <a:ext cx="4112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JP" b="1" dirty="0">
                <a:solidFill>
                  <a:schemeClr val="bg1"/>
                </a:solidFill>
              </a:rPr>
              <a:t>2. What is Projectile Fragmentation?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48B2B4-2B32-B6DC-1281-86D261C9AF45}"/>
              </a:ext>
            </a:extLst>
          </p:cNvPr>
          <p:cNvSpPr txBox="1"/>
          <p:nvPr/>
        </p:nvSpPr>
        <p:spPr>
          <a:xfrm>
            <a:off x="118872" y="2809537"/>
            <a:ext cx="5299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JP" b="1" dirty="0">
                <a:solidFill>
                  <a:schemeClr val="bg1"/>
                </a:solidFill>
              </a:rPr>
              <a:t>3. Why we need to use Projectile Fragmentation?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9E8EC-D5F5-D4BF-4ECC-1DB48B5F7BF2}"/>
              </a:ext>
            </a:extLst>
          </p:cNvPr>
          <p:cNvSpPr txBox="1"/>
          <p:nvPr/>
        </p:nvSpPr>
        <p:spPr>
          <a:xfrm>
            <a:off x="118872" y="3549760"/>
            <a:ext cx="4681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JP" b="1" dirty="0">
                <a:solidFill>
                  <a:schemeClr val="bg1"/>
                </a:solidFill>
              </a:rPr>
              <a:t>4.The practical use of Projectile Fragment.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B9AE04-8D3D-9926-60E4-A861ABB3DE8D}"/>
              </a:ext>
            </a:extLst>
          </p:cNvPr>
          <p:cNvSpPr txBox="1"/>
          <p:nvPr/>
        </p:nvSpPr>
        <p:spPr>
          <a:xfrm>
            <a:off x="118872" y="1271686"/>
            <a:ext cx="5564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JP" b="1" dirty="0">
                <a:solidFill>
                  <a:schemeClr val="bg1"/>
                </a:solidFill>
              </a:rPr>
              <a:t>1.Where does Projectile Fragmentation come from?</a:t>
            </a:r>
          </a:p>
        </p:txBody>
      </p:sp>
    </p:spTree>
    <p:extLst>
      <p:ext uri="{BB962C8B-B14F-4D97-AF65-F5344CB8AC3E}">
        <p14:creationId xmlns:p14="http://schemas.microsoft.com/office/powerpoint/2010/main" val="10154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1. Where does Projectile Fragmentation come from?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1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1676" y="56283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In principle, any nuclear reaction that produces radioactive nuclei can feed a secondary beam. </a:t>
            </a:r>
            <a:r>
              <a:rPr lang="en-US" sz="1300" b="1" dirty="0">
                <a:solidFill>
                  <a:srgbClr val="C41E3A"/>
                </a:solidFill>
                <a:latin typeface="Times New Roman"/>
                <a:ea typeface="Times New Roman" pitchFamily="34" charset="-122"/>
                <a:cs typeface="Times New Roman"/>
              </a:rPr>
              <a:t>It only became practical</a:t>
            </a:r>
            <a:r>
              <a:rPr lang="en-US" sz="13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 for reaction studies after the discovery of </a:t>
            </a:r>
            <a:r>
              <a:rPr lang="en-US" sz="1300" b="1" dirty="0">
                <a:solidFill>
                  <a:srgbClr val="C41E3A"/>
                </a:solidFill>
                <a:latin typeface="Times New Roman"/>
                <a:ea typeface="Times New Roman" pitchFamily="34" charset="-122"/>
                <a:cs typeface="Times New Roman"/>
              </a:rPr>
              <a:t>projectile fragmentation</a:t>
            </a:r>
            <a:r>
              <a:rPr lang="en-US" sz="13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 in high-energy heavy-ion collisions.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849E9D6-D58E-8AB9-72C4-EF74D3C9940F}"/>
              </a:ext>
            </a:extLst>
          </p:cNvPr>
          <p:cNvSpPr/>
          <p:nvPr/>
        </p:nvSpPr>
        <p:spPr>
          <a:xfrm>
            <a:off x="365760" y="118872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48222B10-41EF-C425-7A92-2E05CC413091}"/>
              </a:ext>
            </a:extLst>
          </p:cNvPr>
          <p:cNvSpPr/>
          <p:nvPr/>
        </p:nvSpPr>
        <p:spPr>
          <a:xfrm>
            <a:off x="365760" y="1188720"/>
            <a:ext cx="91440" cy="338328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2C7FC407-8E13-CCF6-4AAE-7B957F4A5B8F}"/>
              </a:ext>
            </a:extLst>
          </p:cNvPr>
          <p:cNvSpPr/>
          <p:nvPr/>
        </p:nvSpPr>
        <p:spPr>
          <a:xfrm>
            <a:off x="640080" y="1371600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6E5FD2BE-B2B2-5BD8-D25A-E3B4008F0B72}"/>
              </a:ext>
            </a:extLst>
          </p:cNvPr>
          <p:cNvSpPr/>
          <p:nvPr/>
        </p:nvSpPr>
        <p:spPr>
          <a:xfrm>
            <a:off x="640080" y="13898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Historically</a:t>
            </a:r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228303A5-62B3-7C12-40C2-6BE44F50CD14}"/>
              </a:ext>
            </a:extLst>
          </p:cNvPr>
          <p:cNvSpPr/>
          <p:nvPr/>
        </p:nvSpPr>
        <p:spPr>
          <a:xfrm>
            <a:off x="64008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3"/>
                </a:solidFill>
                <a:latin typeface="Times New Roman"/>
                <a:ea typeface="Times New Roman"/>
                <a:cs typeface="Times New Roman"/>
              </a:rPr>
              <a:t>As a technique for radioactive beams</a:t>
            </a:r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D3FCC452-912C-0812-A867-6D27F40983FD}"/>
              </a:ext>
            </a:extLst>
          </p:cNvPr>
          <p:cNvSpPr/>
          <p:nvPr/>
        </p:nvSpPr>
        <p:spPr>
          <a:xfrm>
            <a:off x="64008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Stability-line lock-in</a:t>
            </a:r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871E6055-5B30-6741-FBBD-ADBCDD7A5B68}"/>
              </a:ext>
            </a:extLst>
          </p:cNvPr>
          <p:cNvSpPr/>
          <p:nvPr/>
        </p:nvSpPr>
        <p:spPr>
          <a:xfrm>
            <a:off x="640080" y="24505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For decades, beams and targets were confined to stable nuclei — a fundamental limit on what nuclear physics could access.</a:t>
            </a: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2B1837F5-5663-E7A8-CF3A-C63803E619AE}"/>
              </a:ext>
            </a:extLst>
          </p:cNvPr>
          <p:cNvSpPr/>
          <p:nvPr/>
        </p:nvSpPr>
        <p:spPr>
          <a:xfrm>
            <a:off x="64008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Discovery in HE heavy ions</a:t>
            </a: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53520123-6775-68CA-01A0-301201C9ECE6}"/>
              </a:ext>
            </a:extLst>
          </p:cNvPr>
          <p:cNvSpPr/>
          <p:nvPr/>
        </p:nvSpPr>
        <p:spPr>
          <a:xfrm>
            <a:off x="64008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Projectile fragmentation was found in high-energy heavy-ion collisions: fragments poured into a usable forward beam.</a:t>
            </a: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C39C1B6F-9A50-7AFF-9495-9A4341429E14}"/>
              </a:ext>
            </a:extLst>
          </p:cNvPr>
          <p:cNvSpPr/>
          <p:nvPr/>
        </p:nvSpPr>
        <p:spPr>
          <a:xfrm>
            <a:off x="64008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First practical RIB path</a:t>
            </a: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337D5040-CD8D-3773-76B2-D36D5C4D36A6}"/>
              </a:ext>
            </a:extLst>
          </p:cNvPr>
          <p:cNvSpPr/>
          <p:nvPr/>
        </p:nvSpPr>
        <p:spPr>
          <a:xfrm>
            <a:off x="64008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The first systematic reaction studies with radioactive beams used secondary beams from PF — not reacceleration.</a:t>
            </a:r>
          </a:p>
        </p:txBody>
      </p:sp>
      <p:sp>
        <p:nvSpPr>
          <p:cNvPr id="48" name="Shape 17">
            <a:extLst>
              <a:ext uri="{FF2B5EF4-FFF2-40B4-BE49-F238E27FC236}">
                <a16:creationId xmlns:a16="http://schemas.microsoft.com/office/drawing/2014/main" id="{27AFE0C7-F237-EE56-47EC-F26E4F6C727C}"/>
              </a:ext>
            </a:extLst>
          </p:cNvPr>
          <p:cNvSpPr/>
          <p:nvPr/>
        </p:nvSpPr>
        <p:spPr>
          <a:xfrm>
            <a:off x="4709160" y="118872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49" name="Shape 18">
            <a:extLst>
              <a:ext uri="{FF2B5EF4-FFF2-40B4-BE49-F238E27FC236}">
                <a16:creationId xmlns:a16="http://schemas.microsoft.com/office/drawing/2014/main" id="{945ADD01-1F07-201E-7855-2FA6CB69AA08}"/>
              </a:ext>
            </a:extLst>
          </p:cNvPr>
          <p:cNvSpPr/>
          <p:nvPr/>
        </p:nvSpPr>
        <p:spPr>
          <a:xfrm>
            <a:off x="4709160" y="1188720"/>
            <a:ext cx="91440" cy="3383280"/>
          </a:xfrm>
          <a:prstGeom prst="rect">
            <a:avLst/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BE5287CC-79B3-8534-7CD8-6C0272A6E5F1}"/>
              </a:ext>
            </a:extLst>
          </p:cNvPr>
          <p:cNvSpPr/>
          <p:nvPr/>
        </p:nvSpPr>
        <p:spPr>
          <a:xfrm>
            <a:off x="4983480" y="137160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5D4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37A4DF5E-B009-7ADF-BED4-5E4925017E2E}"/>
              </a:ext>
            </a:extLst>
          </p:cNvPr>
          <p:cNvSpPr/>
          <p:nvPr/>
        </p:nvSpPr>
        <p:spPr>
          <a:xfrm>
            <a:off x="4983480" y="13898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Physically</a:t>
            </a:r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222A7B28-5B5C-523B-5F8C-841A996F61D7}"/>
              </a:ext>
            </a:extLst>
          </p:cNvPr>
          <p:cNvSpPr/>
          <p:nvPr/>
        </p:nvSpPr>
        <p:spPr>
          <a:xfrm>
            <a:off x="498348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3"/>
                </a:solidFill>
                <a:latin typeface="Times New Roman"/>
                <a:ea typeface="Times New Roman"/>
                <a:cs typeface="Times New Roman"/>
              </a:rPr>
              <a:t>As a nuclear reaction mechanism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A3883A91-5868-3A41-51F8-99570C4B480F}"/>
              </a:ext>
            </a:extLst>
          </p:cNvPr>
          <p:cNvSpPr/>
          <p:nvPr/>
        </p:nvSpPr>
        <p:spPr>
          <a:xfrm>
            <a:off x="498348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Times New Roman"/>
                <a:ea typeface="Times New Roman"/>
                <a:cs typeface="Times New Roman"/>
              </a:rPr>
              <a:t>High-energy regime</a:t>
            </a:r>
          </a:p>
        </p:txBody>
      </p:sp>
      <p:sp>
        <p:nvSpPr>
          <p:cNvPr id="54" name="Text 23">
            <a:extLst>
              <a:ext uri="{FF2B5EF4-FFF2-40B4-BE49-F238E27FC236}">
                <a16:creationId xmlns:a16="http://schemas.microsoft.com/office/drawing/2014/main" id="{586D7C0C-2629-5CBA-D0F0-A68620D2BC66}"/>
              </a:ext>
            </a:extLst>
          </p:cNvPr>
          <p:cNvSpPr/>
          <p:nvPr/>
        </p:nvSpPr>
        <p:spPr>
          <a:xfrm>
            <a:off x="4983480" y="24505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Beam energy ≫ nucleon binding energy — the projectile can shed nucleons without stopping in the target.</a:t>
            </a:r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E57A216A-D9A6-DD84-2112-DC3DE78F7042}"/>
              </a:ext>
            </a:extLst>
          </p:cNvPr>
          <p:cNvSpPr/>
          <p:nvPr/>
        </p:nvSpPr>
        <p:spPr>
          <a:xfrm>
            <a:off x="4983480" y="29443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Times New Roman"/>
                <a:ea typeface="Times New Roman"/>
                <a:cs typeface="Times New Roman"/>
              </a:rPr>
              <a:t>Forward fragmentation</a:t>
            </a:r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62F072F7-78EA-BA58-8101-4C0C70E4687B}"/>
              </a:ext>
            </a:extLst>
          </p:cNvPr>
          <p:cNvSpPr/>
          <p:nvPr/>
        </p:nvSpPr>
        <p:spPr>
          <a:xfrm>
            <a:off x="498348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Nuclear fragments are emitted copiously into a narrow forward cone — these are projectile fragments.</a:t>
            </a:r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EC904BE-6FE6-92EF-EF62-010467FCB5AA}"/>
              </a:ext>
            </a:extLst>
          </p:cNvPr>
          <p:cNvSpPr/>
          <p:nvPr/>
        </p:nvSpPr>
        <p:spPr>
          <a:xfrm>
            <a:off x="4983480" y="3694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4C"/>
                </a:solidFill>
                <a:latin typeface="Times New Roman"/>
                <a:ea typeface="Times New Roman"/>
                <a:cs typeface="Times New Roman"/>
              </a:rPr>
              <a:t>Velocity inheritance</a:t>
            </a:r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4461DE99-95D4-2225-45B4-1ADA38528025}"/>
              </a:ext>
            </a:extLst>
          </p:cNvPr>
          <p:cNvSpPr/>
          <p:nvPr/>
        </p:nvSpPr>
        <p:spPr>
          <a:xfrm>
            <a:off x="4983480" y="3950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Fragments leave with nearly the projectile velocity (v ≈ v_beam) — the kinematic key to in-flight separation.</a:t>
            </a:r>
          </a:p>
        </p:txBody>
      </p:sp>
    </p:spTree>
    <p:extLst>
      <p:ext uri="{BB962C8B-B14F-4D97-AF65-F5344CB8AC3E}">
        <p14:creationId xmlns:p14="http://schemas.microsoft.com/office/powerpoint/2010/main" val="4030165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 descr="effectRef=4&#10;style=2&#10;effectLst=true&#10;---HB---&#10;name=&quot;HeaderBand&quot;/&gt;&lt;p:cNvSpPr/&gt;&lt;p:nvPr/&gt;&lt;/p:nvSpPr&gt;&lt;p:spPr&gt;&lt;a:xfrm&gt;&lt;a:off x=&quot;0&quot; y=&quot;0&quot;/&gt;&lt;a:ext cx=&quot;9144000&quot; cy=&quot;523875&quot;/&gt;&lt;/a:xfrm&gt;&lt;a:prstGeom prst=&quot;rect&quot;&gt;&lt;a:avLst/&gt;&lt;/a:prstGeom&gt;&lt;a:solidFill&gt;&lt;a:srgbClr val=&quot;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1. The secondary-beam production chain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2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pic>
        <p:nvPicPr>
          <p:cNvPr id="36" name="Image 0">
            <a:extLst>
              <a:ext uri="{FF2B5EF4-FFF2-40B4-BE49-F238E27FC236}">
                <a16:creationId xmlns:a16="http://schemas.microsoft.com/office/drawing/2014/main" id="{4726805B-8C7A-586D-81CD-953BAAD729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3" t="5551" r="1166" b="5866"/>
          <a:stretch>
            <a:fillRect/>
          </a:stretch>
        </p:blipFill>
        <p:spPr>
          <a:xfrm>
            <a:off x="245942" y="597027"/>
            <a:ext cx="8652116" cy="4181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12F264-C478-75BC-3255-EDD55626520F}"/>
              </a:ext>
            </a:extLst>
          </p:cNvPr>
          <p:cNvSpPr txBox="1"/>
          <p:nvPr/>
        </p:nvSpPr>
        <p:spPr>
          <a:xfrm>
            <a:off x="3887806" y="4544238"/>
            <a:ext cx="1368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sz="1200" i="1" dirty="0">
                <a:solidFill>
                  <a:schemeClr val="accent3"/>
                </a:solidFill>
              </a:rPr>
              <a:t>Generated by Grok</a:t>
            </a:r>
          </a:p>
        </p:txBody>
      </p:sp>
    </p:spTree>
    <p:extLst>
      <p:ext uri="{BB962C8B-B14F-4D97-AF65-F5344CB8AC3E}">
        <p14:creationId xmlns:p14="http://schemas.microsoft.com/office/powerpoint/2010/main" val="144786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2. What is Projectile Fragmentation?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3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68580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A heavy-ion projectile collides with a target at beam energy ≫ nucleon binding energy. In a peripheral collision, nucleons are stripped from the projectile; the remnant flies on near beam velocity as a projectile fragment.</a:t>
            </a:r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9" name="Shape 7"/>
          <p:cNvSpPr/>
          <p:nvPr/>
        </p:nvSpPr>
        <p:spPr>
          <a:xfrm>
            <a:off x="594360" y="1527048"/>
            <a:ext cx="502920" cy="50292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594360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1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25880" y="1435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Abrasion</a:t>
            </a:r>
          </a:p>
        </p:txBody>
      </p:sp>
      <p:sp>
        <p:nvSpPr>
          <p:cNvPr id="12" name="Text 10"/>
          <p:cNvSpPr/>
          <p:nvPr/>
        </p:nvSpPr>
        <p:spPr>
          <a:xfrm>
            <a:off x="1325880" y="176479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Overlapping nucleons are sheared off in the geometric overlap zone; a hot, excited prefragment of the projectile remains.</a:t>
            </a:r>
          </a:p>
        </p:txBody>
      </p:sp>
      <p:sp>
        <p:nvSpPr>
          <p:cNvPr id="13" name="Shape 11"/>
          <p:cNvSpPr/>
          <p:nvPr/>
        </p:nvSpPr>
        <p:spPr>
          <a:xfrm>
            <a:off x="411480" y="237744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 dirty="0"/>
          </a:p>
        </p:txBody>
      </p:sp>
      <p:sp>
        <p:nvSpPr>
          <p:cNvPr id="14" name="Shape 12"/>
          <p:cNvSpPr/>
          <p:nvPr/>
        </p:nvSpPr>
        <p:spPr>
          <a:xfrm>
            <a:off x="594360" y="2578608"/>
            <a:ext cx="502920" cy="50292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594360" y="26334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325880" y="2487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Ablation</a:t>
            </a:r>
            <a:endParaRPr lang="en-US" sz="1600" b="1" dirty="0">
              <a:solidFill>
                <a:srgbClr val="174994"/>
              </a:solidFill>
              <a:latin typeface="Times New Roman"/>
              <a:ea typeface="Times New Roman" pitchFamily="34" charset="-122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25880" y="281635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2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The prefragment de-excites by evaporating nucleons and light clusters, leaving the final fragment species observed downstream.</a:t>
            </a:r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9" name="Shape 17"/>
          <p:cNvSpPr/>
          <p:nvPr/>
        </p:nvSpPr>
        <p:spPr>
          <a:xfrm>
            <a:off x="594360" y="3630168"/>
            <a:ext cx="502920" cy="50292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0" name="Text 18"/>
          <p:cNvSpPr/>
          <p:nvPr/>
        </p:nvSpPr>
        <p:spPr>
          <a:xfrm>
            <a:off x="594360" y="36850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3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325880" y="3538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600" b="1" dirty="0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Forward kinematics</a:t>
            </a:r>
          </a:p>
        </p:txBody>
      </p:sp>
      <p:sp>
        <p:nvSpPr>
          <p:cNvPr id="22" name="Text 20"/>
          <p:cNvSpPr/>
          <p:nvPr/>
        </p:nvSpPr>
        <p:spPr>
          <a:xfrm>
            <a:off x="1325880" y="386791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Fragments leave at v ≈ v_beam in a narrow forward cone — high collection efficiency, simple magnetic separation, path to exotic RIB beams.</a:t>
            </a:r>
          </a:p>
        </p:txBody>
      </p:sp>
    </p:spTree>
    <p:extLst>
      <p:ext uri="{BB962C8B-B14F-4D97-AF65-F5344CB8AC3E}">
        <p14:creationId xmlns:p14="http://schemas.microsoft.com/office/powerpoint/2010/main" val="410288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2. Momentum distribution of fragments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4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pic>
        <p:nvPicPr>
          <p:cNvPr id="7" name="Image 0" descr="/Users/Reid Hu/OrbitOS/70_Presentations/716_Learning Group-20260805/assets/fig1_momentu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777240"/>
            <a:ext cx="4114800" cy="36576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/>
              <p:nvPr/>
            </p:nvSpPr>
            <p:spPr>
              <a:xfrm>
                <a:off x="320040" y="4370832"/>
                <a:ext cx="4114800" cy="4297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900" dirty="0">
                    <a:solidFill>
                      <a:srgbClr val="8A96A0"/>
                    </a:solidFill>
                    <a:latin typeface="Times New Roman"/>
                    <a:ea typeface="Times New Roman"/>
                    <a:cs typeface="Times New Roman"/>
                  </a:rPr>
                  <a:t>Fig. 1  · 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sPre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from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Pre>
                      <m:sPre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sPre>
                    <m:r>
                      <a:rPr lang="ar-AE">
                        <a:latin typeface="Cambria Math" panose="02040503050406030204" pitchFamily="18" charset="0"/>
                      </a:rPr>
                      <m:t> @ 2.1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GeV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projectile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rest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frame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900" dirty="0">
                  <a:solidFill>
                    <a:srgbClr val="8A96A0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" y="4370832"/>
                <a:ext cx="4114800" cy="429768"/>
              </a:xfrm>
              <a:prstGeom prst="rect">
                <a:avLst/>
              </a:prstGeom>
              <a:blipFill>
                <a:blip r:embed="rId4"/>
                <a:stretch>
                  <a:fillRect l="-1846" t="-8571" r="-18154" b="-2285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6"/>
          <p:cNvSpPr/>
          <p:nvPr/>
        </p:nvSpPr>
        <p:spPr>
          <a:xfrm>
            <a:off x="4663440" y="7772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Shape 7"/>
          <p:cNvSpPr/>
          <p:nvPr/>
        </p:nvSpPr>
        <p:spPr>
          <a:xfrm>
            <a:off x="4663440" y="777240"/>
            <a:ext cx="73152" cy="77724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1" name="Text 8"/>
          <p:cNvSpPr/>
          <p:nvPr/>
        </p:nvSpPr>
        <p:spPr>
          <a:xfrm>
            <a:off x="4937760" y="868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Gaussian shape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9377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Fits all isotopes — independent of beam, energy, or target.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16459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4" name="Shape 11"/>
          <p:cNvSpPr/>
          <p:nvPr/>
        </p:nvSpPr>
        <p:spPr>
          <a:xfrm>
            <a:off x="4663440" y="1645920"/>
            <a:ext cx="73152" cy="77724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2"/>
              <p:cNvSpPr/>
              <p:nvPr/>
            </p:nvSpPr>
            <p:spPr>
              <a:xfrm>
                <a:off x="4937760" y="1737360"/>
                <a:ext cx="36576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≈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5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1737360"/>
                <a:ext cx="3657600" cy="256032"/>
              </a:xfrm>
              <a:prstGeom prst="rect">
                <a:avLst/>
              </a:prstGeom>
              <a:blipFill>
                <a:blip r:embed="rId5"/>
                <a:stretch>
                  <a:fillRect t="-14286" b="-47619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3"/>
          <p:cNvSpPr/>
          <p:nvPr/>
        </p:nvSpPr>
        <p:spPr>
          <a:xfrm>
            <a:off x="4937760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Parallel and transverse widths nearly equal (isotropic in the moving frame).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663440" y="251460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8" name="Shape 15"/>
          <p:cNvSpPr/>
          <p:nvPr/>
        </p:nvSpPr>
        <p:spPr>
          <a:xfrm>
            <a:off x="4663440" y="2514600"/>
            <a:ext cx="73152" cy="77724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6"/>
              <p:cNvSpPr/>
              <p:nvPr/>
            </p:nvSpPr>
            <p:spPr>
              <a:xfrm>
                <a:off x="4937760" y="2606040"/>
                <a:ext cx="36576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⟩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shift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9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2606040"/>
                <a:ext cx="3657600" cy="256032"/>
              </a:xfrm>
              <a:prstGeom prst="rect">
                <a:avLst/>
              </a:prstGeom>
              <a:blipFill>
                <a:blip r:embed="rId6"/>
                <a:stretch>
                  <a:fillRect t="-14286" b="-4285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17"/>
          <p:cNvSpPr/>
          <p:nvPr/>
        </p:nvSpPr>
        <p:spPr>
          <a:xfrm>
            <a:off x="4937760" y="2880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/>
                <a:cs typeface="Times New Roman"/>
              </a:rPr>
              <a:t>Central momentum −10 to −130 MeV/c (fragment slightly slower than projectile).</a:t>
            </a:r>
          </a:p>
        </p:txBody>
      </p:sp>
      <p:sp>
        <p:nvSpPr>
          <p:cNvPr id="21" name="Shape 18"/>
          <p:cNvSpPr/>
          <p:nvPr/>
        </p:nvSpPr>
        <p:spPr>
          <a:xfrm>
            <a:off x="4663440" y="338328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2" name="Shape 19"/>
          <p:cNvSpPr/>
          <p:nvPr/>
        </p:nvSpPr>
        <p:spPr>
          <a:xfrm>
            <a:off x="4663440" y="3383280"/>
            <a:ext cx="73152" cy="77724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3" name="Text 20"/>
          <p:cNvSpPr/>
          <p:nvPr/>
        </p:nvSpPr>
        <p:spPr>
          <a:xfrm>
            <a:off x="4937760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Same velocity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1"/>
              <p:cNvSpPr/>
              <p:nvPr/>
            </p:nvSpPr>
            <p:spPr>
              <a:xfrm>
                <a:off x="4937760" y="3749040"/>
                <a:ext cx="365760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  <m:r>
                      <a:rPr>
                        <a:latin typeface="Cambria Math" panose="02040503050406030204" pitchFamily="18" charset="0"/>
                      </a:rPr>
                      <m:t> ≫ ⟨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⟩ ⇒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≈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beam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— key for separators.</a:t>
                </a:r>
              </a:p>
            </p:txBody>
          </p:sp>
        </mc:Choice>
        <mc:Fallback>
          <p:sp>
            <p:nvSpPr>
              <p:cNvPr id="24" name="Tex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760" y="3749040"/>
                <a:ext cx="3657600" cy="347472"/>
              </a:xfrm>
              <a:prstGeom prst="rect">
                <a:avLst/>
              </a:prstGeom>
              <a:blipFill>
                <a:blip r:embed="rId7"/>
                <a:stretch>
                  <a:fillRect l="-2076" t="-21429" b="-4285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47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2. Goldhaber width — how broad is the cloud?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5 / 10</a:t>
            </a:r>
            <a:endParaRPr lang="en-US" sz="10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11480" y="685800"/>
                <a:ext cx="83210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is essentially independent of target mass and beam energy; it depends on projectile and fragment mass numbers.</a:t>
                </a:r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85800"/>
                <a:ext cx="8321040" cy="365760"/>
              </a:xfrm>
              <a:prstGeom prst="rect">
                <a:avLst/>
              </a:prstGeom>
              <a:blipFill>
                <a:blip r:embed="rId3"/>
                <a:stretch>
                  <a:fillRect l="-610" b="-10000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31520" y="1188720"/>
            <a:ext cx="7680960" cy="1234440"/>
          </a:xfrm>
          <a:prstGeom prst="roundRect">
            <a:avLst>
              <a:gd name="adj" fmla="val 7407"/>
            </a:avLst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731520" y="1371600"/>
                <a:ext cx="768096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F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371600"/>
                <a:ext cx="7680960" cy="502920"/>
              </a:xfrm>
              <a:prstGeom prst="rect">
                <a:avLst/>
              </a:prstGeom>
              <a:blipFill>
                <a:blip r:embed="rId4"/>
                <a:stretch>
                  <a:fillRect t="-25000" b="-32500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731520" y="1965960"/>
                <a:ext cx="768096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≈ 90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MeV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  ·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maximum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when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F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/2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965960"/>
                <a:ext cx="7680960" cy="274320"/>
              </a:xfrm>
              <a:prstGeom prst="rect">
                <a:avLst/>
              </a:prstGeom>
              <a:blipFill>
                <a:blip r:embed="rId5"/>
                <a:stretch>
                  <a:fillRect t="-13636" b="-31818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411480" y="2697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00" b="1" dirty="0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High energy (≥ 200 MeV/u)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594360" y="3246120"/>
                <a:ext cx="36576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 ≈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Isotropic in projectile frame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= −⟨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⟩/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246120"/>
                <a:ext cx="3657600" cy="1097280"/>
              </a:xfrm>
              <a:prstGeom prst="rect">
                <a:avLst/>
              </a:prstGeom>
              <a:blipFill>
                <a:blip r:embed="rId6"/>
                <a:stretch>
                  <a:fillRect l="-2768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709160" y="2697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8920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n-US" sz="1400" b="1" dirty="0">
                <a:solidFill>
                  <a:srgbClr val="E85D4C"/>
                </a:solidFill>
                <a:latin typeface="Times New Roman"/>
                <a:ea typeface="Times New Roman"/>
                <a:cs typeface="Times New Roman"/>
              </a:rPr>
              <a:t>Low energy (&lt; 200 MeV/u)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4892040" y="3246120"/>
                <a:ext cx="36576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Extra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term (Eq. 2):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≈ 200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MeV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1100" dirty="0">
                  <a:solidFill>
                    <a:srgbClr val="1A2332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stays ~constant down to ~20 MeV/u.</a:t>
                </a:r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3246120"/>
                <a:ext cx="3657600" cy="1097280"/>
              </a:xfrm>
              <a:prstGeom prst="rect">
                <a:avLst/>
              </a:prstGeom>
              <a:blipFill>
                <a:blip r:embed="rId7"/>
                <a:stretch>
                  <a:fillRect l="-2422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591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2. Why high energy helps collection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6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pic>
        <p:nvPicPr>
          <p:cNvPr id="7" name="Image 0" descr="/Users/Reid Hu/OrbitOS/70_Presentations/716_Learning Group-20260805/assets/fig2_relative_width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85800"/>
            <a:ext cx="45720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A96A0"/>
                </a:solidFill>
                <a:latin typeface="Times New Roman"/>
                <a:ea typeface="Times New Roman" pitchFamily="34" charset="-122"/>
                <a:cs typeface="Times New Roman"/>
              </a:rPr>
              <a:t>Fig. 2  ·  Relative momentum width vs beam energy</a:t>
            </a:r>
            <a:endParaRPr lang="en-US" sz="900" dirty="0">
              <a:latin typeface="Times New Roman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029200" y="7315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7"/>
          <p:cNvSpPr/>
          <p:nvPr/>
        </p:nvSpPr>
        <p:spPr>
          <a:xfrm>
            <a:off x="5212080" y="822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Relative width shrinks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8"/>
              <p:cNvSpPr/>
              <p:nvPr/>
            </p:nvSpPr>
            <p:spPr>
              <a:xfrm>
                <a:off x="5212080" y="1097280"/>
                <a:ext cx="34747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is nearly fixed in MeV/c;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grows with energy 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σ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drops.</a:t>
                </a:r>
              </a:p>
            </p:txBody>
          </p:sp>
        </mc:Choice>
        <mc:Fallback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1097280"/>
                <a:ext cx="3474720" cy="384048"/>
              </a:xfrm>
              <a:prstGeom prst="rect">
                <a:avLst/>
              </a:prstGeom>
              <a:blipFill>
                <a:blip r:embed="rId4"/>
                <a:stretch>
                  <a:fillRect l="-3285" t="-12903" b="-4838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>
            <a:off x="5029200" y="16459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Text 10"/>
          <p:cNvSpPr/>
          <p:nvPr/>
        </p:nvSpPr>
        <p:spPr>
          <a:xfrm>
            <a:off x="521208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Narrower lab angles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1"/>
              <p:cNvSpPr/>
              <p:nvPr/>
            </p:nvSpPr>
            <p:spPr>
              <a:xfrm>
                <a:off x="5212080" y="2011680"/>
                <a:ext cx="34747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θ</m:t>
                    </m:r>
                    <m:r>
                      <a:rPr>
                        <a:latin typeface="Cambria Math" panose="02040503050406030204" pitchFamily="18" charset="0"/>
                      </a:rPr>
                      <m:t> ≈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/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∥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→ high energy packs more yield into the separator’s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ΔΩ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14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2011680"/>
                <a:ext cx="3474720" cy="384048"/>
              </a:xfrm>
              <a:prstGeom prst="rect">
                <a:avLst/>
              </a:prstGeom>
              <a:blipFill>
                <a:blip r:embed="rId5"/>
                <a:stretch>
                  <a:fillRect l="-2555" t="-25806" r="-3285" b="-38710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2"/>
          <p:cNvSpPr/>
          <p:nvPr/>
        </p:nvSpPr>
        <p:spPr>
          <a:xfrm>
            <a:off x="5029200" y="25603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6" name="Text 13"/>
          <p:cNvSpPr/>
          <p:nvPr/>
        </p:nvSpPr>
        <p:spPr>
          <a:xfrm>
            <a:off x="5212080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Higher collection ε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4"/>
              <p:cNvSpPr/>
              <p:nvPr/>
            </p:nvSpPr>
            <p:spPr>
              <a:xfrm>
                <a:off x="5212080" y="2926080"/>
                <a:ext cx="34747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sec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prod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coll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× ⋯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Fixed machine acceptance captures a larger fraction.</a:t>
                </a:r>
              </a:p>
            </p:txBody>
          </p:sp>
        </mc:Choice>
        <mc:Fallback>
          <p:sp>
            <p:nvSpPr>
              <p:cNvPr id="17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2926080"/>
                <a:ext cx="3474720" cy="384048"/>
              </a:xfrm>
              <a:prstGeom prst="rect">
                <a:avLst/>
              </a:prstGeom>
              <a:blipFill>
                <a:blip r:embed="rId6"/>
                <a:stretch>
                  <a:fillRect l="-2555" t="-16129" b="-32258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5"/>
          <p:cNvSpPr/>
          <p:nvPr/>
        </p:nvSpPr>
        <p:spPr>
          <a:xfrm>
            <a:off x="5029200" y="3474720"/>
            <a:ext cx="3794760" cy="82296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9" name="Text 16"/>
          <p:cNvSpPr/>
          <p:nvPr/>
        </p:nvSpPr>
        <p:spPr>
          <a:xfrm>
            <a:off x="521208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Design tip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7"/>
              <p:cNvSpPr/>
              <p:nvPr/>
            </p:nvSpPr>
            <p:spPr>
              <a:xfrm>
                <a:off x="5212080" y="3840480"/>
                <a:ext cx="3474720" cy="3840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≈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(and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≥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) to minimize broadening.</a:t>
                </a:r>
              </a:p>
            </p:txBody>
          </p:sp>
        </mc:Choice>
        <mc:Fallback>
          <p:sp>
            <p:nvSpPr>
              <p:cNvPr id="20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80" y="3840480"/>
                <a:ext cx="3474720" cy="384048"/>
              </a:xfrm>
              <a:prstGeom prst="rect">
                <a:avLst/>
              </a:prstGeom>
              <a:blipFill>
                <a:blip r:embed="rId7"/>
                <a:stretch>
                  <a:fillRect l="-2555" t="-16129" r="-2920" b="-32258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806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3. Why we need Projectile Fragmentation</a:t>
            </a: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7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023360" cy="3566160"/>
          </a:xfrm>
          <a:prstGeom prst="rect">
            <a:avLst/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8" name="Shape 6"/>
          <p:cNvSpPr/>
          <p:nvPr/>
        </p:nvSpPr>
        <p:spPr>
          <a:xfrm>
            <a:off x="365760" y="822960"/>
            <a:ext cx="4023360" cy="502920"/>
          </a:xfrm>
          <a:prstGeom prst="rect">
            <a:avLst/>
          </a:prstGeom>
          <a:solidFill>
            <a:srgbClr val="5F6B73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9" name="Text 7"/>
          <p:cNvSpPr/>
          <p:nvPr/>
        </p:nvSpPr>
        <p:spPr>
          <a:xfrm>
            <a:off x="36576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The production challenge</a:t>
            </a:r>
          </a:p>
        </p:txBody>
      </p:sp>
      <p:sp>
        <p:nvSpPr>
          <p:cNvPr id="10" name="Text 8"/>
          <p:cNvSpPr/>
          <p:nvPr/>
        </p:nvSpPr>
        <p:spPr>
          <a:xfrm>
            <a:off x="594360" y="15087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Exotic nuclei are required for structure, reactions, and astrophysics — but most are short-lived.</a:t>
            </a:r>
          </a:p>
          <a:p>
            <a:pPr marL="0" indent="0">
              <a:buNone/>
            </a:pPr>
            <a:endParaRPr lang="en-US" sz="1300" b="1" dirty="0">
              <a:solidFill>
                <a:srgbClr val="1A2332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Stable beams stay near the valley of stability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Slow methods lose the shortest half-lives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Chemistry-limited extraction misses many species</a:t>
            </a:r>
          </a:p>
          <a:p>
            <a:pPr marL="0" indent="0">
              <a:buNone/>
            </a:pPr>
            <a:endParaRPr lang="en-US" sz="1300" b="1" dirty="0">
              <a:solidFill>
                <a:srgbClr val="1A2332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A fast, universal in-flight route is essential.</a:t>
            </a:r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3566160"/>
          </a:xfrm>
          <a:prstGeom prst="rect">
            <a:avLst/>
          </a:prstGeom>
          <a:solidFill>
            <a:srgbClr val="E8F0F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023360" cy="502920"/>
          </a:xfrm>
          <a:prstGeom prst="rect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4754880" y="896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What PF delivers</a:t>
            </a:r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Projectile fragmentation is that route.</a:t>
            </a:r>
          </a:p>
          <a:p>
            <a:pPr marL="0" indent="0">
              <a:buNone/>
            </a:pPr>
            <a:endParaRPr lang="en-US" sz="1300" b="1" dirty="0">
              <a:solidFill>
                <a:srgbClr val="1A2332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Production on nuclear timescales (~ns)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One primary beam → broad (A,Z) cocktail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Forward-focused, nearly equal velocities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• Magnetic separation &amp; secondary reactions</a:t>
            </a:r>
          </a:p>
          <a:p>
            <a:pPr marL="0" indent="0">
              <a:buNone/>
            </a:pPr>
            <a:endParaRPr lang="en-US" sz="1300" b="1" dirty="0">
              <a:solidFill>
                <a:srgbClr val="1A2332"/>
              </a:solidFill>
              <a:latin typeface="Times New Roman"/>
              <a:ea typeface="Times New Roman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PF makes energetic RIB practical — not only decay spectroscopy.</a:t>
            </a:r>
          </a:p>
        </p:txBody>
      </p:sp>
    </p:spTree>
    <p:extLst>
      <p:ext uri="{BB962C8B-B14F-4D97-AF65-F5344CB8AC3E}">
        <p14:creationId xmlns:p14="http://schemas.microsoft.com/office/powerpoint/2010/main" val="525562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3. Same velocity → magnetic separation works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8 / 10</a:t>
            </a:r>
            <a:endParaRPr lang="en-US" sz="10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411480" y="685800"/>
                <a:ext cx="832104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Because fragment velocities are nearly equal, magnetic rigidity maps cleanly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A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685800"/>
                <a:ext cx="8321040" cy="320040"/>
              </a:xfrm>
              <a:prstGeom prst="rect">
                <a:avLst/>
              </a:prstGeom>
              <a:blipFill>
                <a:blip r:embed="rId3"/>
                <a:stretch>
                  <a:fillRect l="-1220" b="-2307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411480" y="1143000"/>
            <a:ext cx="8321040" cy="1371600"/>
          </a:xfrm>
          <a:prstGeom prst="roundRect">
            <a:avLst>
              <a:gd name="adj" fmla="val 6667"/>
            </a:avLst>
          </a:prstGeom>
          <a:solidFill>
            <a:srgbClr val="E8F0FA"/>
          </a:solidFill>
          <a:ln/>
        </p:spPr>
        <p:txBody>
          <a:bodyPr/>
          <a:lstStyle/>
          <a:p>
            <a:endParaRPr lang="en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411480" y="1280160"/>
                <a:ext cx="832104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q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with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≈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u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·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280160"/>
                <a:ext cx="8321040" cy="411480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411480" y="1783080"/>
                <a:ext cx="832104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β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q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 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fully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stripped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∼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Z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783080"/>
                <a:ext cx="8321040" cy="36576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411480" y="27889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594360" y="2926080"/>
                <a:ext cx="3657600" cy="320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400" b="1" dirty="0">
                    <a:solidFill>
                      <a:srgbClr val="174994"/>
                    </a:solidFill>
                    <a:latin typeface="Times New Roman"/>
                    <a:ea typeface="Times New Roman"/>
                    <a:cs typeface="Times New Roman"/>
                  </a:rPr>
                  <a:t>Example: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Be</m:t>
                        </m:r>
                      </m:e>
                    </m:sPre>
                    <m:r>
                      <a:rPr lang="ar-AE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vs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sPre>
                      <m:sPre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sPre>
                  </m:oMath>
                </a14:m>
                <a:endParaRPr lang="en-US" sz="1400" b="1" dirty="0">
                  <a:solidFill>
                    <a:srgbClr val="174994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2926080"/>
                <a:ext cx="3657600" cy="320040"/>
              </a:xfrm>
              <a:prstGeom prst="rect">
                <a:avLst/>
              </a:prstGeom>
              <a:blipFill>
                <a:blip r:embed="rId6"/>
                <a:stretch>
                  <a:fillRect l="-3460" b="-30769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594360" y="3291840"/>
                <a:ext cx="3657600" cy="10972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Fully stripped, same β: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Z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Be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 11/4 ,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</m:t>
                      </m:r>
                      <m:r>
                        <a:rPr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Z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 11/6</m:t>
                      </m:r>
                    </m:oMath>
                  </m:oMathPara>
                </a14:m>
                <a:endParaRPr lang="en-US" sz="1300" dirty="0">
                  <a:solidFill>
                    <a:srgbClr val="1A2332"/>
                  </a:solidFill>
                  <a:latin typeface="Times New Roman"/>
                  <a:ea typeface="Times New Roman"/>
                  <a:cs typeface="Times New Roman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Be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/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ρ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= 3/2</m:t>
                      </m:r>
                    </m:oMath>
                  </m:oMathPara>
                </a14:m>
                <a:endParaRPr lang="en-US" sz="1300" dirty="0">
                  <a:solidFill>
                    <a:srgbClr val="1A2332"/>
                  </a:solidFill>
                  <a:latin typeface="Times New Roman"/>
                  <a:ea typeface="Times New Roman"/>
                  <a:cs typeface="Times New Roman"/>
                </a:endParaRPr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291840"/>
                <a:ext cx="3657600" cy="1097280"/>
              </a:xfrm>
              <a:prstGeom prst="rect">
                <a:avLst/>
              </a:prstGeom>
              <a:blipFill>
                <a:blip r:embed="rId7"/>
                <a:stretch>
                  <a:fillRect l="-3114" t="-1149" b="-6897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4709160" y="278892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D4C"/>
                </a:solidFill>
                <a:latin typeface="Times New Roman"/>
                <a:ea typeface="Times New Roman" pitchFamily="34" charset="-122"/>
                <a:cs typeface="Times New Roman"/>
              </a:rPr>
              <a:t>If velocities differed</a:t>
            </a:r>
            <a:endParaRPr lang="en-US" sz="14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4892040" y="3337560"/>
                <a:ext cx="365760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  <m:r>
                      <a:rPr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. Different (A,Z) would no longer land at distinct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ρ</m:t>
                    </m:r>
                  </m:oMath>
                </a14:m>
                <a:r>
                  <a:rPr lang="en-US" sz="13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values — magnetic selection would fail.</a:t>
                </a:r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040" y="3337560"/>
                <a:ext cx="3657600" cy="1005840"/>
              </a:xfrm>
              <a:prstGeom prst="rect">
                <a:avLst/>
              </a:prstGeom>
              <a:blipFill>
                <a:blip r:embed="rId8"/>
                <a:stretch>
                  <a:fillRect l="-3114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6080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nd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4. Practical use — separation principles &amp; target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BottomRule"/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Learning Group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9 / 10</a:t>
            </a:r>
            <a:endParaRPr lang="en-US" sz="1000" dirty="0">
              <a:latin typeface="Times New Roman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6583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Three design requirements for efficient secondary-beam delivery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9" name="Shape 7"/>
          <p:cNvSpPr/>
          <p:nvPr/>
        </p:nvSpPr>
        <p:spPr>
          <a:xfrm>
            <a:off x="1417320" y="1143000"/>
            <a:ext cx="411480" cy="41148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141732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1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Narrow production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502920" y="1965960"/>
                <a:ext cx="24688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Target &amp; reaction chosen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and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θ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stay small</a:t>
                </a:r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1965960"/>
                <a:ext cx="2468880" cy="365760"/>
              </a:xfrm>
              <a:prstGeom prst="rect">
                <a:avLst/>
              </a:prstGeom>
              <a:blipFill>
                <a:blip r:embed="rId3"/>
                <a:stretch>
                  <a:fillRect t="-27586" b="-34483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3246120" y="10058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4" name="Shape 12"/>
          <p:cNvSpPr/>
          <p:nvPr/>
        </p:nvSpPr>
        <p:spPr>
          <a:xfrm>
            <a:off x="4297680" y="1143000"/>
            <a:ext cx="411480" cy="41148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15" name="Text 13"/>
          <p:cNvSpPr/>
          <p:nvPr/>
        </p:nvSpPr>
        <p:spPr>
          <a:xfrm>
            <a:off x="429768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2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Large acceptance</a:t>
            </a:r>
            <a:endParaRPr lang="en-US" sz="13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3383280" y="1965960"/>
                <a:ext cx="246888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Separator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and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ΔΩ</m:t>
                    </m:r>
                  </m:oMath>
                </a14:m>
                <a:r>
                  <a:rPr lang="en-US" sz="11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as large as practical</a:t>
                </a:r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280" y="1965960"/>
                <a:ext cx="2468880" cy="365760"/>
              </a:xfrm>
              <a:prstGeom prst="rect">
                <a:avLst/>
              </a:prstGeom>
              <a:blipFill>
                <a:blip r:embed="rId4"/>
                <a:stretch>
                  <a:fillRect t="-17241" b="-34483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Shape 16"/>
          <p:cNvSpPr/>
          <p:nvPr/>
        </p:nvSpPr>
        <p:spPr>
          <a:xfrm>
            <a:off x="6126480" y="100584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JP"/>
          </a:p>
        </p:txBody>
      </p:sp>
      <p:sp>
        <p:nvSpPr>
          <p:cNvPr id="19" name="Shape 17"/>
          <p:cNvSpPr/>
          <p:nvPr/>
        </p:nvSpPr>
        <p:spPr>
          <a:xfrm>
            <a:off x="7178040" y="1143000"/>
            <a:ext cx="411480" cy="411480"/>
          </a:xfrm>
          <a:prstGeom prst="ellipse">
            <a:avLst/>
          </a:prstGeom>
          <a:solidFill>
            <a:srgbClr val="174994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0" name="Text 18"/>
          <p:cNvSpPr/>
          <p:nvPr/>
        </p:nvSpPr>
        <p:spPr>
          <a:xfrm>
            <a:off x="7178040" y="11887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3</a:t>
            </a:r>
            <a:endParaRPr lang="en-US" sz="1600" dirty="0">
              <a:latin typeface="Times New Roman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Achromatic delivery</a:t>
            </a:r>
            <a:endParaRPr lang="en-US" sz="1300" dirty="0">
              <a:latin typeface="Times New Roman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2"/>
                </a:solidFill>
                <a:latin typeface="Times New Roman"/>
                <a:ea typeface="Times New Roman" pitchFamily="34" charset="-122"/>
                <a:cs typeface="Times New Roman"/>
              </a:rPr>
              <a:t>Momentum spread != position smear at physics focus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2651760"/>
            <a:ext cx="8412480" cy="1920240"/>
          </a:xfrm>
          <a:prstGeom prst="roundRect">
            <a:avLst>
              <a:gd name="adj" fmla="val 3810"/>
            </a:avLst>
          </a:prstGeom>
          <a:solidFill>
            <a:srgbClr val="E8F0FA"/>
          </a:solidFill>
          <a:ln/>
        </p:spPr>
        <p:txBody>
          <a:bodyPr/>
          <a:lstStyle/>
          <a:p>
            <a:endParaRPr lang="en-JP"/>
          </a:p>
        </p:txBody>
      </p:sp>
      <p:sp>
        <p:nvSpPr>
          <p:cNvPr id="24" name="Text 22"/>
          <p:cNvSpPr/>
          <p:nvPr/>
        </p:nvSpPr>
        <p:spPr>
          <a:xfrm>
            <a:off x="59436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4994"/>
                </a:solidFill>
                <a:latin typeface="Times New Roman"/>
                <a:ea typeface="Times New Roman" pitchFamily="34" charset="-122"/>
                <a:cs typeface="Times New Roman"/>
              </a:rPr>
              <a:t>Target material: prefer low-Z (e.g. Be)</a:t>
            </a:r>
            <a:endParaRPr lang="en-US" sz="15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23"/>
              <p:cNvSpPr/>
              <p:nvPr/>
            </p:nvSpPr>
            <p:spPr>
              <a:xfrm>
                <a:off x="594360" y="3200400"/>
                <a:ext cx="7955280" cy="1234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171450" indent="-171450">
                  <a:buChar char="•"/>
                </a:pPr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Lower dE/dx → thicker target for same energy loss</a:t>
                </a:r>
              </a:p>
              <a:p>
                <a:pPr marL="171450" indent="-171450">
                  <a:buChar char="•"/>
                </a:pPr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Yield 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−1/3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for fixed g/cm²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frag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∼ 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2/3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, nuclei/area ∼ 1/A) → light targets win</a:t>
                </a:r>
              </a:p>
              <a:p>
                <a:pPr marL="171450" indent="-171450">
                  <a:buChar char="•"/>
                </a:pPr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Less multiple scattering → smaller emittance growth; primary attenuates faster</a:t>
                </a:r>
              </a:p>
              <a:p>
                <a:pPr marL="171450" indent="-171450">
                  <a:buChar char="•"/>
                </a:pPr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Optimum thickness: balance Goldhaber width vs energy-loss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(≳ ~5 g/cm²,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sz="1200" dirty="0">
                    <a:solidFill>
                      <a:srgbClr val="1A2332"/>
                    </a:solidFill>
                    <a:latin typeface="Times New Roman"/>
                    <a:ea typeface="Times New Roman"/>
                    <a:cs typeface="Times New Roman"/>
                  </a:rPr>
                  <a:t> term rivals reaction width)</a:t>
                </a:r>
              </a:p>
            </p:txBody>
          </p:sp>
        </mc:Choice>
        <mc:Fallback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" y="3200400"/>
                <a:ext cx="7955280" cy="1234440"/>
              </a:xfrm>
              <a:prstGeom prst="rect">
                <a:avLst/>
              </a:prstGeom>
              <a:blipFill>
                <a:blip r:embed="rId5"/>
                <a:stretch>
                  <a:fillRect l="-1276"/>
                </a:stretch>
              </a:blipFill>
              <a:ln/>
            </p:spPr>
            <p:txBody>
              <a:bodyPr/>
              <a:lstStyle/>
              <a:p>
                <a:r>
                  <a:rPr lang="en-JP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56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34D5-5002-761C-0BCE-418D1918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erBand">
            <a:extLst>
              <a:ext uri="{FF2B5EF4-FFF2-40B4-BE49-F238E27FC236}">
                <a16:creationId xmlns:a16="http://schemas.microsoft.com/office/drawing/2014/main" id="{2CA01A6A-CF0A-1B1D-3A7B-C458EAB5D6AE}"/>
              </a:ext>
            </a:extLst>
          </p:cNvPr>
          <p:cNvSpPr/>
          <p:nvPr/>
        </p:nvSpPr>
        <p:spPr>
          <a:xfrm>
            <a:off x="0" y="3227"/>
            <a:ext cx="9144000" cy="523875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 dirty="0"/>
          </a:p>
        </p:txBody>
      </p:sp>
      <p:sp>
        <p:nvSpPr>
          <p:cNvPr id="3" name="Title"/>
          <p:cNvSpPr txBox="1"/>
          <p:nvPr/>
        </p:nvSpPr>
        <p:spPr>
          <a:xfrm>
            <a:off x="406400" y="76200"/>
            <a:ext cx="8318500" cy="381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pPr algn="l"/>
            <a:r>
              <a:rPr lang="en-US" sz="1800" b="1" dirty="0">
                <a:solidFill>
                  <a:srgbClr val="FFFFFF"/>
                </a:solidFill>
              </a:rPr>
              <a:t>Summary: Answers to the outline questions</a:t>
            </a:r>
          </a:p>
        </p:txBody>
      </p:sp>
      <p:sp>
        <p:nvSpPr>
          <p:cNvPr id="4" name="Card1"/>
          <p:cNvSpPr/>
          <p:nvPr/>
        </p:nvSpPr>
        <p:spPr>
          <a:xfrm>
            <a:off x="254000" y="660400"/>
            <a:ext cx="4241800" cy="19304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5" name="Accent1"/>
          <p:cNvSpPr/>
          <p:nvPr/>
        </p:nvSpPr>
        <p:spPr>
          <a:xfrm>
            <a:off x="254000" y="660400"/>
            <a:ext cx="76200" cy="1930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Box 6"/>
          <p:cNvSpPr txBox="1"/>
          <p:nvPr/>
        </p:nvSpPr>
        <p:spPr>
          <a:xfrm>
            <a:off x="482600" y="736600"/>
            <a:ext cx="3810000" cy="279400"/>
          </a:xfrm>
          <a:prstGeom prst="rect">
            <a:avLst/>
          </a:prstGeom>
        </p:spPr>
        <p:txBody>
          <a:bodyPr wrap="square" rtlCol="0" anchor="ctr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174994"/>
                </a:solidFill>
              </a:rPr>
              <a:t>1. Where does it come from?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2600" y="1041400"/>
            <a:ext cx="3810000" cy="1422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1A2332"/>
                </a:solidFill>
              </a:rPr>
              <a:t>Any reaction making radioactive nuclei can feed a secondary beam. PF became practical after high-energy heavy-ion collisions: primary HI → production target → fragment cloud → separator → physics target.</a:t>
            </a:r>
          </a:p>
        </p:txBody>
      </p:sp>
      <p:sp>
        <p:nvSpPr>
          <p:cNvPr id="8" name="Card2"/>
          <p:cNvSpPr/>
          <p:nvPr/>
        </p:nvSpPr>
        <p:spPr>
          <a:xfrm>
            <a:off x="4648200" y="660400"/>
            <a:ext cx="4241800" cy="19304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9" name="Accent2"/>
          <p:cNvSpPr/>
          <p:nvPr/>
        </p:nvSpPr>
        <p:spPr>
          <a:xfrm>
            <a:off x="4648200" y="660400"/>
            <a:ext cx="76200" cy="1930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Box 10"/>
          <p:cNvSpPr txBox="1"/>
          <p:nvPr/>
        </p:nvSpPr>
        <p:spPr>
          <a:xfrm>
            <a:off x="4876800" y="736600"/>
            <a:ext cx="3810000" cy="279400"/>
          </a:xfrm>
          <a:prstGeom prst="rect">
            <a:avLst/>
          </a:prstGeom>
        </p:spPr>
        <p:txBody>
          <a:bodyPr wrap="square" rtlCol="0" anchor="ctr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174994"/>
                </a:solidFill>
              </a:rPr>
              <a:t>2. What is Projectile Fragmentation?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76800" y="1041400"/>
            <a:ext cx="3810000" cy="1422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1A2332"/>
                </a:solidFill>
              </a:rPr>
              <a:t>At E ≫ nucleon binding, fragments leave in a narrow forward cone at nearly beam velocity. Yields many exotic species; σ almost energy-independent; Goldhaber width sets the momentum cloud for separation.</a:t>
            </a:r>
          </a:p>
        </p:txBody>
      </p:sp>
      <p:sp>
        <p:nvSpPr>
          <p:cNvPr id="12" name="Card3"/>
          <p:cNvSpPr/>
          <p:nvPr/>
        </p:nvSpPr>
        <p:spPr>
          <a:xfrm>
            <a:off x="254000" y="2743200"/>
            <a:ext cx="4241800" cy="19304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3" name="Accent3"/>
          <p:cNvSpPr/>
          <p:nvPr/>
        </p:nvSpPr>
        <p:spPr>
          <a:xfrm>
            <a:off x="254000" y="2743200"/>
            <a:ext cx="76200" cy="1930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4" name="TextBox 14"/>
          <p:cNvSpPr txBox="1"/>
          <p:nvPr/>
        </p:nvSpPr>
        <p:spPr>
          <a:xfrm>
            <a:off x="482600" y="2819400"/>
            <a:ext cx="3810000" cy="279400"/>
          </a:xfrm>
          <a:prstGeom prst="rect">
            <a:avLst/>
          </a:prstGeom>
        </p:spPr>
        <p:txBody>
          <a:bodyPr wrap="square" rtlCol="0" anchor="ctr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174994"/>
                </a:solidFill>
              </a:rPr>
              <a:t>3. Why do we need PF?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2600" y="3124200"/>
            <a:ext cx="3810000" cy="1422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1A2332"/>
                </a:solidFill>
              </a:rPr>
              <a:t>Exotic nuclei are short-lived; stable beams and slow chemistry lose them. PF produces on nuclear timescales (~ns), one beam → broad (A,Z) cocktail, forward-focused equal velocities — makes energetic RIBs practical.</a:t>
            </a:r>
          </a:p>
        </p:txBody>
      </p:sp>
      <p:sp>
        <p:nvSpPr>
          <p:cNvPr id="16" name="Card4"/>
          <p:cNvSpPr/>
          <p:nvPr/>
        </p:nvSpPr>
        <p:spPr>
          <a:xfrm>
            <a:off x="4648200" y="2743200"/>
            <a:ext cx="4241800" cy="1930400"/>
          </a:xfrm>
          <a:prstGeom prst="round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7" name="Accent4"/>
          <p:cNvSpPr/>
          <p:nvPr/>
        </p:nvSpPr>
        <p:spPr>
          <a:xfrm>
            <a:off x="4648200" y="2743200"/>
            <a:ext cx="76200" cy="1930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Box 18"/>
          <p:cNvSpPr txBox="1"/>
          <p:nvPr/>
        </p:nvSpPr>
        <p:spPr>
          <a:xfrm>
            <a:off x="4876800" y="2819400"/>
            <a:ext cx="3810000" cy="279400"/>
          </a:xfrm>
          <a:prstGeom prst="rect">
            <a:avLst/>
          </a:prstGeom>
        </p:spPr>
        <p:txBody>
          <a:bodyPr wrap="square" rtlCol="0" anchor="ctr">
            <a:normAutofit lnSpcReduction="10000"/>
          </a:bodyPr>
          <a:lstStyle/>
          <a:p>
            <a:pPr algn="l"/>
            <a:r>
              <a:rPr lang="en-US" sz="1300" b="1" dirty="0">
                <a:solidFill>
                  <a:srgbClr val="174994"/>
                </a:solidFill>
              </a:rPr>
              <a:t>4. Practical use of fragments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76800" y="3124200"/>
            <a:ext cx="3810000" cy="1422400"/>
          </a:xfrm>
          <a:prstGeom prst="rect">
            <a:avLst/>
          </a:prstGeom>
        </p:spPr>
        <p:txBody>
          <a:bodyPr wrap="square" rtlCol="0" anchor="t">
            <a:normAutofit/>
          </a:bodyPr>
          <a:lstStyle/>
          <a:p>
            <a:pPr algn="l"/>
            <a:r>
              <a:rPr lang="en-US" sz="1100" dirty="0">
                <a:solidFill>
                  <a:srgbClr val="1A2332"/>
                </a:solidFill>
              </a:rPr>
              <a:t>Same β ⇒ Bρ ∝ A/Z; degrader adds Z purity. Need narrow production, large acceptance, achromatic delivery. Prefer low-Z thick targets + high energy. Facilities: LISE, RIPS, A1900/ARIS, FRS…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7200" y="4889500"/>
            <a:ext cx="6858000" cy="203200"/>
          </a:xfrm>
          <a:prstGeom prst="rect">
            <a:avLst/>
          </a:prstGeom>
        </p:spPr>
        <p:txBody>
          <a:bodyPr wrap="square" rtlCol="0" anchor="ctr">
            <a:normAutofit fontScale="92500" lnSpcReduction="20000"/>
          </a:bodyPr>
          <a:lstStyle/>
          <a:p>
            <a:pPr algn="l"/>
            <a:r>
              <a:rPr lang="en-US" sz="1000" dirty="0">
                <a:solidFill>
                  <a:srgbClr val="5F6B73"/>
                </a:solidFill>
              </a:rPr>
              <a:t>Learning Group</a:t>
            </a:r>
          </a:p>
        </p:txBody>
      </p:sp>
      <p:sp>
        <p:nvSpPr>
          <p:cNvPr id="24" name="BottomRule">
            <a:extLst>
              <a:ext uri="{FF2B5EF4-FFF2-40B4-BE49-F238E27FC236}">
                <a16:creationId xmlns:a16="http://schemas.microsoft.com/office/drawing/2014/main" id="{5F44B1F9-6C56-B393-D75F-855193E2B95D}"/>
              </a:ext>
            </a:extLst>
          </p:cNvPr>
          <p:cNvSpPr/>
          <p:nvPr/>
        </p:nvSpPr>
        <p:spPr>
          <a:xfrm>
            <a:off x="342900" y="4864100"/>
            <a:ext cx="8458200" cy="19050"/>
          </a:xfrm>
          <a:prstGeom prst="rect">
            <a:avLst/>
          </a:prstGeom>
          <a:solidFill>
            <a:srgbClr val="174994"/>
          </a:solidFill>
          <a:ln>
            <a:noFill/>
          </a:ln>
          <a:effectLst>
            <a:outerShdw blurRad="63500" dist="25400" dir="5400000" algn="t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JP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D4C6E213-44CF-5A01-9B2A-3CD4DD96839C}"/>
              </a:ext>
            </a:extLst>
          </p:cNvPr>
          <p:cNvSpPr/>
          <p:nvPr/>
        </p:nvSpPr>
        <p:spPr>
          <a:xfrm>
            <a:off x="768096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F6B73"/>
                </a:solidFill>
                <a:latin typeface="Times New Roman"/>
                <a:ea typeface="Times New Roman" pitchFamily="34" charset="-122"/>
                <a:cs typeface="Times New Roman"/>
              </a:rPr>
              <a:t>10 / 10</a:t>
            </a:r>
            <a:endParaRPr lang="en-US"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06762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499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/>
                <a:ea typeface="Times New Roman" pitchFamily="34" charset="-122"/>
                <a:cs typeface="Times New Roman"/>
              </a:rPr>
              <a:t>Thank you</a:t>
            </a:r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C4E8"/>
                </a:solidFill>
                <a:latin typeface="Times New Roman"/>
                <a:ea typeface="Times New Roman" pitchFamily="34" charset="-122"/>
                <a:cs typeface="Times New Roman"/>
              </a:rPr>
              <a:t>Questions &amp; discussion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A3D4"/>
                </a:solidFill>
                <a:latin typeface="Times New Roman"/>
                <a:ea typeface="Times New Roman" pitchFamily="34" charset="-122"/>
                <a:cs typeface="Times New Roman"/>
              </a:rPr>
              <a:t>Source: I. Tanihata — Production and Use of Radioactive Beams</a:t>
            </a:r>
            <a:endParaRPr lang="en-US" sz="1200" dirty="0">
              <a:latin typeface="Times New Roman"/>
              <a:cs typeface="Times New Roman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7BA3D4"/>
                </a:solidFill>
                <a:latin typeface="Times New Roman"/>
                <a:ea typeface="Times New Roman" pitchFamily="34" charset="-122"/>
                <a:cs typeface="Times New Roman"/>
              </a:rPr>
              <a:t>(Experimental Techniques in Nuclear Physics, Ch. 10)</a:t>
            </a:r>
            <a:endParaRPr lang="en-US" sz="1200" dirty="0"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C4E8"/>
                </a:solidFill>
                <a:latin typeface="Times New Roman"/>
                <a:ea typeface="Times New Roman" pitchFamily="34" charset="-122"/>
                <a:cs typeface="Times New Roman"/>
              </a:rPr>
              <a:t>Learning Group  ·  Zhiheng Hu  ·  11 Aug 2026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841193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178641352333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A6237F-EDF8-0F42-8BAA-73D70B38F940}">
  <we:reference id="WA200011214" version="1.0.0.1" store="Omex" storeType="OMEX"/>
  <we:alternateReferences>
    <we:reference id="WA200011214" version="1.0.0.1" store="WA200011214" storeType="OMEX"/>
  </we:alternateReferences>
  <we:properties>
    <we:property name="_flush" value="1786416830455"/>
    <we:property name="_postImportCommit" value="1786416830454"/>
    <we:property name="grokConversationBinding" value="{&quot;responseId&quot;:&quot;4bf5b23e-bdf3-9499-a1f7-830b2e3ab426&quot;,&quot;title&quot;:&quot;Slide 13 Aesthetic on Slide 1&quot;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4792</Words>
  <Application>Microsoft Macintosh PowerPoint</Application>
  <PresentationFormat>On-screen Show (16:9)</PresentationFormat>
  <Paragraphs>399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 Math</vt:lpstr>
      <vt:lpstr>Times New Roman</vt:lpstr>
      <vt:lpstr>Wingdings</vt:lpstr>
      <vt:lpstr>Theme 1786413523330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Projectile Fragmentation of Heavy Ions</dc:title>
  <dc:subject>Learning Group — Tanihata Ch. 10</dc:subject>
  <dc:creator>Zhiheng Hu</dc:creator>
  <cp:lastModifiedBy>HA139785@365mak.com</cp:lastModifiedBy>
  <cp:revision>33</cp:revision>
  <dcterms:created xsi:type="dcterms:W3CDTF">2026-08-11T01:17:01Z</dcterms:created>
  <dcterms:modified xsi:type="dcterms:W3CDTF">2026-08-11T04:31:33Z</dcterms:modified>
</cp:coreProperties>
</file>