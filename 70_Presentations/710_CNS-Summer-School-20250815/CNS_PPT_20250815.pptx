
<file path=[Content_Types].xml><?xml version="1.0" encoding="utf-8"?>
<Types xmlns="http://schemas.openxmlformats.org/package/2006/content-types">
  <Default Extension="bin" ContentType="application/vnd.openxmlformats-officedocument.oleObject"/>
  <Default Extension="jpeg" ContentType="image/jpeg"/>
  <Default Extension="mp4" ContentType="video/mp4"/>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86.xml" ContentType="application/vnd.openxmlformats-officedocument.presentationml.tags+xml"/>
  <Override PartName="/ppt/tags/tag87.xml" ContentType="application/vnd.openxmlformats-officedocument.presentationml.tags+xml"/>
  <Override PartName="/ppt/notesSlides/notesSlide1.xml" ContentType="application/vnd.openxmlformats-officedocument.presentationml.notesSlide+xml"/>
  <Override PartName="/ppt/tags/tag88.xml" ContentType="application/vnd.openxmlformats-officedocument.presentationml.tags+xml"/>
  <Override PartName="/ppt/notesSlides/notesSlide2.xml" ContentType="application/vnd.openxmlformats-officedocument.presentationml.notesSlide+xml"/>
  <Override PartName="/ppt/tags/tag89.xml" ContentType="application/vnd.openxmlformats-officedocument.presentationml.tags+xml"/>
  <Override PartName="/ppt/notesSlides/notesSlide3.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notesSlides/notesSlide4.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5.xml" ContentType="application/vnd.openxmlformats-officedocument.presentationml.notesSlide+xml"/>
  <Override PartName="/ppt/tags/tag102.xml" ContentType="application/vnd.openxmlformats-officedocument.presentationml.tags+xml"/>
  <Override PartName="/ppt/notesSlides/notesSlide6.xml" ContentType="application/vnd.openxmlformats-officedocument.presentationml.notesSlide+xml"/>
  <Override PartName="/ppt/tags/tag103.xml" ContentType="application/vnd.openxmlformats-officedocument.presentationml.tags+xml"/>
  <Override PartName="/ppt/notesSlides/notesSlide7.xml" ContentType="application/vnd.openxmlformats-officedocument.presentationml.notesSlide+xml"/>
  <Override PartName="/ppt/tags/tag104.xml" ContentType="application/vnd.openxmlformats-officedocument.presentationml.tags+xml"/>
  <Override PartName="/ppt/notesSlides/notesSlide8.xml" ContentType="application/vnd.openxmlformats-officedocument.presentationml.notesSlide+xml"/>
  <Override PartName="/ppt/tags/tag105.xml" ContentType="application/vnd.openxmlformats-officedocument.presentationml.tags+xml"/>
  <Override PartName="/ppt/notesSlides/notesSlide9.xml" ContentType="application/vnd.openxmlformats-officedocument.presentationml.notesSlide+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2"/>
  </p:sldMasterIdLst>
  <p:notesMasterIdLst>
    <p:notesMasterId r:id="rId28"/>
  </p:notesMasterIdLst>
  <p:handoutMasterIdLst>
    <p:handoutMasterId r:id="rId29"/>
  </p:handoutMasterIdLst>
  <p:sldIdLst>
    <p:sldId id="386" r:id="rId3"/>
    <p:sldId id="426" r:id="rId4"/>
    <p:sldId id="431" r:id="rId5"/>
    <p:sldId id="455" r:id="rId6"/>
    <p:sldId id="454" r:id="rId7"/>
    <p:sldId id="404" r:id="rId8"/>
    <p:sldId id="434" r:id="rId9"/>
    <p:sldId id="451" r:id="rId10"/>
    <p:sldId id="435" r:id="rId11"/>
    <p:sldId id="421" r:id="rId12"/>
    <p:sldId id="423" r:id="rId13"/>
    <p:sldId id="428" r:id="rId14"/>
    <p:sldId id="429" r:id="rId15"/>
    <p:sldId id="437" r:id="rId16"/>
    <p:sldId id="409" r:id="rId17"/>
    <p:sldId id="399" r:id="rId18"/>
    <p:sldId id="427" r:id="rId19"/>
    <p:sldId id="443" r:id="rId20"/>
    <p:sldId id="444" r:id="rId21"/>
    <p:sldId id="418" r:id="rId22"/>
    <p:sldId id="445" r:id="rId23"/>
    <p:sldId id="448" r:id="rId24"/>
    <p:sldId id="449" r:id="rId25"/>
    <p:sldId id="394" r:id="rId26"/>
    <p:sldId id="395" r:id="rId27"/>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6" userDrawn="1">
          <p15:clr>
            <a:srgbClr val="A4A3A4"/>
          </p15:clr>
        </p15:guide>
        <p15:guide id="2" pos="37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4994"/>
    <a:srgbClr val="26808E"/>
    <a:srgbClr val="440154"/>
    <a:srgbClr val="37588C"/>
    <a:srgbClr val="FFFFFF"/>
    <a:srgbClr val="FDE724"/>
    <a:srgbClr val="E2F0D9"/>
    <a:srgbClr val="E5EAE7"/>
    <a:srgbClr val="2E54A1"/>
    <a:srgbClr val="C2C9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122" d="100"/>
          <a:sy n="122" d="100"/>
        </p:scale>
        <p:origin x="222" y="108"/>
      </p:cViewPr>
      <p:guideLst>
        <p:guide orient="horz" pos="2306"/>
        <p:guide pos="370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tags" Target="tags/tag1.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2026/4/12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latin typeface="Microsoft YaHei" panose="020B0503020204020204" charset="-122"/>
                <a:ea typeface="Microsoft YaHei" panose="020B0503020204020204" charset="-122"/>
                <a:cs typeface="Times New Roman" panose="02020603050405020304" charset="0"/>
                <a:sym typeface="+mn-ea"/>
              </a:rPr>
              <a:t>Therefore, we need to develop a new data processing paradigm—machine learning.</a:t>
            </a:r>
            <a:endParaRPr lang="en-US" altLang="zh-CN">
              <a:latin typeface="Microsoft YaHei" panose="020B0503020204020204" charset="-122"/>
              <a:ea typeface="Microsoft YaHei" panose="020B0503020204020204" charset="-122"/>
              <a:cs typeface="Times New Roman" panose="02020603050405020304" charset="0"/>
            </a:endParaRPr>
          </a:p>
          <a:p>
            <a:r>
              <a:rPr lang="en-US" altLang="zh-CN">
                <a:latin typeface="Microsoft YaHei" panose="020B0503020204020204" charset="-122"/>
                <a:ea typeface="Microsoft YaHei" panose="020B0503020204020204" charset="-122"/>
                <a:cs typeface="Times New Roman" panose="02020603050405020304" charset="0"/>
                <a:sym typeface="+mn-ea"/>
              </a:rPr>
              <a:t>Machine learning is penetrating fundamental nuclear physics research , yielding many successful applications both </a:t>
            </a:r>
            <a:r>
              <a:rPr lang="en-US" altLang="zh-CN" b="1">
                <a:solidFill>
                  <a:srgbClr val="174994"/>
                </a:solidFill>
                <a:latin typeface="Microsoft YaHei" panose="020B0503020204020204" charset="-122"/>
                <a:ea typeface="Microsoft YaHei" panose="020B0503020204020204" charset="-122"/>
                <a:cs typeface="Times New Roman" panose="02020603050405020304" charset="0"/>
                <a:sym typeface="+mn-ea"/>
              </a:rPr>
              <a:t>experimentally</a:t>
            </a:r>
            <a:r>
              <a:rPr lang="en-US" altLang="zh-CN">
                <a:latin typeface="Microsoft YaHei" panose="020B0503020204020204" charset="-122"/>
                <a:ea typeface="Microsoft YaHei" panose="020B0503020204020204" charset="-122"/>
                <a:cs typeface="Times New Roman" panose="02020603050405020304" charset="0"/>
                <a:sym typeface="+mn-ea"/>
              </a:rPr>
              <a:t> and </a:t>
            </a:r>
            <a:r>
              <a:rPr lang="en-US" altLang="zh-CN" b="1">
                <a:solidFill>
                  <a:srgbClr val="174994"/>
                </a:solidFill>
                <a:latin typeface="Microsoft YaHei" panose="020B0503020204020204" charset="-122"/>
                <a:ea typeface="Microsoft YaHei" panose="020B0503020204020204" charset="-122"/>
                <a:cs typeface="Times New Roman" panose="02020603050405020304" charset="0"/>
                <a:sym typeface="+mn-ea"/>
              </a:rPr>
              <a:t>theoretically</a:t>
            </a:r>
            <a:r>
              <a:rPr lang="en-US" altLang="zh-CN">
                <a:latin typeface="Microsoft YaHei" panose="020B0503020204020204" charset="-122"/>
                <a:ea typeface="Microsoft YaHei" panose="020B0503020204020204" charset="-122"/>
                <a:cs typeface="Times New Roman" panose="02020603050405020304" charset="0"/>
                <a:sym typeface="+mn-ea"/>
              </a:rPr>
              <a:t>.</a:t>
            </a:r>
            <a:br>
              <a:rPr lang="zh-CN" altLang="en-US">
                <a:latin typeface="Microsoft YaHei" panose="020B0503020204020204" charset="-122"/>
                <a:ea typeface="Microsoft YaHei" panose="020B0503020204020204" charset="-122"/>
                <a:cs typeface="Times New Roman" panose="02020603050405020304" charset="0"/>
                <a:sym typeface="+mn-ea"/>
              </a:rPr>
            </a:b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285750" indent="-285750" fontAlgn="auto">
              <a:lnSpc>
                <a:spcPts val="2700"/>
              </a:lnSpc>
              <a:buFont typeface="Wingdings" panose="05000000000000000000" charset="0"/>
              <a:buChar char="n"/>
            </a:pPr>
            <a:r>
              <a:rPr lang="en-US" altLang="zh-CN">
                <a:latin typeface="Times New Roman" panose="02020603050405020304" charset="0"/>
                <a:cs typeface="Times New Roman" panose="02020603050405020304" charset="0"/>
                <a:sym typeface="+mn-ea"/>
              </a:rPr>
              <a:t>In our case, we use the simulation data generated from the MATESIM toolkit. And it comprises two part: 15k proton events (</a:t>
            </a:r>
            <a:r>
              <a:rPr lang="en-US" altLang="zh-CN" baseline="30000">
                <a:latin typeface="Times New Roman" panose="02020603050405020304" charset="0"/>
                <a:cs typeface="Times New Roman" panose="02020603050405020304" charset="0"/>
                <a:sym typeface="+mn-ea"/>
              </a:rPr>
              <a:t>12</a:t>
            </a:r>
            <a:r>
              <a:rPr lang="en-US" altLang="zh-CN">
                <a:latin typeface="Times New Roman" panose="02020603050405020304" charset="0"/>
                <a:cs typeface="Times New Roman" panose="02020603050405020304" charset="0"/>
                <a:sym typeface="+mn-ea"/>
              </a:rPr>
              <a:t>C(p, p) </a:t>
            </a:r>
            <a:r>
              <a:rPr lang="en-US" altLang="zh-CN" baseline="30000">
                <a:latin typeface="Times New Roman" panose="02020603050405020304" charset="0"/>
                <a:cs typeface="Times New Roman" panose="02020603050405020304" charset="0"/>
                <a:sym typeface="+mn-ea"/>
              </a:rPr>
              <a:t>12</a:t>
            </a:r>
            <a:r>
              <a:rPr lang="en-US" altLang="zh-CN">
                <a:latin typeface="Times New Roman" panose="02020603050405020304" charset="0"/>
                <a:cs typeface="Times New Roman" panose="02020603050405020304" charset="0"/>
                <a:sym typeface="+mn-ea"/>
              </a:rPr>
              <a:t>C) and 15k non-proton events(</a:t>
            </a:r>
            <a:r>
              <a:rPr lang="en-US" altLang="zh-CN" baseline="30000">
                <a:latin typeface="Times New Roman" panose="02020603050405020304" charset="0"/>
                <a:ea typeface="Microsoft YaHei" panose="020B0503020204020204" charset="-122"/>
                <a:cs typeface="Times New Roman" panose="02020603050405020304" charset="0"/>
                <a:sym typeface="+mn-ea"/>
              </a:rPr>
              <a:t>12</a:t>
            </a:r>
            <a:r>
              <a:rPr lang="en-US" altLang="zh-CN">
                <a:latin typeface="Times New Roman" panose="02020603050405020304" charset="0"/>
                <a:ea typeface="Microsoft YaHei" panose="020B0503020204020204" charset="-122"/>
                <a:cs typeface="Times New Roman" panose="02020603050405020304" charset="0"/>
                <a:sym typeface="+mn-ea"/>
              </a:rPr>
              <a:t>C(p, α)</a:t>
            </a:r>
            <a:r>
              <a:rPr lang="en-US" altLang="zh-CN" baseline="30000">
                <a:latin typeface="Times New Roman" panose="02020603050405020304" charset="0"/>
                <a:ea typeface="Microsoft YaHei" panose="020B0503020204020204" charset="-122"/>
                <a:cs typeface="Times New Roman" panose="02020603050405020304" charset="0"/>
                <a:sym typeface="+mn-ea"/>
              </a:rPr>
              <a:t>9</a:t>
            </a:r>
            <a:r>
              <a:rPr lang="en-US" altLang="zh-CN">
                <a:latin typeface="Times New Roman" panose="02020603050405020304" charset="0"/>
                <a:ea typeface="Microsoft YaHei" panose="020B0503020204020204" charset="-122"/>
                <a:cs typeface="Times New Roman" panose="02020603050405020304" charset="0"/>
                <a:sym typeface="+mn-ea"/>
              </a:rPr>
              <a:t>B</a:t>
            </a:r>
            <a:r>
              <a:rPr lang="en-US" altLang="zh-CN">
                <a:latin typeface="Times New Roman" panose="02020603050405020304" charset="0"/>
                <a:cs typeface="Times New Roman" panose="02020603050405020304" charset="0"/>
                <a:sym typeface="+mn-ea"/>
              </a:rPr>
              <a:t>). </a:t>
            </a:r>
          </a:p>
          <a:p>
            <a:pPr marL="285750" indent="-285750" fontAlgn="auto">
              <a:lnSpc>
                <a:spcPts val="2700"/>
              </a:lnSpc>
              <a:buFont typeface="Wingdings" panose="05000000000000000000" charset="0"/>
              <a:buChar char="n"/>
            </a:pPr>
            <a:r>
              <a:rPr lang="en-US" altLang="zh-CN">
                <a:latin typeface="Times New Roman" panose="02020603050405020304" charset="0"/>
                <a:cs typeface="Times New Roman" panose="02020603050405020304" charset="0"/>
                <a:sym typeface="+mn-ea"/>
              </a:rPr>
              <a:t>The data format generated by the simulation is different from the data format that the model can process. The former is point cloud 3D, and the latter is RGB 2D.</a:t>
            </a:r>
          </a:p>
          <a:p>
            <a:pPr marL="285750" indent="-285750" fontAlgn="auto">
              <a:lnSpc>
                <a:spcPts val="2700"/>
              </a:lnSpc>
              <a:buFont typeface="Wingdings" panose="05000000000000000000" charset="0"/>
              <a:buChar char="n"/>
            </a:pPr>
            <a:r>
              <a:rPr lang="en-US" altLang="zh-CN">
                <a:latin typeface="Times New Roman" panose="02020603050405020304" charset="0"/>
                <a:cs typeface="Times New Roman" panose="02020603050405020304" charset="0"/>
                <a:sym typeface="+mn-ea"/>
              </a:rPr>
              <a:t>We project the complex 3D track (point cloud) into a 2D information-rich image which represents its </a:t>
            </a:r>
            <a:r>
              <a:rPr lang="en-US" altLang="zh-CN" b="1">
                <a:solidFill>
                  <a:srgbClr val="174994"/>
                </a:solidFill>
                <a:latin typeface="Times New Roman" panose="02020603050405020304" charset="0"/>
                <a:cs typeface="Times New Roman" panose="02020603050405020304" charset="0"/>
                <a:sym typeface="+mn-ea"/>
              </a:rPr>
              <a:t>charge deposition</a:t>
            </a:r>
            <a:r>
              <a:rPr lang="en-US" altLang="zh-CN">
                <a:latin typeface="Times New Roman" panose="02020603050405020304" charset="0"/>
                <a:cs typeface="Times New Roman" panose="02020603050405020304" charset="0"/>
                <a:sym typeface="+mn-ea"/>
              </a:rPr>
              <a:t> and </a:t>
            </a:r>
            <a:r>
              <a:rPr lang="en-US" altLang="zh-CN" b="1">
                <a:solidFill>
                  <a:srgbClr val="174994"/>
                </a:solidFill>
                <a:latin typeface="Times New Roman" panose="02020603050405020304" charset="0"/>
                <a:cs typeface="Times New Roman" panose="02020603050405020304" charset="0"/>
                <a:sym typeface="+mn-ea"/>
              </a:rPr>
              <a:t>drift time</a:t>
            </a:r>
            <a:r>
              <a:rPr lang="en-US" altLang="zh-CN">
                <a:latin typeface="Times New Roman" panose="02020603050405020304" charset="0"/>
                <a:cs typeface="Times New Roman" panose="02020603050405020304" charset="0"/>
                <a:sym typeface="+mn-ea"/>
              </a:rPr>
              <a:t>. </a:t>
            </a:r>
            <a:endParaRPr lang="en-US" altLang="zh-CN">
              <a:latin typeface="Times New Roman" panose="02020603050405020304" charset="0"/>
              <a:cs typeface="Times New Roman" panose="02020603050405020304" charset="0"/>
            </a:endParaRPr>
          </a:p>
          <a:p>
            <a:r>
              <a:rPr lang="en-US" altLang="zh-CN"/>
              <a:t>The information extracted by these layers is also used as the input of FCNN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latin typeface="Times New Roman" panose="02020603050405020304" charset="0"/>
                <a:cs typeface="Times New Roman" panose="02020603050405020304" charset="0"/>
                <a:sym typeface="+mn-ea"/>
              </a:rPr>
              <a:t>Especially method 3, which can greatly improve the black box nature of machine learning methods and provide interpretability</a:t>
            </a:r>
          </a:p>
          <a:p>
            <a:r>
              <a:rPr lang="en-US" altLang="zh-CN">
                <a:latin typeface="Times New Roman" panose="02020603050405020304" charset="0"/>
                <a:cs typeface="Times New Roman" panose="02020603050405020304" charset="0"/>
                <a:sym typeface="+mn-ea"/>
              </a:rPr>
              <a:t>In contrast to traditional network architecture, ResNet adds an information highway between several convolutional layers. ResNet distinguishes itself by adopting a significantly </a:t>
            </a:r>
            <a:r>
              <a:rPr lang="en-US" altLang="zh-CN" b="1">
                <a:solidFill>
                  <a:srgbClr val="174994"/>
                </a:solidFill>
                <a:latin typeface="Times New Roman" panose="02020603050405020304" charset="0"/>
                <a:cs typeface="Times New Roman" panose="02020603050405020304" charset="0"/>
                <a:sym typeface="+mn-ea"/>
              </a:rPr>
              <a:t>deeper structure</a:t>
            </a:r>
            <a:r>
              <a:rPr lang="en-US" altLang="zh-CN">
                <a:latin typeface="Times New Roman" panose="02020603050405020304" charset="0"/>
                <a:cs typeface="Times New Roman" panose="02020603050405020304" charset="0"/>
                <a:sym typeface="+mn-ea"/>
              </a:rPr>
              <a:t> due to it’s special connecting method. </a:t>
            </a:r>
            <a:r>
              <a:rPr lang="en-US" altLang="zh-CN"/>
              <a:t>It is precisely because of its deeper structure that it has enhanced learning capabilities</a:t>
            </a:r>
          </a:p>
          <a:p>
            <a:r>
              <a:rPr lang="en-US" altLang="zh-CN">
                <a:latin typeface="Times New Roman" panose="02020603050405020304" charset="0"/>
                <a:cs typeface="Times New Roman" panose="02020603050405020304" charset="0"/>
                <a:sym typeface="+mn-ea"/>
              </a:rPr>
              <a:t>We choose the ResNet-18 as our</a:t>
            </a:r>
            <a:r>
              <a:rPr lang="en-US" altLang="zh-CN">
                <a:solidFill>
                  <a:srgbClr val="FF0000"/>
                </a:solidFill>
                <a:latin typeface="Times New Roman" panose="02020603050405020304" charset="0"/>
                <a:cs typeface="Times New Roman" panose="02020603050405020304" charset="0"/>
                <a:sym typeface="+mn-ea"/>
              </a:rPr>
              <a:t> benchmrk </a:t>
            </a:r>
            <a:r>
              <a:rPr lang="en-US" altLang="zh-CN">
                <a:latin typeface="Times New Roman" panose="02020603050405020304" charset="0"/>
                <a:cs typeface="Times New Roman" panose="02020603050405020304" charset="0"/>
                <a:sym typeface="+mn-ea"/>
              </a:rPr>
              <a:t>due to its great performance.</a:t>
            </a:r>
            <a:endParaRPr lang="en-US" altLang="zh-CN">
              <a:solidFill>
                <a:schemeClr val="tx1"/>
              </a:solidFill>
              <a:latin typeface="Times New Roman" panose="02020603050405020304" charset="0"/>
              <a:cs typeface="Times New Roman" panose="02020603050405020304" charset="0"/>
            </a:endParaRPr>
          </a:p>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latin typeface="Times New Roman" panose="02020603050405020304" charset="0"/>
                <a:cs typeface="Times New Roman" panose="02020603050405020304" charset="0"/>
                <a:sym typeface="+mn-ea"/>
              </a:rPr>
              <a:t>Especially method 3, which can greatly improve the black box nature of machine learning methods and provide interpretability</a:t>
            </a:r>
          </a:p>
          <a:p>
            <a:r>
              <a:rPr lang="en-US" altLang="zh-CN">
                <a:latin typeface="Times New Roman" panose="02020603050405020304" charset="0"/>
                <a:cs typeface="Times New Roman" panose="02020603050405020304" charset="0"/>
                <a:sym typeface="+mn-ea"/>
              </a:rPr>
              <a:t>In contrast to traditional network architecture, ResNet adds an information highway between each convolutional layer.ResNet distinguishes itself by adopting a significantly </a:t>
            </a:r>
            <a:r>
              <a:rPr lang="en-US" altLang="zh-CN" b="1">
                <a:solidFill>
                  <a:srgbClr val="174994"/>
                </a:solidFill>
                <a:latin typeface="Times New Roman" panose="02020603050405020304" charset="0"/>
                <a:cs typeface="Times New Roman" panose="02020603050405020304" charset="0"/>
                <a:sym typeface="+mn-ea"/>
              </a:rPr>
              <a:t>deeper structure</a:t>
            </a:r>
            <a:r>
              <a:rPr lang="en-US" altLang="zh-CN">
                <a:latin typeface="Times New Roman" panose="02020603050405020304" charset="0"/>
                <a:cs typeface="Times New Roman" panose="02020603050405020304" charset="0"/>
                <a:sym typeface="+mn-ea"/>
              </a:rPr>
              <a:t> due to it’s special connecting method. </a:t>
            </a:r>
            <a:r>
              <a:rPr lang="en-US" altLang="zh-CN"/>
              <a:t>It is precisely because of its deeper structure that it has enhanced learning capabilities</a:t>
            </a:r>
          </a:p>
          <a:p>
            <a:r>
              <a:rPr lang="en-US" altLang="zh-CN">
                <a:latin typeface="Times New Roman" panose="02020603050405020304" charset="0"/>
                <a:cs typeface="Times New Roman" panose="02020603050405020304" charset="0"/>
                <a:sym typeface="+mn-ea"/>
              </a:rPr>
              <a:t>We choose the ResNet-18 as our</a:t>
            </a:r>
            <a:r>
              <a:rPr lang="en-US" altLang="zh-CN">
                <a:solidFill>
                  <a:srgbClr val="FF0000"/>
                </a:solidFill>
                <a:latin typeface="Times New Roman" panose="02020603050405020304" charset="0"/>
                <a:cs typeface="Times New Roman" panose="02020603050405020304" charset="0"/>
                <a:sym typeface="+mn-ea"/>
              </a:rPr>
              <a:t> benchmrk </a:t>
            </a:r>
            <a:r>
              <a:rPr lang="en-US" altLang="zh-CN">
                <a:latin typeface="Times New Roman" panose="02020603050405020304" charset="0"/>
                <a:cs typeface="Times New Roman" panose="02020603050405020304" charset="0"/>
                <a:sym typeface="+mn-ea"/>
              </a:rPr>
              <a:t>due to its great performance.</a:t>
            </a:r>
            <a:endParaRPr lang="en-US" altLang="zh-CN">
              <a:solidFill>
                <a:schemeClr val="tx1"/>
              </a:solidFill>
              <a:latin typeface="Times New Roman" panose="02020603050405020304" charset="0"/>
              <a:cs typeface="Times New Roman" panose="02020603050405020304" charset="0"/>
            </a:endParaRPr>
          </a:p>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latin typeface="Times New Roman" panose="02020603050405020304" charset="0"/>
                <a:cs typeface="Times New Roman" panose="02020603050405020304" charset="0"/>
                <a:sym typeface="+mn-ea"/>
              </a:rPr>
              <a:t>We introduce physical knowledge to guide the behavior of the model</a:t>
            </a:r>
          </a:p>
          <a:p>
            <a:r>
              <a:rPr lang="en-US" altLang="zh-CN">
                <a:latin typeface="Times New Roman" panose="02020603050405020304" charset="0"/>
                <a:cs typeface="Times New Roman" panose="02020603050405020304" charset="0"/>
                <a:sym typeface="+mn-ea"/>
              </a:rPr>
              <a:t>The core idea of Gated-Fusion is to "</a:t>
            </a:r>
            <a:r>
              <a:rPr lang="en-US" altLang="zh-CN" b="1">
                <a:solidFill>
                  <a:srgbClr val="174994"/>
                </a:solidFill>
                <a:latin typeface="Times New Roman" panose="02020603050405020304" charset="0"/>
                <a:cs typeface="Times New Roman" panose="02020603050405020304" charset="0"/>
                <a:sym typeface="+mn-ea"/>
              </a:rPr>
              <a:t>let physical knowledge tell the neural network which learned visual feature channels are more worthy of attention</a:t>
            </a:r>
            <a:r>
              <a:rPr lang="en-US" altLang="zh-CN">
                <a:latin typeface="Times New Roman" panose="02020603050405020304" charset="0"/>
                <a:cs typeface="Times New Roman" panose="02020603050405020304" charset="0"/>
                <a:sym typeface="+mn-ea"/>
              </a:rPr>
              <a:t>."</a:t>
            </a:r>
            <a:endParaRPr lang="en-US" altLang="zh-CN">
              <a:latin typeface="Times New Roman" panose="02020603050405020304" charset="0"/>
              <a:cs typeface="Times New Roman" panose="02020603050405020304" charset="0"/>
            </a:endParaRPr>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nSpc>
                <a:spcPct val="110000"/>
              </a:lnSpc>
              <a:buFont typeface="Wingdings" panose="05000000000000000000" charset="0"/>
              <a:buNone/>
            </a:pPr>
            <a:r>
              <a:rPr lang="en-US" altLang="zh-CN">
                <a:latin typeface="Times New Roman" panose="02020603050405020304" charset="0"/>
                <a:cs typeface="Times New Roman" panose="02020603050405020304" charset="0"/>
                <a:sym typeface="+mn-ea"/>
              </a:rPr>
              <a:t>Use physical knowledge to cross-validate the features learned by the model</a:t>
            </a:r>
            <a:endParaRPr lang="en-US" altLang="zh-CN">
              <a:latin typeface="Times New Roman" panose="02020603050405020304" charset="0"/>
              <a:ea typeface="Microsoft YaHei" panose="020B0503020204020204" charset="-122"/>
              <a:cs typeface="Times New Roman" panose="02020603050405020304" charset="0"/>
              <a:sym typeface="+mn-ea"/>
            </a:endParaRPr>
          </a:p>
          <a:p>
            <a:pPr indent="0">
              <a:lnSpc>
                <a:spcPct val="110000"/>
              </a:lnSpc>
              <a:buFont typeface="Wingdings" panose="05000000000000000000" charset="0"/>
              <a:buNone/>
            </a:pPr>
            <a:r>
              <a:rPr lang="en-US" altLang="zh-CN">
                <a:latin typeface="Times New Roman" panose="02020603050405020304" charset="0"/>
                <a:ea typeface="Microsoft YaHei" panose="020B0503020204020204" charset="-122"/>
                <a:cs typeface="Times New Roman" panose="02020603050405020304" charset="0"/>
                <a:sym typeface="+mn-ea"/>
              </a:rPr>
              <a:t>Compared to Gated Fusion, this approach not only fuses physical information but also inherently provides </a:t>
            </a:r>
            <a:r>
              <a:rPr lang="en-US" altLang="zh-CN" b="1">
                <a:solidFill>
                  <a:srgbClr val="FF0000"/>
                </a:solidFill>
                <a:latin typeface="Times New Roman" panose="02020603050405020304" charset="0"/>
                <a:ea typeface="Microsoft YaHei" panose="020B0503020204020204" charset="-122"/>
                <a:cs typeface="Times New Roman" panose="02020603050405020304" charset="0"/>
                <a:sym typeface="+mn-ea"/>
              </a:rPr>
              <a:t>interpretability</a:t>
            </a:r>
            <a:r>
              <a:rPr lang="en-US" altLang="zh-CN">
                <a:latin typeface="Times New Roman" panose="02020603050405020304" charset="0"/>
                <a:ea typeface="Microsoft YaHei" panose="020B0503020204020204" charset="-122"/>
                <a:cs typeface="Times New Roman" panose="02020603050405020304" charset="0"/>
                <a:sym typeface="+mn-ea"/>
              </a:rPr>
              <a:t>.</a:t>
            </a:r>
            <a:endParaRPr lang="en-US" altLang="zh-CN">
              <a:latin typeface="Times New Roman" panose="02020603050405020304" charset="0"/>
              <a:cs typeface="Times New Roman" panose="02020603050405020304" charset="0"/>
              <a:sym typeface="+mn-ea"/>
            </a:endParaRPr>
          </a:p>
          <a:p>
            <a:pPr indent="0">
              <a:lnSpc>
                <a:spcPct val="110000"/>
              </a:lnSpc>
              <a:buFont typeface="Wingdings" panose="05000000000000000000" charset="0"/>
              <a:buNone/>
            </a:pPr>
            <a:r>
              <a:rPr lang="en-US" altLang="zh-CN">
                <a:latin typeface="Times New Roman" panose="02020603050405020304" charset="0"/>
                <a:cs typeface="Times New Roman" panose="02020603050405020304" charset="0"/>
                <a:sym typeface="+mn-ea"/>
              </a:rPr>
              <a:t>This interpretability comes from the fact that we can directly see where the model's gaze is. </a:t>
            </a:r>
          </a:p>
          <a:p>
            <a:pPr indent="0">
              <a:lnSpc>
                <a:spcPct val="110000"/>
              </a:lnSpc>
              <a:buFont typeface="Wingdings" panose="05000000000000000000" charset="0"/>
              <a:buNone/>
            </a:pPr>
            <a:r>
              <a:rPr lang="en-US" altLang="zh-CN">
                <a:latin typeface="Times New Roman" panose="02020603050405020304" charset="0"/>
                <a:cs typeface="Times New Roman" panose="02020603050405020304" charset="0"/>
                <a:sym typeface="+mn-ea"/>
              </a:rPr>
              <a:t> To gain insight into the decision-making process, we can investigate the attention weights of the last attention layer, just before the final classification."</a:t>
            </a:r>
          </a:p>
          <a:p>
            <a:pPr indent="0">
              <a:lnSpc>
                <a:spcPct val="110000"/>
              </a:lnSpc>
              <a:buFont typeface="Wingdings" panose="05000000000000000000" charset="0"/>
              <a:buNone/>
            </a:pPr>
            <a:r>
              <a:rPr lang="en-US" altLang="zh-CN">
                <a:latin typeface="Times New Roman" panose="02020603050405020304" charset="0"/>
                <a:cs typeface="Times New Roman" panose="02020603050405020304" charset="0"/>
              </a:rPr>
              <a:t>In terms of specific values, the higher the weight the model assigns to a certain area, the stronger its attention is on the corresponding area. </a:t>
            </a:r>
          </a:p>
          <a:p>
            <a:pPr marL="252095" indent="0" algn="ctr" fontAlgn="auto">
              <a:lnSpc>
                <a:spcPct val="110000"/>
              </a:lnSpc>
              <a:buFont typeface="Wingdings" panose="05000000000000000000" charset="0"/>
              <a:buNone/>
            </a:pPr>
            <a:endParaRPr lang="en-US" altLang="zh-CN" i="1">
              <a:latin typeface="Times New Roman" panose="02020603050405020304" charset="0"/>
              <a:cs typeface="Times New Roman" panose="02020603050405020304" charset="0"/>
            </a:endParaRPr>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latin typeface="Times New Roman" panose="02020603050405020304" charset="0"/>
                <a:cs typeface="Times New Roman" panose="02020603050405020304" charset="0"/>
                <a:sym typeface="+mn-ea"/>
              </a:rPr>
              <a:t>After the prediction the model made, we can compare the output with true labels of events</a:t>
            </a:r>
          </a:p>
          <a:p>
            <a:r>
              <a:rPr lang="en-US" altLang="zh-CN">
                <a:latin typeface="Times New Roman" panose="02020603050405020304" charset="0"/>
                <a:cs typeface="Times New Roman" panose="02020603050405020304" charset="0"/>
                <a:sym typeface="+mn-ea"/>
              </a:rPr>
              <a:t>A high accuracy indicates model misclassifies is relatively small</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sym typeface="+mn-ea"/>
              </a:rPr>
              <a:t>A high precision indicates that the model is quite "reliable" and rarely misclassifies good cases as bad ones.</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sym typeface="+mn-ea"/>
              </a:rPr>
              <a:t>A high recall rate indicates that the model has a "keen eye" and rarely misses the target.</a:t>
            </a:r>
            <a:endParaRPr lang="en-US" altLang="zh-CN">
              <a:latin typeface="Times New Roman" panose="02020603050405020304" charset="0"/>
              <a:cs typeface="Times New Roman" panose="02020603050405020304" charset="0"/>
            </a:endParaRPr>
          </a:p>
          <a:p>
            <a:pPr indent="0">
              <a:buFont typeface="Wingdings" panose="05000000000000000000" charset="0"/>
              <a:buNone/>
            </a:pPr>
            <a:r>
              <a:rPr lang="en-US" altLang="zh-CN">
                <a:latin typeface="Times New Roman" panose="02020603050405020304" charset="0"/>
                <a:cs typeface="Times New Roman" panose="02020603050405020304" charset="0"/>
                <a:sym typeface="+mn-ea"/>
              </a:rPr>
              <a:t>F1 score is a good indicator of the model's overall  performance, as it is high only when both precision and recall are high.</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slideMaster" Target="../slideMasters/slideMaster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slideMaster" Target="../slideMasters/slideMaster1.xml"/><Relationship Id="rId4" Type="http://schemas.openxmlformats.org/officeDocument/2006/relationships/tags" Target="../tags/tag40.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Master" Target="../slideMasters/slideMaster1.xml"/><Relationship Id="rId5" Type="http://schemas.openxmlformats.org/officeDocument/2006/relationships/tags" Target="../tags/tag54.xml"/><Relationship Id="rId4" Type="http://schemas.openxmlformats.org/officeDocument/2006/relationships/tags" Target="../tags/tag53.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slideMaster" Target="../slideMasters/slideMaster1.xml"/><Relationship Id="rId4" Type="http://schemas.openxmlformats.org/officeDocument/2006/relationships/tags" Target="../tags/tag58.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1.xml"/><Relationship Id="rId5" Type="http://schemas.openxmlformats.org/officeDocument/2006/relationships/tags" Target="../tags/tag63.xml"/><Relationship Id="rId4" Type="http://schemas.openxmlformats.org/officeDocument/2006/relationships/tags" Target="../tags/tag62.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5.xml"/><Relationship Id="rId1" Type="http://schemas.openxmlformats.org/officeDocument/2006/relationships/tags" Target="../tags/tag64.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7.xml"/><Relationship Id="rId1" Type="http://schemas.openxmlformats.org/officeDocument/2006/relationships/tags" Target="../tags/tag66.xml"/><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9.xml"/><Relationship Id="rId1" Type="http://schemas.openxmlformats.org/officeDocument/2006/relationships/tags" Target="../tags/tag68.xml"/><Relationship Id="rId5" Type="http://schemas.openxmlformats.org/officeDocument/2006/relationships/image" Target="../media/image3.jpe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80.xml"/><Relationship Id="rId7" Type="http://schemas.openxmlformats.org/officeDocument/2006/relationships/slideMaster" Target="../slideMasters/slideMaster2.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5.xml"/><Relationship Id="rId1" Type="http://schemas.openxmlformats.org/officeDocument/2006/relationships/tags" Target="../tags/tag84.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2">
              <a:rPr lang="en-US" altLang="en-US" smtClean="0"/>
              <a:t>Sunday, April 12, 2026</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2">
              <a:rPr lang="en-US" altLang="en-US" smtClean="0"/>
              <a:t>Sunday, April 12, 2026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2">
              <a:rPr lang="en-US" altLang="en-US" smtClean="0"/>
              <a:t>Sunday, April 12, 2026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2">
              <a:rPr lang="en-US" altLang="en-US" smtClean="0"/>
              <a:t>Sunday, April 12, 2026</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2">
              <a:rPr lang="en-US" altLang="en-US" smtClean="0"/>
              <a:t>Sunday, April 12, 2026</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2">
              <a:rPr lang="en-US" altLang="en-US" smtClean="0"/>
              <a:t>Sunday, April 12, 2026</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2">
              <a:rPr lang="en-US" altLang="en-US" smtClean="0"/>
              <a:t>Sunday, April 12, 2026</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2">
              <a:rPr lang="en-US" altLang="en-US" smtClean="0"/>
              <a:t>Sunday, April 12, 2026</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2">
              <a:rPr lang="en-US" altLang="en-US" smtClean="0"/>
              <a:t>Sunday, April 12, 2026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2">
              <a:rPr lang="en-US" altLang="en-US" smtClean="0"/>
              <a:t>Sunday, April 12, 2026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2">
              <a:rPr lang="en-US" altLang="en-US" smtClean="0"/>
              <a:t>Sunday, April 12, 2026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0" name="矩形 9"/>
          <p:cNvSpPr/>
          <p:nvPr userDrawn="1"/>
        </p:nvSpPr>
        <p:spPr>
          <a:xfrm>
            <a:off x="6350" y="0"/>
            <a:ext cx="12185650" cy="1803400"/>
          </a:xfrm>
          <a:prstGeom prst="rect">
            <a:avLst/>
          </a:prstGeom>
          <a:solidFill>
            <a:schemeClr val="bg2">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Title 1"/>
          <p:cNvSpPr>
            <a:spLocks noGrp="1"/>
          </p:cNvSpPr>
          <p:nvPr>
            <p:ph type="title"/>
          </p:nvPr>
        </p:nvSpPr>
        <p:spPr>
          <a:xfrm>
            <a:off x="713985" y="841620"/>
            <a:ext cx="8161071" cy="648000"/>
          </a:xfrm>
        </p:spPr>
        <p:txBody>
          <a:bodyPr>
            <a:noAutofit/>
          </a:bodyPr>
          <a:lstStyle>
            <a:lvl1pPr>
              <a:defRPr sz="3600" b="1">
                <a:solidFill>
                  <a:schemeClr val="bg1"/>
                </a:solidFill>
                <a:latin typeface="Microsoft YaHei" panose="020B0503020204020204" charset="-122"/>
                <a:ea typeface="Microsoft YaHei" panose="020B0503020204020204" charset="-122"/>
              </a:defRPr>
            </a:lvl1pPr>
          </a:lstStyle>
          <a:p>
            <a:r>
              <a:rPr lang="zh-CN" altLang="en-US" dirty="0"/>
              <a:t>单击此处编辑母版标题样式</a:t>
            </a:r>
            <a:endParaRPr lang="en-US" dirty="0"/>
          </a:p>
        </p:txBody>
      </p:sp>
      <p:sp>
        <p:nvSpPr>
          <p:cNvPr id="14" name="灯片编号占位符 13"/>
          <p:cNvSpPr>
            <a:spLocks noGrp="1"/>
          </p:cNvSpPr>
          <p:nvPr>
            <p:ph type="sldNum" sz="quarter" idx="12"/>
          </p:nvPr>
        </p:nvSpPr>
        <p:spPr>
          <a:xfrm>
            <a:off x="11282045" y="6480175"/>
            <a:ext cx="909955" cy="377825"/>
          </a:xfrm>
        </p:spPr>
        <p:txBody>
          <a:bodyPr/>
          <a:lstStyle>
            <a:lvl1pPr>
              <a:defRPr sz="1600" b="1">
                <a:solidFill>
                  <a:schemeClr val="tx1"/>
                </a:solidFill>
                <a:latin typeface="Microsoft YaHei" panose="020B0503020204020204" charset="-122"/>
                <a:ea typeface="Microsoft YaHei" panose="020B0503020204020204" charset="-122"/>
              </a:defRPr>
            </a:lvl1pPr>
          </a:lstStyle>
          <a:p>
            <a:fld id="{8141257D-CBAA-4317-A108-DEE4BE529EBA}" type="slidenum">
              <a:rPr lang="zh-CN" altLang="en-US" smtClean="0"/>
              <a:t>‹#›</a:t>
            </a:fld>
            <a:endParaRPr lang="zh-CN" altLang="en-US" dirty="0"/>
          </a:p>
        </p:txBody>
      </p:sp>
      <p:sp>
        <p:nvSpPr>
          <p:cNvPr id="6" name="日期占位符 5"/>
          <p:cNvSpPr>
            <a:spLocks noGrp="1"/>
          </p:cNvSpPr>
          <p:nvPr>
            <p:ph type="dt" sz="half" idx="10"/>
            <p:custDataLst>
              <p:tags r:id="rId1"/>
            </p:custDataLst>
          </p:nvPr>
        </p:nvSpPr>
        <p:spPr>
          <a:xfrm>
            <a:off x="25895" y="6541095"/>
            <a:ext cx="2700000" cy="316800"/>
          </a:xfrm>
        </p:spPr>
        <p:txBody>
          <a:bodyPr/>
          <a:lstStyle>
            <a:lvl1pPr>
              <a:defRPr b="1">
                <a:solidFill>
                  <a:schemeClr val="tx1"/>
                </a:solidFill>
              </a:defRPr>
            </a:lvl1pPr>
          </a:lstStyle>
          <a:p>
            <a:fld id="{760FBDFE-C587-4B4C-A407-44438C67B59E}" type="datetime2">
              <a:rPr lang="en-US" altLang="en-US" smtClean="0"/>
              <a:t>Sunday, April 12, 2026</a:t>
            </a:fld>
            <a:endParaRPr lang="zh-CN" altLang="en-US"/>
          </a:p>
        </p:txBody>
      </p:sp>
      <p:sp>
        <p:nvSpPr>
          <p:cNvPr id="9" name="页脚占位符 8"/>
          <p:cNvSpPr>
            <a:spLocks noGrp="1"/>
          </p:cNvSpPr>
          <p:nvPr>
            <p:ph type="ftr" sz="quarter" idx="11"/>
            <p:custDataLst>
              <p:tags r:id="rId2"/>
            </p:custDataLst>
          </p:nvPr>
        </p:nvSpPr>
        <p:spPr>
          <a:xfrm>
            <a:off x="4116000" y="6541095"/>
            <a:ext cx="3960000" cy="316800"/>
          </a:xfrm>
        </p:spPr>
        <p:txBody>
          <a:bodyPr/>
          <a:lstStyle/>
          <a:p>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版2">
    <p:spTree>
      <p:nvGrpSpPr>
        <p:cNvPr id="1" name=""/>
        <p:cNvGrpSpPr/>
        <p:nvPr/>
      </p:nvGrpSpPr>
      <p:grpSpPr>
        <a:xfrm>
          <a:off x="0" y="0"/>
          <a:ext cx="0" cy="0"/>
          <a:chOff x="0" y="0"/>
          <a:chExt cx="0" cy="0"/>
        </a:xfrm>
      </p:grpSpPr>
      <p:pic>
        <p:nvPicPr>
          <p:cNvPr id="7" name="图片 6"/>
          <p:cNvPicPr/>
          <p:nvPr userDrawn="1"/>
        </p:nvPicPr>
        <p:blipFill rotWithShape="1">
          <a:blip r:embed="rId4" cstate="print">
            <a:extLst>
              <a:ext uri="{28A0092B-C50C-407E-A947-70E740481C1C}">
                <a14:useLocalDpi xmlns:a14="http://schemas.microsoft.com/office/drawing/2010/main" val="0"/>
              </a:ext>
            </a:extLst>
          </a:blip>
          <a:srcRect l="1333" t="2665" r="80417" b="30422"/>
          <a:stretch>
            <a:fillRect/>
          </a:stretch>
        </p:blipFill>
        <p:spPr>
          <a:xfrm>
            <a:off x="0" y="0"/>
            <a:ext cx="720000" cy="720000"/>
          </a:xfrm>
          <a:prstGeom prst="rect">
            <a:avLst/>
          </a:prstGeom>
        </p:spPr>
      </p:pic>
      <p:sp>
        <p:nvSpPr>
          <p:cNvPr id="8" name="Rectangle 14"/>
          <p:cNvSpPr>
            <a:spLocks noChangeArrowheads="1"/>
          </p:cNvSpPr>
          <p:nvPr userDrawn="1"/>
        </p:nvSpPr>
        <p:spPr bwMode="auto">
          <a:xfrm>
            <a:off x="0" y="720000"/>
            <a:ext cx="10080000" cy="72000"/>
          </a:xfrm>
          <a:prstGeom prst="rect">
            <a:avLst/>
          </a:prstGeom>
          <a:gradFill flip="none" rotWithShape="1">
            <a:gsLst>
              <a:gs pos="0">
                <a:schemeClr val="tx1">
                  <a:lumMod val="75000"/>
                  <a:lumOff val="25000"/>
                </a:schemeClr>
              </a:gs>
              <a:gs pos="100000">
                <a:srgbClr val="FFFFFF"/>
              </a:gs>
            </a:gsLst>
            <a:lin ang="0" scaled="0"/>
            <a:tileRect/>
          </a:gradFill>
          <a:ln w="9525">
            <a:noFill/>
            <a:miter lim="800000"/>
          </a:ln>
        </p:spPr>
        <p:txBody>
          <a:bodyPr wrap="none" anchor="ctr"/>
          <a:lstStyle/>
          <a:p>
            <a:pPr>
              <a:defRPr/>
            </a:pPr>
            <a:endParaRPr lang="fr-FR"/>
          </a:p>
        </p:txBody>
      </p:sp>
      <p:sp>
        <p:nvSpPr>
          <p:cNvPr id="11" name="Title 1"/>
          <p:cNvSpPr>
            <a:spLocks noGrp="1"/>
          </p:cNvSpPr>
          <p:nvPr>
            <p:ph type="title"/>
          </p:nvPr>
        </p:nvSpPr>
        <p:spPr>
          <a:xfrm>
            <a:off x="846065" y="72000"/>
            <a:ext cx="8161071" cy="648000"/>
          </a:xfrm>
        </p:spPr>
        <p:txBody>
          <a:bodyPr>
            <a:noAutofit/>
          </a:bodyPr>
          <a:lstStyle>
            <a:lvl1pPr>
              <a:defRPr sz="3600" b="1">
                <a:solidFill>
                  <a:schemeClr val="tx1"/>
                </a:solidFill>
                <a:latin typeface="Microsoft YaHei" panose="020B0503020204020204" charset="-122"/>
                <a:ea typeface="Microsoft YaHei" panose="020B0503020204020204" charset="-122"/>
              </a:defRPr>
            </a:lvl1pPr>
          </a:lstStyle>
          <a:p>
            <a:r>
              <a:rPr lang="zh-CN" altLang="en-US" dirty="0"/>
              <a:t>单击此处编辑母版标题样式</a:t>
            </a:r>
            <a:endParaRPr lang="en-US" dirty="0"/>
          </a:p>
        </p:txBody>
      </p:sp>
      <p:sp>
        <p:nvSpPr>
          <p:cNvPr id="14" name="灯片编号占位符 13"/>
          <p:cNvSpPr>
            <a:spLocks noGrp="1"/>
          </p:cNvSpPr>
          <p:nvPr>
            <p:ph type="sldNum" sz="quarter" idx="12"/>
          </p:nvPr>
        </p:nvSpPr>
        <p:spPr>
          <a:xfrm>
            <a:off x="11282045" y="6480175"/>
            <a:ext cx="909955" cy="377825"/>
          </a:xfrm>
        </p:spPr>
        <p:txBody>
          <a:bodyPr/>
          <a:lstStyle>
            <a:lvl1pPr>
              <a:defRPr sz="1600" b="1">
                <a:solidFill>
                  <a:schemeClr val="tx1"/>
                </a:solidFill>
                <a:latin typeface="Microsoft YaHei" panose="020B0503020204020204" charset="-122"/>
                <a:ea typeface="Microsoft YaHei" panose="020B0503020204020204" charset="-122"/>
              </a:defRPr>
            </a:lvl1pPr>
          </a:lstStyle>
          <a:p>
            <a:fld id="{8141257D-CBAA-4317-A108-DEE4BE529EBA}" type="slidenum">
              <a:rPr lang="zh-CN" altLang="en-US" smtClean="0"/>
              <a:t>‹#›</a:t>
            </a:fld>
            <a:endParaRPr lang="zh-CN" altLang="en-US" dirty="0"/>
          </a:p>
        </p:txBody>
      </p:sp>
      <p:sp>
        <p:nvSpPr>
          <p:cNvPr id="3" name="日期占位符 2"/>
          <p:cNvSpPr>
            <a:spLocks noGrp="1"/>
          </p:cNvSpPr>
          <p:nvPr>
            <p:ph type="dt" sz="half" idx="10"/>
            <p:custDataLst>
              <p:tags r:id="rId1"/>
            </p:custDataLst>
          </p:nvPr>
        </p:nvSpPr>
        <p:spPr>
          <a:xfrm>
            <a:off x="25895" y="6541095"/>
            <a:ext cx="2700000" cy="316800"/>
          </a:xfrm>
        </p:spPr>
        <p:txBody>
          <a:bodyPr/>
          <a:lstStyle>
            <a:lvl1pPr>
              <a:defRPr b="1">
                <a:solidFill>
                  <a:schemeClr val="tx1"/>
                </a:solidFill>
              </a:defRPr>
            </a:lvl1pPr>
          </a:lstStyle>
          <a:p>
            <a:fld id="{760FBDFE-C587-4B4C-A407-44438C67B59E}" type="datetime2">
              <a:rPr lang="en-US" altLang="en-US" smtClean="0"/>
              <a:t>Sunday, April 12, 2026</a:t>
            </a:fld>
            <a:endParaRPr lang="zh-CN" altLang="en-US"/>
          </a:p>
        </p:txBody>
      </p:sp>
      <p:sp>
        <p:nvSpPr>
          <p:cNvPr id="4" name="页脚占位符 3"/>
          <p:cNvSpPr>
            <a:spLocks noGrp="1"/>
          </p:cNvSpPr>
          <p:nvPr>
            <p:ph type="ftr" sz="quarter" idx="11"/>
            <p:custDataLst>
              <p:tags r:id="rId2"/>
            </p:custDataLst>
          </p:nvPr>
        </p:nvSpPr>
        <p:spPr>
          <a:xfrm>
            <a:off x="4116000" y="6541095"/>
            <a:ext cx="3960000" cy="316800"/>
          </a:xfrm>
        </p:spPr>
        <p:txBody>
          <a:bodyPr/>
          <a:lstStyle/>
          <a:p>
            <a:endParaRPr lang="zh-CN" altLang="en-US"/>
          </a:p>
        </p:txBody>
      </p:sp>
    </p:spTree>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6" name="矩形 5"/>
          <p:cNvSpPr/>
          <p:nvPr userDrawn="1"/>
        </p:nvSpPr>
        <p:spPr>
          <a:xfrm>
            <a:off x="0" y="0"/>
            <a:ext cx="12191365" cy="1120140"/>
          </a:xfrm>
          <a:prstGeom prst="rect">
            <a:avLst/>
          </a:prstGeom>
          <a:solidFill>
            <a:srgbClr val="17499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nvPr>
        </p:nvSpPr>
        <p:spPr>
          <a:xfrm>
            <a:off x="316230" y="219710"/>
            <a:ext cx="10486390" cy="705485"/>
          </a:xfrm>
        </p:spPr>
        <p:txBody>
          <a:bodyPr/>
          <a:lstStyle>
            <a:lvl1pPr>
              <a:defRPr sz="3600" b="1">
                <a:solidFill>
                  <a:schemeClr val="bg1"/>
                </a:solidFill>
                <a:latin typeface="Microsoft YaHei" panose="020B0503020204020204" charset="-122"/>
                <a:ea typeface="Microsoft YaHei" panose="020B0503020204020204" charset="-122"/>
              </a:defRPr>
            </a:lvl1pPr>
          </a:lstStyle>
          <a:p>
            <a:r>
              <a:rPr lang="en-US" altLang="zh-CN"/>
              <a:t>Edit the layout</a:t>
            </a:r>
          </a:p>
        </p:txBody>
      </p:sp>
      <p:pic>
        <p:nvPicPr>
          <p:cNvPr id="7" name="图片 6" descr="ucas_logo_white_huge"/>
          <p:cNvPicPr>
            <a:picLocks noChangeAspect="1"/>
          </p:cNvPicPr>
          <p:nvPr userDrawn="1"/>
        </p:nvPicPr>
        <p:blipFill>
          <a:blip r:embed="rId4"/>
          <a:stretch>
            <a:fillRect/>
          </a:stretch>
        </p:blipFill>
        <p:spPr>
          <a:xfrm>
            <a:off x="11134725" y="100965"/>
            <a:ext cx="942340" cy="942340"/>
          </a:xfrm>
          <a:prstGeom prst="rect">
            <a:avLst/>
          </a:prstGeom>
        </p:spPr>
      </p:pic>
      <p:pic>
        <p:nvPicPr>
          <p:cNvPr id="8" name="图片 7"/>
          <p:cNvPicPr>
            <a:picLocks noChangeAspect="1"/>
          </p:cNvPicPr>
          <p:nvPr userDrawn="1">
            <p:custDataLst>
              <p:tags r:id="rId1"/>
            </p:custDataLst>
          </p:nvPr>
        </p:nvPicPr>
        <p:blipFill>
          <a:blip r:embed="rId5"/>
          <a:stretch>
            <a:fillRect/>
          </a:stretch>
        </p:blipFill>
        <p:spPr>
          <a:xfrm>
            <a:off x="4559935" y="6448425"/>
            <a:ext cx="2285365" cy="403225"/>
          </a:xfrm>
          <a:prstGeom prst="rect">
            <a:avLst/>
          </a:prstGeom>
        </p:spPr>
      </p:pic>
      <p:sp>
        <p:nvSpPr>
          <p:cNvPr id="14" name="灯片编号占位符 13"/>
          <p:cNvSpPr>
            <a:spLocks noGrp="1"/>
          </p:cNvSpPr>
          <p:nvPr>
            <p:ph type="sldNum" sz="quarter" idx="12"/>
          </p:nvPr>
        </p:nvSpPr>
        <p:spPr>
          <a:xfrm>
            <a:off x="11491595" y="6448425"/>
            <a:ext cx="719455" cy="358775"/>
          </a:xfrm>
        </p:spPr>
        <p:txBody>
          <a:bodyPr/>
          <a:lstStyle>
            <a:lvl1pPr>
              <a:defRPr sz="1400" b="1">
                <a:solidFill>
                  <a:schemeClr val="tx1"/>
                </a:solidFill>
                <a:latin typeface="Microsoft YaHei" panose="020B0503020204020204" charset="-122"/>
                <a:ea typeface="Microsoft YaHei" panose="020B0503020204020204" charset="-122"/>
              </a:defRPr>
            </a:lvl1pPr>
          </a:lstStyle>
          <a:p>
            <a:fld id="{8141257D-CBAA-4317-A108-DEE4BE529EBA}" type="slidenum">
              <a:rPr lang="zh-CN" altLang="en-US" smtClean="0"/>
              <a:t>‹#›</a:t>
            </a:fld>
            <a:endParaRPr lang="zh-CN" altLang="en-US" dirty="0"/>
          </a:p>
        </p:txBody>
      </p:sp>
      <p:sp>
        <p:nvSpPr>
          <p:cNvPr id="9" name="日期占位符 8"/>
          <p:cNvSpPr>
            <a:spLocks noGrp="1"/>
          </p:cNvSpPr>
          <p:nvPr>
            <p:ph type="dt" sz="half" idx="10"/>
            <p:custDataLst>
              <p:tags r:id="rId2"/>
            </p:custDataLst>
          </p:nvPr>
        </p:nvSpPr>
        <p:spPr>
          <a:xfrm>
            <a:off x="25895" y="6547445"/>
            <a:ext cx="2700000" cy="316800"/>
          </a:xfrm>
        </p:spPr>
        <p:txBody>
          <a:bodyPr/>
          <a:lstStyle>
            <a:lvl1pPr>
              <a:defRPr b="1">
                <a:solidFill>
                  <a:schemeClr val="tx1"/>
                </a:solidFill>
              </a:defRPr>
            </a:lvl1pPr>
          </a:lstStyle>
          <a:p>
            <a:fld id="{760FBDFE-C587-4B4C-A407-44438C67B59E}" type="datetime2">
              <a:rPr lang="en-US" altLang="en-US" smtClean="0"/>
              <a:t>Sunday, April 12, 2026</a:t>
            </a:fld>
            <a:endParaRPr lang="zh-CN" altLang="en-US"/>
          </a:p>
        </p:txBody>
      </p:sp>
      <p:cxnSp>
        <p:nvCxnSpPr>
          <p:cNvPr id="3" name="直接连接符 2"/>
          <p:cNvCxnSpPr/>
          <p:nvPr/>
        </p:nvCxnSpPr>
        <p:spPr>
          <a:xfrm flipV="1">
            <a:off x="-12065" y="6453505"/>
            <a:ext cx="12228195" cy="6350"/>
          </a:xfrm>
          <a:prstGeom prst="line">
            <a:avLst/>
          </a:prstGeom>
          <a:ln w="12700" cmpd="sng">
            <a:solidFill>
              <a:srgbClr val="174994"/>
            </a:solidFill>
            <a:prstDash val="dash"/>
          </a:ln>
        </p:spPr>
        <p:style>
          <a:lnRef idx="2">
            <a:schemeClr val="accent1"/>
          </a:lnRef>
          <a:fillRef idx="0">
            <a:srgbClr val="FFFFFF"/>
          </a:fillRef>
          <a:effectRef idx="0">
            <a:srgbClr val="FFFFFF"/>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7" name="图片 6" descr="C:/Users/kingsoft/AppData/Local/Temp/fig2wpp/@svg_UnionUnion_#color-2113&amp;620.svg"/>
          <p:cNvSpPr/>
          <p:nvPr userDrawn="1">
            <p:custDataLst>
              <p:tags r:id="rId1"/>
            </p:custDataLst>
          </p:nvPr>
        </p:nvSpPr>
        <p:spPr>
          <a:xfrm>
            <a:off x="0" y="137848"/>
            <a:ext cx="12188825" cy="3278495"/>
          </a:xfrm>
          <a:custGeom>
            <a:avLst/>
            <a:gdLst>
              <a:gd name="connsiteX0" fmla="*/ 12188825 w 12188825"/>
              <a:gd name="connsiteY0" fmla="*/ 1891953 h 3278495"/>
              <a:gd name="connsiteX1" fmla="*/ 10818928 w 12188825"/>
              <a:gd name="connsiteY1" fmla="*/ 1279161 h 3278495"/>
              <a:gd name="connsiteX2" fmla="*/ 9295528 w 12188825"/>
              <a:gd name="connsiteY2" fmla="*/ 641041 h 3278495"/>
              <a:gd name="connsiteX3" fmla="*/ 7621799 w 12188825"/>
              <a:gd name="connsiteY3" fmla="*/ 1043813 h 3278495"/>
              <a:gd name="connsiteX4" fmla="*/ 7181110 w 12188825"/>
              <a:gd name="connsiteY4" fmla="*/ 1271164 h 3278495"/>
              <a:gd name="connsiteX5" fmla="*/ 7181097 w 12188825"/>
              <a:gd name="connsiteY5" fmla="*/ 1271164 h 3278495"/>
              <a:gd name="connsiteX6" fmla="*/ 7181084 w 12188825"/>
              <a:gd name="connsiteY6" fmla="*/ 1271177 h 3278495"/>
              <a:gd name="connsiteX7" fmla="*/ 6171037 w 12188825"/>
              <a:gd name="connsiteY7" fmla="*/ 1731588 h 3278495"/>
              <a:gd name="connsiteX8" fmla="*/ 4925403 w 12188825"/>
              <a:gd name="connsiteY8" fmla="*/ 1911089 h 3278495"/>
              <a:gd name="connsiteX9" fmla="*/ 3459214 w 12188825"/>
              <a:gd name="connsiteY9" fmla="*/ 1835304 h 3278495"/>
              <a:gd name="connsiteX10" fmla="*/ 2089495 w 12188825"/>
              <a:gd name="connsiteY10" fmla="*/ 1569424 h 3278495"/>
              <a:gd name="connsiteX11" fmla="*/ 921600 w 12188825"/>
              <a:gd name="connsiteY11" fmla="*/ 1088916 h 3278495"/>
              <a:gd name="connsiteX12" fmla="*/ 135739 w 12188825"/>
              <a:gd name="connsiteY12" fmla="*/ 288056 h 3278495"/>
              <a:gd name="connsiteX13" fmla="*/ 0 w 12188825"/>
              <a:gd name="connsiteY13" fmla="*/ 35969 h 3278495"/>
              <a:gd name="connsiteX14" fmla="*/ 0 w 12188825"/>
              <a:gd name="connsiteY14" fmla="*/ 0 h 3278495"/>
              <a:gd name="connsiteX15" fmla="*/ 303276 w 12188825"/>
              <a:gd name="connsiteY15" fmla="*/ 510703 h 3278495"/>
              <a:gd name="connsiteX16" fmla="*/ 1284207 w 12188825"/>
              <a:gd name="connsiteY16" fmla="*/ 1260803 h 3278495"/>
              <a:gd name="connsiteX17" fmla="*/ 2458296 w 12188825"/>
              <a:gd name="connsiteY17" fmla="*/ 1642852 h 3278495"/>
              <a:gd name="connsiteX18" fmla="*/ 3888807 w 12188825"/>
              <a:gd name="connsiteY18" fmla="*/ 1861373 h 3278495"/>
              <a:gd name="connsiteX19" fmla="*/ 5307637 w 12188825"/>
              <a:gd name="connsiteY19" fmla="*/ 1870535 h 3278495"/>
              <a:gd name="connsiteX20" fmla="*/ 6532626 w 12188825"/>
              <a:gd name="connsiteY20" fmla="*/ 1568778 h 3278495"/>
              <a:gd name="connsiteX21" fmla="*/ 7168959 w 12188825"/>
              <a:gd name="connsiteY21" fmla="*/ 1253005 h 3278495"/>
              <a:gd name="connsiteX22" fmla="*/ 7168972 w 12188825"/>
              <a:gd name="connsiteY22" fmla="*/ 1253000 h 3278495"/>
              <a:gd name="connsiteX23" fmla="*/ 8087907 w 12188825"/>
              <a:gd name="connsiteY23" fmla="*/ 818125 h 3278495"/>
              <a:gd name="connsiteX24" fmla="*/ 9706660 w 12188825"/>
              <a:gd name="connsiteY24" fmla="*/ 709477 h 3278495"/>
              <a:gd name="connsiteX25" fmla="*/ 10796214 w 12188825"/>
              <a:gd name="connsiteY25" fmla="*/ 1246740 h 3278495"/>
              <a:gd name="connsiteX26" fmla="*/ 10796214 w 12188825"/>
              <a:gd name="connsiteY26" fmla="*/ 1246746 h 3278495"/>
              <a:gd name="connsiteX27" fmla="*/ 11332916 w 12188825"/>
              <a:gd name="connsiteY27" fmla="*/ 1551238 h 3278495"/>
              <a:gd name="connsiteX28" fmla="*/ 12188825 w 12188825"/>
              <a:gd name="connsiteY28" fmla="*/ 1866911 h 3278495"/>
              <a:gd name="connsiteX29" fmla="*/ 12188825 w 12188825"/>
              <a:gd name="connsiteY29" fmla="*/ 2019532 h 3278495"/>
              <a:gd name="connsiteX30" fmla="*/ 11006585 w 12188825"/>
              <a:gd name="connsiteY30" fmla="*/ 1600562 h 3278495"/>
              <a:gd name="connsiteX31" fmla="*/ 10868864 w 12188825"/>
              <a:gd name="connsiteY31" fmla="*/ 1536005 h 3278495"/>
              <a:gd name="connsiteX32" fmla="*/ 10868852 w 12188825"/>
              <a:gd name="connsiteY32" fmla="*/ 1535993 h 3278495"/>
              <a:gd name="connsiteX33" fmla="*/ 10122349 w 12188825"/>
              <a:gd name="connsiteY33" fmla="*/ 1212187 h 3278495"/>
              <a:gd name="connsiteX34" fmla="*/ 9192457 w 12188825"/>
              <a:gd name="connsiteY34" fmla="*/ 1013092 h 3278495"/>
              <a:gd name="connsiteX35" fmla="*/ 7401995 w 12188825"/>
              <a:gd name="connsiteY35" fmla="*/ 1263747 h 3278495"/>
              <a:gd name="connsiteX36" fmla="*/ 6521707 w 12188825"/>
              <a:gd name="connsiteY36" fmla="*/ 1638327 h 3278495"/>
              <a:gd name="connsiteX37" fmla="*/ 5871611 w 12188825"/>
              <a:gd name="connsiteY37" fmla="*/ 1906616 h 3278495"/>
              <a:gd name="connsiteX38" fmla="*/ 4636401 w 12188825"/>
              <a:gd name="connsiteY38" fmla="*/ 2069198 h 3278495"/>
              <a:gd name="connsiteX39" fmla="*/ 3246392 w 12188825"/>
              <a:gd name="connsiteY39" fmla="*/ 1979574 h 3278495"/>
              <a:gd name="connsiteX40" fmla="*/ 849919 w 12188825"/>
              <a:gd name="connsiteY40" fmla="*/ 1167195 h 3278495"/>
              <a:gd name="connsiteX41" fmla="*/ 84269 w 12188825"/>
              <a:gd name="connsiteY41" fmla="*/ 333407 h 3278495"/>
              <a:gd name="connsiteX42" fmla="*/ 0 w 12188825"/>
              <a:gd name="connsiteY42" fmla="*/ 182406 h 3278495"/>
              <a:gd name="connsiteX43" fmla="*/ 0 w 12188825"/>
              <a:gd name="connsiteY43" fmla="*/ 145534 h 3278495"/>
              <a:gd name="connsiteX44" fmla="*/ 248048 w 12188825"/>
              <a:gd name="connsiteY44" fmla="*/ 552745 h 3278495"/>
              <a:gd name="connsiteX45" fmla="*/ 1166708 w 12188825"/>
              <a:gd name="connsiteY45" fmla="*/ 1340777 h 3278495"/>
              <a:gd name="connsiteX46" fmla="*/ 2311674 w 12188825"/>
              <a:gd name="connsiteY46" fmla="*/ 1776172 h 3278495"/>
              <a:gd name="connsiteX47" fmla="*/ 3658933 w 12188825"/>
              <a:gd name="connsiteY47" fmla="*/ 2009749 h 3278495"/>
              <a:gd name="connsiteX48" fmla="*/ 5020996 w 12188825"/>
              <a:gd name="connsiteY48" fmla="*/ 2031901 h 3278495"/>
              <a:gd name="connsiteX49" fmla="*/ 6197434 w 12188825"/>
              <a:gd name="connsiteY49" fmla="*/ 1768467 h 3278495"/>
              <a:gd name="connsiteX50" fmla="*/ 6569523 w 12188825"/>
              <a:gd name="connsiteY50" fmla="*/ 1595493 h 3278495"/>
              <a:gd name="connsiteX51" fmla="*/ 7062319 w 12188825"/>
              <a:gd name="connsiteY51" fmla="*/ 1371281 h 3278495"/>
              <a:gd name="connsiteX52" fmla="*/ 7883529 w 12188825"/>
              <a:gd name="connsiteY52" fmla="*/ 1108957 h 3278495"/>
              <a:gd name="connsiteX53" fmla="*/ 9631406 w 12188825"/>
              <a:gd name="connsiteY53" fmla="*/ 1053664 h 3278495"/>
              <a:gd name="connsiteX54" fmla="*/ 10858250 w 12188825"/>
              <a:gd name="connsiteY54" fmla="*/ 1512839 h 3278495"/>
              <a:gd name="connsiteX55" fmla="*/ 10858250 w 12188825"/>
              <a:gd name="connsiteY55" fmla="*/ 1512839 h 3278495"/>
              <a:gd name="connsiteX56" fmla="*/ 11326224 w 12188825"/>
              <a:gd name="connsiteY56" fmla="*/ 1724137 h 3278495"/>
              <a:gd name="connsiteX57" fmla="*/ 12188825 w 12188825"/>
              <a:gd name="connsiteY57" fmla="*/ 2000472 h 3278495"/>
              <a:gd name="connsiteX58" fmla="*/ 12188825 w 12188825"/>
              <a:gd name="connsiteY58" fmla="*/ 2151725 h 3278495"/>
              <a:gd name="connsiteX59" fmla="*/ 10959062 w 12188825"/>
              <a:gd name="connsiteY59" fmla="*/ 1771369 h 3278495"/>
              <a:gd name="connsiteX60" fmla="*/ 10074293 w 12188825"/>
              <a:gd name="connsiteY60" fmla="*/ 1480802 h 3278495"/>
              <a:gd name="connsiteX61" fmla="*/ 9166339 w 12188825"/>
              <a:gd name="connsiteY61" fmla="*/ 1378809 h 3278495"/>
              <a:gd name="connsiteX62" fmla="*/ 8625117 w 12188825"/>
              <a:gd name="connsiteY62" fmla="*/ 1385805 h 3278495"/>
              <a:gd name="connsiteX63" fmla="*/ 8268137 w 12188825"/>
              <a:gd name="connsiteY63" fmla="*/ 1392901 h 3278495"/>
              <a:gd name="connsiteX64" fmla="*/ 8222087 w 12188825"/>
              <a:gd name="connsiteY64" fmla="*/ 1393345 h 3278495"/>
              <a:gd name="connsiteX65" fmla="*/ 7414526 w 12188825"/>
              <a:gd name="connsiteY65" fmla="*/ 1434520 h 3278495"/>
              <a:gd name="connsiteX66" fmla="*/ 6553119 w 12188825"/>
              <a:gd name="connsiteY66" fmla="*/ 1671100 h 3278495"/>
              <a:gd name="connsiteX67" fmla="*/ 6261349 w 12188825"/>
              <a:gd name="connsiteY67" fmla="*/ 1806334 h 3278495"/>
              <a:gd name="connsiteX68" fmla="*/ 5822716 w 12188825"/>
              <a:gd name="connsiteY68" fmla="*/ 2000713 h 3278495"/>
              <a:gd name="connsiteX69" fmla="*/ 4621406 w 12188825"/>
              <a:gd name="connsiteY69" fmla="*/ 2218626 h 3278495"/>
              <a:gd name="connsiteX70" fmla="*/ 3226433 w 12188825"/>
              <a:gd name="connsiteY70" fmla="*/ 2149304 h 3278495"/>
              <a:gd name="connsiteX71" fmla="*/ 843323 w 12188825"/>
              <a:gd name="connsiteY71" fmla="*/ 1284332 h 3278495"/>
              <a:gd name="connsiteX72" fmla="*/ 37916 w 12188825"/>
              <a:gd name="connsiteY72" fmla="*/ 388990 h 3278495"/>
              <a:gd name="connsiteX73" fmla="*/ 0 w 12188825"/>
              <a:gd name="connsiteY73" fmla="*/ 323744 h 3278495"/>
              <a:gd name="connsiteX74" fmla="*/ 0 w 12188825"/>
              <a:gd name="connsiteY74" fmla="*/ 287455 h 3278495"/>
              <a:gd name="connsiteX75" fmla="*/ 231067 w 12188825"/>
              <a:gd name="connsiteY75" fmla="*/ 648157 h 3278495"/>
              <a:gd name="connsiteX76" fmla="*/ 1172736 w 12188825"/>
              <a:gd name="connsiteY76" fmla="*/ 1479750 h 3278495"/>
              <a:gd name="connsiteX77" fmla="*/ 3675375 w 12188825"/>
              <a:gd name="connsiteY77" fmla="*/ 2180721 h 3278495"/>
              <a:gd name="connsiteX78" fmla="*/ 5032119 w 12188825"/>
              <a:gd name="connsiteY78" fmla="*/ 2164588 h 3278495"/>
              <a:gd name="connsiteX79" fmla="*/ 5621131 w 12188825"/>
              <a:gd name="connsiteY79" fmla="*/ 2047400 h 3278495"/>
              <a:gd name="connsiteX80" fmla="*/ 6248474 w 12188825"/>
              <a:gd name="connsiteY80" fmla="*/ 1790581 h 3278495"/>
              <a:gd name="connsiteX81" fmla="*/ 6248487 w 12188825"/>
              <a:gd name="connsiteY81" fmla="*/ 1790581 h 3278495"/>
              <a:gd name="connsiteX82" fmla="*/ 6248500 w 12188825"/>
              <a:gd name="connsiteY82" fmla="*/ 1790581 h 3278495"/>
              <a:gd name="connsiteX83" fmla="*/ 6260028 w 12188825"/>
              <a:gd name="connsiteY83" fmla="*/ 1785119 h 3278495"/>
              <a:gd name="connsiteX84" fmla="*/ 6273766 w 12188825"/>
              <a:gd name="connsiteY84" fmla="*/ 1778605 h 3278495"/>
              <a:gd name="connsiteX85" fmla="*/ 7079092 w 12188825"/>
              <a:gd name="connsiteY85" fmla="*/ 1475897 h 3278495"/>
              <a:gd name="connsiteX86" fmla="*/ 7872318 w 12188825"/>
              <a:gd name="connsiteY86" fmla="*/ 1381331 h 3278495"/>
              <a:gd name="connsiteX87" fmla="*/ 8331646 w 12188825"/>
              <a:gd name="connsiteY87" fmla="*/ 1372992 h 3278495"/>
              <a:gd name="connsiteX88" fmla="*/ 8331659 w 12188825"/>
              <a:gd name="connsiteY88" fmla="*/ 1372992 h 3278495"/>
              <a:gd name="connsiteX89" fmla="*/ 8331672 w 12188825"/>
              <a:gd name="connsiteY89" fmla="*/ 1372992 h 3278495"/>
              <a:gd name="connsiteX90" fmla="*/ 8723974 w 12188825"/>
              <a:gd name="connsiteY90" fmla="*/ 1366719 h 3278495"/>
              <a:gd name="connsiteX91" fmla="*/ 9630594 w 12188825"/>
              <a:gd name="connsiteY91" fmla="*/ 1385462 h 3278495"/>
              <a:gd name="connsiteX92" fmla="*/ 10987641 w 12188825"/>
              <a:gd name="connsiteY92" fmla="*/ 1762599 h 3278495"/>
              <a:gd name="connsiteX93" fmla="*/ 11298762 w 12188825"/>
              <a:gd name="connsiteY93" fmla="*/ 1876035 h 3278495"/>
              <a:gd name="connsiteX94" fmla="*/ 12188825 w 12188825"/>
              <a:gd name="connsiteY94" fmla="*/ 2134147 h 3278495"/>
              <a:gd name="connsiteX95" fmla="*/ 12188825 w 12188825"/>
              <a:gd name="connsiteY95" fmla="*/ 2288023 h 3278495"/>
              <a:gd name="connsiteX96" fmla="*/ 11204476 w 12188825"/>
              <a:gd name="connsiteY96" fmla="*/ 2021180 h 3278495"/>
              <a:gd name="connsiteX97" fmla="*/ 11204438 w 12188825"/>
              <a:gd name="connsiteY97" fmla="*/ 2021167 h 3278495"/>
              <a:gd name="connsiteX98" fmla="*/ 11204425 w 12188825"/>
              <a:gd name="connsiteY98" fmla="*/ 2021167 h 3278495"/>
              <a:gd name="connsiteX99" fmla="*/ 10924209 w 12188825"/>
              <a:gd name="connsiteY99" fmla="*/ 1936904 h 3278495"/>
              <a:gd name="connsiteX100" fmla="*/ 10031289 w 12188825"/>
              <a:gd name="connsiteY100" fmla="*/ 1728179 h 3278495"/>
              <a:gd name="connsiteX101" fmla="*/ 9183835 w 12188825"/>
              <a:gd name="connsiteY101" fmla="*/ 1720880 h 3278495"/>
              <a:gd name="connsiteX102" fmla="*/ 9018182 w 12188825"/>
              <a:gd name="connsiteY102" fmla="*/ 1734009 h 3278495"/>
              <a:gd name="connsiteX103" fmla="*/ 9018182 w 12188825"/>
              <a:gd name="connsiteY103" fmla="*/ 1734009 h 3278495"/>
              <a:gd name="connsiteX104" fmla="*/ 8286675 w 12188825"/>
              <a:gd name="connsiteY104" fmla="*/ 1763689 h 3278495"/>
              <a:gd name="connsiteX105" fmla="*/ 7764511 w 12188825"/>
              <a:gd name="connsiteY105" fmla="*/ 1715265 h 3278495"/>
              <a:gd name="connsiteX106" fmla="*/ 7458215 w 12188825"/>
              <a:gd name="connsiteY106" fmla="*/ 1681657 h 3278495"/>
              <a:gd name="connsiteX107" fmla="*/ 6622354 w 12188825"/>
              <a:gd name="connsiteY107" fmla="*/ 1727305 h 3278495"/>
              <a:gd name="connsiteX108" fmla="*/ 5957301 w 12188825"/>
              <a:gd name="connsiteY108" fmla="*/ 1992779 h 3278495"/>
              <a:gd name="connsiteX109" fmla="*/ 5957289 w 12188825"/>
              <a:gd name="connsiteY109" fmla="*/ 1992779 h 3278495"/>
              <a:gd name="connsiteX110" fmla="*/ 5957276 w 12188825"/>
              <a:gd name="connsiteY110" fmla="*/ 1992792 h 3278495"/>
              <a:gd name="connsiteX111" fmla="*/ 5957250 w 12188825"/>
              <a:gd name="connsiteY111" fmla="*/ 1992792 h 3278495"/>
              <a:gd name="connsiteX112" fmla="*/ 5957238 w 12188825"/>
              <a:gd name="connsiteY112" fmla="*/ 1992805 h 3278495"/>
              <a:gd name="connsiteX113" fmla="*/ 5957187 w 12188825"/>
              <a:gd name="connsiteY113" fmla="*/ 1992830 h 3278495"/>
              <a:gd name="connsiteX114" fmla="*/ 5814920 w 12188825"/>
              <a:gd name="connsiteY114" fmla="*/ 2060124 h 3278495"/>
              <a:gd name="connsiteX115" fmla="*/ 3247700 w 12188825"/>
              <a:gd name="connsiteY115" fmla="*/ 2325180 h 3278495"/>
              <a:gd name="connsiteX116" fmla="*/ 847649 w 12188825"/>
              <a:gd name="connsiteY116" fmla="*/ 1407932 h 3278495"/>
              <a:gd name="connsiteX117" fmla="*/ 3196 w 12188825"/>
              <a:gd name="connsiteY117" fmla="*/ 464475 h 3278495"/>
              <a:gd name="connsiteX118" fmla="*/ 0 w 12188825"/>
              <a:gd name="connsiteY118" fmla="*/ 459212 h 3278495"/>
              <a:gd name="connsiteX119" fmla="*/ 0 w 12188825"/>
              <a:gd name="connsiteY119" fmla="*/ 424654 h 3278495"/>
              <a:gd name="connsiteX120" fmla="*/ 208331 w 12188825"/>
              <a:gd name="connsiteY120" fmla="*/ 736099 h 3278495"/>
              <a:gd name="connsiteX121" fmla="*/ 1193818 w 12188825"/>
              <a:gd name="connsiteY121" fmla="*/ 1626643 h 3278495"/>
              <a:gd name="connsiteX122" fmla="*/ 3705644 w 12188825"/>
              <a:gd name="connsiteY122" fmla="*/ 2350831 h 3278495"/>
              <a:gd name="connsiteX123" fmla="*/ 5054389 w 12188825"/>
              <a:gd name="connsiteY123" fmla="*/ 2282878 h 3278495"/>
              <a:gd name="connsiteX124" fmla="*/ 5618833 w 12188825"/>
              <a:gd name="connsiteY124" fmla="*/ 2125162 h 3278495"/>
              <a:gd name="connsiteX125" fmla="*/ 5986808 w 12188825"/>
              <a:gd name="connsiteY125" fmla="*/ 1959855 h 3278495"/>
              <a:gd name="connsiteX126" fmla="*/ 6348309 w 12188825"/>
              <a:gd name="connsiteY126" fmla="*/ 1797070 h 3278495"/>
              <a:gd name="connsiteX127" fmla="*/ 7131504 w 12188825"/>
              <a:gd name="connsiteY127" fmla="*/ 1646527 h 3278495"/>
              <a:gd name="connsiteX128" fmla="*/ 7753782 w 12188825"/>
              <a:gd name="connsiteY128" fmla="*/ 1695242 h 3278495"/>
              <a:gd name="connsiteX129" fmla="*/ 7753833 w 12188825"/>
              <a:gd name="connsiteY129" fmla="*/ 1695255 h 3278495"/>
              <a:gd name="connsiteX130" fmla="*/ 7753871 w 12188825"/>
              <a:gd name="connsiteY130" fmla="*/ 1695255 h 3278495"/>
              <a:gd name="connsiteX131" fmla="*/ 7930037 w 12188825"/>
              <a:gd name="connsiteY131" fmla="*/ 1715810 h 3278495"/>
              <a:gd name="connsiteX132" fmla="*/ 8795266 w 12188825"/>
              <a:gd name="connsiteY132" fmla="*/ 1731804 h 3278495"/>
              <a:gd name="connsiteX133" fmla="*/ 9030141 w 12188825"/>
              <a:gd name="connsiteY133" fmla="*/ 1713517 h 3278495"/>
              <a:gd name="connsiteX134" fmla="*/ 9030155 w 12188825"/>
              <a:gd name="connsiteY134" fmla="*/ 1713517 h 3278495"/>
              <a:gd name="connsiteX135" fmla="*/ 9646859 w 12188825"/>
              <a:gd name="connsiteY135" fmla="*/ 1680427 h 3278495"/>
              <a:gd name="connsiteX136" fmla="*/ 11141208 w 12188825"/>
              <a:gd name="connsiteY136" fmla="*/ 1981754 h 3278495"/>
              <a:gd name="connsiteX137" fmla="*/ 11141259 w 12188825"/>
              <a:gd name="connsiteY137" fmla="*/ 1981767 h 3278495"/>
              <a:gd name="connsiteX138" fmla="*/ 11141525 w 12188825"/>
              <a:gd name="connsiteY138" fmla="*/ 1981843 h 3278495"/>
              <a:gd name="connsiteX139" fmla="*/ 11293225 w 12188825"/>
              <a:gd name="connsiteY139" fmla="*/ 2027795 h 3278495"/>
              <a:gd name="connsiteX140" fmla="*/ 11310239 w 12188825"/>
              <a:gd name="connsiteY140" fmla="*/ 2032915 h 3278495"/>
              <a:gd name="connsiteX141" fmla="*/ 12188825 w 12188825"/>
              <a:gd name="connsiteY141" fmla="*/ 2270027 h 3278495"/>
              <a:gd name="connsiteX142" fmla="*/ 12188825 w 12188825"/>
              <a:gd name="connsiteY142" fmla="*/ 2427528 h 3278495"/>
              <a:gd name="connsiteX143" fmla="*/ 11574826 w 12188825"/>
              <a:gd name="connsiteY143" fmla="*/ 2268164 h 3278495"/>
              <a:gd name="connsiteX144" fmla="*/ 11574813 w 12188825"/>
              <a:gd name="connsiteY144" fmla="*/ 2268164 h 3278495"/>
              <a:gd name="connsiteX145" fmla="*/ 10890664 w 12188825"/>
              <a:gd name="connsiteY145" fmla="*/ 2092225 h 3278495"/>
              <a:gd name="connsiteX146" fmla="*/ 10014554 w 12188825"/>
              <a:gd name="connsiteY146" fmla="*/ 1954773 h 3278495"/>
              <a:gd name="connsiteX147" fmla="*/ 9157655 w 12188825"/>
              <a:gd name="connsiteY147" fmla="*/ 2032991 h 3278495"/>
              <a:gd name="connsiteX148" fmla="*/ 9135080 w 12188825"/>
              <a:gd name="connsiteY148" fmla="*/ 2037300 h 3278495"/>
              <a:gd name="connsiteX149" fmla="*/ 9117089 w 12188825"/>
              <a:gd name="connsiteY149" fmla="*/ 2040734 h 3278495"/>
              <a:gd name="connsiteX150" fmla="*/ 8335544 w 12188825"/>
              <a:gd name="connsiteY150" fmla="*/ 2143842 h 3278495"/>
              <a:gd name="connsiteX151" fmla="*/ 7563890 w 12188825"/>
              <a:gd name="connsiteY151" fmla="*/ 2026705 h 3278495"/>
              <a:gd name="connsiteX152" fmla="*/ 7458838 w 12188825"/>
              <a:gd name="connsiteY152" fmla="*/ 1998318 h 3278495"/>
              <a:gd name="connsiteX153" fmla="*/ 7458812 w 12188825"/>
              <a:gd name="connsiteY153" fmla="*/ 1998305 h 3278495"/>
              <a:gd name="connsiteX154" fmla="*/ 6800120 w 12188825"/>
              <a:gd name="connsiteY154" fmla="*/ 1865099 h 3278495"/>
              <a:gd name="connsiteX155" fmla="*/ 5963193 w 12188825"/>
              <a:gd name="connsiteY155" fmla="*/ 2035006 h 3278495"/>
              <a:gd name="connsiteX156" fmla="*/ 5726666 w 12188825"/>
              <a:gd name="connsiteY156" fmla="*/ 2145464 h 3278495"/>
              <a:gd name="connsiteX157" fmla="*/ 5291258 w 12188825"/>
              <a:gd name="connsiteY157" fmla="*/ 2335205 h 3278495"/>
              <a:gd name="connsiteX158" fmla="*/ 4670504 w 12188825"/>
              <a:gd name="connsiteY158" fmla="*/ 2485976 h 3278495"/>
              <a:gd name="connsiteX159" fmla="*/ 3315576 w 12188825"/>
              <a:gd name="connsiteY159" fmla="*/ 2505011 h 3278495"/>
              <a:gd name="connsiteX160" fmla="*/ 2003703 w 12188825"/>
              <a:gd name="connsiteY160" fmla="*/ 2200034 h 3278495"/>
              <a:gd name="connsiteX161" fmla="*/ 869769 w 12188825"/>
              <a:gd name="connsiteY161" fmla="*/ 1544598 h 3278495"/>
              <a:gd name="connsiteX162" fmla="*/ 0 w 12188825"/>
              <a:gd name="connsiteY162" fmla="*/ 581612 h 3278495"/>
              <a:gd name="connsiteX163" fmla="*/ 0 w 12188825"/>
              <a:gd name="connsiteY163" fmla="*/ 556480 h 3278495"/>
              <a:gd name="connsiteX164" fmla="*/ 1216794 w 12188825"/>
              <a:gd name="connsiteY164" fmla="*/ 1773954 h 3278495"/>
              <a:gd name="connsiteX165" fmla="*/ 3782015 w 12188825"/>
              <a:gd name="connsiteY165" fmla="*/ 2518330 h 3278495"/>
              <a:gd name="connsiteX166" fmla="*/ 5113200 w 12188825"/>
              <a:gd name="connsiteY166" fmla="*/ 2371576 h 3278495"/>
              <a:gd name="connsiteX167" fmla="*/ 5684589 w 12188825"/>
              <a:gd name="connsiteY167" fmla="*/ 2138266 h 3278495"/>
              <a:gd name="connsiteX168" fmla="*/ 6509836 w 12188825"/>
              <a:gd name="connsiteY168" fmla="*/ 1852704 h 3278495"/>
              <a:gd name="connsiteX169" fmla="*/ 7470328 w 12188825"/>
              <a:gd name="connsiteY169" fmla="*/ 1982552 h 3278495"/>
              <a:gd name="connsiteX170" fmla="*/ 7470328 w 12188825"/>
              <a:gd name="connsiteY170" fmla="*/ 1982552 h 3278495"/>
              <a:gd name="connsiteX171" fmla="*/ 7984036 w 12188825"/>
              <a:gd name="connsiteY171" fmla="*/ 2099955 h 3278495"/>
              <a:gd name="connsiteX172" fmla="*/ 8840021 w 12188825"/>
              <a:gd name="connsiteY172" fmla="*/ 2072176 h 3278495"/>
              <a:gd name="connsiteX173" fmla="*/ 9102246 w 12188825"/>
              <a:gd name="connsiteY173" fmla="*/ 2023309 h 3278495"/>
              <a:gd name="connsiteX174" fmla="*/ 9632651 w 12188825"/>
              <a:gd name="connsiteY174" fmla="*/ 1939870 h 3278495"/>
              <a:gd name="connsiteX175" fmla="*/ 11265051 w 12188825"/>
              <a:gd name="connsiteY175" fmla="*/ 2165944 h 3278495"/>
              <a:gd name="connsiteX176" fmla="*/ 11604294 w 12188825"/>
              <a:gd name="connsiteY176" fmla="*/ 2256733 h 3278495"/>
              <a:gd name="connsiteX177" fmla="*/ 11604333 w 12188825"/>
              <a:gd name="connsiteY177" fmla="*/ 2256746 h 3278495"/>
              <a:gd name="connsiteX178" fmla="*/ 12188825 w 12188825"/>
              <a:gd name="connsiteY178" fmla="*/ 2409279 h 3278495"/>
              <a:gd name="connsiteX179" fmla="*/ 12188825 w 12188825"/>
              <a:gd name="connsiteY179" fmla="*/ 2573280 h 3278495"/>
              <a:gd name="connsiteX180" fmla="*/ 12184648 w 12188825"/>
              <a:gd name="connsiteY180" fmla="*/ 2572089 h 3278495"/>
              <a:gd name="connsiteX181" fmla="*/ 12184115 w 12188825"/>
              <a:gd name="connsiteY181" fmla="*/ 2571937 h 3278495"/>
              <a:gd name="connsiteX182" fmla="*/ 12183899 w 12188825"/>
              <a:gd name="connsiteY182" fmla="*/ 2571874 h 3278495"/>
              <a:gd name="connsiteX183" fmla="*/ 10779975 w 12188825"/>
              <a:gd name="connsiteY183" fmla="*/ 2226762 h 3278495"/>
              <a:gd name="connsiteX184" fmla="*/ 9934933 w 12188825"/>
              <a:gd name="connsiteY184" fmla="*/ 2161635 h 3278495"/>
              <a:gd name="connsiteX185" fmla="*/ 9119425 w 12188825"/>
              <a:gd name="connsiteY185" fmla="*/ 2318628 h 3278495"/>
              <a:gd name="connsiteX186" fmla="*/ 9085512 w 12188825"/>
              <a:gd name="connsiteY186" fmla="*/ 2329299 h 3278495"/>
              <a:gd name="connsiteX187" fmla="*/ 8324142 w 12188825"/>
              <a:gd name="connsiteY187" fmla="*/ 2513413 h 3278495"/>
              <a:gd name="connsiteX188" fmla="*/ 7578199 w 12188825"/>
              <a:gd name="connsiteY188" fmla="*/ 2414424 h 3278495"/>
              <a:gd name="connsiteX189" fmla="*/ 7230970 w 12188825"/>
              <a:gd name="connsiteY189" fmla="*/ 2276503 h 3278495"/>
              <a:gd name="connsiteX190" fmla="*/ 6177741 w 12188825"/>
              <a:gd name="connsiteY190" fmla="*/ 2048186 h 3278495"/>
              <a:gd name="connsiteX191" fmla="*/ 5471297 w 12188825"/>
              <a:gd name="connsiteY191" fmla="*/ 2310416 h 3278495"/>
              <a:gd name="connsiteX192" fmla="*/ 5471259 w 12188825"/>
              <a:gd name="connsiteY192" fmla="*/ 2310429 h 3278495"/>
              <a:gd name="connsiteX193" fmla="*/ 5401072 w 12188825"/>
              <a:gd name="connsiteY193" fmla="*/ 2344583 h 3278495"/>
              <a:gd name="connsiteX194" fmla="*/ 4778654 w 12188825"/>
              <a:gd name="connsiteY194" fmla="*/ 2576588 h 3278495"/>
              <a:gd name="connsiteX195" fmla="*/ 3421124 w 12188825"/>
              <a:gd name="connsiteY195" fmla="*/ 2684600 h 3278495"/>
              <a:gd name="connsiteX196" fmla="*/ 2070513 w 12188825"/>
              <a:gd name="connsiteY196" fmla="*/ 2390725 h 3278495"/>
              <a:gd name="connsiteX197" fmla="*/ 899978 w 12188825"/>
              <a:gd name="connsiteY197" fmla="*/ 1688855 h 3278495"/>
              <a:gd name="connsiteX198" fmla="*/ 0 w 12188825"/>
              <a:gd name="connsiteY198" fmla="*/ 719120 h 3278495"/>
              <a:gd name="connsiteX199" fmla="*/ 0 w 12188825"/>
              <a:gd name="connsiteY199" fmla="*/ 692852 h 3278495"/>
              <a:gd name="connsiteX200" fmla="*/ 1275307 w 12188825"/>
              <a:gd name="connsiteY200" fmla="*/ 1946143 h 3278495"/>
              <a:gd name="connsiteX201" fmla="*/ 3907484 w 12188825"/>
              <a:gd name="connsiteY201" fmla="*/ 2675881 h 3278495"/>
              <a:gd name="connsiteX202" fmla="*/ 5239710 w 12188825"/>
              <a:gd name="connsiteY202" fmla="*/ 2399875 h 3278495"/>
              <a:gd name="connsiteX203" fmla="*/ 5486076 w 12188825"/>
              <a:gd name="connsiteY203" fmla="*/ 2283968 h 3278495"/>
              <a:gd name="connsiteX204" fmla="*/ 5486076 w 12188825"/>
              <a:gd name="connsiteY204" fmla="*/ 2283968 h 3278495"/>
              <a:gd name="connsiteX205" fmla="*/ 5486089 w 12188825"/>
              <a:gd name="connsiteY205" fmla="*/ 2283968 h 3278495"/>
              <a:gd name="connsiteX206" fmla="*/ 5486089 w 12188825"/>
              <a:gd name="connsiteY206" fmla="*/ 2283968 h 3278495"/>
              <a:gd name="connsiteX207" fmla="*/ 5954317 w 12188825"/>
              <a:gd name="connsiteY207" fmla="*/ 2082847 h 3278495"/>
              <a:gd name="connsiteX208" fmla="*/ 6640498 w 12188825"/>
              <a:gd name="connsiteY208" fmla="*/ 2045740 h 3278495"/>
              <a:gd name="connsiteX209" fmla="*/ 7247451 w 12188825"/>
              <a:gd name="connsiteY209" fmla="*/ 2259116 h 3278495"/>
              <a:gd name="connsiteX210" fmla="*/ 8001583 w 12188825"/>
              <a:gd name="connsiteY210" fmla="*/ 2495633 h 3278495"/>
              <a:gd name="connsiteX211" fmla="*/ 9013992 w 12188825"/>
              <a:gd name="connsiteY211" fmla="*/ 2327905 h 3278495"/>
              <a:gd name="connsiteX212" fmla="*/ 9014004 w 12188825"/>
              <a:gd name="connsiteY212" fmla="*/ 2327892 h 3278495"/>
              <a:gd name="connsiteX213" fmla="*/ 9631750 w 12188825"/>
              <a:gd name="connsiteY213" fmla="*/ 2170709 h 3278495"/>
              <a:gd name="connsiteX214" fmla="*/ 11220448 w 12188825"/>
              <a:gd name="connsiteY214" fmla="*/ 2297325 h 3278495"/>
              <a:gd name="connsiteX215" fmla="*/ 12175277 w 12188825"/>
              <a:gd name="connsiteY215" fmla="*/ 2550621 h 3278495"/>
              <a:gd name="connsiteX216" fmla="*/ 12188825 w 12188825"/>
              <a:gd name="connsiteY216" fmla="*/ 2554461 h 3278495"/>
              <a:gd name="connsiteX217" fmla="*/ 12188825 w 12188825"/>
              <a:gd name="connsiteY217" fmla="*/ 2725091 h 3278495"/>
              <a:gd name="connsiteX218" fmla="*/ 10689295 w 12188825"/>
              <a:gd name="connsiteY218" fmla="*/ 2364517 h 3278495"/>
              <a:gd name="connsiteX219" fmla="*/ 9819660 w 12188825"/>
              <a:gd name="connsiteY219" fmla="*/ 2362933 h 3278495"/>
              <a:gd name="connsiteX220" fmla="*/ 9017508 w 12188825"/>
              <a:gd name="connsiteY220" fmla="*/ 2604114 h 3278495"/>
              <a:gd name="connsiteX221" fmla="*/ 9007122 w 12188825"/>
              <a:gd name="connsiteY221" fmla="*/ 2608689 h 3278495"/>
              <a:gd name="connsiteX222" fmla="*/ 8987938 w 12188825"/>
              <a:gd name="connsiteY222" fmla="*/ 2617167 h 3278495"/>
              <a:gd name="connsiteX223" fmla="*/ 8987938 w 12188825"/>
              <a:gd name="connsiteY223" fmla="*/ 2617167 h 3278495"/>
              <a:gd name="connsiteX224" fmla="*/ 8246807 w 12188825"/>
              <a:gd name="connsiteY224" fmla="*/ 2877129 h 3278495"/>
              <a:gd name="connsiteX225" fmla="*/ 7537062 w 12188825"/>
              <a:gd name="connsiteY225" fmla="*/ 2810836 h 3278495"/>
              <a:gd name="connsiteX226" fmla="*/ 7023214 w 12188825"/>
              <a:gd name="connsiteY226" fmla="*/ 2545526 h 3278495"/>
              <a:gd name="connsiteX227" fmla="*/ 6315538 w 12188825"/>
              <a:gd name="connsiteY227" fmla="*/ 2221959 h 3278495"/>
              <a:gd name="connsiteX228" fmla="*/ 5234415 w 12188825"/>
              <a:gd name="connsiteY228" fmla="*/ 2467714 h 3278495"/>
              <a:gd name="connsiteX229" fmla="*/ 5234415 w 12188825"/>
              <a:gd name="connsiteY229" fmla="*/ 2467714 h 3278495"/>
              <a:gd name="connsiteX230" fmla="*/ 5234402 w 12188825"/>
              <a:gd name="connsiteY230" fmla="*/ 2467714 h 3278495"/>
              <a:gd name="connsiteX231" fmla="*/ 4835815 w 12188825"/>
              <a:gd name="connsiteY231" fmla="*/ 2643704 h 3278495"/>
              <a:gd name="connsiteX232" fmla="*/ 3428044 w 12188825"/>
              <a:gd name="connsiteY232" fmla="*/ 2850110 h 3278495"/>
              <a:gd name="connsiteX233" fmla="*/ 2024869 w 12188825"/>
              <a:gd name="connsiteY233" fmla="*/ 2536706 h 3278495"/>
              <a:gd name="connsiteX234" fmla="*/ 846330 w 12188825"/>
              <a:gd name="connsiteY234" fmla="*/ 1761205 h 3278495"/>
              <a:gd name="connsiteX235" fmla="*/ 0 w 12188825"/>
              <a:gd name="connsiteY235" fmla="*/ 851425 h 3278495"/>
              <a:gd name="connsiteX236" fmla="*/ 0 w 12188825"/>
              <a:gd name="connsiteY236" fmla="*/ 812242 h 3278495"/>
              <a:gd name="connsiteX237" fmla="*/ 148963 w 12188825"/>
              <a:gd name="connsiteY237" fmla="*/ 1012552 h 3278495"/>
              <a:gd name="connsiteX238" fmla="*/ 1243881 w 12188825"/>
              <a:gd name="connsiteY238" fmla="*/ 2055460 h 3278495"/>
              <a:gd name="connsiteX239" fmla="*/ 2498113 w 12188825"/>
              <a:gd name="connsiteY239" fmla="*/ 2684664 h 3278495"/>
              <a:gd name="connsiteX240" fmla="*/ 3965533 w 12188825"/>
              <a:gd name="connsiteY240" fmla="*/ 2818453 h 3278495"/>
              <a:gd name="connsiteX241" fmla="*/ 4675481 w 12188825"/>
              <a:gd name="connsiteY241" fmla="*/ 2679113 h 3278495"/>
              <a:gd name="connsiteX242" fmla="*/ 5270753 w 12188825"/>
              <a:gd name="connsiteY242" fmla="*/ 2427933 h 3278495"/>
              <a:gd name="connsiteX243" fmla="*/ 5270854 w 12188825"/>
              <a:gd name="connsiteY243" fmla="*/ 2427883 h 3278495"/>
              <a:gd name="connsiteX244" fmla="*/ 5368632 w 12188825"/>
              <a:gd name="connsiteY244" fmla="*/ 2380929 h 3278495"/>
              <a:gd name="connsiteX245" fmla="*/ 6083545 w 12188825"/>
              <a:gd name="connsiteY245" fmla="*/ 2177970 h 3278495"/>
              <a:gd name="connsiteX246" fmla="*/ 6703245 w 12188825"/>
              <a:gd name="connsiteY246" fmla="*/ 2347764 h 3278495"/>
              <a:gd name="connsiteX247" fmla="*/ 7022948 w 12188825"/>
              <a:gd name="connsiteY247" fmla="*/ 2525275 h 3278495"/>
              <a:gd name="connsiteX248" fmla="*/ 7950910 w 12188825"/>
              <a:gd name="connsiteY248" fmla="*/ 2880969 h 3278495"/>
              <a:gd name="connsiteX249" fmla="*/ 8940046 w 12188825"/>
              <a:gd name="connsiteY249" fmla="*/ 2617598 h 3278495"/>
              <a:gd name="connsiteX250" fmla="*/ 9555836 w 12188825"/>
              <a:gd name="connsiteY250" fmla="*/ 2392411 h 3278495"/>
              <a:gd name="connsiteX251" fmla="*/ 11145461 w 12188825"/>
              <a:gd name="connsiteY251" fmla="*/ 2419050 h 3278495"/>
              <a:gd name="connsiteX252" fmla="*/ 12188825 w 12188825"/>
              <a:gd name="connsiteY252" fmla="*/ 2705790 h 3278495"/>
              <a:gd name="connsiteX253" fmla="*/ 12188825 w 12188825"/>
              <a:gd name="connsiteY253" fmla="*/ 2884327 h 3278495"/>
              <a:gd name="connsiteX254" fmla="*/ 10797204 w 12188825"/>
              <a:gd name="connsiteY254" fmla="*/ 2518976 h 3278495"/>
              <a:gd name="connsiteX255" fmla="*/ 9257057 w 12188825"/>
              <a:gd name="connsiteY255" fmla="*/ 2702697 h 3278495"/>
              <a:gd name="connsiteX256" fmla="*/ 8816393 w 12188825"/>
              <a:gd name="connsiteY256" fmla="*/ 2929633 h 3278495"/>
              <a:gd name="connsiteX257" fmla="*/ 7778489 w 12188825"/>
              <a:gd name="connsiteY257" fmla="*/ 3276570 h 3278495"/>
              <a:gd name="connsiteX258" fmla="*/ 6812842 w 12188825"/>
              <a:gd name="connsiteY258" fmla="*/ 2808302 h 3278495"/>
              <a:gd name="connsiteX259" fmla="*/ 6812830 w 12188825"/>
              <a:gd name="connsiteY259" fmla="*/ 2808289 h 3278495"/>
              <a:gd name="connsiteX260" fmla="*/ 6602687 w 12188825"/>
              <a:gd name="connsiteY260" fmla="*/ 2655135 h 3278495"/>
              <a:gd name="connsiteX261" fmla="*/ 5969312 w 12188825"/>
              <a:gd name="connsiteY261" fmla="*/ 2364049 h 3278495"/>
              <a:gd name="connsiteX262" fmla="*/ 5138111 w 12188825"/>
              <a:gd name="connsiteY262" fmla="*/ 2553574 h 3278495"/>
              <a:gd name="connsiteX263" fmla="*/ 5125579 w 12188825"/>
              <a:gd name="connsiteY263" fmla="*/ 2559644 h 3278495"/>
              <a:gd name="connsiteX264" fmla="*/ 5086562 w 12188825"/>
              <a:gd name="connsiteY264" fmla="*/ 2578590 h 3278495"/>
              <a:gd name="connsiteX265" fmla="*/ 5086562 w 12188825"/>
              <a:gd name="connsiteY265" fmla="*/ 2578590 h 3278495"/>
              <a:gd name="connsiteX266" fmla="*/ 4389996 w 12188825"/>
              <a:gd name="connsiteY266" fmla="*/ 2872934 h 3278495"/>
              <a:gd name="connsiteX267" fmla="*/ 3616653 w 12188825"/>
              <a:gd name="connsiteY267" fmla="*/ 3006533 h 3278495"/>
              <a:gd name="connsiteX268" fmla="*/ 2066196 w 12188825"/>
              <a:gd name="connsiteY268" fmla="*/ 2720161 h 3278495"/>
              <a:gd name="connsiteX269" fmla="*/ 839263 w 12188825"/>
              <a:gd name="connsiteY269" fmla="*/ 1871144 h 3278495"/>
              <a:gd name="connsiteX270" fmla="*/ 0 w 12188825"/>
              <a:gd name="connsiteY270" fmla="*/ 964742 h 3278495"/>
              <a:gd name="connsiteX271" fmla="*/ 0 w 12188825"/>
              <a:gd name="connsiteY271" fmla="*/ 934550 h 3278495"/>
              <a:gd name="connsiteX272" fmla="*/ 119118 w 12188825"/>
              <a:gd name="connsiteY272" fmla="*/ 1090789 h 3278495"/>
              <a:gd name="connsiteX273" fmla="*/ 1231889 w 12188825"/>
              <a:gd name="connsiteY273" fmla="*/ 2173877 h 3278495"/>
              <a:gd name="connsiteX274" fmla="*/ 2592703 w 12188825"/>
              <a:gd name="connsiteY274" fmla="*/ 2885493 h 3278495"/>
              <a:gd name="connsiteX275" fmla="*/ 4205196 w 12188825"/>
              <a:gd name="connsiteY275" fmla="*/ 2903958 h 3278495"/>
              <a:gd name="connsiteX276" fmla="*/ 4979948 w 12188825"/>
              <a:gd name="connsiteY276" fmla="*/ 2612149 h 3278495"/>
              <a:gd name="connsiteX277" fmla="*/ 5002396 w 12188825"/>
              <a:gd name="connsiteY277" fmla="*/ 2600907 h 3278495"/>
              <a:gd name="connsiteX278" fmla="*/ 5733801 w 12188825"/>
              <a:gd name="connsiteY278" fmla="*/ 2339209 h 3278495"/>
              <a:gd name="connsiteX279" fmla="*/ 6841549 w 12188825"/>
              <a:gd name="connsiteY279" fmla="*/ 2807224 h 3278495"/>
              <a:gd name="connsiteX280" fmla="*/ 6841600 w 12188825"/>
              <a:gd name="connsiteY280" fmla="*/ 2807250 h 3278495"/>
              <a:gd name="connsiteX281" fmla="*/ 6921742 w 12188825"/>
              <a:gd name="connsiteY281" fmla="*/ 2866534 h 3278495"/>
              <a:gd name="connsiteX282" fmla="*/ 7520251 w 12188825"/>
              <a:gd name="connsiteY282" fmla="*/ 3208174 h 3278495"/>
              <a:gd name="connsiteX283" fmla="*/ 8302279 w 12188825"/>
              <a:gd name="connsiteY283" fmla="*/ 3167569 h 3278495"/>
              <a:gd name="connsiteX284" fmla="*/ 8848604 w 12188825"/>
              <a:gd name="connsiteY284" fmla="*/ 2894580 h 3278495"/>
              <a:gd name="connsiteX285" fmla="*/ 8848617 w 12188825"/>
              <a:gd name="connsiteY285" fmla="*/ 2894567 h 3278495"/>
              <a:gd name="connsiteX286" fmla="*/ 8848668 w 12188825"/>
              <a:gd name="connsiteY286" fmla="*/ 2894542 h 3278495"/>
              <a:gd name="connsiteX287" fmla="*/ 9062811 w 12188825"/>
              <a:gd name="connsiteY287" fmla="*/ 2775631 h 3278495"/>
              <a:gd name="connsiteX288" fmla="*/ 9743480 w 12188825"/>
              <a:gd name="connsiteY288" fmla="*/ 2534767 h 3278495"/>
              <a:gd name="connsiteX289" fmla="*/ 12188825 w 12188825"/>
              <a:gd name="connsiteY289" fmla="*/ 2863011 h 3278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Lst>
            <a:rect l="l" t="t" r="r" b="b"/>
            <a:pathLst>
              <a:path w="12188825" h="3278495">
                <a:moveTo>
                  <a:pt x="12188825" y="1891953"/>
                </a:moveTo>
                <a:cubicBezTo>
                  <a:pt x="11702681" y="1803026"/>
                  <a:pt x="11261281" y="1541379"/>
                  <a:pt x="10818928" y="1279161"/>
                </a:cubicBezTo>
                <a:cubicBezTo>
                  <a:pt x="10332530" y="990838"/>
                  <a:pt x="9844977" y="701832"/>
                  <a:pt x="9295528" y="641041"/>
                </a:cubicBezTo>
                <a:cubicBezTo>
                  <a:pt x="8714172" y="576656"/>
                  <a:pt x="8149525" y="787322"/>
                  <a:pt x="7621799" y="1043813"/>
                </a:cubicBezTo>
                <a:cubicBezTo>
                  <a:pt x="7474302" y="1115439"/>
                  <a:pt x="7327884" y="1193211"/>
                  <a:pt x="7181110" y="1271164"/>
                </a:cubicBezTo>
                <a:lnTo>
                  <a:pt x="7181097" y="1271164"/>
                </a:lnTo>
                <a:lnTo>
                  <a:pt x="7181084" y="1271177"/>
                </a:lnTo>
                <a:cubicBezTo>
                  <a:pt x="6851427" y="1446268"/>
                  <a:pt x="6520057" y="1622271"/>
                  <a:pt x="6171037" y="1731588"/>
                </a:cubicBezTo>
                <a:cubicBezTo>
                  <a:pt x="5767270" y="1857951"/>
                  <a:pt x="5342388" y="1898492"/>
                  <a:pt x="4925403" y="1911089"/>
                </a:cubicBezTo>
                <a:cubicBezTo>
                  <a:pt x="4435653" y="1925866"/>
                  <a:pt x="3945116" y="1895729"/>
                  <a:pt x="3459214" y="1835304"/>
                </a:cubicBezTo>
                <a:cubicBezTo>
                  <a:pt x="2998426" y="1777718"/>
                  <a:pt x="2539301" y="1693430"/>
                  <a:pt x="2089495" y="1569424"/>
                </a:cubicBezTo>
                <a:cubicBezTo>
                  <a:pt x="1686172" y="1458383"/>
                  <a:pt x="1286353" y="1311705"/>
                  <a:pt x="921600" y="1088916"/>
                </a:cubicBezTo>
                <a:cubicBezTo>
                  <a:pt x="601453" y="893344"/>
                  <a:pt x="335103" y="628244"/>
                  <a:pt x="135739" y="288056"/>
                </a:cubicBezTo>
                <a:cubicBezTo>
                  <a:pt x="87651" y="205988"/>
                  <a:pt x="42683" y="121748"/>
                  <a:pt x="0" y="35969"/>
                </a:cubicBezTo>
                <a:lnTo>
                  <a:pt x="0" y="0"/>
                </a:lnTo>
                <a:cubicBezTo>
                  <a:pt x="85137" y="176147"/>
                  <a:pt x="181886" y="347629"/>
                  <a:pt x="303276" y="510703"/>
                </a:cubicBezTo>
                <a:cubicBezTo>
                  <a:pt x="562015" y="858295"/>
                  <a:pt x="912940" y="1088161"/>
                  <a:pt x="1284207" y="1260803"/>
                </a:cubicBezTo>
                <a:cubicBezTo>
                  <a:pt x="1660956" y="1435901"/>
                  <a:pt x="2057855" y="1551910"/>
                  <a:pt x="2458296" y="1642852"/>
                </a:cubicBezTo>
                <a:cubicBezTo>
                  <a:pt x="2929737" y="1749584"/>
                  <a:pt x="3417543" y="1821947"/>
                  <a:pt x="3888807" y="1861373"/>
                </a:cubicBezTo>
                <a:cubicBezTo>
                  <a:pt x="4360070" y="1900799"/>
                  <a:pt x="4835320" y="1911761"/>
                  <a:pt x="5307637" y="1870535"/>
                </a:cubicBezTo>
                <a:cubicBezTo>
                  <a:pt x="5730081" y="1833619"/>
                  <a:pt x="6138508" y="1747683"/>
                  <a:pt x="6532626" y="1568778"/>
                </a:cubicBezTo>
                <a:cubicBezTo>
                  <a:pt x="6746997" y="1471487"/>
                  <a:pt x="6958080" y="1362195"/>
                  <a:pt x="7168959" y="1253005"/>
                </a:cubicBezTo>
                <a:lnTo>
                  <a:pt x="7168972" y="1253000"/>
                </a:lnTo>
                <a:cubicBezTo>
                  <a:pt x="7472639" y="1095768"/>
                  <a:pt x="7775887" y="938761"/>
                  <a:pt x="8087907" y="818125"/>
                </a:cubicBezTo>
                <a:cubicBezTo>
                  <a:pt x="8616598" y="613718"/>
                  <a:pt x="9164600" y="541166"/>
                  <a:pt x="9706660" y="709477"/>
                </a:cubicBezTo>
                <a:cubicBezTo>
                  <a:pt x="10093300" y="829511"/>
                  <a:pt x="10444782" y="1038142"/>
                  <a:pt x="10796214" y="1246740"/>
                </a:cubicBezTo>
                <a:lnTo>
                  <a:pt x="10796214" y="1246746"/>
                </a:lnTo>
                <a:cubicBezTo>
                  <a:pt x="10973624" y="1352056"/>
                  <a:pt x="11151023" y="1457344"/>
                  <a:pt x="11332916" y="1551238"/>
                </a:cubicBezTo>
                <a:cubicBezTo>
                  <a:pt x="11601539" y="1689894"/>
                  <a:pt x="11892078" y="1809603"/>
                  <a:pt x="12188825" y="1866911"/>
                </a:cubicBezTo>
                <a:close/>
                <a:moveTo>
                  <a:pt x="12188825" y="2019532"/>
                </a:moveTo>
                <a:cubicBezTo>
                  <a:pt x="11780055" y="1945458"/>
                  <a:pt x="11383868" y="1776704"/>
                  <a:pt x="11006585" y="1600562"/>
                </a:cubicBezTo>
                <a:cubicBezTo>
                  <a:pt x="10960674" y="1579157"/>
                  <a:pt x="10914776" y="1557588"/>
                  <a:pt x="10868864" y="1536005"/>
                </a:cubicBezTo>
                <a:lnTo>
                  <a:pt x="10868852" y="1535993"/>
                </a:lnTo>
                <a:cubicBezTo>
                  <a:pt x="10622663" y="1420263"/>
                  <a:pt x="10375813" y="1304228"/>
                  <a:pt x="10122349" y="1212187"/>
                </a:cubicBezTo>
                <a:cubicBezTo>
                  <a:pt x="9821603" y="1102984"/>
                  <a:pt x="9509252" y="1034004"/>
                  <a:pt x="9192457" y="1013092"/>
                </a:cubicBezTo>
                <a:cubicBezTo>
                  <a:pt x="8593528" y="973979"/>
                  <a:pt x="7977282" y="1069829"/>
                  <a:pt x="7401995" y="1263747"/>
                </a:cubicBezTo>
                <a:cubicBezTo>
                  <a:pt x="7100499" y="1365452"/>
                  <a:pt x="6811064" y="1499862"/>
                  <a:pt x="6521707" y="1638327"/>
                </a:cubicBezTo>
                <a:cubicBezTo>
                  <a:pt x="6308860" y="1740219"/>
                  <a:pt x="6096025" y="1841780"/>
                  <a:pt x="5871611" y="1906616"/>
                </a:cubicBezTo>
                <a:cubicBezTo>
                  <a:pt x="5469482" y="2023106"/>
                  <a:pt x="5049792" y="2061100"/>
                  <a:pt x="4636401" y="2069198"/>
                </a:cubicBezTo>
                <a:cubicBezTo>
                  <a:pt x="4171613" y="2078411"/>
                  <a:pt x="3706508" y="2044904"/>
                  <a:pt x="3246392" y="1979574"/>
                </a:cubicBezTo>
                <a:cubicBezTo>
                  <a:pt x="2422542" y="1862564"/>
                  <a:pt x="1559484" y="1662533"/>
                  <a:pt x="849919" y="1167195"/>
                </a:cubicBezTo>
                <a:cubicBezTo>
                  <a:pt x="541989" y="952307"/>
                  <a:pt x="283185" y="671390"/>
                  <a:pt x="84269" y="333407"/>
                </a:cubicBezTo>
                <a:cubicBezTo>
                  <a:pt x="55052" y="283822"/>
                  <a:pt x="27011" y="233451"/>
                  <a:pt x="0" y="182406"/>
                </a:cubicBezTo>
                <a:lnTo>
                  <a:pt x="0" y="145534"/>
                </a:lnTo>
                <a:cubicBezTo>
                  <a:pt x="73108" y="286600"/>
                  <a:pt x="154462" y="423096"/>
                  <a:pt x="248048" y="552745"/>
                </a:cubicBezTo>
                <a:cubicBezTo>
                  <a:pt x="494220" y="893774"/>
                  <a:pt x="803239" y="1142055"/>
                  <a:pt x="1166708" y="1340777"/>
                </a:cubicBezTo>
                <a:cubicBezTo>
                  <a:pt x="1530180" y="1539503"/>
                  <a:pt x="1917125" y="1674636"/>
                  <a:pt x="2311674" y="1776172"/>
                </a:cubicBezTo>
                <a:cubicBezTo>
                  <a:pt x="2754421" y="1890166"/>
                  <a:pt x="3205585" y="1965634"/>
                  <a:pt x="3658933" y="2009749"/>
                </a:cubicBezTo>
                <a:cubicBezTo>
                  <a:pt x="4110885" y="2053800"/>
                  <a:pt x="4567191" y="2067525"/>
                  <a:pt x="5020996" y="2031901"/>
                </a:cubicBezTo>
                <a:cubicBezTo>
                  <a:pt x="5420142" y="2000637"/>
                  <a:pt x="5822577" y="1932773"/>
                  <a:pt x="6197434" y="1768467"/>
                </a:cubicBezTo>
                <a:cubicBezTo>
                  <a:pt x="6322496" y="1713643"/>
                  <a:pt x="6446009" y="1654562"/>
                  <a:pt x="6569523" y="1595493"/>
                </a:cubicBezTo>
                <a:cubicBezTo>
                  <a:pt x="6732599" y="1517503"/>
                  <a:pt x="6895663" y="1439500"/>
                  <a:pt x="7062319" y="1371281"/>
                </a:cubicBezTo>
                <a:cubicBezTo>
                  <a:pt x="7330004" y="1261615"/>
                  <a:pt x="7604215" y="1172225"/>
                  <a:pt x="7883529" y="1108957"/>
                </a:cubicBezTo>
                <a:cubicBezTo>
                  <a:pt x="8453814" y="979592"/>
                  <a:pt x="9058925" y="936764"/>
                  <a:pt x="9631406" y="1053664"/>
                </a:cubicBezTo>
                <a:cubicBezTo>
                  <a:pt x="10061049" y="1141624"/>
                  <a:pt x="10459358" y="1327103"/>
                  <a:pt x="10858250" y="1512839"/>
                </a:cubicBezTo>
                <a:lnTo>
                  <a:pt x="10858250" y="1512839"/>
                </a:lnTo>
                <a:cubicBezTo>
                  <a:pt x="11013530" y="1585151"/>
                  <a:pt x="11168899" y="1657489"/>
                  <a:pt x="11326224" y="1724137"/>
                </a:cubicBezTo>
                <a:cubicBezTo>
                  <a:pt x="11601374" y="1840602"/>
                  <a:pt x="11892497" y="1945674"/>
                  <a:pt x="12188825" y="2000472"/>
                </a:cubicBezTo>
                <a:close/>
                <a:moveTo>
                  <a:pt x="12188825" y="2151725"/>
                </a:moveTo>
                <a:cubicBezTo>
                  <a:pt x="11769021" y="2073139"/>
                  <a:pt x="11359680" y="1920873"/>
                  <a:pt x="10959062" y="1771369"/>
                </a:cubicBezTo>
                <a:cubicBezTo>
                  <a:pt x="10667837" y="1662660"/>
                  <a:pt x="10372424" y="1553418"/>
                  <a:pt x="10074293" y="1480802"/>
                </a:cubicBezTo>
                <a:cubicBezTo>
                  <a:pt x="9776149" y="1408198"/>
                  <a:pt x="9465790" y="1382307"/>
                  <a:pt x="9166339" y="1378809"/>
                </a:cubicBezTo>
                <a:cubicBezTo>
                  <a:pt x="8985945" y="1376693"/>
                  <a:pt x="8805499" y="1381242"/>
                  <a:pt x="8625117" y="1385805"/>
                </a:cubicBezTo>
                <a:cubicBezTo>
                  <a:pt x="8506086" y="1388808"/>
                  <a:pt x="8387080" y="1391812"/>
                  <a:pt x="8268137" y="1392901"/>
                </a:cubicBezTo>
                <a:cubicBezTo>
                  <a:pt x="8252761" y="1393054"/>
                  <a:pt x="8237411" y="1393206"/>
                  <a:pt x="8222087" y="1393345"/>
                </a:cubicBezTo>
                <a:cubicBezTo>
                  <a:pt x="7953882" y="1395930"/>
                  <a:pt x="7693980" y="1398440"/>
                  <a:pt x="7414526" y="1434520"/>
                </a:cubicBezTo>
                <a:cubicBezTo>
                  <a:pt x="7119100" y="1472653"/>
                  <a:pt x="6831139" y="1551365"/>
                  <a:pt x="6553119" y="1671100"/>
                </a:cubicBezTo>
                <a:cubicBezTo>
                  <a:pt x="6454923" y="1713403"/>
                  <a:pt x="6358123" y="1759874"/>
                  <a:pt x="6261349" y="1806334"/>
                </a:cubicBezTo>
                <a:cubicBezTo>
                  <a:pt x="6116658" y="1875807"/>
                  <a:pt x="5971991" y="1945256"/>
                  <a:pt x="5822716" y="2000713"/>
                </a:cubicBezTo>
                <a:cubicBezTo>
                  <a:pt x="5436597" y="2144184"/>
                  <a:pt x="5025592" y="2198526"/>
                  <a:pt x="4621406" y="2218626"/>
                </a:cubicBezTo>
                <a:cubicBezTo>
                  <a:pt x="4155640" y="2241488"/>
                  <a:pt x="3687970" y="2214089"/>
                  <a:pt x="3226433" y="2149304"/>
                </a:cubicBezTo>
                <a:cubicBezTo>
                  <a:pt x="2395257" y="2032852"/>
                  <a:pt x="1545365" y="1805763"/>
                  <a:pt x="843323" y="1284332"/>
                </a:cubicBezTo>
                <a:cubicBezTo>
                  <a:pt x="523641" y="1047027"/>
                  <a:pt x="249927" y="745092"/>
                  <a:pt x="37916" y="388990"/>
                </a:cubicBezTo>
                <a:cubicBezTo>
                  <a:pt x="25050" y="367386"/>
                  <a:pt x="12414" y="345635"/>
                  <a:pt x="0" y="323744"/>
                </a:cubicBezTo>
                <a:lnTo>
                  <a:pt x="0" y="287455"/>
                </a:lnTo>
                <a:cubicBezTo>
                  <a:pt x="69713" y="413037"/>
                  <a:pt x="146282" y="533839"/>
                  <a:pt x="231067" y="648157"/>
                </a:cubicBezTo>
                <a:cubicBezTo>
                  <a:pt x="488936" y="996328"/>
                  <a:pt x="814927" y="1269162"/>
                  <a:pt x="1172736" y="1479750"/>
                </a:cubicBezTo>
                <a:cubicBezTo>
                  <a:pt x="1934392" y="1927589"/>
                  <a:pt x="2819745" y="2108826"/>
                  <a:pt x="3675375" y="2180721"/>
                </a:cubicBezTo>
                <a:cubicBezTo>
                  <a:pt x="4125968" y="2218461"/>
                  <a:pt x="4581716" y="2221261"/>
                  <a:pt x="5032119" y="2164588"/>
                </a:cubicBezTo>
                <a:cubicBezTo>
                  <a:pt x="5230047" y="2139825"/>
                  <a:pt x="5427773" y="2102921"/>
                  <a:pt x="5621131" y="2047400"/>
                </a:cubicBezTo>
                <a:cubicBezTo>
                  <a:pt x="5838079" y="1984884"/>
                  <a:pt x="6042547" y="1888075"/>
                  <a:pt x="6248474" y="1790581"/>
                </a:cubicBezTo>
                <a:lnTo>
                  <a:pt x="6248487" y="1790581"/>
                </a:lnTo>
                <a:lnTo>
                  <a:pt x="6248500" y="1790581"/>
                </a:lnTo>
                <a:lnTo>
                  <a:pt x="6260028" y="1785119"/>
                </a:lnTo>
                <a:lnTo>
                  <a:pt x="6273766" y="1778605"/>
                </a:lnTo>
                <a:cubicBezTo>
                  <a:pt x="6536016" y="1654650"/>
                  <a:pt x="6799942" y="1541353"/>
                  <a:pt x="7079092" y="1475897"/>
                </a:cubicBezTo>
                <a:cubicBezTo>
                  <a:pt x="7340352" y="1414826"/>
                  <a:pt x="7606437" y="1390456"/>
                  <a:pt x="7872318" y="1381331"/>
                </a:cubicBezTo>
                <a:cubicBezTo>
                  <a:pt x="8025390" y="1376072"/>
                  <a:pt x="8178524" y="1374526"/>
                  <a:pt x="8331646" y="1372992"/>
                </a:cubicBezTo>
                <a:lnTo>
                  <a:pt x="8331659" y="1372992"/>
                </a:lnTo>
                <a:lnTo>
                  <a:pt x="8331672" y="1372992"/>
                </a:lnTo>
                <a:cubicBezTo>
                  <a:pt x="8462473" y="1371674"/>
                  <a:pt x="8593249" y="1370356"/>
                  <a:pt x="8723974" y="1366719"/>
                </a:cubicBezTo>
                <a:cubicBezTo>
                  <a:pt x="9026561" y="1358241"/>
                  <a:pt x="9329213" y="1354122"/>
                  <a:pt x="9630594" y="1385462"/>
                </a:cubicBezTo>
                <a:cubicBezTo>
                  <a:pt x="10100219" y="1434545"/>
                  <a:pt x="10544019" y="1598610"/>
                  <a:pt x="10987641" y="1762599"/>
                </a:cubicBezTo>
                <a:cubicBezTo>
                  <a:pt x="11091247" y="1800910"/>
                  <a:pt x="11194852" y="1839208"/>
                  <a:pt x="11298762" y="1876035"/>
                </a:cubicBezTo>
                <a:cubicBezTo>
                  <a:pt x="11587065" y="1978155"/>
                  <a:pt x="11885679" y="2076181"/>
                  <a:pt x="12188825" y="2134147"/>
                </a:cubicBezTo>
                <a:close/>
                <a:moveTo>
                  <a:pt x="12188825" y="2288023"/>
                </a:moveTo>
                <a:cubicBezTo>
                  <a:pt x="11856921" y="2219120"/>
                  <a:pt x="11530210" y="2120004"/>
                  <a:pt x="11204476" y="2021180"/>
                </a:cubicBezTo>
                <a:lnTo>
                  <a:pt x="11204438" y="2021167"/>
                </a:lnTo>
                <a:lnTo>
                  <a:pt x="11204425" y="2021167"/>
                </a:lnTo>
                <a:cubicBezTo>
                  <a:pt x="11110965" y="1992817"/>
                  <a:pt x="11017593" y="1964481"/>
                  <a:pt x="10924209" y="1936904"/>
                </a:cubicBezTo>
                <a:cubicBezTo>
                  <a:pt x="10630433" y="1850183"/>
                  <a:pt x="10333825" y="1769848"/>
                  <a:pt x="10031289" y="1728179"/>
                </a:cubicBezTo>
                <a:cubicBezTo>
                  <a:pt x="9749079" y="1689400"/>
                  <a:pt x="9467467" y="1699272"/>
                  <a:pt x="9183835" y="1720880"/>
                </a:cubicBezTo>
                <a:cubicBezTo>
                  <a:pt x="9128643" y="1725024"/>
                  <a:pt x="9073425" y="1729510"/>
                  <a:pt x="9018182" y="1734009"/>
                </a:cubicBezTo>
                <a:lnTo>
                  <a:pt x="9018182" y="1734009"/>
                </a:lnTo>
                <a:cubicBezTo>
                  <a:pt x="8774608" y="1753817"/>
                  <a:pt x="8530628" y="1773663"/>
                  <a:pt x="8286675" y="1763689"/>
                </a:cubicBezTo>
                <a:cubicBezTo>
                  <a:pt x="8111727" y="1756491"/>
                  <a:pt x="7938138" y="1735885"/>
                  <a:pt x="7764511" y="1715265"/>
                </a:cubicBezTo>
                <a:cubicBezTo>
                  <a:pt x="7662518" y="1703163"/>
                  <a:pt x="7560513" y="1691047"/>
                  <a:pt x="7458215" y="1681657"/>
                </a:cubicBezTo>
                <a:cubicBezTo>
                  <a:pt x="7178990" y="1656120"/>
                  <a:pt x="6903192" y="1656323"/>
                  <a:pt x="6622354" y="1727305"/>
                </a:cubicBezTo>
                <a:cubicBezTo>
                  <a:pt x="6391922" y="1785537"/>
                  <a:pt x="6174249" y="1889329"/>
                  <a:pt x="5957301" y="1992779"/>
                </a:cubicBezTo>
                <a:lnTo>
                  <a:pt x="5957289" y="1992779"/>
                </a:lnTo>
                <a:lnTo>
                  <a:pt x="5957276" y="1992792"/>
                </a:lnTo>
                <a:lnTo>
                  <a:pt x="5957250" y="1992792"/>
                </a:lnTo>
                <a:lnTo>
                  <a:pt x="5957238" y="1992805"/>
                </a:lnTo>
                <a:lnTo>
                  <a:pt x="5957187" y="1992830"/>
                </a:lnTo>
                <a:cubicBezTo>
                  <a:pt x="5909778" y="2015439"/>
                  <a:pt x="5862394" y="2038035"/>
                  <a:pt x="5814920" y="2060124"/>
                </a:cubicBezTo>
                <a:cubicBezTo>
                  <a:pt x="5013861" y="2432534"/>
                  <a:pt x="4093198" y="2435829"/>
                  <a:pt x="3247700" y="2325180"/>
                </a:cubicBezTo>
                <a:cubicBezTo>
                  <a:pt x="2397199" y="2213658"/>
                  <a:pt x="1553631" y="1956357"/>
                  <a:pt x="847649" y="1407932"/>
                </a:cubicBezTo>
                <a:cubicBezTo>
                  <a:pt x="517997" y="1151734"/>
                  <a:pt x="238591" y="851378"/>
                  <a:pt x="3196" y="464475"/>
                </a:cubicBezTo>
                <a:cubicBezTo>
                  <a:pt x="2129" y="462723"/>
                  <a:pt x="1064" y="460969"/>
                  <a:pt x="0" y="459212"/>
                </a:cubicBezTo>
                <a:lnTo>
                  <a:pt x="0" y="424654"/>
                </a:lnTo>
                <a:cubicBezTo>
                  <a:pt x="64113" y="532576"/>
                  <a:pt x="133513" y="636643"/>
                  <a:pt x="208331" y="736099"/>
                </a:cubicBezTo>
                <a:cubicBezTo>
                  <a:pt x="482220" y="1100047"/>
                  <a:pt x="821955" y="1394777"/>
                  <a:pt x="1193818" y="1626643"/>
                </a:cubicBezTo>
                <a:cubicBezTo>
                  <a:pt x="1952485" y="2099879"/>
                  <a:pt x="2840174" y="2295880"/>
                  <a:pt x="3705644" y="2350831"/>
                </a:cubicBezTo>
                <a:cubicBezTo>
                  <a:pt x="4154460" y="2379446"/>
                  <a:pt x="4609319" y="2366938"/>
                  <a:pt x="5054389" y="2282878"/>
                </a:cubicBezTo>
                <a:cubicBezTo>
                  <a:pt x="5245626" y="2246557"/>
                  <a:pt x="5435315" y="2196777"/>
                  <a:pt x="5618833" y="2125162"/>
                </a:cubicBezTo>
                <a:cubicBezTo>
                  <a:pt x="5743730" y="2076409"/>
                  <a:pt x="5865276" y="2018126"/>
                  <a:pt x="5986808" y="1959855"/>
                </a:cubicBezTo>
                <a:cubicBezTo>
                  <a:pt x="6106246" y="1902573"/>
                  <a:pt x="6225684" y="1845303"/>
                  <a:pt x="6348309" y="1797070"/>
                </a:cubicBezTo>
                <a:cubicBezTo>
                  <a:pt x="6601722" y="1697574"/>
                  <a:pt x="6863794" y="1647756"/>
                  <a:pt x="7131504" y="1646527"/>
                </a:cubicBezTo>
                <a:cubicBezTo>
                  <a:pt x="7339984" y="1645564"/>
                  <a:pt x="7546965" y="1670416"/>
                  <a:pt x="7753782" y="1695242"/>
                </a:cubicBezTo>
                <a:lnTo>
                  <a:pt x="7753833" y="1695255"/>
                </a:lnTo>
                <a:lnTo>
                  <a:pt x="7753871" y="1695255"/>
                </a:lnTo>
                <a:cubicBezTo>
                  <a:pt x="7812593" y="1702301"/>
                  <a:pt x="7871302" y="1709360"/>
                  <a:pt x="7930037" y="1715810"/>
                </a:cubicBezTo>
                <a:cubicBezTo>
                  <a:pt x="8219039" y="1747759"/>
                  <a:pt x="8511736" y="1751548"/>
                  <a:pt x="8795266" y="1731804"/>
                </a:cubicBezTo>
                <a:cubicBezTo>
                  <a:pt x="8873541" y="1726354"/>
                  <a:pt x="8951829" y="1719942"/>
                  <a:pt x="9030141" y="1713517"/>
                </a:cubicBezTo>
                <a:lnTo>
                  <a:pt x="9030155" y="1713517"/>
                </a:lnTo>
                <a:cubicBezTo>
                  <a:pt x="9235561" y="1696661"/>
                  <a:pt x="9441146" y="1679806"/>
                  <a:pt x="9646859" y="1680427"/>
                </a:cubicBezTo>
                <a:cubicBezTo>
                  <a:pt x="10156376" y="1682303"/>
                  <a:pt x="10658581" y="1835000"/>
                  <a:pt x="11141208" y="1981754"/>
                </a:cubicBezTo>
                <a:lnTo>
                  <a:pt x="11141259" y="1981767"/>
                </a:lnTo>
                <a:lnTo>
                  <a:pt x="11141525" y="1981843"/>
                </a:lnTo>
                <a:cubicBezTo>
                  <a:pt x="11192312" y="1997291"/>
                  <a:pt x="11242883" y="2012663"/>
                  <a:pt x="11293225" y="2027795"/>
                </a:cubicBezTo>
                <a:lnTo>
                  <a:pt x="11310239" y="2032915"/>
                </a:lnTo>
                <a:cubicBezTo>
                  <a:pt x="11599343" y="2119801"/>
                  <a:pt x="11892294" y="2207841"/>
                  <a:pt x="12188825" y="2270027"/>
                </a:cubicBezTo>
                <a:close/>
                <a:moveTo>
                  <a:pt x="12188825" y="2427528"/>
                </a:moveTo>
                <a:cubicBezTo>
                  <a:pt x="11983379" y="2378255"/>
                  <a:pt x="11779102" y="2323216"/>
                  <a:pt x="11574826" y="2268164"/>
                </a:cubicBezTo>
                <a:lnTo>
                  <a:pt x="11574813" y="2268164"/>
                </a:lnTo>
                <a:cubicBezTo>
                  <a:pt x="11347313" y="2206865"/>
                  <a:pt x="11119801" y="2145566"/>
                  <a:pt x="10890664" y="2092225"/>
                </a:cubicBezTo>
                <a:cubicBezTo>
                  <a:pt x="10602056" y="2025083"/>
                  <a:pt x="10310007" y="1970538"/>
                  <a:pt x="10014554" y="1954773"/>
                </a:cubicBezTo>
                <a:cubicBezTo>
                  <a:pt x="9724689" y="1939603"/>
                  <a:pt x="9443254" y="1978459"/>
                  <a:pt x="9157655" y="2032991"/>
                </a:cubicBezTo>
                <a:cubicBezTo>
                  <a:pt x="9150125" y="2034423"/>
                  <a:pt x="9142609" y="2035855"/>
                  <a:pt x="9135080" y="2037300"/>
                </a:cubicBezTo>
                <a:lnTo>
                  <a:pt x="9117089" y="2040734"/>
                </a:lnTo>
                <a:cubicBezTo>
                  <a:pt x="8858445" y="2090121"/>
                  <a:pt x="8598099" y="2139825"/>
                  <a:pt x="8335544" y="2143842"/>
                </a:cubicBezTo>
                <a:cubicBezTo>
                  <a:pt x="8073307" y="2147847"/>
                  <a:pt x="7815729" y="2093821"/>
                  <a:pt x="7563890" y="2026705"/>
                </a:cubicBezTo>
                <a:cubicBezTo>
                  <a:pt x="7528872" y="2017365"/>
                  <a:pt x="7493867" y="2007848"/>
                  <a:pt x="7458838" y="1998318"/>
                </a:cubicBezTo>
                <a:lnTo>
                  <a:pt x="7458812" y="1998305"/>
                </a:lnTo>
                <a:cubicBezTo>
                  <a:pt x="7241889" y="1939286"/>
                  <a:pt x="7024229" y="1880066"/>
                  <a:pt x="6800120" y="1865099"/>
                </a:cubicBezTo>
                <a:cubicBezTo>
                  <a:pt x="6509341" y="1845836"/>
                  <a:pt x="6233594" y="1916133"/>
                  <a:pt x="5963193" y="2035006"/>
                </a:cubicBezTo>
                <a:cubicBezTo>
                  <a:pt x="5883698" y="2069996"/>
                  <a:pt x="5805182" y="2107737"/>
                  <a:pt x="5726666" y="2145464"/>
                </a:cubicBezTo>
                <a:cubicBezTo>
                  <a:pt x="5583498" y="2214279"/>
                  <a:pt x="5440342" y="2283081"/>
                  <a:pt x="5291258" y="2335205"/>
                </a:cubicBezTo>
                <a:cubicBezTo>
                  <a:pt x="5088720" y="2405844"/>
                  <a:pt x="4880329" y="2453736"/>
                  <a:pt x="4670504" y="2485976"/>
                </a:cubicBezTo>
                <a:cubicBezTo>
                  <a:pt x="4221714" y="2554892"/>
                  <a:pt x="3760837" y="2553701"/>
                  <a:pt x="3315576" y="2505011"/>
                </a:cubicBezTo>
                <a:cubicBezTo>
                  <a:pt x="2870329" y="2456334"/>
                  <a:pt x="2409071" y="2353238"/>
                  <a:pt x="2003703" y="2200034"/>
                </a:cubicBezTo>
                <a:cubicBezTo>
                  <a:pt x="1598336" y="2046830"/>
                  <a:pt x="1216571" y="1821922"/>
                  <a:pt x="869769" y="1544598"/>
                </a:cubicBezTo>
                <a:cubicBezTo>
                  <a:pt x="533285" y="1275524"/>
                  <a:pt x="236320" y="951448"/>
                  <a:pt x="0" y="581612"/>
                </a:cubicBezTo>
                <a:lnTo>
                  <a:pt x="0" y="556480"/>
                </a:lnTo>
                <a:cubicBezTo>
                  <a:pt x="312749" y="1049618"/>
                  <a:pt x="735446" y="1457344"/>
                  <a:pt x="1216794" y="1773954"/>
                </a:cubicBezTo>
                <a:cubicBezTo>
                  <a:pt x="1985852" y="2279824"/>
                  <a:pt x="2890326" y="2492883"/>
                  <a:pt x="3782015" y="2518330"/>
                </a:cubicBezTo>
                <a:cubicBezTo>
                  <a:pt x="4227440" y="2530876"/>
                  <a:pt x="4679315" y="2494530"/>
                  <a:pt x="5113200" y="2371576"/>
                </a:cubicBezTo>
                <a:cubicBezTo>
                  <a:pt x="5310849" y="2315638"/>
                  <a:pt x="5497529" y="2227041"/>
                  <a:pt x="5684589" y="2138266"/>
                </a:cubicBezTo>
                <a:cubicBezTo>
                  <a:pt x="5948299" y="2013120"/>
                  <a:pt x="6212771" y="1887606"/>
                  <a:pt x="6509836" y="1852704"/>
                </a:cubicBezTo>
                <a:cubicBezTo>
                  <a:pt x="6839683" y="1813950"/>
                  <a:pt x="7154701" y="1898163"/>
                  <a:pt x="7470328" y="1982552"/>
                </a:cubicBezTo>
                <a:lnTo>
                  <a:pt x="7470328" y="1982552"/>
                </a:lnTo>
                <a:cubicBezTo>
                  <a:pt x="7640578" y="2028061"/>
                  <a:pt x="7810993" y="2073621"/>
                  <a:pt x="7984036" y="2099955"/>
                </a:cubicBezTo>
                <a:cubicBezTo>
                  <a:pt x="8269927" y="2143284"/>
                  <a:pt x="8555045" y="2119877"/>
                  <a:pt x="8840021" y="2072176"/>
                </a:cubicBezTo>
                <a:cubicBezTo>
                  <a:pt x="8927489" y="2057539"/>
                  <a:pt x="9014842" y="2040430"/>
                  <a:pt x="9102246" y="2023309"/>
                </a:cubicBezTo>
                <a:cubicBezTo>
                  <a:pt x="9278375" y="1988813"/>
                  <a:pt x="9454719" y="1954279"/>
                  <a:pt x="9632651" y="1939870"/>
                </a:cubicBezTo>
                <a:cubicBezTo>
                  <a:pt x="10184551" y="1895248"/>
                  <a:pt x="10737124" y="2028264"/>
                  <a:pt x="11265051" y="2165944"/>
                </a:cubicBezTo>
                <a:cubicBezTo>
                  <a:pt x="11378179" y="2195434"/>
                  <a:pt x="11491205" y="2226077"/>
                  <a:pt x="11604294" y="2256733"/>
                </a:cubicBezTo>
                <a:lnTo>
                  <a:pt x="11604333" y="2256746"/>
                </a:lnTo>
                <a:cubicBezTo>
                  <a:pt x="11798719" y="2309441"/>
                  <a:pt x="11993283" y="2362186"/>
                  <a:pt x="12188825" y="2409279"/>
                </a:cubicBezTo>
                <a:close/>
                <a:moveTo>
                  <a:pt x="12188825" y="2573280"/>
                </a:moveTo>
                <a:cubicBezTo>
                  <a:pt x="12187429" y="2572875"/>
                  <a:pt x="12186044" y="2572482"/>
                  <a:pt x="12184648" y="2572089"/>
                </a:cubicBezTo>
                <a:lnTo>
                  <a:pt x="12184115" y="2571937"/>
                </a:lnTo>
                <a:lnTo>
                  <a:pt x="12183899" y="2571874"/>
                </a:lnTo>
                <a:cubicBezTo>
                  <a:pt x="11719467" y="2440011"/>
                  <a:pt x="11254425" y="2307983"/>
                  <a:pt x="10779975" y="2226762"/>
                </a:cubicBezTo>
                <a:cubicBezTo>
                  <a:pt x="10500749" y="2179111"/>
                  <a:pt x="10217981" y="2151218"/>
                  <a:pt x="9934933" y="2161635"/>
                </a:cubicBezTo>
                <a:cubicBezTo>
                  <a:pt x="9654972" y="2171900"/>
                  <a:pt x="9380926" y="2236368"/>
                  <a:pt x="9119425" y="2318628"/>
                </a:cubicBezTo>
                <a:cubicBezTo>
                  <a:pt x="9108125" y="2322177"/>
                  <a:pt x="9096825" y="2325738"/>
                  <a:pt x="9085512" y="2329299"/>
                </a:cubicBezTo>
                <a:cubicBezTo>
                  <a:pt x="8835222" y="2408151"/>
                  <a:pt x="8583714" y="2487370"/>
                  <a:pt x="8324142" y="2513413"/>
                </a:cubicBezTo>
                <a:cubicBezTo>
                  <a:pt x="8068926" y="2538974"/>
                  <a:pt x="7820731" y="2499143"/>
                  <a:pt x="7578199" y="2414424"/>
                </a:cubicBezTo>
                <a:cubicBezTo>
                  <a:pt x="7461517" y="2373680"/>
                  <a:pt x="7346230" y="2325092"/>
                  <a:pt x="7230970" y="2276503"/>
                </a:cubicBezTo>
                <a:cubicBezTo>
                  <a:pt x="6891536" y="2133425"/>
                  <a:pt x="6552230" y="1990397"/>
                  <a:pt x="6177741" y="2048186"/>
                </a:cubicBezTo>
                <a:cubicBezTo>
                  <a:pt x="5930016" y="2086636"/>
                  <a:pt x="5699228" y="2199211"/>
                  <a:pt x="5471297" y="2310416"/>
                </a:cubicBezTo>
                <a:lnTo>
                  <a:pt x="5471259" y="2310429"/>
                </a:lnTo>
                <a:cubicBezTo>
                  <a:pt x="5447846" y="2321847"/>
                  <a:pt x="5424446" y="2333266"/>
                  <a:pt x="5401072" y="2344583"/>
                </a:cubicBezTo>
                <a:cubicBezTo>
                  <a:pt x="5198814" y="2442330"/>
                  <a:pt x="4993292" y="2521840"/>
                  <a:pt x="4778654" y="2576588"/>
                </a:cubicBezTo>
                <a:cubicBezTo>
                  <a:pt x="4334880" y="2689999"/>
                  <a:pt x="3880097" y="2717474"/>
                  <a:pt x="3421124" y="2684600"/>
                </a:cubicBezTo>
                <a:cubicBezTo>
                  <a:pt x="2962151" y="2651726"/>
                  <a:pt x="2504347" y="2557845"/>
                  <a:pt x="2070513" y="2390725"/>
                </a:cubicBezTo>
                <a:cubicBezTo>
                  <a:pt x="1648793" y="2228270"/>
                  <a:pt x="1258340" y="1981424"/>
                  <a:pt x="899978" y="1688855"/>
                </a:cubicBezTo>
                <a:cubicBezTo>
                  <a:pt x="567820" y="1417563"/>
                  <a:pt x="252640" y="1091950"/>
                  <a:pt x="0" y="719120"/>
                </a:cubicBezTo>
                <a:lnTo>
                  <a:pt x="0" y="692852"/>
                </a:lnTo>
                <a:cubicBezTo>
                  <a:pt x="340082" y="1201786"/>
                  <a:pt x="799930" y="1622562"/>
                  <a:pt x="1275307" y="1946143"/>
                </a:cubicBezTo>
                <a:cubicBezTo>
                  <a:pt x="2058947" y="2479247"/>
                  <a:pt x="2987786" y="2704142"/>
                  <a:pt x="3907484" y="2675881"/>
                </a:cubicBezTo>
                <a:cubicBezTo>
                  <a:pt x="4358483" y="2661928"/>
                  <a:pt x="4816922" y="2585408"/>
                  <a:pt x="5239710" y="2399875"/>
                </a:cubicBezTo>
                <a:cubicBezTo>
                  <a:pt x="5322670" y="2363529"/>
                  <a:pt x="5404386" y="2323748"/>
                  <a:pt x="5486076" y="2283968"/>
                </a:cubicBezTo>
                <a:lnTo>
                  <a:pt x="5486076" y="2283968"/>
                </a:lnTo>
                <a:lnTo>
                  <a:pt x="5486089" y="2283968"/>
                </a:lnTo>
                <a:lnTo>
                  <a:pt x="5486089" y="2283968"/>
                </a:lnTo>
                <a:cubicBezTo>
                  <a:pt x="5639554" y="2209247"/>
                  <a:pt x="5792930" y="2134565"/>
                  <a:pt x="5954317" y="2082847"/>
                </a:cubicBezTo>
                <a:cubicBezTo>
                  <a:pt x="6179950" y="2010598"/>
                  <a:pt x="6410954" y="1997519"/>
                  <a:pt x="6640498" y="2045740"/>
                </a:cubicBezTo>
                <a:cubicBezTo>
                  <a:pt x="6850323" y="2089842"/>
                  <a:pt x="7048963" y="2174511"/>
                  <a:pt x="7247451" y="2259116"/>
                </a:cubicBezTo>
                <a:cubicBezTo>
                  <a:pt x="7492141" y="2363402"/>
                  <a:pt x="7736603" y="2467600"/>
                  <a:pt x="8001583" y="2495633"/>
                </a:cubicBezTo>
                <a:cubicBezTo>
                  <a:pt x="8351745" y="2532689"/>
                  <a:pt x="8682418" y="2430430"/>
                  <a:pt x="9013992" y="2327905"/>
                </a:cubicBezTo>
                <a:lnTo>
                  <a:pt x="9014004" y="2327892"/>
                </a:lnTo>
                <a:cubicBezTo>
                  <a:pt x="9217990" y="2264819"/>
                  <a:pt x="9422317" y="2201631"/>
                  <a:pt x="9631750" y="2170709"/>
                </a:cubicBezTo>
                <a:cubicBezTo>
                  <a:pt x="10163233" y="2092009"/>
                  <a:pt x="10701407" y="2177869"/>
                  <a:pt x="11220448" y="2297325"/>
                </a:cubicBezTo>
                <a:cubicBezTo>
                  <a:pt x="11541167" y="2371082"/>
                  <a:pt x="11858203" y="2460845"/>
                  <a:pt x="12175277" y="2550621"/>
                </a:cubicBezTo>
                <a:cubicBezTo>
                  <a:pt x="12179798" y="2551901"/>
                  <a:pt x="12184305" y="2553181"/>
                  <a:pt x="12188825" y="2554461"/>
                </a:cubicBezTo>
                <a:close/>
                <a:moveTo>
                  <a:pt x="12188825" y="2725091"/>
                </a:moveTo>
                <a:cubicBezTo>
                  <a:pt x="11699609" y="2559201"/>
                  <a:pt x="11199245" y="2423244"/>
                  <a:pt x="10689295" y="2364517"/>
                </a:cubicBezTo>
                <a:cubicBezTo>
                  <a:pt x="10400902" y="2331352"/>
                  <a:pt x="10099305" y="2326169"/>
                  <a:pt x="9819660" y="2362933"/>
                </a:cubicBezTo>
                <a:cubicBezTo>
                  <a:pt x="9540029" y="2399698"/>
                  <a:pt x="9268116" y="2493567"/>
                  <a:pt x="9017508" y="2604114"/>
                </a:cubicBezTo>
                <a:lnTo>
                  <a:pt x="9007122" y="2608689"/>
                </a:lnTo>
                <a:lnTo>
                  <a:pt x="8987938" y="2617167"/>
                </a:lnTo>
                <a:lnTo>
                  <a:pt x="8987938" y="2617167"/>
                </a:lnTo>
                <a:cubicBezTo>
                  <a:pt x="8746993" y="2723557"/>
                  <a:pt x="8503610" y="2831024"/>
                  <a:pt x="8246807" y="2877129"/>
                </a:cubicBezTo>
                <a:cubicBezTo>
                  <a:pt x="8005836" y="2920242"/>
                  <a:pt x="7766846" y="2897710"/>
                  <a:pt x="7537062" y="2810836"/>
                </a:cubicBezTo>
                <a:cubicBezTo>
                  <a:pt x="7358127" y="2743036"/>
                  <a:pt x="7190607" y="2644249"/>
                  <a:pt x="7023214" y="2545526"/>
                </a:cubicBezTo>
                <a:cubicBezTo>
                  <a:pt x="6796451" y="2411788"/>
                  <a:pt x="6569916" y="2278189"/>
                  <a:pt x="6315538" y="2221959"/>
                </a:cubicBezTo>
                <a:cubicBezTo>
                  <a:pt x="5926639" y="2136099"/>
                  <a:pt x="5581200" y="2301583"/>
                  <a:pt x="5234415" y="2467714"/>
                </a:cubicBezTo>
                <a:lnTo>
                  <a:pt x="5234415" y="2467714"/>
                </a:lnTo>
                <a:lnTo>
                  <a:pt x="5234402" y="2467714"/>
                </a:lnTo>
                <a:cubicBezTo>
                  <a:pt x="5102560" y="2530876"/>
                  <a:pt x="4970514" y="2594140"/>
                  <a:pt x="4835815" y="2643704"/>
                </a:cubicBezTo>
                <a:cubicBezTo>
                  <a:pt x="4383406" y="2810279"/>
                  <a:pt x="3901453" y="2869690"/>
                  <a:pt x="3428044" y="2850110"/>
                </a:cubicBezTo>
                <a:cubicBezTo>
                  <a:pt x="2949328" y="2830239"/>
                  <a:pt x="2451960" y="2720300"/>
                  <a:pt x="2024869" y="2536706"/>
                </a:cubicBezTo>
                <a:cubicBezTo>
                  <a:pt x="1597777" y="2353099"/>
                  <a:pt x="1205987" y="2072214"/>
                  <a:pt x="846330" y="1761205"/>
                </a:cubicBezTo>
                <a:cubicBezTo>
                  <a:pt x="548708" y="1503790"/>
                  <a:pt x="247946" y="1198377"/>
                  <a:pt x="0" y="851425"/>
                </a:cubicBezTo>
                <a:lnTo>
                  <a:pt x="0" y="812242"/>
                </a:lnTo>
                <a:cubicBezTo>
                  <a:pt x="48075" y="880859"/>
                  <a:pt x="97913" y="947647"/>
                  <a:pt x="148963" y="1012552"/>
                </a:cubicBezTo>
                <a:cubicBezTo>
                  <a:pt x="466576" y="1415510"/>
                  <a:pt x="855628" y="1771344"/>
                  <a:pt x="1243881" y="2055460"/>
                </a:cubicBezTo>
                <a:cubicBezTo>
                  <a:pt x="1632135" y="2339590"/>
                  <a:pt x="2021606" y="2550862"/>
                  <a:pt x="2498113" y="2684664"/>
                </a:cubicBezTo>
                <a:cubicBezTo>
                  <a:pt x="2974619" y="2818453"/>
                  <a:pt x="3473879" y="2864608"/>
                  <a:pt x="3965533" y="2818453"/>
                </a:cubicBezTo>
                <a:cubicBezTo>
                  <a:pt x="4204866" y="2796136"/>
                  <a:pt x="4434879" y="2753402"/>
                  <a:pt x="4675481" y="2679113"/>
                </a:cubicBezTo>
                <a:cubicBezTo>
                  <a:pt x="4881510" y="2615494"/>
                  <a:pt x="5076341" y="2521612"/>
                  <a:pt x="5270753" y="2427933"/>
                </a:cubicBezTo>
                <a:lnTo>
                  <a:pt x="5270854" y="2427883"/>
                </a:lnTo>
                <a:cubicBezTo>
                  <a:pt x="5303447" y="2412181"/>
                  <a:pt x="5336014" y="2396479"/>
                  <a:pt x="5368632" y="2380929"/>
                </a:cubicBezTo>
                <a:cubicBezTo>
                  <a:pt x="5595839" y="2272625"/>
                  <a:pt x="5833877" y="2177324"/>
                  <a:pt x="6083545" y="2177970"/>
                </a:cubicBezTo>
                <a:cubicBezTo>
                  <a:pt x="6300391" y="2178186"/>
                  <a:pt x="6507957" y="2249890"/>
                  <a:pt x="6703245" y="2347764"/>
                </a:cubicBezTo>
                <a:cubicBezTo>
                  <a:pt x="6811154" y="2401916"/>
                  <a:pt x="6917006" y="2463570"/>
                  <a:pt x="7022948" y="2525275"/>
                </a:cubicBezTo>
                <a:cubicBezTo>
                  <a:pt x="7316266" y="2696133"/>
                  <a:pt x="7610297" y="2867396"/>
                  <a:pt x="7950910" y="2880969"/>
                </a:cubicBezTo>
                <a:cubicBezTo>
                  <a:pt x="8300641" y="2894884"/>
                  <a:pt x="8620000" y="2756393"/>
                  <a:pt x="8940046" y="2617598"/>
                </a:cubicBezTo>
                <a:cubicBezTo>
                  <a:pt x="9142418" y="2529837"/>
                  <a:pt x="9345058" y="2441950"/>
                  <a:pt x="9555836" y="2392411"/>
                </a:cubicBezTo>
                <a:cubicBezTo>
                  <a:pt x="10080070" y="2269102"/>
                  <a:pt x="10624275" y="2314129"/>
                  <a:pt x="11145461" y="2419050"/>
                </a:cubicBezTo>
                <a:cubicBezTo>
                  <a:pt x="11498582" y="2490044"/>
                  <a:pt x="11845963" y="2589895"/>
                  <a:pt x="12188825" y="2705790"/>
                </a:cubicBezTo>
                <a:close/>
                <a:moveTo>
                  <a:pt x="12188825" y="2884327"/>
                </a:moveTo>
                <a:cubicBezTo>
                  <a:pt x="11740670" y="2702887"/>
                  <a:pt x="11272962" y="2572228"/>
                  <a:pt x="10797204" y="2518976"/>
                </a:cubicBezTo>
                <a:cubicBezTo>
                  <a:pt x="10282277" y="2461124"/>
                  <a:pt x="9746641" y="2495050"/>
                  <a:pt x="9257057" y="2702697"/>
                </a:cubicBezTo>
                <a:cubicBezTo>
                  <a:pt x="9107490" y="2766240"/>
                  <a:pt x="8962011" y="2847905"/>
                  <a:pt x="8816393" y="2929633"/>
                </a:cubicBezTo>
                <a:cubicBezTo>
                  <a:pt x="8487295" y="3114355"/>
                  <a:pt x="8157549" y="3299458"/>
                  <a:pt x="7778489" y="3276570"/>
                </a:cubicBezTo>
                <a:cubicBezTo>
                  <a:pt x="7411999" y="3254506"/>
                  <a:pt x="7108955" y="3028825"/>
                  <a:pt x="6812842" y="2808302"/>
                </a:cubicBezTo>
                <a:lnTo>
                  <a:pt x="6812830" y="2808289"/>
                </a:lnTo>
                <a:cubicBezTo>
                  <a:pt x="6742642" y="2756025"/>
                  <a:pt x="6672848" y="2704041"/>
                  <a:pt x="6602687" y="2655135"/>
                </a:cubicBezTo>
                <a:cubicBezTo>
                  <a:pt x="6408770" y="2519940"/>
                  <a:pt x="6199795" y="2399229"/>
                  <a:pt x="5969312" y="2364049"/>
                </a:cubicBezTo>
                <a:cubicBezTo>
                  <a:pt x="5679523" y="2319909"/>
                  <a:pt x="5401097" y="2425906"/>
                  <a:pt x="5138111" y="2553574"/>
                </a:cubicBezTo>
                <a:cubicBezTo>
                  <a:pt x="5133933" y="2555601"/>
                  <a:pt x="5129756" y="2557616"/>
                  <a:pt x="5125579" y="2559644"/>
                </a:cubicBezTo>
                <a:cubicBezTo>
                  <a:pt x="5112590" y="2565955"/>
                  <a:pt x="5099576" y="2572267"/>
                  <a:pt x="5086562" y="2578590"/>
                </a:cubicBezTo>
                <a:lnTo>
                  <a:pt x="5086562" y="2578590"/>
                </a:lnTo>
                <a:cubicBezTo>
                  <a:pt x="4856853" y="2690126"/>
                  <a:pt x="4625126" y="2802650"/>
                  <a:pt x="4389996" y="2872934"/>
                </a:cubicBezTo>
                <a:cubicBezTo>
                  <a:pt x="4137268" y="2948465"/>
                  <a:pt x="3877456" y="2992479"/>
                  <a:pt x="3616653" y="3006533"/>
                </a:cubicBezTo>
                <a:cubicBezTo>
                  <a:pt x="3088623" y="3034617"/>
                  <a:pt x="2554600" y="2938999"/>
                  <a:pt x="2066196" y="2720161"/>
                </a:cubicBezTo>
                <a:cubicBezTo>
                  <a:pt x="1618930" y="2519635"/>
                  <a:pt x="1219929" y="2210033"/>
                  <a:pt x="839263" y="1871144"/>
                </a:cubicBezTo>
                <a:cubicBezTo>
                  <a:pt x="535375" y="1600613"/>
                  <a:pt x="246180" y="1301630"/>
                  <a:pt x="0" y="964742"/>
                </a:cubicBezTo>
                <a:lnTo>
                  <a:pt x="0" y="934550"/>
                </a:lnTo>
                <a:cubicBezTo>
                  <a:pt x="38954" y="987806"/>
                  <a:pt x="78779" y="1039892"/>
                  <a:pt x="119118" y="1090789"/>
                </a:cubicBezTo>
                <a:cubicBezTo>
                  <a:pt x="445533" y="1502612"/>
                  <a:pt x="813984" y="1849904"/>
                  <a:pt x="1231889" y="2173877"/>
                </a:cubicBezTo>
                <a:cubicBezTo>
                  <a:pt x="1649796" y="2497851"/>
                  <a:pt x="2092161" y="2755455"/>
                  <a:pt x="2592703" y="2885493"/>
                </a:cubicBezTo>
                <a:cubicBezTo>
                  <a:pt x="3118714" y="3022134"/>
                  <a:pt x="3674385" y="3029737"/>
                  <a:pt x="4205196" y="2903958"/>
                </a:cubicBezTo>
                <a:cubicBezTo>
                  <a:pt x="4473883" y="2840149"/>
                  <a:pt x="4738914" y="2732834"/>
                  <a:pt x="4979948" y="2612149"/>
                </a:cubicBezTo>
                <a:cubicBezTo>
                  <a:pt x="4987426" y="2608410"/>
                  <a:pt x="4994905" y="2604659"/>
                  <a:pt x="5002396" y="2600907"/>
                </a:cubicBezTo>
                <a:cubicBezTo>
                  <a:pt x="5236281" y="2483682"/>
                  <a:pt x="5475640" y="2363719"/>
                  <a:pt x="5733801" y="2339209"/>
                </a:cubicBezTo>
                <a:cubicBezTo>
                  <a:pt x="6156881" y="2299163"/>
                  <a:pt x="6507055" y="2559010"/>
                  <a:pt x="6841549" y="2807224"/>
                </a:cubicBezTo>
                <a:lnTo>
                  <a:pt x="6841600" y="2807250"/>
                </a:lnTo>
                <a:cubicBezTo>
                  <a:pt x="6868403" y="2827146"/>
                  <a:pt x="6895104" y="2846954"/>
                  <a:pt x="6921742" y="2866534"/>
                </a:cubicBezTo>
                <a:cubicBezTo>
                  <a:pt x="7108802" y="3004189"/>
                  <a:pt x="7303100" y="3137534"/>
                  <a:pt x="7520251" y="3208174"/>
                </a:cubicBezTo>
                <a:cubicBezTo>
                  <a:pt x="7779352" y="3292500"/>
                  <a:pt x="8036804" y="3267066"/>
                  <a:pt x="8302279" y="3167569"/>
                </a:cubicBezTo>
                <a:cubicBezTo>
                  <a:pt x="8491993" y="3096461"/>
                  <a:pt x="8670343" y="2995495"/>
                  <a:pt x="8848604" y="2894580"/>
                </a:cubicBezTo>
                <a:lnTo>
                  <a:pt x="8848617" y="2894567"/>
                </a:lnTo>
                <a:lnTo>
                  <a:pt x="8848668" y="2894542"/>
                </a:lnTo>
                <a:cubicBezTo>
                  <a:pt x="8919833" y="2854267"/>
                  <a:pt x="8990973" y="2813992"/>
                  <a:pt x="9062811" y="2775631"/>
                </a:cubicBezTo>
                <a:cubicBezTo>
                  <a:pt x="9278591" y="2660496"/>
                  <a:pt x="9508757" y="2581936"/>
                  <a:pt x="9743480" y="2534767"/>
                </a:cubicBezTo>
                <a:cubicBezTo>
                  <a:pt x="10558684" y="2370512"/>
                  <a:pt x="11412537" y="2545057"/>
                  <a:pt x="12188825" y="2863011"/>
                </a:cubicBezTo>
                <a:close/>
              </a:path>
            </a:pathLst>
          </a:custGeom>
          <a:solidFill>
            <a:schemeClr val="accent1">
              <a:alpha val="50000"/>
            </a:schemeClr>
          </a:solidFill>
          <a:ln w="12690" cap="flat">
            <a:noFill/>
            <a:prstDash val="solid"/>
            <a:miter/>
          </a:ln>
        </p:spPr>
        <p:txBody>
          <a:bodyPr rtlCol="0" anchor="ctr"/>
          <a:lstStyle/>
          <a:p>
            <a:endParaRPr lang="zh-CN" altLang="en-US"/>
          </a:p>
        </p:txBody>
      </p:sp>
      <p:sp>
        <p:nvSpPr>
          <p:cNvPr id="2" name="标题 1"/>
          <p:cNvSpPr>
            <a:spLocks noGrp="1"/>
          </p:cNvSpPr>
          <p:nvPr>
            <p:ph type="ctrTitle"/>
            <p:custDataLst>
              <p:tags r:id="rId2"/>
            </p:custDataLst>
          </p:nvPr>
        </p:nvSpPr>
        <p:spPr>
          <a:xfrm>
            <a:off x="1112972" y="3477870"/>
            <a:ext cx="9844775" cy="1800000"/>
          </a:xfrm>
        </p:spPr>
        <p:txBody>
          <a:bodyPr wrap="square" anchor="b">
            <a:normAutofit/>
          </a:bodyPr>
          <a:lstStyle>
            <a:lvl1pPr algn="l">
              <a:lnSpc>
                <a:spcPct val="100000"/>
              </a:lnSpc>
              <a:defRPr sz="5400">
                <a:solidFill>
                  <a:schemeClr val="accent1"/>
                </a:solidFill>
                <a:latin typeface="+mj-ea"/>
                <a:ea typeface="+mj-ea"/>
                <a:cs typeface="+mj-ea"/>
                <a:sym typeface="+mj-ea"/>
              </a:defRPr>
            </a:lvl1pPr>
          </a:lstStyle>
          <a:p>
            <a:r>
              <a:rPr lang="zh-CN" altLang="en-US"/>
              <a:t>单击此处编辑母版标题样式</a:t>
            </a:r>
            <a:endParaRPr lang="zh-CN" altLang="en-US" dirty="0"/>
          </a:p>
        </p:txBody>
      </p:sp>
      <p:sp>
        <p:nvSpPr>
          <p:cNvPr id="4" name="日期占位符 3"/>
          <p:cNvSpPr>
            <a:spLocks noGrp="1"/>
          </p:cNvSpPr>
          <p:nvPr>
            <p:ph type="dt" sz="half" idx="10"/>
            <p:custDataLst>
              <p:tags r:id="rId3"/>
            </p:custDataLst>
          </p:nvPr>
        </p:nvSpPr>
        <p:spPr/>
        <p:txBody>
          <a:bodyPr wrap="square">
            <a:normAutofit/>
          </a:bodyPr>
          <a:lstStyle>
            <a:lvl1pPr>
              <a:defRPr>
                <a:latin typeface="+mn-ea"/>
                <a:ea typeface="+mn-ea"/>
                <a:cs typeface="+mn-ea"/>
                <a:sym typeface="+mn-ea"/>
              </a:defRPr>
            </a:lvl1pPr>
          </a:lstStyle>
          <a:p>
            <a:fld id="{5592522B-0F24-4480-B9DD-A9474A6880D6}" type="datetimeFigureOut">
              <a:rPr lang="zh-CN" altLang="en-US" smtClean="0"/>
              <a:t>2026/4/12</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a:xfrm>
            <a:off x="8610600" y="6356350"/>
            <a:ext cx="2743200" cy="365125"/>
          </a:xfrm>
        </p:spPr>
        <p:txBody>
          <a:bodyPr wrap="square">
            <a:normAutofit/>
          </a:bodyPr>
          <a:lstStyle>
            <a:lvl1pPr>
              <a:defRPr>
                <a:latin typeface="+mn-ea"/>
                <a:ea typeface="+mn-ea"/>
                <a:cs typeface="+mn-ea"/>
                <a:sym typeface="+mn-ea"/>
              </a:defRPr>
            </a:lvl1pPr>
          </a:lstStyle>
          <a:p>
            <a:fld id="{BE5F26B5-172A-4DC2-B0B7-181CFC56B87C}" type="slidenum">
              <a:rPr lang="zh-CN" altLang="en-US" smtClean="0"/>
              <a:t>‹#›</a:t>
            </a:fld>
            <a:endParaRPr lang="zh-CN" altLang="en-US"/>
          </a:p>
        </p:txBody>
      </p:sp>
      <p:sp>
        <p:nvSpPr>
          <p:cNvPr id="24" name="署名占位符 10"/>
          <p:cNvSpPr>
            <a:spLocks noGrp="1"/>
          </p:cNvSpPr>
          <p:nvPr>
            <p:ph type="body" sz="quarter" idx="17" hasCustomPrompt="1"/>
            <p:custDataLst>
              <p:tags r:id="rId6"/>
            </p:custDataLst>
          </p:nvPr>
        </p:nvSpPr>
        <p:spPr>
          <a:xfrm>
            <a:off x="1093850" y="5527799"/>
            <a:ext cx="10043122" cy="579632"/>
          </a:xfrm>
        </p:spPr>
        <p:txBody>
          <a:bodyPr wrap="square" anchor="t">
            <a:normAutofit/>
          </a:bodyPr>
          <a:lstStyle>
            <a:lvl1pPr marL="0" indent="0" algn="l">
              <a:lnSpc>
                <a:spcPct val="100000"/>
              </a:lnSpc>
              <a:buNone/>
              <a:defRPr sz="2400">
                <a:solidFill>
                  <a:schemeClr val="accent1"/>
                </a:solidFill>
                <a:latin typeface="+mn-ea"/>
                <a:ea typeface="+mn-ea"/>
                <a:cs typeface="+mn-ea"/>
                <a:sym typeface="+mn-ea"/>
              </a:defRPr>
            </a:lvl1pPr>
          </a:lstStyle>
          <a:p>
            <a:pPr lvl="0"/>
            <a:r>
              <a:rPr lang="zh-CN" altLang="en-US"/>
              <a:t>署名</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版2">
    <p:bg>
      <p:bgPr>
        <a:solidFill>
          <a:schemeClr val="bg1"/>
        </a:solidFill>
        <a:effectLst/>
      </p:bgPr>
    </p:bg>
    <p:spTree>
      <p:nvGrpSpPr>
        <p:cNvPr id="1" name=""/>
        <p:cNvGrpSpPr/>
        <p:nvPr/>
      </p:nvGrpSpPr>
      <p:grpSpPr>
        <a:xfrm>
          <a:off x="0" y="0"/>
          <a:ext cx="0" cy="0"/>
          <a:chOff x="0" y="0"/>
          <a:chExt cx="0" cy="0"/>
        </a:xfrm>
      </p:grpSpPr>
      <p:pic>
        <p:nvPicPr>
          <p:cNvPr id="7" name="图片 6"/>
          <p:cNvPicPr/>
          <p:nvPr userDrawn="1"/>
        </p:nvPicPr>
        <p:blipFill rotWithShape="1">
          <a:blip r:embed="rId4" cstate="print">
            <a:extLst>
              <a:ext uri="{28A0092B-C50C-407E-A947-70E740481C1C}">
                <a14:useLocalDpi xmlns:a14="http://schemas.microsoft.com/office/drawing/2010/main" val="0"/>
              </a:ext>
            </a:extLst>
          </a:blip>
          <a:srcRect l="1333" t="2665" r="80417" b="30422"/>
          <a:stretch>
            <a:fillRect/>
          </a:stretch>
        </p:blipFill>
        <p:spPr>
          <a:xfrm>
            <a:off x="0" y="0"/>
            <a:ext cx="720000" cy="720000"/>
          </a:xfrm>
          <a:prstGeom prst="rect">
            <a:avLst/>
          </a:prstGeom>
        </p:spPr>
      </p:pic>
      <p:sp>
        <p:nvSpPr>
          <p:cNvPr id="8" name="Rectangle 14"/>
          <p:cNvSpPr>
            <a:spLocks noChangeArrowheads="1"/>
          </p:cNvSpPr>
          <p:nvPr userDrawn="1"/>
        </p:nvSpPr>
        <p:spPr bwMode="auto">
          <a:xfrm>
            <a:off x="0" y="720000"/>
            <a:ext cx="10080000" cy="72000"/>
          </a:xfrm>
          <a:prstGeom prst="rect">
            <a:avLst/>
          </a:prstGeom>
          <a:gradFill flip="none" rotWithShape="1">
            <a:gsLst>
              <a:gs pos="0">
                <a:schemeClr val="tx1">
                  <a:lumMod val="75000"/>
                  <a:lumOff val="25000"/>
                </a:schemeClr>
              </a:gs>
              <a:gs pos="100000">
                <a:srgbClr val="FFFFFF"/>
              </a:gs>
            </a:gsLst>
            <a:lin ang="0" scaled="0"/>
            <a:tileRect/>
          </a:gradFill>
          <a:ln w="9525">
            <a:noFill/>
            <a:miter lim="800000"/>
          </a:ln>
        </p:spPr>
        <p:txBody>
          <a:bodyPr wrap="none" anchor="ctr"/>
          <a:lstStyle/>
          <a:p>
            <a:pPr>
              <a:defRPr/>
            </a:pPr>
            <a:endParaRPr lang="fr-FR"/>
          </a:p>
        </p:txBody>
      </p:sp>
      <p:sp>
        <p:nvSpPr>
          <p:cNvPr id="11" name="Title 1"/>
          <p:cNvSpPr>
            <a:spLocks noGrp="1"/>
          </p:cNvSpPr>
          <p:nvPr>
            <p:ph type="title"/>
          </p:nvPr>
        </p:nvSpPr>
        <p:spPr>
          <a:xfrm>
            <a:off x="846065" y="72000"/>
            <a:ext cx="8161071" cy="648000"/>
          </a:xfrm>
        </p:spPr>
        <p:txBody>
          <a:bodyPr>
            <a:noAutofit/>
          </a:bodyPr>
          <a:lstStyle>
            <a:lvl1pPr>
              <a:defRPr sz="3600" b="1">
                <a:solidFill>
                  <a:schemeClr val="tx1"/>
                </a:solidFill>
                <a:latin typeface="Microsoft YaHei" panose="020B0503020204020204" charset="-122"/>
                <a:ea typeface="Microsoft YaHei" panose="020B0503020204020204" charset="-122"/>
              </a:defRPr>
            </a:lvl1pPr>
          </a:lstStyle>
          <a:p>
            <a:r>
              <a:rPr lang="zh-CN" altLang="en-US" dirty="0"/>
              <a:t>单击此处编辑母版标题样式</a:t>
            </a:r>
            <a:endParaRPr lang="en-US" dirty="0"/>
          </a:p>
        </p:txBody>
      </p:sp>
      <p:sp>
        <p:nvSpPr>
          <p:cNvPr id="14" name="灯片编号占位符 13"/>
          <p:cNvSpPr>
            <a:spLocks noGrp="1"/>
          </p:cNvSpPr>
          <p:nvPr>
            <p:ph type="sldNum" sz="quarter" idx="12"/>
          </p:nvPr>
        </p:nvSpPr>
        <p:spPr>
          <a:xfrm>
            <a:off x="11442065" y="6530975"/>
            <a:ext cx="749935" cy="377825"/>
          </a:xfrm>
        </p:spPr>
        <p:txBody>
          <a:bodyPr/>
          <a:lstStyle>
            <a:lvl1pPr>
              <a:defRPr sz="1600" b="1">
                <a:solidFill>
                  <a:schemeClr val="tx1"/>
                </a:solidFill>
                <a:latin typeface="Microsoft YaHei" panose="020B0503020204020204" charset="-122"/>
                <a:ea typeface="Microsoft YaHei" panose="020B0503020204020204" charset="-122"/>
              </a:defRPr>
            </a:lvl1pPr>
          </a:lstStyle>
          <a:p>
            <a:fld id="{8141257D-CBAA-4317-A108-DEE4BE529EBA}" type="slidenum">
              <a:rPr lang="zh-CN" altLang="en-US" smtClean="0"/>
              <a:t>‹#›</a:t>
            </a:fld>
            <a:endParaRPr lang="zh-CN" altLang="en-US" dirty="0"/>
          </a:p>
        </p:txBody>
      </p:sp>
      <p:sp>
        <p:nvSpPr>
          <p:cNvPr id="2" name="日期占位符 1"/>
          <p:cNvSpPr>
            <a:spLocks noGrp="1"/>
          </p:cNvSpPr>
          <p:nvPr>
            <p:ph type="dt" sz="half" idx="10"/>
            <p:custDataLst>
              <p:tags r:id="rId1"/>
            </p:custDataLst>
          </p:nvPr>
        </p:nvSpPr>
        <p:spPr>
          <a:xfrm>
            <a:off x="70345" y="6591895"/>
            <a:ext cx="2700000" cy="316800"/>
          </a:xfrm>
        </p:spPr>
        <p:txBody>
          <a:bodyPr/>
          <a:lstStyle>
            <a:lvl1pPr>
              <a:defRPr b="1">
                <a:solidFill>
                  <a:schemeClr val="tx1"/>
                </a:solidFill>
                <a:latin typeface="+mj-ea"/>
                <a:ea typeface="+mj-ea"/>
                <a:cs typeface="Times New Roman" panose="02020603050405020304" charset="0"/>
              </a:defRPr>
            </a:lvl1pPr>
          </a:lstStyle>
          <a:p>
            <a:fld id="{760FBDFE-C587-4B4C-A407-44438C67B59E}" type="datetime2">
              <a:rPr lang="en-US" altLang="en-US" smtClean="0"/>
              <a:t>Sunday, April 12, 2026</a:t>
            </a:fld>
            <a:endParaRPr lang="zh-CN" altLang="en-US"/>
          </a:p>
        </p:txBody>
      </p:sp>
      <p:sp>
        <p:nvSpPr>
          <p:cNvPr id="3" name="页脚占位符 2"/>
          <p:cNvSpPr>
            <a:spLocks noGrp="1"/>
          </p:cNvSpPr>
          <p:nvPr>
            <p:ph type="ftr" sz="quarter" idx="11"/>
            <p:custDataLst>
              <p:tags r:id="rId2"/>
            </p:custDataLst>
          </p:nvPr>
        </p:nvSpPr>
        <p:spPr>
          <a:xfrm>
            <a:off x="4116000" y="6591895"/>
            <a:ext cx="3960000" cy="316800"/>
          </a:xfrm>
        </p:spPr>
        <p:txBody>
          <a:bodyPr/>
          <a:lstStyle>
            <a:lvl1pPr>
              <a:defRPr>
                <a:solidFill>
                  <a:schemeClr val="tx1"/>
                </a:solidFill>
              </a:defRPr>
            </a:lvl1pPr>
          </a:lstStyle>
          <a:p>
            <a:endParaRPr lang="zh-CN" altLang="en-US"/>
          </a:p>
        </p:txBody>
      </p:sp>
    </p:spTree>
  </p:cSld>
  <p:clrMapOvr>
    <a:masterClrMapping/>
  </p:clrMapOvr>
  <p:hf sldNum="0"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4.xml"/><Relationship Id="rId3" Type="http://schemas.openxmlformats.org/officeDocument/2006/relationships/slideLayout" Target="../slideLayouts/slideLayout3.xml"/><Relationship Id="rId21" Type="http://schemas.openxmlformats.org/officeDocument/2006/relationships/tags" Target="../tags/tag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3.xml"/><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tags" Target="../tags/tag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tags" Target="../tags/tag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74.xml"/><Relationship Id="rId3" Type="http://schemas.openxmlformats.org/officeDocument/2006/relationships/theme" Target="../theme/theme2.xml"/><Relationship Id="rId7" Type="http://schemas.openxmlformats.org/officeDocument/2006/relationships/tags" Target="../tags/tag73.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tags" Target="../tags/tag72.xml"/><Relationship Id="rId11" Type="http://schemas.openxmlformats.org/officeDocument/2006/relationships/tags" Target="../tags/tag77.xml"/><Relationship Id="rId5" Type="http://schemas.openxmlformats.org/officeDocument/2006/relationships/tags" Target="../tags/tag71.xml"/><Relationship Id="rId10" Type="http://schemas.openxmlformats.org/officeDocument/2006/relationships/tags" Target="../tags/tag76.xml"/><Relationship Id="rId4" Type="http://schemas.openxmlformats.org/officeDocument/2006/relationships/tags" Target="../tags/tag70.xml"/><Relationship Id="rId9" Type="http://schemas.openxmlformats.org/officeDocument/2006/relationships/tags" Target="../tags/tag7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7"/>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8"/>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9"/>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2">
              <a:rPr lang="en-US" altLang="en-US" smtClean="0"/>
              <a:t>Sunday, April 12, 2026</a:t>
            </a:fld>
            <a:endParaRPr lang="zh-CN" altLang="en-US"/>
          </a:p>
        </p:txBody>
      </p:sp>
      <p:sp>
        <p:nvSpPr>
          <p:cNvPr id="5" name="页脚占位符 4"/>
          <p:cNvSpPr>
            <a:spLocks noGrp="1"/>
          </p:cNvSpPr>
          <p:nvPr>
            <p:ph type="ftr" sz="quarter" idx="3"/>
            <p:custDataLst>
              <p:tags r:id="rId20"/>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1"/>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6"/>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图片 7" descr="C:/Users/kingsoft/AppData/Local/Temp/fig2wpp/@svg_UnionUnion_#color-2113&amp;617.svg"/>
          <p:cNvSpPr/>
          <p:nvPr userDrawn="1">
            <p:custDataLst>
              <p:tags r:id="rId4"/>
            </p:custDataLst>
          </p:nvPr>
        </p:nvSpPr>
        <p:spPr>
          <a:xfrm>
            <a:off x="0" y="0"/>
            <a:ext cx="1450687" cy="703135"/>
          </a:xfrm>
          <a:custGeom>
            <a:avLst/>
            <a:gdLst>
              <a:gd name="connsiteX0" fmla="*/ 0 w 1450687"/>
              <a:gd name="connsiteY0" fmla="*/ 397131 h 703135"/>
              <a:gd name="connsiteX1" fmla="*/ 73149 w 1450687"/>
              <a:gd name="connsiteY1" fmla="*/ 375585 h 703135"/>
              <a:gd name="connsiteX2" fmla="*/ 219214 w 1450687"/>
              <a:gd name="connsiteY2" fmla="*/ 334969 h 703135"/>
              <a:gd name="connsiteX3" fmla="*/ 791957 w 1450687"/>
              <a:gd name="connsiteY3" fmla="*/ 129145 h 703135"/>
              <a:gd name="connsiteX4" fmla="*/ 962788 w 1450687"/>
              <a:gd name="connsiteY4" fmla="*/ 0 h 703135"/>
              <a:gd name="connsiteX5" fmla="*/ 990538 w 1450687"/>
              <a:gd name="connsiteY5" fmla="*/ 0 h 703135"/>
              <a:gd name="connsiteX6" fmla="*/ 543929 w 1450687"/>
              <a:gd name="connsiteY6" fmla="*/ 255902 h 703135"/>
              <a:gd name="connsiteX7" fmla="*/ 208127 w 1450687"/>
              <a:gd name="connsiteY7" fmla="*/ 354366 h 703135"/>
              <a:gd name="connsiteX8" fmla="*/ 208122 w 1450687"/>
              <a:gd name="connsiteY8" fmla="*/ 354368 h 703135"/>
              <a:gd name="connsiteX9" fmla="*/ 208117 w 1450687"/>
              <a:gd name="connsiteY9" fmla="*/ 354369 h 703135"/>
              <a:gd name="connsiteX10" fmla="*/ 208111 w 1450687"/>
              <a:gd name="connsiteY10" fmla="*/ 354372 h 703135"/>
              <a:gd name="connsiteX11" fmla="*/ 208105 w 1450687"/>
              <a:gd name="connsiteY11" fmla="*/ 354373 h 703135"/>
              <a:gd name="connsiteX12" fmla="*/ 208099 w 1450687"/>
              <a:gd name="connsiteY12" fmla="*/ 354376 h 703135"/>
              <a:gd name="connsiteX13" fmla="*/ 0 w 1450687"/>
              <a:gd name="connsiteY13" fmla="*/ 412802 h 703135"/>
              <a:gd name="connsiteX14" fmla="*/ 1300845 w 1450687"/>
              <a:gd name="connsiteY14" fmla="*/ 0 h 703135"/>
              <a:gd name="connsiteX15" fmla="*/ 1314837 w 1450687"/>
              <a:gd name="connsiteY15" fmla="*/ 21936 h 703135"/>
              <a:gd name="connsiteX16" fmla="*/ 1435934 w 1450687"/>
              <a:gd name="connsiteY16" fmla="*/ 454046 h 703135"/>
              <a:gd name="connsiteX17" fmla="*/ 494630 w 1450687"/>
              <a:gd name="connsiteY17" fmla="*/ 675967 h 703135"/>
              <a:gd name="connsiteX18" fmla="*/ 291135 w 1450687"/>
              <a:gd name="connsiteY18" fmla="*/ 681279 h 703135"/>
              <a:gd name="connsiteX19" fmla="*/ 0 w 1450687"/>
              <a:gd name="connsiteY19" fmla="*/ 703135 h 703135"/>
              <a:gd name="connsiteX20" fmla="*/ 0 w 1450687"/>
              <a:gd name="connsiteY20" fmla="*/ 692666 h 703135"/>
              <a:gd name="connsiteX21" fmla="*/ 474990 w 1450687"/>
              <a:gd name="connsiteY21" fmla="*/ 663858 h 703135"/>
              <a:gd name="connsiteX22" fmla="*/ 538755 w 1450687"/>
              <a:gd name="connsiteY22" fmla="*/ 662058 h 703135"/>
              <a:gd name="connsiteX23" fmla="*/ 538759 w 1450687"/>
              <a:gd name="connsiteY23" fmla="*/ 662058 h 703135"/>
              <a:gd name="connsiteX24" fmla="*/ 1226189 w 1450687"/>
              <a:gd name="connsiteY24" fmla="*/ 590592 h 703135"/>
              <a:gd name="connsiteX25" fmla="*/ 1396095 w 1450687"/>
              <a:gd name="connsiteY25" fmla="*/ 216959 h 703135"/>
              <a:gd name="connsiteX26" fmla="*/ 1282797 w 1450687"/>
              <a:gd name="connsiteY26" fmla="*/ 0 h 703135"/>
              <a:gd name="connsiteX27" fmla="*/ 1249573 w 1450687"/>
              <a:gd name="connsiteY27" fmla="*/ 412796 h 703135"/>
              <a:gd name="connsiteX28" fmla="*/ 633987 w 1450687"/>
              <a:gd name="connsiteY28" fmla="*/ 590888 h 703135"/>
              <a:gd name="connsiteX29" fmla="*/ 426770 w 1450687"/>
              <a:gd name="connsiteY29" fmla="*/ 610661 h 703135"/>
              <a:gd name="connsiteX30" fmla="*/ 426739 w 1450687"/>
              <a:gd name="connsiteY30" fmla="*/ 610664 h 703135"/>
              <a:gd name="connsiteX31" fmla="*/ 426709 w 1450687"/>
              <a:gd name="connsiteY31" fmla="*/ 610667 h 703135"/>
              <a:gd name="connsiteX32" fmla="*/ 0 w 1450687"/>
              <a:gd name="connsiteY32" fmla="*/ 657413 h 703135"/>
              <a:gd name="connsiteX33" fmla="*/ 0 w 1450687"/>
              <a:gd name="connsiteY33" fmla="*/ 641958 h 703135"/>
              <a:gd name="connsiteX34" fmla="*/ 395179 w 1450687"/>
              <a:gd name="connsiteY34" fmla="*/ 600952 h 703135"/>
              <a:gd name="connsiteX35" fmla="*/ 395184 w 1450687"/>
              <a:gd name="connsiteY35" fmla="*/ 600952 h 703135"/>
              <a:gd name="connsiteX36" fmla="*/ 395198 w 1450687"/>
              <a:gd name="connsiteY36" fmla="*/ 600951 h 703135"/>
              <a:gd name="connsiteX37" fmla="*/ 395208 w 1450687"/>
              <a:gd name="connsiteY37" fmla="*/ 600950 h 703135"/>
              <a:gd name="connsiteX38" fmla="*/ 886314 w 1450687"/>
              <a:gd name="connsiteY38" fmla="*/ 544384 h 703135"/>
              <a:gd name="connsiteX39" fmla="*/ 1214964 w 1450687"/>
              <a:gd name="connsiteY39" fmla="*/ 420228 h 703135"/>
              <a:gd name="connsiteX40" fmla="*/ 1301844 w 1450687"/>
              <a:gd name="connsiteY40" fmla="*/ 188351 h 703135"/>
              <a:gd name="connsiteX41" fmla="*/ 1258427 w 1450687"/>
              <a:gd name="connsiteY41" fmla="*/ 0 h 703135"/>
              <a:gd name="connsiteX42" fmla="*/ 1276060 w 1450687"/>
              <a:gd name="connsiteY42" fmla="*/ 0 h 703135"/>
              <a:gd name="connsiteX43" fmla="*/ 1249573 w 1450687"/>
              <a:gd name="connsiteY43" fmla="*/ 412796 h 703135"/>
              <a:gd name="connsiteX44" fmla="*/ 0 w 1450687"/>
              <a:gd name="connsiteY44" fmla="*/ 582514 h 703135"/>
              <a:gd name="connsiteX45" fmla="*/ 362572 w 1450687"/>
              <a:gd name="connsiteY45" fmla="*/ 521332 h 703135"/>
              <a:gd name="connsiteX46" fmla="*/ 372455 w 1450687"/>
              <a:gd name="connsiteY46" fmla="*/ 519852 h 703135"/>
              <a:gd name="connsiteX47" fmla="*/ 384834 w 1450687"/>
              <a:gd name="connsiteY47" fmla="*/ 517999 h 703135"/>
              <a:gd name="connsiteX48" fmla="*/ 384838 w 1450687"/>
              <a:gd name="connsiteY48" fmla="*/ 517998 h 703135"/>
              <a:gd name="connsiteX49" fmla="*/ 384840 w 1450687"/>
              <a:gd name="connsiteY49" fmla="*/ 517998 h 703135"/>
              <a:gd name="connsiteX50" fmla="*/ 1085968 w 1450687"/>
              <a:gd name="connsiteY50" fmla="*/ 305683 h 703135"/>
              <a:gd name="connsiteX51" fmla="*/ 1203652 w 1450687"/>
              <a:gd name="connsiteY51" fmla="*/ 0 h 703135"/>
              <a:gd name="connsiteX52" fmla="*/ 1221763 w 1450687"/>
              <a:gd name="connsiteY52" fmla="*/ 0 h 703135"/>
              <a:gd name="connsiteX53" fmla="*/ 884398 w 1450687"/>
              <a:gd name="connsiteY53" fmla="*/ 430811 h 703135"/>
              <a:gd name="connsiteX54" fmla="*/ 328764 w 1450687"/>
              <a:gd name="connsiteY54" fmla="*/ 540074 h 703135"/>
              <a:gd name="connsiteX55" fmla="*/ 328752 w 1450687"/>
              <a:gd name="connsiteY55" fmla="*/ 540076 h 703135"/>
              <a:gd name="connsiteX56" fmla="*/ 328601 w 1450687"/>
              <a:gd name="connsiteY56" fmla="*/ 540097 h 703135"/>
              <a:gd name="connsiteX57" fmla="*/ 328577 w 1450687"/>
              <a:gd name="connsiteY57" fmla="*/ 540101 h 703135"/>
              <a:gd name="connsiteX58" fmla="*/ 87028 w 1450687"/>
              <a:gd name="connsiteY58" fmla="*/ 577141 h 703135"/>
              <a:gd name="connsiteX59" fmla="*/ 0 w 1450687"/>
              <a:gd name="connsiteY59" fmla="*/ 593337 h 703135"/>
              <a:gd name="connsiteX60" fmla="*/ 0 w 1450687"/>
              <a:gd name="connsiteY60" fmla="*/ 499760 h 703135"/>
              <a:gd name="connsiteX61" fmla="*/ 243873 w 1450687"/>
              <a:gd name="connsiteY61" fmla="*/ 445614 h 703135"/>
              <a:gd name="connsiteX62" fmla="*/ 243875 w 1450687"/>
              <a:gd name="connsiteY62" fmla="*/ 445613 h 703135"/>
              <a:gd name="connsiteX63" fmla="*/ 579572 w 1450687"/>
              <a:gd name="connsiteY63" fmla="*/ 368430 h 703135"/>
              <a:gd name="connsiteX64" fmla="*/ 1105416 w 1450687"/>
              <a:gd name="connsiteY64" fmla="*/ 13585 h 703135"/>
              <a:gd name="connsiteX65" fmla="*/ 1111088 w 1450687"/>
              <a:gd name="connsiteY65" fmla="*/ 0 h 703135"/>
              <a:gd name="connsiteX66" fmla="*/ 1133274 w 1450687"/>
              <a:gd name="connsiteY66" fmla="*/ 0 h 703135"/>
              <a:gd name="connsiteX67" fmla="*/ 966977 w 1450687"/>
              <a:gd name="connsiteY67" fmla="*/ 216864 h 703135"/>
              <a:gd name="connsiteX68" fmla="*/ 345839 w 1450687"/>
              <a:gd name="connsiteY68" fmla="*/ 436144 h 703135"/>
              <a:gd name="connsiteX69" fmla="*/ 0 w 1450687"/>
              <a:gd name="connsiteY69" fmla="*/ 514228 h 70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450687" h="703135">
                <a:moveTo>
                  <a:pt x="0" y="397131"/>
                </a:moveTo>
                <a:cubicBezTo>
                  <a:pt x="23971" y="389870"/>
                  <a:pt x="48352" y="382695"/>
                  <a:pt x="73149" y="375585"/>
                </a:cubicBezTo>
                <a:cubicBezTo>
                  <a:pt x="121420" y="361743"/>
                  <a:pt x="170333" y="348352"/>
                  <a:pt x="219214" y="334969"/>
                </a:cubicBezTo>
                <a:cubicBezTo>
                  <a:pt x="428352" y="277712"/>
                  <a:pt x="636887" y="220620"/>
                  <a:pt x="791957" y="129145"/>
                </a:cubicBezTo>
                <a:cubicBezTo>
                  <a:pt x="857875" y="90315"/>
                  <a:pt x="915109" y="47065"/>
                  <a:pt x="962788" y="0"/>
                </a:cubicBezTo>
                <a:lnTo>
                  <a:pt x="990538" y="0"/>
                </a:lnTo>
                <a:cubicBezTo>
                  <a:pt x="887166" y="105527"/>
                  <a:pt x="739124" y="190460"/>
                  <a:pt x="543929" y="255902"/>
                </a:cubicBezTo>
                <a:cubicBezTo>
                  <a:pt x="436595" y="291888"/>
                  <a:pt x="322368" y="323125"/>
                  <a:pt x="208127" y="354366"/>
                </a:cubicBezTo>
                <a:lnTo>
                  <a:pt x="208122" y="354368"/>
                </a:lnTo>
                <a:lnTo>
                  <a:pt x="208117" y="354369"/>
                </a:lnTo>
                <a:lnTo>
                  <a:pt x="208111" y="354372"/>
                </a:lnTo>
                <a:lnTo>
                  <a:pt x="208105" y="354373"/>
                </a:lnTo>
                <a:lnTo>
                  <a:pt x="208099" y="354376"/>
                </a:lnTo>
                <a:cubicBezTo>
                  <a:pt x="138212" y="373487"/>
                  <a:pt x="68320" y="392599"/>
                  <a:pt x="0" y="412802"/>
                </a:cubicBezTo>
                <a:close/>
                <a:moveTo>
                  <a:pt x="1300845" y="0"/>
                </a:moveTo>
                <a:cubicBezTo>
                  <a:pt x="1305572" y="7311"/>
                  <a:pt x="1310236" y="14624"/>
                  <a:pt x="1314837" y="21936"/>
                </a:cubicBezTo>
                <a:cubicBezTo>
                  <a:pt x="1406939" y="168290"/>
                  <a:pt x="1484014" y="326736"/>
                  <a:pt x="1435934" y="454046"/>
                </a:cubicBezTo>
                <a:cubicBezTo>
                  <a:pt x="1358367" y="658411"/>
                  <a:pt x="890169" y="667928"/>
                  <a:pt x="494630" y="675967"/>
                </a:cubicBezTo>
                <a:cubicBezTo>
                  <a:pt x="423557" y="677411"/>
                  <a:pt x="354830" y="678808"/>
                  <a:pt x="291135" y="681279"/>
                </a:cubicBezTo>
                <a:cubicBezTo>
                  <a:pt x="191221" y="685156"/>
                  <a:pt x="94128" y="692566"/>
                  <a:pt x="0" y="703135"/>
                </a:cubicBezTo>
                <a:lnTo>
                  <a:pt x="0" y="692666"/>
                </a:lnTo>
                <a:cubicBezTo>
                  <a:pt x="150612" y="676670"/>
                  <a:pt x="307657" y="668772"/>
                  <a:pt x="474990" y="663858"/>
                </a:cubicBezTo>
                <a:cubicBezTo>
                  <a:pt x="496114" y="663239"/>
                  <a:pt x="517387" y="662650"/>
                  <a:pt x="538755" y="662058"/>
                </a:cubicBezTo>
                <a:lnTo>
                  <a:pt x="538759" y="662058"/>
                </a:lnTo>
                <a:cubicBezTo>
                  <a:pt x="782283" y="655315"/>
                  <a:pt x="1038113" y="648231"/>
                  <a:pt x="1226189" y="590592"/>
                </a:cubicBezTo>
                <a:cubicBezTo>
                  <a:pt x="1446108" y="523159"/>
                  <a:pt x="1454653" y="372401"/>
                  <a:pt x="1396095" y="216959"/>
                </a:cubicBezTo>
                <a:cubicBezTo>
                  <a:pt x="1368933" y="145101"/>
                  <a:pt x="1329840" y="72775"/>
                  <a:pt x="1282797" y="0"/>
                </a:cubicBezTo>
                <a:close/>
                <a:moveTo>
                  <a:pt x="1249573" y="412796"/>
                </a:moveTo>
                <a:cubicBezTo>
                  <a:pt x="1140664" y="528536"/>
                  <a:pt x="880414" y="565566"/>
                  <a:pt x="633987" y="590888"/>
                </a:cubicBezTo>
                <a:cubicBezTo>
                  <a:pt x="565248" y="598010"/>
                  <a:pt x="495936" y="604342"/>
                  <a:pt x="426770" y="610661"/>
                </a:cubicBezTo>
                <a:lnTo>
                  <a:pt x="426739" y="610664"/>
                </a:lnTo>
                <a:lnTo>
                  <a:pt x="426709" y="610667"/>
                </a:lnTo>
                <a:cubicBezTo>
                  <a:pt x="281618" y="623922"/>
                  <a:pt x="137171" y="637118"/>
                  <a:pt x="0" y="657413"/>
                </a:cubicBezTo>
                <a:lnTo>
                  <a:pt x="0" y="641958"/>
                </a:lnTo>
                <a:cubicBezTo>
                  <a:pt x="126934" y="623663"/>
                  <a:pt x="261074" y="612307"/>
                  <a:pt x="395179" y="600952"/>
                </a:cubicBezTo>
                <a:lnTo>
                  <a:pt x="395184" y="600952"/>
                </a:lnTo>
                <a:lnTo>
                  <a:pt x="395198" y="600951"/>
                </a:lnTo>
                <a:lnTo>
                  <a:pt x="395208" y="600950"/>
                </a:lnTo>
                <a:cubicBezTo>
                  <a:pt x="563759" y="586679"/>
                  <a:pt x="732254" y="572413"/>
                  <a:pt x="886314" y="544384"/>
                </a:cubicBezTo>
                <a:cubicBezTo>
                  <a:pt x="1021135" y="519969"/>
                  <a:pt x="1144068" y="484200"/>
                  <a:pt x="1214964" y="420228"/>
                </a:cubicBezTo>
                <a:cubicBezTo>
                  <a:pt x="1285855" y="356257"/>
                  <a:pt x="1307001" y="273847"/>
                  <a:pt x="1301844" y="188351"/>
                </a:cubicBezTo>
                <a:cubicBezTo>
                  <a:pt x="1298191" y="126625"/>
                  <a:pt x="1282607" y="63816"/>
                  <a:pt x="1258427" y="0"/>
                </a:cubicBezTo>
                <a:lnTo>
                  <a:pt x="1276060" y="0"/>
                </a:lnTo>
                <a:cubicBezTo>
                  <a:pt x="1333025" y="148123"/>
                  <a:pt x="1353437" y="302415"/>
                  <a:pt x="1249573" y="412796"/>
                </a:cubicBezTo>
                <a:close/>
                <a:moveTo>
                  <a:pt x="0" y="582514"/>
                </a:moveTo>
                <a:cubicBezTo>
                  <a:pt x="116369" y="559395"/>
                  <a:pt x="237947" y="540024"/>
                  <a:pt x="362572" y="521332"/>
                </a:cubicBezTo>
                <a:lnTo>
                  <a:pt x="372455" y="519852"/>
                </a:lnTo>
                <a:lnTo>
                  <a:pt x="384834" y="517999"/>
                </a:lnTo>
                <a:lnTo>
                  <a:pt x="384838" y="517998"/>
                </a:lnTo>
                <a:lnTo>
                  <a:pt x="384840" y="517998"/>
                </a:lnTo>
                <a:cubicBezTo>
                  <a:pt x="658468" y="477051"/>
                  <a:pt x="946976" y="433877"/>
                  <a:pt x="1085968" y="305683"/>
                </a:cubicBezTo>
                <a:cubicBezTo>
                  <a:pt x="1178275" y="220546"/>
                  <a:pt x="1208913" y="113631"/>
                  <a:pt x="1203652" y="0"/>
                </a:cubicBezTo>
                <a:lnTo>
                  <a:pt x="1221763" y="0"/>
                </a:lnTo>
                <a:cubicBezTo>
                  <a:pt x="1232123" y="183279"/>
                  <a:pt x="1151882" y="344829"/>
                  <a:pt x="884398" y="430811"/>
                </a:cubicBezTo>
                <a:cubicBezTo>
                  <a:pt x="720825" y="483351"/>
                  <a:pt x="524346" y="511778"/>
                  <a:pt x="328764" y="540074"/>
                </a:cubicBezTo>
                <a:lnTo>
                  <a:pt x="328752" y="540076"/>
                </a:lnTo>
                <a:lnTo>
                  <a:pt x="328601" y="540097"/>
                </a:lnTo>
                <a:lnTo>
                  <a:pt x="328577" y="540101"/>
                </a:lnTo>
                <a:cubicBezTo>
                  <a:pt x="247089" y="551891"/>
                  <a:pt x="165758" y="563659"/>
                  <a:pt x="87028" y="577141"/>
                </a:cubicBezTo>
                <a:cubicBezTo>
                  <a:pt x="57495" y="582193"/>
                  <a:pt x="28493" y="587596"/>
                  <a:pt x="0" y="593337"/>
                </a:cubicBezTo>
                <a:close/>
                <a:moveTo>
                  <a:pt x="0" y="499760"/>
                </a:moveTo>
                <a:cubicBezTo>
                  <a:pt x="79877" y="480649"/>
                  <a:pt x="161872" y="463132"/>
                  <a:pt x="243873" y="445614"/>
                </a:cubicBezTo>
                <a:lnTo>
                  <a:pt x="243875" y="445613"/>
                </a:lnTo>
                <a:cubicBezTo>
                  <a:pt x="357643" y="421309"/>
                  <a:pt x="471422" y="397002"/>
                  <a:pt x="579572" y="368430"/>
                </a:cubicBezTo>
                <a:cubicBezTo>
                  <a:pt x="852234" y="296642"/>
                  <a:pt x="1034505" y="175760"/>
                  <a:pt x="1105416" y="13585"/>
                </a:cubicBezTo>
                <a:cubicBezTo>
                  <a:pt x="1107388" y="9075"/>
                  <a:pt x="1109279" y="4546"/>
                  <a:pt x="1111088" y="0"/>
                </a:cubicBezTo>
                <a:lnTo>
                  <a:pt x="1133274" y="0"/>
                </a:lnTo>
                <a:cubicBezTo>
                  <a:pt x="1102011" y="80679"/>
                  <a:pt x="1047860" y="154632"/>
                  <a:pt x="966977" y="216864"/>
                </a:cubicBezTo>
                <a:cubicBezTo>
                  <a:pt x="822514" y="328015"/>
                  <a:pt x="587233" y="384593"/>
                  <a:pt x="345839" y="436144"/>
                </a:cubicBezTo>
                <a:cubicBezTo>
                  <a:pt x="228714" y="461125"/>
                  <a:pt x="112000" y="486086"/>
                  <a:pt x="0" y="514228"/>
                </a:cubicBezTo>
                <a:close/>
              </a:path>
            </a:pathLst>
          </a:custGeom>
          <a:solidFill>
            <a:schemeClr val="accent1">
              <a:alpha val="20000"/>
            </a:schemeClr>
          </a:solidFill>
          <a:ln w="12590" cap="flat">
            <a:noFill/>
            <a:prstDash val="solid"/>
            <a:miter/>
          </a:ln>
        </p:spPr>
        <p:txBody>
          <a:bodyPr rtlCol="0" anchor="ctr"/>
          <a:lstStyle/>
          <a:p>
            <a:endParaRPr lang="zh-CN" altLang="en-US"/>
          </a:p>
        </p:txBody>
      </p:sp>
      <p:sp>
        <p:nvSpPr>
          <p:cNvPr id="11" name="图片 8" descr="C:/Users/kingsoft/AppData/Local/Temp/fig2wpp/@svg_UnionUnion_#color-2113&amp;643.svg"/>
          <p:cNvSpPr/>
          <p:nvPr userDrawn="1">
            <p:custDataLst>
              <p:tags r:id="rId5"/>
            </p:custDataLst>
          </p:nvPr>
        </p:nvSpPr>
        <p:spPr>
          <a:xfrm>
            <a:off x="9937905" y="2289018"/>
            <a:ext cx="2254095" cy="4568981"/>
          </a:xfrm>
          <a:custGeom>
            <a:avLst/>
            <a:gdLst>
              <a:gd name="connsiteX0" fmla="*/ 2254096 w 2254095"/>
              <a:gd name="connsiteY0" fmla="*/ 1324093 h 4568981"/>
              <a:gd name="connsiteX1" fmla="*/ 2146978 w 2254095"/>
              <a:gd name="connsiteY1" fmla="*/ 1706858 h 4568981"/>
              <a:gd name="connsiteX2" fmla="*/ 2254096 w 2254095"/>
              <a:gd name="connsiteY2" fmla="*/ 2708622 h 4568981"/>
              <a:gd name="connsiteX3" fmla="*/ 2254096 w 2254095"/>
              <a:gd name="connsiteY3" fmla="*/ 2777837 h 4568981"/>
              <a:gd name="connsiteX4" fmla="*/ 2190782 w 2254095"/>
              <a:gd name="connsiteY4" fmla="*/ 2498259 h 4568981"/>
              <a:gd name="connsiteX5" fmla="*/ 2220682 w 2254095"/>
              <a:gd name="connsiteY5" fmla="*/ 1350420 h 4568981"/>
              <a:gd name="connsiteX6" fmla="*/ 2254096 w 2254095"/>
              <a:gd name="connsiteY6" fmla="*/ 1274830 h 4568981"/>
              <a:gd name="connsiteX7" fmla="*/ 2254096 w 2254095"/>
              <a:gd name="connsiteY7" fmla="*/ 810923 h 4568981"/>
              <a:gd name="connsiteX8" fmla="*/ 2254096 w 2254095"/>
              <a:gd name="connsiteY8" fmla="*/ 848534 h 4568981"/>
              <a:gd name="connsiteX9" fmla="*/ 2004593 w 2254095"/>
              <a:gd name="connsiteY9" fmla="*/ 1416016 h 4568981"/>
              <a:gd name="connsiteX10" fmla="*/ 2105990 w 2254095"/>
              <a:gd name="connsiteY10" fmla="*/ 2653237 h 4568981"/>
              <a:gd name="connsiteX11" fmla="*/ 2207413 w 2254095"/>
              <a:gd name="connsiteY11" fmla="*/ 3022502 h 4568981"/>
              <a:gd name="connsiteX12" fmla="*/ 2207413 w 2254095"/>
              <a:gd name="connsiteY12" fmla="*/ 3022515 h 4568981"/>
              <a:gd name="connsiteX13" fmla="*/ 2254096 w 2254095"/>
              <a:gd name="connsiteY13" fmla="*/ 3188987 h 4568981"/>
              <a:gd name="connsiteX14" fmla="*/ 2254096 w 2254095"/>
              <a:gd name="connsiteY14" fmla="*/ 3247496 h 4568981"/>
              <a:gd name="connsiteX15" fmla="*/ 2190173 w 2254095"/>
              <a:gd name="connsiteY15" fmla="*/ 3018553 h 4568981"/>
              <a:gd name="connsiteX16" fmla="*/ 2190173 w 2254095"/>
              <a:gd name="connsiteY16" fmla="*/ 3018540 h 4568981"/>
              <a:gd name="connsiteX17" fmla="*/ 2190160 w 2254095"/>
              <a:gd name="connsiteY17" fmla="*/ 3018527 h 4568981"/>
              <a:gd name="connsiteX18" fmla="*/ 1984194 w 2254095"/>
              <a:gd name="connsiteY18" fmla="*/ 2177762 h 4568981"/>
              <a:gd name="connsiteX19" fmla="*/ 2254096 w 2254095"/>
              <a:gd name="connsiteY19" fmla="*/ 810923 h 4568981"/>
              <a:gd name="connsiteX20" fmla="*/ 2254096 w 2254095"/>
              <a:gd name="connsiteY20" fmla="*/ 385257 h 4568981"/>
              <a:gd name="connsiteX21" fmla="*/ 2254096 w 2254095"/>
              <a:gd name="connsiteY21" fmla="*/ 414618 h 4568981"/>
              <a:gd name="connsiteX22" fmla="*/ 1834008 w 2254095"/>
              <a:gd name="connsiteY22" fmla="*/ 1170113 h 4568981"/>
              <a:gd name="connsiteX23" fmla="*/ 1897335 w 2254095"/>
              <a:gd name="connsiteY23" fmla="*/ 2387121 h 4568981"/>
              <a:gd name="connsiteX24" fmla="*/ 2156416 w 2254095"/>
              <a:gd name="connsiteY24" fmla="*/ 3237463 h 4568981"/>
              <a:gd name="connsiteX25" fmla="*/ 2254096 w 2254095"/>
              <a:gd name="connsiteY25" fmla="*/ 3536014 h 4568981"/>
              <a:gd name="connsiteX26" fmla="*/ 2254096 w 2254095"/>
              <a:gd name="connsiteY26" fmla="*/ 3585315 h 4568981"/>
              <a:gd name="connsiteX27" fmla="*/ 2162340 w 2254095"/>
              <a:gd name="connsiteY27" fmla="*/ 3304290 h 4568981"/>
              <a:gd name="connsiteX28" fmla="*/ 2152255 w 2254095"/>
              <a:gd name="connsiteY28" fmla="*/ 3273823 h 4568981"/>
              <a:gd name="connsiteX29" fmla="*/ 2145354 w 2254095"/>
              <a:gd name="connsiteY29" fmla="*/ 3252969 h 4568981"/>
              <a:gd name="connsiteX30" fmla="*/ 1790230 w 2254095"/>
              <a:gd name="connsiteY30" fmla="*/ 1934760 h 4568981"/>
              <a:gd name="connsiteX31" fmla="*/ 2254096 w 2254095"/>
              <a:gd name="connsiteY31" fmla="*/ 385257 h 4568981"/>
              <a:gd name="connsiteX32" fmla="*/ 2254096 w 2254095"/>
              <a:gd name="connsiteY32" fmla="*/ 0 h 4568981"/>
              <a:gd name="connsiteX33" fmla="*/ 2254096 w 2254095"/>
              <a:gd name="connsiteY33" fmla="*/ 24812 h 4568981"/>
              <a:gd name="connsiteX34" fmla="*/ 1999887 w 2254095"/>
              <a:gd name="connsiteY34" fmla="*/ 245928 h 4568981"/>
              <a:gd name="connsiteX35" fmla="*/ 1594045 w 2254095"/>
              <a:gd name="connsiteY35" fmla="*/ 1186940 h 4568981"/>
              <a:gd name="connsiteX36" fmla="*/ 1779028 w 2254095"/>
              <a:gd name="connsiteY36" fmla="*/ 2471665 h 4568981"/>
              <a:gd name="connsiteX37" fmla="*/ 2254096 w 2254095"/>
              <a:gd name="connsiteY37" fmla="*/ 3766964 h 4568981"/>
              <a:gd name="connsiteX38" fmla="*/ 2254096 w 2254095"/>
              <a:gd name="connsiteY38" fmla="*/ 3804429 h 4568981"/>
              <a:gd name="connsiteX39" fmla="*/ 2205256 w 2254095"/>
              <a:gd name="connsiteY39" fmla="*/ 3683309 h 4568981"/>
              <a:gd name="connsiteX40" fmla="*/ 2205243 w 2254095"/>
              <a:gd name="connsiteY40" fmla="*/ 3683283 h 4568981"/>
              <a:gd name="connsiteX41" fmla="*/ 2094040 w 2254095"/>
              <a:gd name="connsiteY41" fmla="*/ 3405230 h 4568981"/>
              <a:gd name="connsiteX42" fmla="*/ 1640474 w 2254095"/>
              <a:gd name="connsiteY42" fmla="*/ 1999517 h 4568981"/>
              <a:gd name="connsiteX43" fmla="*/ 1640690 w 2254095"/>
              <a:gd name="connsiteY43" fmla="*/ 825134 h 4568981"/>
              <a:gd name="connsiteX44" fmla="*/ 2207679 w 2254095"/>
              <a:gd name="connsiteY44" fmla="*/ 33010 h 4568981"/>
              <a:gd name="connsiteX45" fmla="*/ 2254096 w 2254095"/>
              <a:gd name="connsiteY45" fmla="*/ 0 h 4568981"/>
              <a:gd name="connsiteX46" fmla="*/ 2254096 w 2254095"/>
              <a:gd name="connsiteY46" fmla="*/ 4002688 h 4568981"/>
              <a:gd name="connsiteX47" fmla="*/ 1539356 w 2254095"/>
              <a:gd name="connsiteY47" fmla="*/ 4027492 h 4568981"/>
              <a:gd name="connsiteX48" fmla="*/ 1539318 w 2254095"/>
              <a:gd name="connsiteY48" fmla="*/ 4027492 h 4568981"/>
              <a:gd name="connsiteX49" fmla="*/ 1539306 w 2254095"/>
              <a:gd name="connsiteY49" fmla="*/ 4027492 h 4568981"/>
              <a:gd name="connsiteX50" fmla="*/ 1000203 w 2254095"/>
              <a:gd name="connsiteY50" fmla="*/ 4029777 h 4568981"/>
              <a:gd name="connsiteX51" fmla="*/ 48583 w 2254095"/>
              <a:gd name="connsiteY51" fmla="*/ 4534806 h 4568981"/>
              <a:gd name="connsiteX52" fmla="*/ 25657 w 2254095"/>
              <a:gd name="connsiteY52" fmla="*/ 4568981 h 4568981"/>
              <a:gd name="connsiteX53" fmla="*/ 0 w 2254095"/>
              <a:gd name="connsiteY53" fmla="*/ 4568981 h 4568981"/>
              <a:gd name="connsiteX54" fmla="*/ 187831 w 2254095"/>
              <a:gd name="connsiteY54" fmla="*/ 4344788 h 4568981"/>
              <a:gd name="connsiteX55" fmla="*/ 646509 w 2254095"/>
              <a:gd name="connsiteY55" fmla="*/ 4084210 h 4568981"/>
              <a:gd name="connsiteX56" fmla="*/ 1257622 w 2254095"/>
              <a:gd name="connsiteY56" fmla="*/ 4007235 h 4568981"/>
              <a:gd name="connsiteX57" fmla="*/ 1524134 w 2254095"/>
              <a:gd name="connsiteY57" fmla="*/ 4012289 h 4568981"/>
              <a:gd name="connsiteX58" fmla="*/ 1524146 w 2254095"/>
              <a:gd name="connsiteY58" fmla="*/ 4012289 h 4568981"/>
              <a:gd name="connsiteX59" fmla="*/ 1524210 w 2254095"/>
              <a:gd name="connsiteY59" fmla="*/ 4012302 h 4568981"/>
              <a:gd name="connsiteX60" fmla="*/ 2254096 w 2254095"/>
              <a:gd name="connsiteY60" fmla="*/ 3982483 h 4568981"/>
              <a:gd name="connsiteX61" fmla="*/ 2254096 w 2254095"/>
              <a:gd name="connsiteY61" fmla="*/ 4083625 h 4568981"/>
              <a:gd name="connsiteX62" fmla="*/ 2209988 w 2254095"/>
              <a:gd name="connsiteY62" fmla="*/ 4096364 h 4568981"/>
              <a:gd name="connsiteX63" fmla="*/ 1481890 w 2254095"/>
              <a:gd name="connsiteY63" fmla="*/ 4160168 h 4568981"/>
              <a:gd name="connsiteX64" fmla="*/ 737074 w 2254095"/>
              <a:gd name="connsiteY64" fmla="*/ 4213940 h 4568981"/>
              <a:gd name="connsiteX65" fmla="*/ 210134 w 2254095"/>
              <a:gd name="connsiteY65" fmla="*/ 4458453 h 4568981"/>
              <a:gd name="connsiteX66" fmla="*/ 89150 w 2254095"/>
              <a:gd name="connsiteY66" fmla="*/ 4568981 h 4568981"/>
              <a:gd name="connsiteX67" fmla="*/ 60260 w 2254095"/>
              <a:gd name="connsiteY67" fmla="*/ 4568981 h 4568981"/>
              <a:gd name="connsiteX68" fmla="*/ 396428 w 2254095"/>
              <a:gd name="connsiteY68" fmla="*/ 4315972 h 4568981"/>
              <a:gd name="connsiteX69" fmla="*/ 1012068 w 2254095"/>
              <a:gd name="connsiteY69" fmla="*/ 4154923 h 4568981"/>
              <a:gd name="connsiteX70" fmla="*/ 1433113 w 2254095"/>
              <a:gd name="connsiteY70" fmla="*/ 4144128 h 4568981"/>
              <a:gd name="connsiteX71" fmla="*/ 1433139 w 2254095"/>
              <a:gd name="connsiteY71" fmla="*/ 4144128 h 4568981"/>
              <a:gd name="connsiteX72" fmla="*/ 1810197 w 2254095"/>
              <a:gd name="connsiteY72" fmla="*/ 4136331 h 4568981"/>
              <a:gd name="connsiteX73" fmla="*/ 2254096 w 2254095"/>
              <a:gd name="connsiteY73" fmla="*/ 4065718 h 4568981"/>
              <a:gd name="connsiteX74" fmla="*/ 2254096 w 2254095"/>
              <a:gd name="connsiteY74" fmla="*/ 4179028 h 4568981"/>
              <a:gd name="connsiteX75" fmla="*/ 1937054 w 2254095"/>
              <a:gd name="connsiteY75" fmla="*/ 4270468 h 4568981"/>
              <a:gd name="connsiteX76" fmla="*/ 1350973 w 2254095"/>
              <a:gd name="connsiteY76" fmla="*/ 4295754 h 4568981"/>
              <a:gd name="connsiteX77" fmla="*/ 1350973 w 2254095"/>
              <a:gd name="connsiteY77" fmla="*/ 4295754 h 4568981"/>
              <a:gd name="connsiteX78" fmla="*/ 1198311 w 2254095"/>
              <a:gd name="connsiteY78" fmla="*/ 4294916 h 4568981"/>
              <a:gd name="connsiteX79" fmla="*/ 508022 w 2254095"/>
              <a:gd name="connsiteY79" fmla="*/ 4389315 h 4568981"/>
              <a:gd name="connsiteX80" fmla="*/ 158919 w 2254095"/>
              <a:gd name="connsiteY80" fmla="*/ 4568981 h 4568981"/>
              <a:gd name="connsiteX81" fmla="*/ 120320 w 2254095"/>
              <a:gd name="connsiteY81" fmla="*/ 4568981 h 4568981"/>
              <a:gd name="connsiteX82" fmla="*/ 757148 w 2254095"/>
              <a:gd name="connsiteY82" fmla="*/ 4310498 h 4568981"/>
              <a:gd name="connsiteX83" fmla="*/ 1389842 w 2254095"/>
              <a:gd name="connsiteY83" fmla="*/ 4283054 h 4568981"/>
              <a:gd name="connsiteX84" fmla="*/ 1389855 w 2254095"/>
              <a:gd name="connsiteY84" fmla="*/ 4283054 h 4568981"/>
              <a:gd name="connsiteX85" fmla="*/ 1390045 w 2254095"/>
              <a:gd name="connsiteY85" fmla="*/ 4283054 h 4568981"/>
              <a:gd name="connsiteX86" fmla="*/ 1508175 w 2254095"/>
              <a:gd name="connsiteY86" fmla="*/ 4283663 h 4568981"/>
              <a:gd name="connsiteX87" fmla="*/ 2212195 w 2254095"/>
              <a:gd name="connsiteY87" fmla="*/ 4176678 h 4568981"/>
              <a:gd name="connsiteX88" fmla="*/ 2254096 w 2254095"/>
              <a:gd name="connsiteY88" fmla="*/ 4156981 h 4568981"/>
              <a:gd name="connsiteX89" fmla="*/ 2254096 w 2254095"/>
              <a:gd name="connsiteY89" fmla="*/ 4299005 h 4568981"/>
              <a:gd name="connsiteX90" fmla="*/ 1689898 w 2254095"/>
              <a:gd name="connsiteY90" fmla="*/ 4436571 h 4568981"/>
              <a:gd name="connsiteX91" fmla="*/ 1338579 w 2254095"/>
              <a:gd name="connsiteY91" fmla="*/ 4424646 h 4568981"/>
              <a:gd name="connsiteX92" fmla="*/ 1338567 w 2254095"/>
              <a:gd name="connsiteY92" fmla="*/ 4424646 h 4568981"/>
              <a:gd name="connsiteX93" fmla="*/ 930255 w 2254095"/>
              <a:gd name="connsiteY93" fmla="*/ 4413597 h 4568981"/>
              <a:gd name="connsiteX94" fmla="*/ 233574 w 2254095"/>
              <a:gd name="connsiteY94" fmla="*/ 4568981 h 4568981"/>
              <a:gd name="connsiteX95" fmla="*/ 196218 w 2254095"/>
              <a:gd name="connsiteY95" fmla="*/ 4568981 h 4568981"/>
              <a:gd name="connsiteX96" fmla="*/ 509654 w 2254095"/>
              <a:gd name="connsiteY96" fmla="*/ 4453856 h 4568981"/>
              <a:gd name="connsiteX97" fmla="*/ 1203260 w 2254095"/>
              <a:gd name="connsiteY97" fmla="*/ 4402180 h 4568981"/>
              <a:gd name="connsiteX98" fmla="*/ 1355325 w 2254095"/>
              <a:gd name="connsiteY98" fmla="*/ 4409495 h 4568981"/>
              <a:gd name="connsiteX99" fmla="*/ 1355363 w 2254095"/>
              <a:gd name="connsiteY99" fmla="*/ 4409495 h 4568981"/>
              <a:gd name="connsiteX100" fmla="*/ 1966713 w 2254095"/>
              <a:gd name="connsiteY100" fmla="*/ 4393341 h 4568981"/>
              <a:gd name="connsiteX101" fmla="*/ 2254096 w 2254095"/>
              <a:gd name="connsiteY101" fmla="*/ 4274011 h 4568981"/>
              <a:gd name="connsiteX102" fmla="*/ 2254096 w 2254095"/>
              <a:gd name="connsiteY102" fmla="*/ 4453869 h 4568981"/>
              <a:gd name="connsiteX103" fmla="*/ 2105216 w 2254095"/>
              <a:gd name="connsiteY103" fmla="*/ 4533447 h 4568981"/>
              <a:gd name="connsiteX104" fmla="*/ 1926829 w 2254095"/>
              <a:gd name="connsiteY104" fmla="*/ 4568981 h 4568981"/>
              <a:gd name="connsiteX105" fmla="*/ 1681906 w 2254095"/>
              <a:gd name="connsiteY105" fmla="*/ 4568981 h 4568981"/>
              <a:gd name="connsiteX106" fmla="*/ 1443465 w 2254095"/>
              <a:gd name="connsiteY106" fmla="*/ 4547175 h 4568981"/>
              <a:gd name="connsiteX107" fmla="*/ 649399 w 2254095"/>
              <a:gd name="connsiteY107" fmla="*/ 4513648 h 4568981"/>
              <a:gd name="connsiteX108" fmla="*/ 350960 w 2254095"/>
              <a:gd name="connsiteY108" fmla="*/ 4568981 h 4568981"/>
              <a:gd name="connsiteX109" fmla="*/ 286576 w 2254095"/>
              <a:gd name="connsiteY109" fmla="*/ 4568981 h 4568981"/>
              <a:gd name="connsiteX110" fmla="*/ 891907 w 2254095"/>
              <a:gd name="connsiteY110" fmla="*/ 4486914 h 4568981"/>
              <a:gd name="connsiteX111" fmla="*/ 1343349 w 2254095"/>
              <a:gd name="connsiteY111" fmla="*/ 4523884 h 4568981"/>
              <a:gd name="connsiteX112" fmla="*/ 1343387 w 2254095"/>
              <a:gd name="connsiteY112" fmla="*/ 4523884 h 4568981"/>
              <a:gd name="connsiteX113" fmla="*/ 1687729 w 2254095"/>
              <a:gd name="connsiteY113" fmla="*/ 4556256 h 4568981"/>
              <a:gd name="connsiteX114" fmla="*/ 2254096 w 2254095"/>
              <a:gd name="connsiteY114" fmla="*/ 4427478 h 4568981"/>
              <a:gd name="connsiteX115" fmla="*/ 794103 w 2254095"/>
              <a:gd name="connsiteY115" fmla="*/ 4568981 h 4568981"/>
              <a:gd name="connsiteX116" fmla="*/ 680318 w 2254095"/>
              <a:gd name="connsiteY116" fmla="*/ 4568981 h 4568981"/>
              <a:gd name="connsiteX117" fmla="*/ 449567 w 2254095"/>
              <a:gd name="connsiteY117" fmla="*/ 4568981 h 4568981"/>
              <a:gd name="connsiteX118" fmla="*/ 643391 w 2254095"/>
              <a:gd name="connsiteY118" fmla="*/ 4554796 h 4568981"/>
              <a:gd name="connsiteX119" fmla="*/ 986916 w 2254095"/>
              <a:gd name="connsiteY119" fmla="*/ 4568981 h 4568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2254095" h="4568981">
                <a:moveTo>
                  <a:pt x="2254096" y="1324093"/>
                </a:moveTo>
                <a:cubicBezTo>
                  <a:pt x="2201843" y="1442305"/>
                  <a:pt x="2165194" y="1569749"/>
                  <a:pt x="2146978" y="1706858"/>
                </a:cubicBezTo>
                <a:cubicBezTo>
                  <a:pt x="2106903" y="2008090"/>
                  <a:pt x="2172324" y="2355638"/>
                  <a:pt x="2254096" y="2708622"/>
                </a:cubicBezTo>
                <a:lnTo>
                  <a:pt x="2254096" y="2777837"/>
                </a:lnTo>
                <a:cubicBezTo>
                  <a:pt x="2231668" y="2684073"/>
                  <a:pt x="2209962" y="2590626"/>
                  <a:pt x="2190782" y="2498259"/>
                </a:cubicBezTo>
                <a:cubicBezTo>
                  <a:pt x="2101372" y="2067716"/>
                  <a:pt x="2087722" y="1675540"/>
                  <a:pt x="2220682" y="1350420"/>
                </a:cubicBezTo>
                <a:cubicBezTo>
                  <a:pt x="2231135" y="1324842"/>
                  <a:pt x="2242286" y="1299646"/>
                  <a:pt x="2254096" y="1274830"/>
                </a:cubicBezTo>
                <a:close/>
                <a:moveTo>
                  <a:pt x="2254096" y="810923"/>
                </a:moveTo>
                <a:lnTo>
                  <a:pt x="2254096" y="848534"/>
                </a:lnTo>
                <a:cubicBezTo>
                  <a:pt x="2135662" y="1016123"/>
                  <a:pt x="2050744" y="1206092"/>
                  <a:pt x="2004593" y="1416016"/>
                </a:cubicBezTo>
                <a:cubicBezTo>
                  <a:pt x="1924483" y="1779045"/>
                  <a:pt x="1989218" y="2204546"/>
                  <a:pt x="2105990" y="2653237"/>
                </a:cubicBezTo>
                <a:cubicBezTo>
                  <a:pt x="2137831" y="2775576"/>
                  <a:pt x="2172615" y="2899033"/>
                  <a:pt x="2207413" y="3022502"/>
                </a:cubicBezTo>
                <a:lnTo>
                  <a:pt x="2207413" y="3022515"/>
                </a:lnTo>
                <a:cubicBezTo>
                  <a:pt x="2223067" y="3078027"/>
                  <a:pt x="2238708" y="3133551"/>
                  <a:pt x="2254096" y="3188987"/>
                </a:cubicBezTo>
                <a:lnTo>
                  <a:pt x="2254096" y="3247496"/>
                </a:lnTo>
                <a:cubicBezTo>
                  <a:pt x="2233228" y="3171346"/>
                  <a:pt x="2211700" y="3094943"/>
                  <a:pt x="2190173" y="3018553"/>
                </a:cubicBezTo>
                <a:lnTo>
                  <a:pt x="2190173" y="3018540"/>
                </a:lnTo>
                <a:lnTo>
                  <a:pt x="2190160" y="3018527"/>
                </a:lnTo>
                <a:cubicBezTo>
                  <a:pt x="2110011" y="2734136"/>
                  <a:pt x="2029850" y="2449720"/>
                  <a:pt x="1984194" y="2177762"/>
                </a:cubicBezTo>
                <a:cubicBezTo>
                  <a:pt x="1892553" y="1632551"/>
                  <a:pt x="1992592" y="1168469"/>
                  <a:pt x="2254096" y="810923"/>
                </a:cubicBezTo>
                <a:close/>
                <a:moveTo>
                  <a:pt x="2254096" y="385257"/>
                </a:moveTo>
                <a:lnTo>
                  <a:pt x="2254096" y="414618"/>
                </a:lnTo>
                <a:cubicBezTo>
                  <a:pt x="2045517" y="621282"/>
                  <a:pt x="1903399" y="876172"/>
                  <a:pt x="1834008" y="1170113"/>
                </a:cubicBezTo>
                <a:cubicBezTo>
                  <a:pt x="1749559" y="1527903"/>
                  <a:pt x="1785130" y="1941999"/>
                  <a:pt x="1897335" y="2387121"/>
                </a:cubicBezTo>
                <a:cubicBezTo>
                  <a:pt x="1967449" y="2665200"/>
                  <a:pt x="2061933" y="2951319"/>
                  <a:pt x="2156416" y="3237463"/>
                </a:cubicBezTo>
                <a:cubicBezTo>
                  <a:pt x="2189323" y="3337094"/>
                  <a:pt x="2222217" y="3436713"/>
                  <a:pt x="2254096" y="3536014"/>
                </a:cubicBezTo>
                <a:lnTo>
                  <a:pt x="2254096" y="3585315"/>
                </a:lnTo>
                <a:cubicBezTo>
                  <a:pt x="2224284" y="3491869"/>
                  <a:pt x="2193357" y="3398080"/>
                  <a:pt x="2162340" y="3304290"/>
                </a:cubicBezTo>
                <a:cubicBezTo>
                  <a:pt x="2158991" y="3294142"/>
                  <a:pt x="2155617" y="3283983"/>
                  <a:pt x="2152255" y="3273823"/>
                </a:cubicBezTo>
                <a:lnTo>
                  <a:pt x="2145354" y="3252969"/>
                </a:lnTo>
                <a:cubicBezTo>
                  <a:pt x="1996474" y="2803478"/>
                  <a:pt x="1846821" y="2351650"/>
                  <a:pt x="1790230" y="1934760"/>
                </a:cubicBezTo>
                <a:cubicBezTo>
                  <a:pt x="1703599" y="1294820"/>
                  <a:pt x="1865748" y="758802"/>
                  <a:pt x="2254096" y="385257"/>
                </a:cubicBezTo>
                <a:close/>
                <a:moveTo>
                  <a:pt x="2254096" y="0"/>
                </a:moveTo>
                <a:lnTo>
                  <a:pt x="2254096" y="24812"/>
                </a:lnTo>
                <a:cubicBezTo>
                  <a:pt x="2159460" y="91656"/>
                  <a:pt x="2074656" y="165752"/>
                  <a:pt x="1999887" y="245928"/>
                </a:cubicBezTo>
                <a:cubicBezTo>
                  <a:pt x="1765074" y="497300"/>
                  <a:pt x="1625619" y="814550"/>
                  <a:pt x="1594045" y="1186940"/>
                </a:cubicBezTo>
                <a:cubicBezTo>
                  <a:pt x="1561125" y="1574690"/>
                  <a:pt x="1643329" y="2019012"/>
                  <a:pt x="1779028" y="2471665"/>
                </a:cubicBezTo>
                <a:cubicBezTo>
                  <a:pt x="1905555" y="2893712"/>
                  <a:pt x="2078120" y="3330084"/>
                  <a:pt x="2254096" y="3766964"/>
                </a:cubicBezTo>
                <a:lnTo>
                  <a:pt x="2254096" y="3804429"/>
                </a:lnTo>
                <a:cubicBezTo>
                  <a:pt x="2237884" y="3764081"/>
                  <a:pt x="2221570" y="3723695"/>
                  <a:pt x="2205256" y="3683309"/>
                </a:cubicBezTo>
                <a:lnTo>
                  <a:pt x="2205243" y="3683283"/>
                </a:lnTo>
                <a:cubicBezTo>
                  <a:pt x="2167757" y="3590497"/>
                  <a:pt x="2130271" y="3497698"/>
                  <a:pt x="2094040" y="3405230"/>
                </a:cubicBezTo>
                <a:cubicBezTo>
                  <a:pt x="1905835" y="2925436"/>
                  <a:pt x="1734082" y="2448805"/>
                  <a:pt x="1640474" y="1999517"/>
                </a:cubicBezTo>
                <a:cubicBezTo>
                  <a:pt x="1550761" y="1568784"/>
                  <a:pt x="1537986" y="1166621"/>
                  <a:pt x="1640690" y="825134"/>
                </a:cubicBezTo>
                <a:cubicBezTo>
                  <a:pt x="1737723" y="503704"/>
                  <a:pt x="1931980" y="235970"/>
                  <a:pt x="2207679" y="33010"/>
                </a:cubicBezTo>
                <a:cubicBezTo>
                  <a:pt x="2222876" y="21814"/>
                  <a:pt x="2238353" y="10809"/>
                  <a:pt x="2254096" y="0"/>
                </a:cubicBezTo>
                <a:close/>
                <a:moveTo>
                  <a:pt x="2254096" y="4002688"/>
                </a:moveTo>
                <a:cubicBezTo>
                  <a:pt x="2043538" y="4042465"/>
                  <a:pt x="1791384" y="4034972"/>
                  <a:pt x="1539356" y="4027492"/>
                </a:cubicBezTo>
                <a:lnTo>
                  <a:pt x="1539318" y="4027492"/>
                </a:lnTo>
                <a:lnTo>
                  <a:pt x="1539306" y="4027492"/>
                </a:lnTo>
                <a:cubicBezTo>
                  <a:pt x="1354018" y="4021992"/>
                  <a:pt x="1168790" y="4016481"/>
                  <a:pt x="1000203" y="4029777"/>
                </a:cubicBezTo>
                <a:cubicBezTo>
                  <a:pt x="546217" y="4065833"/>
                  <a:pt x="233340" y="4270443"/>
                  <a:pt x="48583" y="4534806"/>
                </a:cubicBezTo>
                <a:cubicBezTo>
                  <a:pt x="40721" y="4546045"/>
                  <a:pt x="33079" y="4557437"/>
                  <a:pt x="25657" y="4568981"/>
                </a:cubicBezTo>
                <a:lnTo>
                  <a:pt x="0" y="4568981"/>
                </a:lnTo>
                <a:cubicBezTo>
                  <a:pt x="51487" y="4486724"/>
                  <a:pt x="114156" y="4411692"/>
                  <a:pt x="187831" y="4344788"/>
                </a:cubicBezTo>
                <a:cubicBezTo>
                  <a:pt x="310358" y="4233778"/>
                  <a:pt x="471018" y="4142223"/>
                  <a:pt x="646509" y="4084210"/>
                </a:cubicBezTo>
                <a:cubicBezTo>
                  <a:pt x="822001" y="4026196"/>
                  <a:pt x="1028144" y="4006511"/>
                  <a:pt x="1257622" y="4007235"/>
                </a:cubicBezTo>
                <a:cubicBezTo>
                  <a:pt x="1344554" y="4007476"/>
                  <a:pt x="1434154" y="4009877"/>
                  <a:pt x="1524134" y="4012289"/>
                </a:cubicBezTo>
                <a:lnTo>
                  <a:pt x="1524146" y="4012289"/>
                </a:lnTo>
                <a:lnTo>
                  <a:pt x="1524210" y="4012302"/>
                </a:lnTo>
                <a:cubicBezTo>
                  <a:pt x="1782390" y="4019224"/>
                  <a:pt x="2043703" y="4026247"/>
                  <a:pt x="2254096" y="3982483"/>
                </a:cubicBezTo>
                <a:close/>
                <a:moveTo>
                  <a:pt x="2254096" y="4083625"/>
                </a:moveTo>
                <a:cubicBezTo>
                  <a:pt x="2239875" y="4088134"/>
                  <a:pt x="2225173" y="4092376"/>
                  <a:pt x="2209988" y="4096364"/>
                </a:cubicBezTo>
                <a:cubicBezTo>
                  <a:pt x="1998808" y="4151723"/>
                  <a:pt x="1746476" y="4159102"/>
                  <a:pt x="1481890" y="4160168"/>
                </a:cubicBezTo>
                <a:cubicBezTo>
                  <a:pt x="1217305" y="4161223"/>
                  <a:pt x="958348" y="4162899"/>
                  <a:pt x="737074" y="4213940"/>
                </a:cubicBezTo>
                <a:cubicBezTo>
                  <a:pt x="524950" y="4262797"/>
                  <a:pt x="350648" y="4347544"/>
                  <a:pt x="210134" y="4458453"/>
                </a:cubicBezTo>
                <a:cubicBezTo>
                  <a:pt x="166549" y="4492832"/>
                  <a:pt x="126194" y="4529713"/>
                  <a:pt x="89150" y="4568981"/>
                </a:cubicBezTo>
                <a:lnTo>
                  <a:pt x="60260" y="4568981"/>
                </a:lnTo>
                <a:cubicBezTo>
                  <a:pt x="151529" y="4469058"/>
                  <a:pt x="263861" y="4383981"/>
                  <a:pt x="396428" y="4315972"/>
                </a:cubicBezTo>
                <a:cubicBezTo>
                  <a:pt x="565356" y="4229574"/>
                  <a:pt x="773736" y="4173211"/>
                  <a:pt x="1012068" y="4154923"/>
                </a:cubicBezTo>
                <a:cubicBezTo>
                  <a:pt x="1146876" y="4144649"/>
                  <a:pt x="1289980" y="4144382"/>
                  <a:pt x="1433113" y="4144128"/>
                </a:cubicBezTo>
                <a:lnTo>
                  <a:pt x="1433139" y="4144128"/>
                </a:lnTo>
                <a:cubicBezTo>
                  <a:pt x="1560745" y="4143900"/>
                  <a:pt x="1688376" y="4143658"/>
                  <a:pt x="1810197" y="4136331"/>
                </a:cubicBezTo>
                <a:cubicBezTo>
                  <a:pt x="1969466" y="4126589"/>
                  <a:pt x="2125006" y="4108149"/>
                  <a:pt x="2254096" y="4065718"/>
                </a:cubicBezTo>
                <a:close/>
                <a:moveTo>
                  <a:pt x="2254096" y="4179028"/>
                </a:moveTo>
                <a:cubicBezTo>
                  <a:pt x="2162391" y="4222310"/>
                  <a:pt x="2054169" y="4251596"/>
                  <a:pt x="1937054" y="4270468"/>
                </a:cubicBezTo>
                <a:cubicBezTo>
                  <a:pt x="1757856" y="4299208"/>
                  <a:pt x="1554909" y="4297481"/>
                  <a:pt x="1350973" y="4295754"/>
                </a:cubicBezTo>
                <a:lnTo>
                  <a:pt x="1350973" y="4295754"/>
                </a:lnTo>
                <a:cubicBezTo>
                  <a:pt x="1300027" y="4295309"/>
                  <a:pt x="1249021" y="4294877"/>
                  <a:pt x="1198311" y="4294916"/>
                </a:cubicBezTo>
                <a:cubicBezTo>
                  <a:pt x="941161" y="4295119"/>
                  <a:pt x="701949" y="4320747"/>
                  <a:pt x="508022" y="4389315"/>
                </a:cubicBezTo>
                <a:cubicBezTo>
                  <a:pt x="376500" y="4435987"/>
                  <a:pt x="259801" y="4496299"/>
                  <a:pt x="158919" y="4568981"/>
                </a:cubicBezTo>
                <a:lnTo>
                  <a:pt x="120320" y="4568981"/>
                </a:lnTo>
                <a:cubicBezTo>
                  <a:pt x="286085" y="4442312"/>
                  <a:pt x="498368" y="4350935"/>
                  <a:pt x="757148" y="4310498"/>
                </a:cubicBezTo>
                <a:cubicBezTo>
                  <a:pt x="951394" y="4280094"/>
                  <a:pt x="1169838" y="4281568"/>
                  <a:pt x="1389842" y="4283054"/>
                </a:cubicBezTo>
                <a:lnTo>
                  <a:pt x="1389855" y="4283054"/>
                </a:lnTo>
                <a:lnTo>
                  <a:pt x="1390045" y="4283054"/>
                </a:lnTo>
                <a:cubicBezTo>
                  <a:pt x="1429422" y="4283320"/>
                  <a:pt x="1468836" y="4283574"/>
                  <a:pt x="1508175" y="4283663"/>
                </a:cubicBezTo>
                <a:cubicBezTo>
                  <a:pt x="1774689" y="4284260"/>
                  <a:pt x="2022518" y="4257946"/>
                  <a:pt x="2212195" y="4176678"/>
                </a:cubicBezTo>
                <a:cubicBezTo>
                  <a:pt x="2226669" y="4170468"/>
                  <a:pt x="2240636" y="4163902"/>
                  <a:pt x="2254096" y="4156981"/>
                </a:cubicBezTo>
                <a:close/>
                <a:moveTo>
                  <a:pt x="2254096" y="4299005"/>
                </a:moveTo>
                <a:cubicBezTo>
                  <a:pt x="2114325" y="4389733"/>
                  <a:pt x="1927641" y="4435454"/>
                  <a:pt x="1689898" y="4436571"/>
                </a:cubicBezTo>
                <a:cubicBezTo>
                  <a:pt x="1576158" y="4437105"/>
                  <a:pt x="1457381" y="4430869"/>
                  <a:pt x="1338579" y="4424646"/>
                </a:cubicBezTo>
                <a:lnTo>
                  <a:pt x="1338567" y="4424646"/>
                </a:lnTo>
                <a:cubicBezTo>
                  <a:pt x="1199809" y="4417369"/>
                  <a:pt x="1061030" y="4410092"/>
                  <a:pt x="930255" y="4413597"/>
                </a:cubicBezTo>
                <a:cubicBezTo>
                  <a:pt x="658368" y="4420988"/>
                  <a:pt x="425638" y="4477440"/>
                  <a:pt x="233574" y="4568981"/>
                </a:cubicBezTo>
                <a:lnTo>
                  <a:pt x="196218" y="4568981"/>
                </a:lnTo>
                <a:cubicBezTo>
                  <a:pt x="291221" y="4522131"/>
                  <a:pt x="395965" y="4483587"/>
                  <a:pt x="509654" y="4453856"/>
                </a:cubicBezTo>
                <a:cubicBezTo>
                  <a:pt x="710821" y="4401341"/>
                  <a:pt x="937216" y="4391537"/>
                  <a:pt x="1203260" y="4402180"/>
                </a:cubicBezTo>
                <a:cubicBezTo>
                  <a:pt x="1253648" y="4404186"/>
                  <a:pt x="1304506" y="4406841"/>
                  <a:pt x="1355325" y="4409495"/>
                </a:cubicBezTo>
                <a:lnTo>
                  <a:pt x="1355363" y="4409495"/>
                </a:lnTo>
                <a:cubicBezTo>
                  <a:pt x="1572860" y="4420836"/>
                  <a:pt x="1789722" y="4432139"/>
                  <a:pt x="1966713" y="4393341"/>
                </a:cubicBezTo>
                <a:cubicBezTo>
                  <a:pt x="2078868" y="4368829"/>
                  <a:pt x="2175787" y="4328710"/>
                  <a:pt x="2254096" y="4274011"/>
                </a:cubicBezTo>
                <a:close/>
                <a:moveTo>
                  <a:pt x="2254096" y="4453869"/>
                </a:moveTo>
                <a:cubicBezTo>
                  <a:pt x="2211675" y="4486406"/>
                  <a:pt x="2162188" y="4513343"/>
                  <a:pt x="2105216" y="4533447"/>
                </a:cubicBezTo>
                <a:cubicBezTo>
                  <a:pt x="2051695" y="4552332"/>
                  <a:pt x="1991603" y="4563444"/>
                  <a:pt x="1926829" y="4568981"/>
                </a:cubicBezTo>
                <a:lnTo>
                  <a:pt x="1681906" y="4568981"/>
                </a:lnTo>
                <a:cubicBezTo>
                  <a:pt x="1604396" y="4564193"/>
                  <a:pt x="1524159" y="4556040"/>
                  <a:pt x="1443465" y="4547175"/>
                </a:cubicBezTo>
                <a:cubicBezTo>
                  <a:pt x="1163434" y="4516315"/>
                  <a:pt x="885583" y="4486050"/>
                  <a:pt x="649399" y="4513648"/>
                </a:cubicBezTo>
                <a:cubicBezTo>
                  <a:pt x="544141" y="4525903"/>
                  <a:pt x="444498" y="4544445"/>
                  <a:pt x="350960" y="4568981"/>
                </a:cubicBezTo>
                <a:lnTo>
                  <a:pt x="286576" y="4568981"/>
                </a:lnTo>
                <a:cubicBezTo>
                  <a:pt x="463727" y="4517013"/>
                  <a:pt x="663223" y="4481821"/>
                  <a:pt x="891907" y="4486914"/>
                </a:cubicBezTo>
                <a:cubicBezTo>
                  <a:pt x="1036188" y="4490127"/>
                  <a:pt x="1189757" y="4507005"/>
                  <a:pt x="1343349" y="4523884"/>
                </a:cubicBezTo>
                <a:lnTo>
                  <a:pt x="1343387" y="4523884"/>
                </a:lnTo>
                <a:cubicBezTo>
                  <a:pt x="1459487" y="4536647"/>
                  <a:pt x="1575612" y="4549398"/>
                  <a:pt x="1687729" y="4556256"/>
                </a:cubicBezTo>
                <a:cubicBezTo>
                  <a:pt x="1935697" y="4571648"/>
                  <a:pt x="2129548" y="4528532"/>
                  <a:pt x="2254096" y="4427478"/>
                </a:cubicBezTo>
                <a:close/>
                <a:moveTo>
                  <a:pt x="794103" y="4568981"/>
                </a:moveTo>
                <a:cubicBezTo>
                  <a:pt x="755523" y="4568131"/>
                  <a:pt x="717612" y="4568143"/>
                  <a:pt x="680318" y="4568981"/>
                </a:cubicBezTo>
                <a:lnTo>
                  <a:pt x="449567" y="4568981"/>
                </a:lnTo>
                <a:cubicBezTo>
                  <a:pt x="512293" y="4562085"/>
                  <a:pt x="576936" y="4557336"/>
                  <a:pt x="643391" y="4554796"/>
                </a:cubicBezTo>
                <a:cubicBezTo>
                  <a:pt x="752953" y="4550554"/>
                  <a:pt x="867842" y="4556574"/>
                  <a:pt x="986916" y="4568981"/>
                </a:cubicBezTo>
                <a:close/>
              </a:path>
            </a:pathLst>
          </a:custGeom>
          <a:solidFill>
            <a:schemeClr val="accent1">
              <a:alpha val="20000"/>
            </a:schemeClr>
          </a:solidFill>
          <a:ln w="12682" cap="flat">
            <a:noFill/>
            <a:prstDash val="solid"/>
            <a:miter/>
          </a:ln>
        </p:spPr>
        <p:txBody>
          <a:bodyPr rtlCol="0" anchor="ctr"/>
          <a:lstStyle/>
          <a:p>
            <a:endParaRPr lang="zh-CN" altLang="en-US"/>
          </a:p>
        </p:txBody>
      </p:sp>
      <p:sp>
        <p:nvSpPr>
          <p:cNvPr id="2" name="标题占位符 1"/>
          <p:cNvSpPr>
            <a:spLocks noGrp="1"/>
          </p:cNvSpPr>
          <p:nvPr>
            <p:ph type="title"/>
            <p:custDataLst>
              <p:tags r:id="rId6"/>
            </p:custDataLst>
          </p:nvPr>
        </p:nvSpPr>
        <p:spPr>
          <a:xfrm>
            <a:off x="695960" y="360000"/>
            <a:ext cx="10800000" cy="720000"/>
          </a:xfrm>
          <a:prstGeom prst="rect">
            <a:avLst/>
          </a:prstGeom>
        </p:spPr>
        <p:txBody>
          <a:bodyPr vert="horz" wrap="square" lIns="0" tIns="0" rIns="0" bIns="0" rtlCol="0" anchor="b">
            <a:normAutofit/>
          </a:bodyPr>
          <a:lstStyle/>
          <a:p>
            <a:r>
              <a:rPr lang="zh-CN" altLang="en-US"/>
              <a:t>单击此处编辑母版标题样式</a:t>
            </a:r>
            <a:endParaRPr lang="zh-CN" altLang="en-US" dirty="0"/>
          </a:p>
        </p:txBody>
      </p:sp>
      <p:sp>
        <p:nvSpPr>
          <p:cNvPr id="3" name="文本占位符 2"/>
          <p:cNvSpPr>
            <a:spLocks noGrp="1"/>
          </p:cNvSpPr>
          <p:nvPr>
            <p:ph type="body" idx="1"/>
            <p:custDataLst>
              <p:tags r:id="rId7"/>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8"/>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2026/4/12</a:t>
            </a:fld>
            <a:endParaRPr lang="zh-CN" altLang="en-US"/>
          </a:p>
        </p:txBody>
      </p:sp>
      <p:sp>
        <p:nvSpPr>
          <p:cNvPr id="5" name="页脚占位符 4"/>
          <p:cNvSpPr>
            <a:spLocks noGrp="1"/>
          </p:cNvSpPr>
          <p:nvPr>
            <p:ph type="ftr" sz="quarter" idx="3"/>
            <p:custDataLst>
              <p:tags r:id="rId9"/>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0"/>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7" name="KSO_TEMPLATE" hidden="1"/>
          <p:cNvSpPr/>
          <p:nvPr userDrawn="1">
            <p:custDataLst>
              <p:tags r:id="rId11"/>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l" defTabSz="914400" rtl="0" eaLnBrk="1" latinLnBrk="0" hangingPunct="1">
        <a:lnSpc>
          <a:spcPct val="100000"/>
        </a:lnSpc>
        <a:spcBef>
          <a:spcPct val="0"/>
        </a:spcBef>
        <a:buNone/>
        <a:defRPr sz="3200" b="1" kern="1200">
          <a:solidFill>
            <a:schemeClr val="accent1"/>
          </a:solidFill>
          <a:latin typeface="+mn-ea"/>
          <a:ea typeface="+mn-ea"/>
          <a:cs typeface="+mn-ea"/>
          <a:sym typeface="+mn-ea"/>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ea"/>
          <a:ea typeface="+mn-ea"/>
          <a:cs typeface="+mn-ea"/>
          <a:sym typeface="+mn-ea"/>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ea"/>
          <a:ea typeface="+mn-ea"/>
          <a:cs typeface="+mn-ea"/>
          <a:sym typeface="+mn-ea"/>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ea"/>
          <a:ea typeface="+mn-ea"/>
          <a:cs typeface="+mn-ea"/>
          <a:sym typeface="+mn-ea"/>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n-ea"/>
          <a:sym typeface="+mn-ea"/>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n-ea"/>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3.jpeg"/><Relationship Id="rId5" Type="http://schemas.openxmlformats.org/officeDocument/2006/relationships/image" Target="../media/image4.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4.xml"/><Relationship Id="rId1" Type="http://schemas.openxmlformats.org/officeDocument/2006/relationships/tags" Target="../tags/tag88.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tags" Target="../tags/tag89.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3" Type="http://schemas.openxmlformats.org/officeDocument/2006/relationships/tags" Target="../tags/tag92.xml"/><Relationship Id="rId7" Type="http://schemas.openxmlformats.org/officeDocument/2006/relationships/slideLayout" Target="../slideLayouts/slideLayout14.xml"/><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tags" Target="../tags/tag95.xml"/><Relationship Id="rId5" Type="http://schemas.openxmlformats.org/officeDocument/2006/relationships/tags" Target="../tags/tag94.xml"/><Relationship Id="rId10" Type="http://schemas.openxmlformats.org/officeDocument/2006/relationships/image" Target="../media/image9.png"/><Relationship Id="rId4" Type="http://schemas.openxmlformats.org/officeDocument/2006/relationships/tags" Target="../tags/tag93.xml"/><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98.xml"/><Relationship Id="rId7" Type="http://schemas.openxmlformats.org/officeDocument/2006/relationships/slideLayout" Target="../slideLayouts/slideLayout14.xml"/><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5" Type="http://schemas.openxmlformats.org/officeDocument/2006/relationships/tags" Target="../tags/tag100.xml"/><Relationship Id="rId4" Type="http://schemas.openxmlformats.org/officeDocument/2006/relationships/tags" Target="../tags/tag99.xml"/><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tags" Target="../tags/tag102.xml"/><Relationship Id="rId6" Type="http://schemas.openxmlformats.org/officeDocument/2006/relationships/image" Target="../media/image11.wmf"/><Relationship Id="rId5" Type="http://schemas.openxmlformats.org/officeDocument/2006/relationships/oleObject" Target="../embeddings/oleObject1.bin"/><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tags" Target="../tags/tag103.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8.xml"/><Relationship Id="rId7" Type="http://schemas.openxmlformats.org/officeDocument/2006/relationships/image" Target="../media/image15.png"/><Relationship Id="rId2" Type="http://schemas.openxmlformats.org/officeDocument/2006/relationships/slideLayout" Target="../slideLayouts/slideLayout14.xml"/><Relationship Id="rId1" Type="http://schemas.openxmlformats.org/officeDocument/2006/relationships/tags" Target="../tags/tag104.xml"/><Relationship Id="rId6" Type="http://schemas.openxmlformats.org/officeDocument/2006/relationships/image" Target="../media/image14.png"/><Relationship Id="rId5" Type="http://schemas.openxmlformats.org/officeDocument/2006/relationships/image" Target="../media/image13.wmf"/><Relationship Id="rId10" Type="http://schemas.openxmlformats.org/officeDocument/2006/relationships/image" Target="../media/image18.png"/><Relationship Id="rId4" Type="http://schemas.openxmlformats.org/officeDocument/2006/relationships/oleObject" Target="../embeddings/oleObject2.bin"/><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22.png"/><Relationship Id="rId2" Type="http://schemas.openxmlformats.org/officeDocument/2006/relationships/slideLayout" Target="../slideLayouts/slideLayout14.xml"/><Relationship Id="rId1" Type="http://schemas.openxmlformats.org/officeDocument/2006/relationships/tags" Target="../tags/tag10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0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7.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14.xml"/><Relationship Id="rId1" Type="http://schemas.openxmlformats.org/officeDocument/2006/relationships/tags" Target="../tags/tag108.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10.xml"/><Relationship Id="rId1" Type="http://schemas.openxmlformats.org/officeDocument/2006/relationships/tags" Target="../tags/tag109.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14.xml"/><Relationship Id="rId1" Type="http://schemas.openxmlformats.org/officeDocument/2006/relationships/tags" Target="../tags/tag111.xml"/></Relationships>
</file>

<file path=ppt/slides/_rels/slide15.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slideLayout" Target="../slideLayouts/slideLayout14.xml"/><Relationship Id="rId1" Type="http://schemas.openxmlformats.org/officeDocument/2006/relationships/tags" Target="../tags/tag112.xml"/><Relationship Id="rId4" Type="http://schemas.openxmlformats.org/officeDocument/2006/relationships/image" Target="../media/image27.svg"/></Relationships>
</file>

<file path=ppt/slides/_rels/slide16.xml.rels><?xml version="1.0" encoding="UTF-8" standalone="yes"?>
<Relationships xmlns="http://schemas.openxmlformats.org/package/2006/relationships"><Relationship Id="rId8" Type="http://schemas.openxmlformats.org/officeDocument/2006/relationships/tags" Target="../tags/tag120.xml"/><Relationship Id="rId13" Type="http://schemas.openxmlformats.org/officeDocument/2006/relationships/tags" Target="../tags/tag125.xml"/><Relationship Id="rId18" Type="http://schemas.openxmlformats.org/officeDocument/2006/relationships/slideLayout" Target="../slideLayouts/slideLayout14.xml"/><Relationship Id="rId3" Type="http://schemas.openxmlformats.org/officeDocument/2006/relationships/tags" Target="../tags/tag115.xml"/><Relationship Id="rId7" Type="http://schemas.openxmlformats.org/officeDocument/2006/relationships/tags" Target="../tags/tag119.xml"/><Relationship Id="rId12" Type="http://schemas.openxmlformats.org/officeDocument/2006/relationships/tags" Target="../tags/tag124.xml"/><Relationship Id="rId17" Type="http://schemas.openxmlformats.org/officeDocument/2006/relationships/tags" Target="../tags/tag129.xml"/><Relationship Id="rId2" Type="http://schemas.openxmlformats.org/officeDocument/2006/relationships/tags" Target="../tags/tag114.xml"/><Relationship Id="rId16" Type="http://schemas.openxmlformats.org/officeDocument/2006/relationships/tags" Target="../tags/tag128.xml"/><Relationship Id="rId1" Type="http://schemas.openxmlformats.org/officeDocument/2006/relationships/tags" Target="../tags/tag113.xml"/><Relationship Id="rId6" Type="http://schemas.openxmlformats.org/officeDocument/2006/relationships/tags" Target="../tags/tag118.xml"/><Relationship Id="rId11" Type="http://schemas.openxmlformats.org/officeDocument/2006/relationships/tags" Target="../tags/tag123.xml"/><Relationship Id="rId5" Type="http://schemas.openxmlformats.org/officeDocument/2006/relationships/tags" Target="../tags/tag117.xml"/><Relationship Id="rId15" Type="http://schemas.openxmlformats.org/officeDocument/2006/relationships/tags" Target="../tags/tag127.xml"/><Relationship Id="rId10" Type="http://schemas.openxmlformats.org/officeDocument/2006/relationships/tags" Target="../tags/tag122.xml"/><Relationship Id="rId4" Type="http://schemas.openxmlformats.org/officeDocument/2006/relationships/tags" Target="../tags/tag116.xml"/><Relationship Id="rId9" Type="http://schemas.openxmlformats.org/officeDocument/2006/relationships/tags" Target="../tags/tag121.xml"/><Relationship Id="rId14" Type="http://schemas.openxmlformats.org/officeDocument/2006/relationships/tags" Target="../tags/tag126.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14.xml"/><Relationship Id="rId1" Type="http://schemas.openxmlformats.org/officeDocument/2006/relationships/tags" Target="../tags/tag130.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31.png"/><Relationship Id="rId2" Type="http://schemas.openxmlformats.org/officeDocument/2006/relationships/slideLayout" Target="../slideLayouts/slideLayout14.xml"/><Relationship Id="rId1" Type="http://schemas.openxmlformats.org/officeDocument/2006/relationships/tags" Target="../tags/tag131.xml"/><Relationship Id="rId6" Type="http://schemas.openxmlformats.org/officeDocument/2006/relationships/image" Target="../media/image30.wmf"/><Relationship Id="rId5" Type="http://schemas.openxmlformats.org/officeDocument/2006/relationships/oleObject" Target="../embeddings/oleObject4.bin"/><Relationship Id="rId4" Type="http://schemas.openxmlformats.org/officeDocument/2006/relationships/image" Target="../media/image29.wmf"/></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14.xml"/><Relationship Id="rId1" Type="http://schemas.openxmlformats.org/officeDocument/2006/relationships/tags" Target="../tags/tag13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14.xml"/><Relationship Id="rId1" Type="http://schemas.openxmlformats.org/officeDocument/2006/relationships/tags" Target="../tags/tag133.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14.xml"/><Relationship Id="rId1" Type="http://schemas.openxmlformats.org/officeDocument/2006/relationships/tags" Target="../tags/tag134.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14.xml"/><Relationship Id="rId1" Type="http://schemas.openxmlformats.org/officeDocument/2006/relationships/tags" Target="../tags/tag135.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video" Target="../media/media1.mp4"/><Relationship Id="rId2" Type="http://schemas.microsoft.com/office/2007/relationships/media" Target="../media/media1.mp4"/><Relationship Id="rId1" Type="http://schemas.openxmlformats.org/officeDocument/2006/relationships/tags" Target="../tags/tag136.xml"/><Relationship Id="rId5" Type="http://schemas.openxmlformats.org/officeDocument/2006/relationships/image" Target="../media/image41.png"/><Relationship Id="rId4"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638935"/>
            <a:ext cx="12209780" cy="4462145"/>
          </a:xfrm>
          <a:prstGeom prst="rect">
            <a:avLst/>
          </a:prstGeom>
          <a:solidFill>
            <a:srgbClr val="17499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5" name="图片 4" descr="ucas_logo_name"/>
          <p:cNvPicPr>
            <a:picLocks noChangeAspect="1"/>
          </p:cNvPicPr>
          <p:nvPr/>
        </p:nvPicPr>
        <p:blipFill>
          <a:blip r:embed="rId5"/>
          <a:stretch>
            <a:fillRect/>
          </a:stretch>
        </p:blipFill>
        <p:spPr>
          <a:xfrm>
            <a:off x="132715" y="290195"/>
            <a:ext cx="4354830" cy="913130"/>
          </a:xfrm>
          <a:prstGeom prst="rect">
            <a:avLst/>
          </a:prstGeom>
        </p:spPr>
      </p:pic>
      <p:pic>
        <p:nvPicPr>
          <p:cNvPr id="9" name="图片 8"/>
          <p:cNvPicPr>
            <a:picLocks noChangeAspect="1"/>
          </p:cNvPicPr>
          <p:nvPr>
            <p:custDataLst>
              <p:tags r:id="rId2"/>
            </p:custDataLst>
          </p:nvPr>
        </p:nvPicPr>
        <p:blipFill>
          <a:blip r:embed="rId6"/>
          <a:stretch>
            <a:fillRect/>
          </a:stretch>
        </p:blipFill>
        <p:spPr>
          <a:xfrm>
            <a:off x="6561455" y="191770"/>
            <a:ext cx="5518785" cy="974090"/>
          </a:xfrm>
          <a:prstGeom prst="rect">
            <a:avLst/>
          </a:prstGeom>
        </p:spPr>
      </p:pic>
      <p:sp>
        <p:nvSpPr>
          <p:cNvPr id="6" name="文本框 5"/>
          <p:cNvSpPr txBox="1"/>
          <p:nvPr/>
        </p:nvSpPr>
        <p:spPr>
          <a:xfrm>
            <a:off x="5715" y="1932305"/>
            <a:ext cx="12193905" cy="1445260"/>
          </a:xfrm>
          <a:prstGeom prst="rect">
            <a:avLst/>
          </a:prstGeom>
          <a:noFill/>
        </p:spPr>
        <p:txBody>
          <a:bodyPr wrap="square" rtlCol="0">
            <a:spAutoFit/>
          </a:bodyPr>
          <a:lstStyle/>
          <a:p>
            <a:pPr algn="ctr"/>
            <a:r>
              <a:rPr lang="en-US" altLang="zh-CN" sz="4400" b="1">
                <a:solidFill>
                  <a:schemeClr val="bg1"/>
                </a:solidFill>
                <a:latin typeface="Microsoft YaHei" panose="020B0503020204020204" charset="-122"/>
                <a:ea typeface="Microsoft YaHei" panose="020B0503020204020204" charset="-122"/>
                <a:cs typeface="Times New Roman" panose="02020603050405020304" charset="0"/>
              </a:rPr>
              <a:t> A Physical-Informed Deep Learning Approach for Event Classification in MATE</a:t>
            </a:r>
          </a:p>
        </p:txBody>
      </p:sp>
      <p:sp>
        <p:nvSpPr>
          <p:cNvPr id="8" name="文本框 7"/>
          <p:cNvSpPr txBox="1"/>
          <p:nvPr/>
        </p:nvSpPr>
        <p:spPr>
          <a:xfrm>
            <a:off x="1979930" y="3927475"/>
            <a:ext cx="3035300" cy="645160"/>
          </a:xfrm>
          <a:prstGeom prst="rect">
            <a:avLst/>
          </a:prstGeom>
          <a:noFill/>
        </p:spPr>
        <p:txBody>
          <a:bodyPr wrap="square" rtlCol="0" anchor="ctr" anchorCtr="0">
            <a:spAutoFit/>
          </a:bodyPr>
          <a:lstStyle/>
          <a:p>
            <a:r>
              <a:rPr lang="en-US" altLang="zh-CN" sz="3600" b="1">
                <a:solidFill>
                  <a:schemeClr val="bg1"/>
                </a:solidFill>
                <a:latin typeface="Microsoft YaHei" panose="020B0503020204020204" charset="-122"/>
                <a:ea typeface="Microsoft YaHei" panose="020B0503020204020204" charset="-122"/>
                <a:cs typeface="Times New Roman" panose="02020603050405020304" charset="0"/>
              </a:rPr>
              <a:t>Zhiheng Hu</a:t>
            </a:r>
          </a:p>
        </p:txBody>
      </p:sp>
      <p:sp>
        <p:nvSpPr>
          <p:cNvPr id="10" name="文本框 9"/>
          <p:cNvSpPr txBox="1"/>
          <p:nvPr/>
        </p:nvSpPr>
        <p:spPr>
          <a:xfrm>
            <a:off x="1264285" y="4619625"/>
            <a:ext cx="4410075" cy="398780"/>
          </a:xfrm>
          <a:prstGeom prst="rect">
            <a:avLst/>
          </a:prstGeom>
          <a:noFill/>
        </p:spPr>
        <p:txBody>
          <a:bodyPr wrap="square" rtlCol="0" anchor="ctr" anchorCtr="0">
            <a:spAutoFit/>
          </a:bodyPr>
          <a:lstStyle/>
          <a:p>
            <a:r>
              <a:rPr lang="en-US" altLang="zh-CN" sz="2000">
                <a:solidFill>
                  <a:schemeClr val="bg1"/>
                </a:solidFill>
                <a:latin typeface="Microsoft YaHei" panose="020B0503020204020204" charset="-122"/>
                <a:ea typeface="Microsoft YaHei" panose="020B0503020204020204" charset="-122"/>
                <a:cs typeface="Microsoft YaHei" panose="020B0503020204020204" charset="-122"/>
              </a:rPr>
              <a:t>Institute of Modern Physics</a:t>
            </a:r>
            <a:r>
              <a:rPr lang="zh-CN" altLang="en-US" sz="2000">
                <a:solidFill>
                  <a:schemeClr val="bg1"/>
                </a:solidFill>
                <a:latin typeface="Microsoft YaHei" panose="020B0503020204020204" charset="-122"/>
                <a:ea typeface="Microsoft YaHei" panose="020B0503020204020204" charset="-122"/>
                <a:cs typeface="Microsoft YaHei" panose="020B0503020204020204" charset="-122"/>
              </a:rPr>
              <a:t>，</a:t>
            </a:r>
            <a:r>
              <a:rPr lang="en-US" altLang="zh-CN" sz="2000">
                <a:solidFill>
                  <a:schemeClr val="bg1"/>
                </a:solidFill>
                <a:latin typeface="Microsoft YaHei" panose="020B0503020204020204" charset="-122"/>
                <a:ea typeface="Microsoft YaHei" panose="020B0503020204020204" charset="-122"/>
                <a:cs typeface="Microsoft YaHei" panose="020B0503020204020204" charset="-122"/>
              </a:rPr>
              <a:t>CAS</a:t>
            </a:r>
          </a:p>
        </p:txBody>
      </p:sp>
      <p:sp>
        <p:nvSpPr>
          <p:cNvPr id="12" name="日期占位符 11"/>
          <p:cNvSpPr>
            <a:spLocks noGrp="1"/>
          </p:cNvSpPr>
          <p:nvPr>
            <p:ph type="dt" sz="half" idx="10"/>
          </p:nvPr>
        </p:nvSpPr>
        <p:spPr>
          <a:xfrm>
            <a:off x="1631950" y="5027930"/>
            <a:ext cx="3918585" cy="316865"/>
          </a:xfrm>
        </p:spPr>
        <p:txBody>
          <a:bodyPr anchor="ctr" anchorCtr="0">
            <a:noAutofit/>
          </a:bodyPr>
          <a:lstStyle/>
          <a:p>
            <a:fld id="{760FBDFE-C587-4B4C-A407-44438C67B59E}" type="datetime2">
              <a:rPr lang="en-US" altLang="en-US" sz="2000" smtClean="0">
                <a:solidFill>
                  <a:schemeClr val="bg1"/>
                </a:solidFill>
                <a:latin typeface="Microsoft YaHei" panose="020B0503020204020204" charset="-122"/>
                <a:ea typeface="Microsoft YaHei" panose="020B0503020204020204" charset="-122"/>
                <a:cs typeface="Times New Roman" panose="02020603050405020304" charset="0"/>
              </a:rPr>
              <a:t>Sunday, April 12, 2026</a:t>
            </a:fld>
            <a:endParaRPr lang="en-US" altLang="en-US" sz="2000">
              <a:solidFill>
                <a:schemeClr val="bg1"/>
              </a:solidFill>
              <a:latin typeface="Microsoft YaHei" panose="020B0503020204020204" charset="-122"/>
              <a:ea typeface="Microsoft YaHei" panose="020B0503020204020204" charset="-122"/>
              <a:cs typeface="Times New Roman" panose="02020603050405020304" charset="0"/>
            </a:endParaRPr>
          </a:p>
        </p:txBody>
      </p:sp>
      <p:cxnSp>
        <p:nvCxnSpPr>
          <p:cNvPr id="3" name="直接连接符 2"/>
          <p:cNvCxnSpPr/>
          <p:nvPr/>
        </p:nvCxnSpPr>
        <p:spPr>
          <a:xfrm>
            <a:off x="5679440" y="3811270"/>
            <a:ext cx="4445" cy="1749425"/>
          </a:xfrm>
          <a:prstGeom prst="line">
            <a:avLst/>
          </a:prstGeom>
          <a:ln>
            <a:solidFill>
              <a:srgbClr val="F8F9FA"/>
            </a:solidFill>
          </a:ln>
        </p:spPr>
        <p:style>
          <a:lnRef idx="2">
            <a:schemeClr val="accent1"/>
          </a:lnRef>
          <a:fillRef idx="0">
            <a:srgbClr val="FFFFFF"/>
          </a:fillRef>
          <a:effectRef idx="0">
            <a:srgbClr val="FFFFFF"/>
          </a:effectRef>
          <a:fontRef idx="minor">
            <a:schemeClr val="tx1"/>
          </a:fontRef>
        </p:style>
      </p:cxnSp>
      <p:sp>
        <p:nvSpPr>
          <p:cNvPr id="4" name="文本框 3"/>
          <p:cNvSpPr txBox="1"/>
          <p:nvPr/>
        </p:nvSpPr>
        <p:spPr>
          <a:xfrm>
            <a:off x="5927090" y="3691255"/>
            <a:ext cx="5949950" cy="2430145"/>
          </a:xfrm>
          <a:prstGeom prst="rect">
            <a:avLst/>
          </a:prstGeom>
          <a:noFill/>
        </p:spPr>
        <p:txBody>
          <a:bodyPr wrap="square" rtlCol="0">
            <a:spAutoFit/>
          </a:bodyPr>
          <a:lstStyle/>
          <a:p>
            <a:pPr indent="0" algn="l">
              <a:buClrTx/>
              <a:buSzTx/>
              <a:buFont typeface="Wingdings" panose="05000000000000000000" charset="0"/>
              <a:buNone/>
            </a:pPr>
            <a:r>
              <a:rPr lang="en-US" altLang="zh-CN" sz="2000">
                <a:solidFill>
                  <a:schemeClr val="bg1"/>
                </a:solidFill>
                <a:latin typeface="Microsoft YaHei" panose="020B0503020204020204" charset="-122"/>
                <a:ea typeface="Microsoft YaHei" panose="020B0503020204020204" charset="-122"/>
                <a:cs typeface="Times New Roman" panose="02020603050405020304" charset="0"/>
              </a:rPr>
              <a:t>Collaborators:</a:t>
            </a:r>
          </a:p>
          <a:p>
            <a:pPr marL="285750" indent="-285750" algn="l">
              <a:buClrTx/>
              <a:buSzTx/>
              <a:buFont typeface="Wingdings" panose="05000000000000000000" charset="0"/>
              <a:buChar char="p"/>
            </a:pPr>
            <a:r>
              <a:rPr lang="en-US" altLang="zh-CN" sz="1600">
                <a:solidFill>
                  <a:schemeClr val="bg1"/>
                </a:solidFill>
                <a:latin typeface="Microsoft YaHei" panose="020B0503020204020204" charset="-122"/>
                <a:ea typeface="Microsoft YaHei" panose="020B0503020204020204" charset="-122"/>
                <a:cs typeface="Times New Roman" panose="02020603050405020304" charset="0"/>
              </a:rPr>
              <a:t>Hooi Jin Ong </a:t>
            </a:r>
          </a:p>
          <a:p>
            <a:pPr marL="285750" indent="-285750" algn="l">
              <a:buClrTx/>
              <a:buSzTx/>
              <a:buFont typeface="Wingdings" panose="05000000000000000000" charset="0"/>
              <a:buChar char="p"/>
            </a:pPr>
            <a:r>
              <a:rPr lang="en-US" altLang="zh-CN" sz="1600">
                <a:solidFill>
                  <a:schemeClr val="bg1"/>
                </a:solidFill>
                <a:latin typeface="Microsoft YaHei" panose="020B0503020204020204" charset="-122"/>
                <a:ea typeface="Microsoft YaHei" panose="020B0503020204020204" charset="-122"/>
                <a:cs typeface="Times New Roman" panose="02020603050405020304" charset="0"/>
              </a:rPr>
              <a:t>Ningtao Zhang </a:t>
            </a:r>
          </a:p>
          <a:p>
            <a:pPr marL="285750" indent="-285750" algn="l">
              <a:buClrTx/>
              <a:buSzTx/>
              <a:buFont typeface="Wingdings" panose="05000000000000000000" charset="0"/>
              <a:buChar char="p"/>
            </a:pPr>
            <a:r>
              <a:rPr lang="en-US" altLang="zh-CN" sz="1600">
                <a:solidFill>
                  <a:schemeClr val="bg1"/>
                </a:solidFill>
                <a:latin typeface="Microsoft YaHei" panose="020B0503020204020204" charset="-122"/>
                <a:ea typeface="Microsoft YaHei" panose="020B0503020204020204" charset="-122"/>
                <a:cs typeface="Times New Roman" panose="02020603050405020304" charset="0"/>
              </a:rPr>
              <a:t>Zhichao Zhang </a:t>
            </a:r>
          </a:p>
          <a:p>
            <a:pPr marL="285750" indent="-285750" algn="l">
              <a:buClrTx/>
              <a:buSzTx/>
              <a:buFont typeface="Wingdings" panose="05000000000000000000" charset="0"/>
              <a:buChar char="p"/>
            </a:pPr>
            <a:r>
              <a:rPr lang="en-US" altLang="zh-CN" sz="1600">
                <a:solidFill>
                  <a:schemeClr val="bg1"/>
                </a:solidFill>
                <a:latin typeface="Microsoft YaHei" panose="020B0503020204020204" charset="-122"/>
                <a:ea typeface="Microsoft YaHei" panose="020B0503020204020204" charset="-122"/>
                <a:cs typeface="Times New Roman" panose="02020603050405020304" charset="0"/>
                <a:sym typeface="+mn-ea"/>
              </a:rPr>
              <a:t>Lu Li </a:t>
            </a:r>
          </a:p>
          <a:p>
            <a:pPr marL="285750" indent="-285750" algn="l">
              <a:buClrTx/>
              <a:buSzTx/>
              <a:buFont typeface="Wingdings" panose="05000000000000000000" charset="0"/>
              <a:buChar char="p"/>
            </a:pPr>
            <a:r>
              <a:rPr lang="en-US" altLang="zh-CN" sz="1600">
                <a:solidFill>
                  <a:schemeClr val="bg1"/>
                </a:solidFill>
                <a:latin typeface="Microsoft YaHei" panose="020B0503020204020204" charset="-122"/>
                <a:ea typeface="Microsoft YaHei" panose="020B0503020204020204" charset="-122"/>
                <a:cs typeface="Times New Roman" panose="02020603050405020304" charset="0"/>
                <a:sym typeface="+mn-ea"/>
              </a:rPr>
              <a:t>Taisen Huang </a:t>
            </a:r>
          </a:p>
          <a:p>
            <a:pPr marL="285750" indent="-285750" algn="l">
              <a:buClrTx/>
              <a:buSzTx/>
              <a:buFont typeface="Wingdings" panose="05000000000000000000" charset="0"/>
              <a:buChar char="p"/>
            </a:pPr>
            <a:r>
              <a:rPr lang="en-US" altLang="zh-CN" sz="1600">
                <a:solidFill>
                  <a:schemeClr val="bg1"/>
                </a:solidFill>
                <a:latin typeface="Microsoft YaHei" panose="020B0503020204020204" charset="-122"/>
                <a:ea typeface="Microsoft YaHei" panose="020B0503020204020204" charset="-122"/>
                <a:cs typeface="Times New Roman" panose="02020603050405020304" charset="0"/>
                <a:sym typeface="+mn-ea"/>
              </a:rPr>
              <a:t>Enqiang Liu</a:t>
            </a:r>
            <a:endParaRPr lang="en-US" altLang="zh-CN" sz="1600">
              <a:solidFill>
                <a:schemeClr val="bg1"/>
              </a:solidFill>
              <a:latin typeface="Microsoft YaHei" panose="020B0503020204020204" charset="-122"/>
              <a:ea typeface="Microsoft YaHei" panose="020B0503020204020204" charset="-122"/>
              <a:cs typeface="Times New Roman" panose="02020603050405020304" charset="0"/>
            </a:endParaRPr>
          </a:p>
          <a:p>
            <a:pPr algn="l">
              <a:buClrTx/>
              <a:buSzTx/>
              <a:buFontTx/>
            </a:pPr>
            <a:r>
              <a:rPr lang="en-US" altLang="zh-CN" sz="1600">
                <a:solidFill>
                  <a:schemeClr val="bg1"/>
                </a:solidFill>
                <a:latin typeface="Microsoft YaHei" panose="020B0503020204020204" charset="-122"/>
                <a:ea typeface="Microsoft YaHei" panose="020B0503020204020204" charset="-122"/>
                <a:cs typeface="Times New Roman" panose="02020603050405020304" charset="0"/>
              </a:rPr>
              <a:t>Institute of Modern Physics,Chinese Academy of Sciences</a:t>
            </a:r>
          </a:p>
          <a:p>
            <a:pPr algn="l">
              <a:buClrTx/>
              <a:buSzTx/>
              <a:buFontTx/>
            </a:pPr>
            <a:endParaRPr lang="zh-CN" altLang="en-US" sz="2000">
              <a:solidFill>
                <a:schemeClr val="bg1"/>
              </a:solidFill>
              <a:latin typeface="Microsoft YaHei" panose="020B0503020204020204" charset="-122"/>
              <a:ea typeface="Microsoft YaHei" panose="020B0503020204020204" charset="-122"/>
              <a:cs typeface="Times New Roman" panose="02020603050405020304" charset="0"/>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4"/>
          <a:srcRect/>
          <a:stretch>
            <a:fillRect/>
          </a:stretch>
        </p:blipFill>
        <p:spPr>
          <a:xfrm>
            <a:off x="0" y="1345565"/>
            <a:ext cx="6870700" cy="3362960"/>
          </a:xfrm>
          <a:prstGeom prst="rect">
            <a:avLst/>
          </a:prstGeom>
        </p:spPr>
      </p:pic>
      <p:sp>
        <p:nvSpPr>
          <p:cNvPr id="4" name="标题 3"/>
          <p:cNvSpPr>
            <a:spLocks noGrp="1"/>
          </p:cNvSpPr>
          <p:nvPr>
            <p:ph type="title"/>
          </p:nvPr>
        </p:nvSpPr>
        <p:spPr/>
        <p:txBody>
          <a:bodyPr>
            <a:normAutofit fontScale="90000"/>
          </a:bodyPr>
          <a:lstStyle/>
          <a:p>
            <a:r>
              <a:rPr lang="en-US" altLang="zh-CN">
                <a:sym typeface="+mn-ea"/>
              </a:rPr>
              <a:t>Physical motivation and data challenges </a:t>
            </a:r>
            <a:endParaRPr lang="en-US" altLang="zh-CN"/>
          </a:p>
        </p:txBody>
      </p:sp>
      <p:sp>
        <p:nvSpPr>
          <p:cNvPr id="2" name="日期占位符 1"/>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2</a:t>
            </a:fld>
            <a:endParaRPr lang="zh-CN" altLang="en-US"/>
          </a:p>
        </p:txBody>
      </p:sp>
      <p:sp>
        <p:nvSpPr>
          <p:cNvPr id="7" name="文本框 6"/>
          <p:cNvSpPr txBox="1"/>
          <p:nvPr/>
        </p:nvSpPr>
        <p:spPr>
          <a:xfrm>
            <a:off x="6936740" y="1386205"/>
            <a:ext cx="4860925" cy="1845310"/>
          </a:xfrm>
          <a:prstGeom prst="rect">
            <a:avLst/>
          </a:prstGeom>
          <a:noFill/>
          <a:ln w="28575" cmpd="sng">
            <a:solidFill>
              <a:schemeClr val="tx1"/>
            </a:solidFill>
            <a:prstDash val="solid"/>
          </a:ln>
        </p:spPr>
        <p:txBody>
          <a:bodyPr wrap="square" rtlCol="0">
            <a:spAutoFit/>
          </a:bodyPr>
          <a:lstStyle/>
          <a:p>
            <a:pPr marL="285750" indent="-285750">
              <a:buFont typeface="Wingdings" panose="05000000000000000000" charset="0"/>
              <a:buChar char="n"/>
            </a:pPr>
            <a:r>
              <a:rPr lang="en-US" altLang="zh-CN" sz="2400" b="1">
                <a:solidFill>
                  <a:srgbClr val="174994"/>
                </a:solidFill>
                <a:latin typeface="Microsoft YaHei" panose="020B0503020204020204" charset="-122"/>
                <a:ea typeface="Microsoft YaHei" panose="020B0503020204020204" charset="-122"/>
              </a:rPr>
              <a:t>Purpose:</a:t>
            </a:r>
          </a:p>
          <a:p>
            <a:pPr marL="574040" indent="-285750" fontAlgn="auto">
              <a:buFont typeface="Wingdings" panose="05000000000000000000" charset="0"/>
              <a:buChar char="Ø"/>
            </a:pPr>
            <a:r>
              <a:rPr lang="en-US" altLang="zh-CN" b="1">
                <a:latin typeface="Microsoft YaHei" panose="020B0503020204020204" charset="-122"/>
                <a:ea typeface="Microsoft YaHei" panose="020B0503020204020204" charset="-122"/>
              </a:rPr>
              <a:t>Study </a:t>
            </a:r>
            <a:r>
              <a:rPr lang="en-US" altLang="zh-CN" b="1" baseline="30000">
                <a:latin typeface="Microsoft YaHei" panose="020B0503020204020204" charset="-122"/>
                <a:ea typeface="Microsoft YaHei" panose="020B0503020204020204" charset="-122"/>
              </a:rPr>
              <a:t>11</a:t>
            </a:r>
            <a:r>
              <a:rPr lang="en-US" altLang="zh-CN" b="1">
                <a:latin typeface="Microsoft YaHei" panose="020B0503020204020204" charset="-122"/>
                <a:ea typeface="Microsoft YaHei" panose="020B0503020204020204" charset="-122"/>
              </a:rPr>
              <a:t>C's nuclear structure and determine whether or </a:t>
            </a:r>
            <a:r>
              <a:rPr lang="en-US" altLang="zh-CN" b="1">
                <a:solidFill>
                  <a:schemeClr val="tx1"/>
                </a:solidFill>
                <a:latin typeface="Microsoft YaHei" panose="020B0503020204020204" charset="-122"/>
                <a:ea typeface="Microsoft YaHei" panose="020B0503020204020204" charset="-122"/>
              </a:rPr>
              <a:t>not</a:t>
            </a:r>
            <a:r>
              <a:rPr lang="en-US" altLang="zh-CN" b="1">
                <a:solidFill>
                  <a:srgbClr val="FF0000"/>
                </a:solidFill>
                <a:latin typeface="Microsoft YaHei" panose="020B0503020204020204" charset="-122"/>
                <a:ea typeface="Microsoft YaHei" panose="020B0503020204020204" charset="-122"/>
              </a:rPr>
              <a:t> Z=6 proton closed shell</a:t>
            </a:r>
            <a:r>
              <a:rPr lang="en-US" altLang="zh-CN" b="1">
                <a:latin typeface="Microsoft YaHei" panose="020B0503020204020204" charset="-122"/>
                <a:ea typeface="Microsoft YaHei" panose="020B0503020204020204" charset="-122"/>
              </a:rPr>
              <a:t> exist in </a:t>
            </a:r>
            <a:r>
              <a:rPr lang="en-US" altLang="zh-CN" b="1" baseline="30000">
                <a:latin typeface="Microsoft YaHei" panose="020B0503020204020204" charset="-122"/>
                <a:ea typeface="Microsoft YaHei" panose="020B0503020204020204" charset="-122"/>
              </a:rPr>
              <a:t>11</a:t>
            </a:r>
            <a:r>
              <a:rPr lang="en-US" altLang="zh-CN" b="1">
                <a:latin typeface="Microsoft YaHei" panose="020B0503020204020204" charset="-122"/>
                <a:ea typeface="Microsoft YaHei" panose="020B0503020204020204" charset="-122"/>
              </a:rPr>
              <a:t>C by measuring the electric quadrupole transition.</a:t>
            </a:r>
          </a:p>
        </p:txBody>
      </p:sp>
      <p:sp>
        <p:nvSpPr>
          <p:cNvPr id="5" name="文本框 4"/>
          <p:cNvSpPr txBox="1"/>
          <p:nvPr/>
        </p:nvSpPr>
        <p:spPr>
          <a:xfrm>
            <a:off x="1560830" y="4638675"/>
            <a:ext cx="2106930" cy="368300"/>
          </a:xfrm>
          <a:prstGeom prst="rect">
            <a:avLst/>
          </a:prstGeom>
          <a:noFill/>
        </p:spPr>
        <p:txBody>
          <a:bodyPr wrap="square" rtlCol="0">
            <a:spAutoFit/>
          </a:bodyPr>
          <a:lstStyle/>
          <a:p>
            <a:r>
              <a:rPr lang="en-US" altLang="zh-CN" b="1">
                <a:latin typeface="Times New Roman" panose="02020603050405020304" charset="0"/>
                <a:cs typeface="Times New Roman" panose="02020603050405020304" charset="0"/>
              </a:rPr>
              <a:t>RIBLL1@HIRFL</a:t>
            </a:r>
          </a:p>
        </p:txBody>
      </p:sp>
      <p:sp>
        <p:nvSpPr>
          <p:cNvPr id="13" name="文本框 12"/>
          <p:cNvSpPr txBox="1"/>
          <p:nvPr/>
        </p:nvSpPr>
        <p:spPr>
          <a:xfrm>
            <a:off x="114300" y="5090160"/>
            <a:ext cx="6822440" cy="1076325"/>
          </a:xfrm>
          <a:prstGeom prst="rect">
            <a:avLst/>
          </a:prstGeom>
          <a:noFill/>
        </p:spPr>
        <p:txBody>
          <a:bodyPr wrap="square">
            <a:spAutoFit/>
          </a:bodyPr>
          <a:lstStyle/>
          <a:p>
            <a:pPr algn="l"/>
            <a:r>
              <a:rPr lang="en-US" altLang="zh-CN" sz="2800" b="1" dirty="0">
                <a:solidFill>
                  <a:srgbClr val="174994"/>
                </a:solidFill>
                <a:latin typeface="Microsoft YaHei" panose="020B0503020204020204" charset="-122"/>
                <a:ea typeface="Microsoft YaHei" panose="020B0503020204020204" charset="-122"/>
                <a:cs typeface="Times New Roman" panose="02020603050405020304" charset="0"/>
              </a:rPr>
              <a:t>MATE:</a:t>
            </a:r>
            <a:r>
              <a:rPr lang="en-US" altLang="zh-CN" sz="2800" b="1" dirty="0">
                <a:solidFill>
                  <a:srgbClr val="FF0000"/>
                </a:solidFill>
                <a:latin typeface="Microsoft YaHei" panose="020B0503020204020204" charset="-122"/>
                <a:ea typeface="Microsoft YaHei" panose="020B0503020204020204" charset="-122"/>
                <a:cs typeface="Times New Roman" panose="02020603050405020304" charset="0"/>
              </a:rPr>
              <a:t> </a:t>
            </a:r>
          </a:p>
          <a:p>
            <a:pPr algn="l"/>
            <a:r>
              <a:rPr lang="en-US" altLang="zh-CN" b="1" dirty="0">
                <a:solidFill>
                  <a:srgbClr val="174994"/>
                </a:solidFill>
                <a:latin typeface="Microsoft YaHei" panose="020B0503020204020204" charset="-122"/>
                <a:ea typeface="Microsoft YaHei" panose="020B0503020204020204" charset="-122"/>
                <a:cs typeface="Times New Roman" panose="02020603050405020304" charset="0"/>
              </a:rPr>
              <a:t>M</a:t>
            </a:r>
            <a:r>
              <a:rPr lang="en-US" altLang="zh-CN" b="1" dirty="0">
                <a:latin typeface="Microsoft YaHei" panose="020B0503020204020204" charset="-122"/>
                <a:ea typeface="Microsoft YaHei" panose="020B0503020204020204" charset="-122"/>
                <a:cs typeface="Times New Roman" panose="02020603050405020304" charset="0"/>
              </a:rPr>
              <a:t>ulti-purpose </a:t>
            </a:r>
            <a:r>
              <a:rPr lang="en-US" altLang="zh-CN" b="1" dirty="0">
                <a:solidFill>
                  <a:srgbClr val="174994"/>
                </a:solidFill>
                <a:latin typeface="Microsoft YaHei" panose="020B0503020204020204" charset="-122"/>
                <a:ea typeface="Microsoft YaHei" panose="020B0503020204020204" charset="-122"/>
                <a:cs typeface="Times New Roman" panose="02020603050405020304" charset="0"/>
              </a:rPr>
              <a:t>A</a:t>
            </a:r>
            <a:r>
              <a:rPr lang="en-US" altLang="zh-CN" b="1" dirty="0">
                <a:latin typeface="Microsoft YaHei" panose="020B0503020204020204" charset="-122"/>
                <a:ea typeface="Microsoft YaHei" panose="020B0503020204020204" charset="-122"/>
                <a:cs typeface="Times New Roman" panose="02020603050405020304" charset="0"/>
              </a:rPr>
              <a:t>ctive-target </a:t>
            </a:r>
            <a:r>
              <a:rPr lang="en-US" altLang="zh-CN" b="1" dirty="0">
                <a:solidFill>
                  <a:srgbClr val="174994"/>
                </a:solidFill>
                <a:latin typeface="Microsoft YaHei" panose="020B0503020204020204" charset="-122"/>
                <a:ea typeface="Microsoft YaHei" panose="020B0503020204020204" charset="-122"/>
                <a:cs typeface="Times New Roman" panose="02020603050405020304" charset="0"/>
              </a:rPr>
              <a:t>T</a:t>
            </a:r>
            <a:r>
              <a:rPr lang="en-US" altLang="zh-CN" b="1" dirty="0">
                <a:latin typeface="Microsoft YaHei" panose="020B0503020204020204" charset="-122"/>
                <a:ea typeface="Microsoft YaHei" panose="020B0503020204020204" charset="-122"/>
                <a:cs typeface="Times New Roman" panose="02020603050405020304" charset="0"/>
              </a:rPr>
              <a:t>ime projection chamber for nuclear astrophysical and exotic beam</a:t>
            </a:r>
            <a:r>
              <a:rPr lang="en-US" altLang="zh-CN" b="1" dirty="0">
                <a:solidFill>
                  <a:srgbClr val="174994"/>
                </a:solidFill>
                <a:latin typeface="Microsoft YaHei" panose="020B0503020204020204" charset="-122"/>
                <a:ea typeface="Microsoft YaHei" panose="020B0503020204020204" charset="-122"/>
                <a:cs typeface="Times New Roman" panose="02020603050405020304" charset="0"/>
              </a:rPr>
              <a:t> E</a:t>
            </a:r>
            <a:r>
              <a:rPr lang="en-US" altLang="zh-CN" b="1" dirty="0">
                <a:latin typeface="Microsoft YaHei" panose="020B0503020204020204" charset="-122"/>
                <a:ea typeface="Microsoft YaHei" panose="020B0503020204020204" charset="-122"/>
                <a:cs typeface="Times New Roman" panose="02020603050405020304" charset="0"/>
              </a:rPr>
              <a:t>xperiments </a:t>
            </a:r>
          </a:p>
        </p:txBody>
      </p:sp>
      <p:sp>
        <p:nvSpPr>
          <p:cNvPr id="24" name="文本框 23"/>
          <p:cNvSpPr txBox="1"/>
          <p:nvPr/>
        </p:nvSpPr>
        <p:spPr>
          <a:xfrm>
            <a:off x="2957195" y="1386205"/>
            <a:ext cx="3311525" cy="1087755"/>
          </a:xfrm>
          <a:prstGeom prst="rect">
            <a:avLst/>
          </a:prstGeom>
          <a:noFill/>
          <a:ln w="12700" cmpd="sng">
            <a:solidFill>
              <a:srgbClr val="1F2937"/>
            </a:solidFill>
            <a:prstDash val="dash"/>
          </a:ln>
        </p:spPr>
        <p:txBody>
          <a:bodyPr wrap="square" rtlCol="0">
            <a:spAutoFit/>
          </a:bodyPr>
          <a:lstStyle/>
          <a:p>
            <a:pPr>
              <a:lnSpc>
                <a:spcPct val="120000"/>
              </a:lnSpc>
            </a:pPr>
            <a:r>
              <a:rPr lang="en-US" altLang="zh-CN" baseline="30000">
                <a:latin typeface="Microsoft YaHei" panose="020B0503020204020204" charset="-122"/>
                <a:ea typeface="Microsoft YaHei" panose="020B0503020204020204" charset="-122"/>
                <a:cs typeface="Times New Roman" panose="02020603050405020304" charset="0"/>
              </a:rPr>
              <a:t>11, 12</a:t>
            </a:r>
            <a:r>
              <a:rPr lang="en-US" altLang="zh-CN">
                <a:latin typeface="Microsoft YaHei" panose="020B0503020204020204" charset="-122"/>
                <a:ea typeface="Microsoft YaHei" panose="020B0503020204020204" charset="-122"/>
                <a:cs typeface="Times New Roman" panose="02020603050405020304" charset="0"/>
              </a:rPr>
              <a:t>C : (α, α) , (</a:t>
            </a:r>
            <a:r>
              <a:rPr lang="en-US" altLang="zh-CN">
                <a:latin typeface="Microsoft YaHei" panose="020B0503020204020204" charset="-122"/>
                <a:ea typeface="Microsoft YaHei" panose="020B0503020204020204" charset="-122"/>
                <a:cs typeface="Times New Roman" panose="02020603050405020304" charset="0"/>
                <a:sym typeface="+mn-ea"/>
              </a:rPr>
              <a:t>α, α</a:t>
            </a:r>
            <a:r>
              <a:rPr lang="en-US" altLang="zh-CN" baseline="30000">
                <a:latin typeface="Microsoft YaHei" panose="020B0503020204020204" charset="-122"/>
                <a:ea typeface="Microsoft YaHei" panose="020B0503020204020204" charset="-122"/>
                <a:cs typeface="Times New Roman" panose="02020603050405020304" charset="0"/>
                <a:sym typeface="+mn-ea"/>
              </a:rPr>
              <a:t>*</a:t>
            </a:r>
            <a:r>
              <a:rPr lang="en-US" altLang="zh-CN">
                <a:latin typeface="Microsoft YaHei" panose="020B0503020204020204" charset="-122"/>
                <a:ea typeface="Microsoft YaHei" panose="020B0503020204020204" charset="-122"/>
                <a:cs typeface="Times New Roman" panose="02020603050405020304" charset="0"/>
              </a:rPr>
              <a:t>)</a:t>
            </a:r>
          </a:p>
          <a:p>
            <a:pPr marL="285750" indent="-285750">
              <a:lnSpc>
                <a:spcPct val="120000"/>
              </a:lnSpc>
              <a:buFont typeface="Wingdings" panose="05000000000000000000" charset="0"/>
              <a:buChar char="Ø"/>
            </a:pPr>
            <a:r>
              <a:rPr lang="en-US" altLang="zh-CN" baseline="30000">
                <a:latin typeface="Microsoft YaHei" panose="020B0503020204020204" charset="-122"/>
                <a:ea typeface="Microsoft YaHei" panose="020B0503020204020204" charset="-122"/>
                <a:cs typeface="Times New Roman" panose="02020603050405020304" charset="0"/>
              </a:rPr>
              <a:t>12</a:t>
            </a:r>
            <a:r>
              <a:rPr lang="en-US" altLang="zh-CN">
                <a:latin typeface="Microsoft YaHei" panose="020B0503020204020204" charset="-122"/>
                <a:ea typeface="Microsoft YaHei" panose="020B0503020204020204" charset="-122"/>
                <a:cs typeface="Times New Roman" panose="02020603050405020304" charset="0"/>
              </a:rPr>
              <a:t>C: 75MeV/u, ~10</a:t>
            </a:r>
            <a:r>
              <a:rPr lang="en-US" altLang="zh-CN" baseline="30000">
                <a:latin typeface="Microsoft YaHei" panose="020B0503020204020204" charset="-122"/>
                <a:ea typeface="Microsoft YaHei" panose="020B0503020204020204" charset="-122"/>
                <a:cs typeface="Times New Roman" panose="02020603050405020304" charset="0"/>
              </a:rPr>
              <a:t>5</a:t>
            </a:r>
            <a:r>
              <a:rPr lang="en-US" altLang="zh-CN">
                <a:latin typeface="Microsoft YaHei" panose="020B0503020204020204" charset="-122"/>
                <a:ea typeface="Microsoft YaHei" panose="020B0503020204020204" charset="-122"/>
                <a:cs typeface="Times New Roman" panose="02020603050405020304" charset="0"/>
              </a:rPr>
              <a:t> pps</a:t>
            </a:r>
          </a:p>
          <a:p>
            <a:pPr marL="285750" indent="-285750">
              <a:lnSpc>
                <a:spcPct val="120000"/>
              </a:lnSpc>
              <a:buFont typeface="Wingdings" panose="05000000000000000000" charset="0"/>
              <a:buChar char="Ø"/>
            </a:pPr>
            <a:r>
              <a:rPr lang="en-US" altLang="zh-CN" baseline="30000">
                <a:latin typeface="Microsoft YaHei" panose="020B0503020204020204" charset="-122"/>
                <a:ea typeface="Microsoft YaHei" panose="020B0503020204020204" charset="-122"/>
                <a:cs typeface="Times New Roman" panose="02020603050405020304" charset="0"/>
              </a:rPr>
              <a:t>11</a:t>
            </a:r>
            <a:r>
              <a:rPr lang="en-US" altLang="zh-CN">
                <a:latin typeface="Microsoft YaHei" panose="020B0503020204020204" charset="-122"/>
                <a:ea typeface="Microsoft YaHei" panose="020B0503020204020204" charset="-122"/>
                <a:cs typeface="Times New Roman" panose="02020603050405020304" charset="0"/>
              </a:rPr>
              <a:t>C: 55MeV/u, 10</a:t>
            </a:r>
            <a:r>
              <a:rPr lang="en-US" altLang="zh-CN" baseline="30000">
                <a:latin typeface="Microsoft YaHei" panose="020B0503020204020204" charset="-122"/>
                <a:ea typeface="Microsoft YaHei" panose="020B0503020204020204" charset="-122"/>
                <a:cs typeface="Times New Roman" panose="02020603050405020304" charset="0"/>
              </a:rPr>
              <a:t>4</a:t>
            </a:r>
            <a:r>
              <a:rPr lang="en-US" altLang="zh-CN">
                <a:latin typeface="Microsoft YaHei" panose="020B0503020204020204" charset="-122"/>
                <a:ea typeface="Microsoft YaHei" panose="020B0503020204020204" charset="-122"/>
                <a:cs typeface="Times New Roman" panose="02020603050405020304" charset="0"/>
              </a:rPr>
              <a:t>-10</a:t>
            </a:r>
            <a:r>
              <a:rPr lang="en-US" altLang="zh-CN" baseline="30000">
                <a:latin typeface="Microsoft YaHei" panose="020B0503020204020204" charset="-122"/>
                <a:ea typeface="Microsoft YaHei" panose="020B0503020204020204" charset="-122"/>
                <a:cs typeface="Times New Roman" panose="02020603050405020304" charset="0"/>
              </a:rPr>
              <a:t>6 </a:t>
            </a:r>
            <a:r>
              <a:rPr lang="en-US" altLang="zh-CN">
                <a:latin typeface="Microsoft YaHei" panose="020B0503020204020204" charset="-122"/>
                <a:ea typeface="Microsoft YaHei" panose="020B0503020204020204" charset="-122"/>
                <a:cs typeface="Times New Roman" panose="02020603050405020304" charset="0"/>
              </a:rPr>
              <a:t>pps</a:t>
            </a:r>
          </a:p>
        </p:txBody>
      </p:sp>
      <p:sp>
        <p:nvSpPr>
          <p:cNvPr id="25" name="文本框 24"/>
          <p:cNvSpPr txBox="1"/>
          <p:nvPr/>
        </p:nvSpPr>
        <p:spPr>
          <a:xfrm>
            <a:off x="6935470" y="3776980"/>
            <a:ext cx="4862195" cy="2399665"/>
          </a:xfrm>
          <a:prstGeom prst="rect">
            <a:avLst/>
          </a:prstGeom>
          <a:noFill/>
          <a:ln w="28575" cmpd="sng">
            <a:solidFill>
              <a:schemeClr val="tx1"/>
            </a:solidFill>
            <a:prstDash val="solid"/>
          </a:ln>
        </p:spPr>
        <p:txBody>
          <a:bodyPr wrap="square" rtlCol="0">
            <a:spAutoFit/>
          </a:bodyPr>
          <a:lstStyle/>
          <a:p>
            <a:pPr marL="285750" indent="-285750">
              <a:buFont typeface="Wingdings" panose="05000000000000000000" charset="0"/>
              <a:buChar char="n"/>
            </a:pPr>
            <a:r>
              <a:rPr lang="en-US" altLang="zh-CN" sz="2400" b="1">
                <a:solidFill>
                  <a:srgbClr val="174994"/>
                </a:solidFill>
                <a:latin typeface="Microsoft YaHei" panose="020B0503020204020204" charset="-122"/>
                <a:ea typeface="Microsoft YaHei" panose="020B0503020204020204" charset="-122"/>
                <a:cs typeface="Microsoft YaHei" panose="020B0503020204020204" charset="-122"/>
              </a:rPr>
              <a:t>Challenges </a:t>
            </a:r>
            <a:r>
              <a:rPr lang="zh-CN" altLang="en-US" sz="2400" b="1">
                <a:solidFill>
                  <a:srgbClr val="174994"/>
                </a:solidFill>
                <a:latin typeface="Microsoft YaHei" panose="020B0503020204020204" charset="-122"/>
                <a:ea typeface="Microsoft YaHei" panose="020B0503020204020204" charset="-122"/>
                <a:cs typeface="Microsoft YaHei" panose="020B0503020204020204" charset="-122"/>
              </a:rPr>
              <a:t>：</a:t>
            </a:r>
            <a:endParaRPr lang="zh-CN" altLang="en-US" sz="2000" b="1">
              <a:latin typeface="Microsoft YaHei" panose="020B0503020204020204" charset="-122"/>
              <a:ea typeface="Microsoft YaHei" panose="020B0503020204020204" charset="-122"/>
              <a:cs typeface="Microsoft YaHei" panose="020B0503020204020204" charset="-122"/>
            </a:endParaRPr>
          </a:p>
          <a:p>
            <a:pPr marL="574040" indent="-285750" fontAlgn="auto">
              <a:buFont typeface="Wingdings" panose="05000000000000000000" charset="0"/>
              <a:buChar char="Ø"/>
            </a:pPr>
            <a:r>
              <a:rPr lang="en-US" altLang="zh-CN" b="1">
                <a:latin typeface="Microsoft YaHei" panose="020B0503020204020204" charset="-122"/>
                <a:ea typeface="Microsoft YaHei" panose="020B0503020204020204" charset="-122"/>
                <a:cs typeface="Microsoft YaHei" panose="020B0503020204020204" charset="-122"/>
              </a:rPr>
              <a:t>Each experiment generates several TBs data, and how to extract useful information from this </a:t>
            </a:r>
            <a:r>
              <a:rPr lang="en-US" altLang="zh-CN" b="1">
                <a:solidFill>
                  <a:srgbClr val="FF0000"/>
                </a:solidFill>
                <a:latin typeface="Microsoft YaHei" panose="020B0503020204020204" charset="-122"/>
                <a:ea typeface="Microsoft YaHei" panose="020B0503020204020204" charset="-122"/>
                <a:cs typeface="Microsoft YaHei" panose="020B0503020204020204" charset="-122"/>
              </a:rPr>
              <a:t>massive amount of data</a:t>
            </a:r>
            <a:r>
              <a:rPr lang="en-US" altLang="zh-CN" b="1">
                <a:latin typeface="Microsoft YaHei" panose="020B0503020204020204" charset="-122"/>
                <a:ea typeface="Microsoft YaHei" panose="020B0503020204020204" charset="-122"/>
                <a:cs typeface="Microsoft YaHei" panose="020B0503020204020204" charset="-122"/>
              </a:rPr>
              <a:t> becomes a key issue.</a:t>
            </a:r>
          </a:p>
          <a:p>
            <a:pPr marL="574040" indent="-285750" fontAlgn="auto">
              <a:buFont typeface="Wingdings" panose="05000000000000000000" charset="0"/>
              <a:buChar char="Ø"/>
            </a:pPr>
            <a:r>
              <a:rPr lang="en-US" altLang="zh-CN" b="1">
                <a:latin typeface="Microsoft YaHei" panose="020B0503020204020204" charset="-122"/>
                <a:ea typeface="Microsoft YaHei" panose="020B0503020204020204" charset="-122"/>
                <a:cs typeface="Microsoft YaHei" panose="020B0503020204020204" charset="-122"/>
                <a:sym typeface="+mn-ea"/>
              </a:rPr>
              <a:t>The </a:t>
            </a:r>
            <a:r>
              <a:rPr lang="en-US" altLang="zh-CN" b="1">
                <a:solidFill>
                  <a:srgbClr val="FF0000"/>
                </a:solidFill>
                <a:latin typeface="Microsoft YaHei" panose="020B0503020204020204" charset="-122"/>
                <a:ea typeface="Microsoft YaHei" panose="020B0503020204020204" charset="-122"/>
                <a:cs typeface="Microsoft YaHei" panose="020B0503020204020204" charset="-122"/>
                <a:sym typeface="+mn-ea"/>
              </a:rPr>
              <a:t>subjectivity</a:t>
            </a:r>
            <a:r>
              <a:rPr lang="en-US" altLang="zh-CN" b="1">
                <a:latin typeface="Microsoft YaHei" panose="020B0503020204020204" charset="-122"/>
                <a:ea typeface="Microsoft YaHei" panose="020B0503020204020204" charset="-122"/>
                <a:cs typeface="Microsoft YaHei" panose="020B0503020204020204" charset="-122"/>
                <a:sym typeface="+mn-ea"/>
              </a:rPr>
              <a:t> and potential </a:t>
            </a:r>
            <a:r>
              <a:rPr lang="en-US" altLang="zh-CN" b="1">
                <a:solidFill>
                  <a:srgbClr val="FF0000"/>
                </a:solidFill>
                <a:latin typeface="Microsoft YaHei" panose="020B0503020204020204" charset="-122"/>
                <a:ea typeface="Microsoft YaHei" panose="020B0503020204020204" charset="-122"/>
                <a:cs typeface="Microsoft YaHei" panose="020B0503020204020204" charset="-122"/>
                <a:sym typeface="+mn-ea"/>
              </a:rPr>
              <a:t>biases</a:t>
            </a:r>
            <a:r>
              <a:rPr lang="en-US" altLang="zh-CN" b="1">
                <a:latin typeface="Microsoft YaHei" panose="020B0503020204020204" charset="-122"/>
                <a:ea typeface="Microsoft YaHei" panose="020B0503020204020204" charset="-122"/>
                <a:cs typeface="Microsoft YaHei" panose="020B0503020204020204" charset="-122"/>
                <a:sym typeface="+mn-ea"/>
              </a:rPr>
              <a:t>.</a:t>
            </a:r>
            <a:r>
              <a:rPr lang="en-US" altLang="zh-CN" b="1">
                <a:latin typeface="Microsoft YaHei" panose="020B0503020204020204" charset="-122"/>
                <a:ea typeface="Microsoft YaHei" panose="020B0503020204020204" charset="-122"/>
                <a:cs typeface="Microsoft YaHei" panose="020B0503020204020204" charset="-122"/>
              </a:rPr>
              <a:t>    </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arn(inVertical)">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25"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16230" y="219710"/>
            <a:ext cx="10862310" cy="705485"/>
          </a:xfrm>
        </p:spPr>
        <p:txBody>
          <a:bodyPr>
            <a:normAutofit fontScale="90000"/>
          </a:bodyPr>
          <a:lstStyle/>
          <a:p>
            <a:r>
              <a:rPr lang="en-US" altLang="zh-CN"/>
              <a:t>Convolutional Neural Networks (CNN) </a:t>
            </a:r>
            <a:br>
              <a:rPr lang="en-US" altLang="zh-CN"/>
            </a:br>
            <a:r>
              <a:rPr lang="en-US" altLang="zh-CN"/>
              <a:t>for MATE data</a:t>
            </a:r>
          </a:p>
        </p:txBody>
      </p:sp>
      <p:sp>
        <p:nvSpPr>
          <p:cNvPr id="6" name="文本框 5"/>
          <p:cNvSpPr txBox="1"/>
          <p:nvPr/>
        </p:nvSpPr>
        <p:spPr>
          <a:xfrm>
            <a:off x="5704205" y="1128395"/>
            <a:ext cx="6127115" cy="2361565"/>
          </a:xfrm>
          <a:prstGeom prst="rect">
            <a:avLst/>
          </a:prstGeom>
          <a:noFill/>
        </p:spPr>
        <p:txBody>
          <a:bodyPr wrap="square" rtlCol="0">
            <a:noAutofit/>
          </a:bodyPr>
          <a:lstStyle/>
          <a:p>
            <a:pPr indent="0" fontAlgn="auto">
              <a:lnSpc>
                <a:spcPct val="100000"/>
              </a:lnSpc>
              <a:buFont typeface="Wingdings" panose="05000000000000000000" charset="0"/>
              <a:buNone/>
            </a:pPr>
            <a:r>
              <a:rPr lang="en-US" altLang="zh-CN" sz="2400" b="1">
                <a:latin typeface="+mn-ea"/>
                <a:cs typeface="Times New Roman" panose="02020603050405020304" charset="0"/>
                <a:sym typeface="+mn-ea"/>
              </a:rPr>
              <a:t>Simulation Data with MATESIM toolkit</a:t>
            </a:r>
          </a:p>
          <a:p>
            <a:pPr marL="342900" indent="-342900" fontAlgn="auto">
              <a:lnSpc>
                <a:spcPct val="100000"/>
              </a:lnSpc>
              <a:buFont typeface="Wingdings" panose="05000000000000000000" charset="0"/>
              <a:buChar char="ü"/>
            </a:pPr>
            <a:r>
              <a:rPr lang="en-US" altLang="zh-CN" sz="2000" b="1">
                <a:latin typeface="+mn-ea"/>
                <a:cs typeface="Times New Roman" panose="02020603050405020304" charset="0"/>
                <a:sym typeface="+mn-ea"/>
              </a:rPr>
              <a:t>Simulated Data (64</a:t>
            </a:r>
            <a:r>
              <a:rPr lang="zh-CN" altLang="en-US" sz="2000" b="1">
                <a:latin typeface="+mn-ea"/>
                <a:cs typeface="Times New Roman" panose="02020603050405020304" charset="0"/>
                <a:sym typeface="+mn-ea"/>
              </a:rPr>
              <a:t>×</a:t>
            </a:r>
            <a:r>
              <a:rPr lang="en-US" altLang="zh-CN" sz="2000" b="1">
                <a:latin typeface="+mn-ea"/>
                <a:cs typeface="Times New Roman" panose="02020603050405020304" charset="0"/>
                <a:sym typeface="+mn-ea"/>
              </a:rPr>
              <a:t>64)</a:t>
            </a:r>
          </a:p>
          <a:p>
            <a:pPr marL="800100" lvl="1" indent="-342900" fontAlgn="auto">
              <a:lnSpc>
                <a:spcPct val="100000"/>
              </a:lnSpc>
              <a:buFont typeface="Arial" panose="020B0604020202020204" pitchFamily="34" charset="0"/>
              <a:buChar char="•"/>
            </a:pPr>
            <a:r>
              <a:rPr lang="en-US" altLang="zh-CN" sz="2000">
                <a:latin typeface="+mn-ea"/>
                <a:cs typeface="Times New Roman" panose="02020603050405020304" charset="0"/>
                <a:sym typeface="+mn-ea"/>
              </a:rPr>
              <a:t>15k proton events (</a:t>
            </a:r>
            <a:r>
              <a:rPr lang="en-US" altLang="zh-CN" sz="2000" baseline="30000">
                <a:latin typeface="+mn-ea"/>
                <a:cs typeface="Times New Roman" panose="02020603050405020304" charset="0"/>
                <a:sym typeface="+mn-ea"/>
              </a:rPr>
              <a:t>12</a:t>
            </a:r>
            <a:r>
              <a:rPr lang="en-US" altLang="zh-CN" sz="2000">
                <a:latin typeface="+mn-ea"/>
                <a:cs typeface="Times New Roman" panose="02020603050405020304" charset="0"/>
                <a:sym typeface="+mn-ea"/>
              </a:rPr>
              <a:t>C(p, p)</a:t>
            </a:r>
            <a:r>
              <a:rPr lang="en-US" altLang="zh-CN" sz="2000" baseline="30000">
                <a:latin typeface="+mn-ea"/>
                <a:cs typeface="Times New Roman" panose="02020603050405020304" charset="0"/>
                <a:sym typeface="+mn-ea"/>
              </a:rPr>
              <a:t>12</a:t>
            </a:r>
            <a:r>
              <a:rPr lang="en-US" altLang="zh-CN" sz="2000">
                <a:latin typeface="+mn-ea"/>
                <a:cs typeface="Times New Roman" panose="02020603050405020304" charset="0"/>
                <a:sym typeface="+mn-ea"/>
              </a:rPr>
              <a:t>C) </a:t>
            </a:r>
          </a:p>
          <a:p>
            <a:pPr marL="800100" lvl="1" indent="-342900" fontAlgn="auto">
              <a:lnSpc>
                <a:spcPct val="100000"/>
              </a:lnSpc>
              <a:buFont typeface="Arial" panose="020B0604020202020204" pitchFamily="34" charset="0"/>
              <a:buChar char="•"/>
            </a:pPr>
            <a:r>
              <a:rPr lang="en-US" altLang="zh-CN" sz="2000">
                <a:latin typeface="+mn-ea"/>
                <a:cs typeface="Times New Roman" panose="02020603050405020304" charset="0"/>
                <a:sym typeface="+mn-ea"/>
              </a:rPr>
              <a:t>15k non-proton events(</a:t>
            </a:r>
            <a:r>
              <a:rPr lang="en-US" altLang="zh-CN" sz="2000" baseline="30000">
                <a:latin typeface="+mn-ea"/>
                <a:cs typeface="Times New Roman" panose="02020603050405020304" charset="0"/>
                <a:sym typeface="+mn-ea"/>
              </a:rPr>
              <a:t>12</a:t>
            </a:r>
            <a:r>
              <a:rPr lang="en-US" altLang="zh-CN" sz="2000">
                <a:latin typeface="+mn-ea"/>
                <a:cs typeface="Times New Roman" panose="02020603050405020304" charset="0"/>
                <a:sym typeface="+mn-ea"/>
              </a:rPr>
              <a:t>C(p, α)</a:t>
            </a:r>
            <a:r>
              <a:rPr lang="en-US" altLang="zh-CN" sz="2000" baseline="30000">
                <a:latin typeface="+mn-ea"/>
                <a:cs typeface="Times New Roman" panose="02020603050405020304" charset="0"/>
                <a:sym typeface="+mn-ea"/>
              </a:rPr>
              <a:t>9</a:t>
            </a:r>
            <a:r>
              <a:rPr lang="en-US" altLang="zh-CN" sz="2000">
                <a:latin typeface="+mn-ea"/>
                <a:cs typeface="Times New Roman" panose="02020603050405020304" charset="0"/>
                <a:sym typeface="+mn-ea"/>
              </a:rPr>
              <a:t>B)</a:t>
            </a:r>
          </a:p>
          <a:p>
            <a:pPr marL="342900" indent="-342900" fontAlgn="auto">
              <a:lnSpc>
                <a:spcPct val="100000"/>
              </a:lnSpc>
              <a:buFont typeface="Wingdings" panose="05000000000000000000" charset="0"/>
              <a:buChar char="ü"/>
            </a:pPr>
            <a:r>
              <a:rPr lang="en-US" altLang="zh-CN" sz="2000" b="1">
                <a:latin typeface="+mn-ea"/>
                <a:cs typeface="Times New Roman" panose="02020603050405020304" charset="0"/>
              </a:rPr>
              <a:t>3D track → 2D image </a:t>
            </a:r>
          </a:p>
          <a:p>
            <a:pPr marL="800100" lvl="1" indent="-342900" fontAlgn="auto">
              <a:lnSpc>
                <a:spcPct val="100000"/>
              </a:lnSpc>
              <a:buFont typeface="Arial" panose="020B0604020202020204" pitchFamily="34" charset="0"/>
              <a:buChar char="•"/>
            </a:pPr>
            <a:r>
              <a:rPr lang="en-US" altLang="zh-CN" sz="2000">
                <a:solidFill>
                  <a:schemeClr val="tx1"/>
                </a:solidFill>
                <a:latin typeface="+mn-ea"/>
                <a:cs typeface="Times New Roman" panose="02020603050405020304" charset="0"/>
              </a:rPr>
              <a:t>Charge deposition</a:t>
            </a:r>
          </a:p>
          <a:p>
            <a:pPr marL="800100" lvl="1" indent="-342900" fontAlgn="auto">
              <a:lnSpc>
                <a:spcPct val="100000"/>
              </a:lnSpc>
              <a:buFont typeface="Arial" panose="020B0604020202020204" pitchFamily="34" charset="0"/>
              <a:buChar char="•"/>
            </a:pPr>
            <a:r>
              <a:rPr lang="en-US" altLang="zh-CN" sz="2000">
                <a:solidFill>
                  <a:schemeClr val="tx1"/>
                </a:solidFill>
                <a:latin typeface="+mn-ea"/>
                <a:cs typeface="Times New Roman" panose="02020603050405020304" charset="0"/>
              </a:rPr>
              <a:t>Drift time</a:t>
            </a:r>
          </a:p>
        </p:txBody>
      </p:sp>
      <p:grpSp>
        <p:nvGrpSpPr>
          <p:cNvPr id="18" name="组合 17"/>
          <p:cNvGrpSpPr/>
          <p:nvPr/>
        </p:nvGrpSpPr>
        <p:grpSpPr>
          <a:xfrm>
            <a:off x="105410" y="3471545"/>
            <a:ext cx="5125085" cy="2470785"/>
            <a:chOff x="270" y="5134"/>
            <a:chExt cx="8240" cy="4060"/>
          </a:xfrm>
        </p:grpSpPr>
        <p:grpSp>
          <p:nvGrpSpPr>
            <p:cNvPr id="8" name="组合 7"/>
            <p:cNvGrpSpPr/>
            <p:nvPr/>
          </p:nvGrpSpPr>
          <p:grpSpPr>
            <a:xfrm>
              <a:off x="372" y="5209"/>
              <a:ext cx="8049" cy="3902"/>
              <a:chOff x="7268" y="1874"/>
              <a:chExt cx="9678" cy="5046"/>
            </a:xfrm>
          </p:grpSpPr>
          <p:grpSp>
            <p:nvGrpSpPr>
              <p:cNvPr id="5" name="组合 4"/>
              <p:cNvGrpSpPr/>
              <p:nvPr/>
            </p:nvGrpSpPr>
            <p:grpSpPr>
              <a:xfrm>
                <a:off x="7562" y="1874"/>
                <a:ext cx="9384" cy="5046"/>
                <a:chOff x="6815" y="1955"/>
                <a:chExt cx="9384" cy="5046"/>
              </a:xfrm>
            </p:grpSpPr>
            <p:pic>
              <p:nvPicPr>
                <p:cNvPr id="9" name="图片 8"/>
                <p:cNvPicPr>
                  <a:picLocks noChangeAspect="1"/>
                </p:cNvPicPr>
                <p:nvPr/>
              </p:nvPicPr>
              <p:blipFill>
                <a:blip r:embed="rId4"/>
                <a:stretch>
                  <a:fillRect/>
                </a:stretch>
              </p:blipFill>
              <p:spPr>
                <a:xfrm>
                  <a:off x="6815" y="2504"/>
                  <a:ext cx="9384" cy="4497"/>
                </a:xfrm>
                <a:prstGeom prst="rect">
                  <a:avLst/>
                </a:prstGeom>
              </p:spPr>
            </p:pic>
            <p:sp>
              <p:nvSpPr>
                <p:cNvPr id="14" name="文本框 13"/>
                <p:cNvSpPr txBox="1"/>
                <p:nvPr/>
              </p:nvSpPr>
              <p:spPr>
                <a:xfrm>
                  <a:off x="7458" y="1955"/>
                  <a:ext cx="8207" cy="846"/>
                </a:xfrm>
                <a:prstGeom prst="rect">
                  <a:avLst/>
                </a:prstGeom>
                <a:solidFill>
                  <a:schemeClr val="bg1"/>
                </a:solidFill>
              </p:spPr>
              <p:txBody>
                <a:bodyPr wrap="square" rtlCol="0">
                  <a:noAutofit/>
                </a:bodyPr>
                <a:lstStyle/>
                <a:p>
                  <a:r>
                    <a:rPr lang="en-US" altLang="zh-CN" sz="1600" b="1"/>
                    <a:t>MATE Data (</a:t>
                  </a:r>
                  <a:r>
                    <a:rPr lang="en-US" altLang="zh-CN" sz="1600" b="1">
                      <a:sym typeface="+mn-ea"/>
                    </a:rPr>
                    <a:t>simulation) </a:t>
                  </a:r>
                  <a:r>
                    <a:rPr lang="en-US" altLang="zh-CN" sz="1600" b="1"/>
                    <a:t>Conversion Flow</a:t>
                  </a:r>
                </a:p>
              </p:txBody>
            </p:sp>
          </p:grpSp>
          <p:sp>
            <p:nvSpPr>
              <p:cNvPr id="13" name="文本框 12"/>
              <p:cNvSpPr txBox="1"/>
              <p:nvPr/>
            </p:nvSpPr>
            <p:spPr>
              <a:xfrm>
                <a:off x="7268" y="4660"/>
                <a:ext cx="430" cy="586"/>
              </a:xfrm>
              <a:prstGeom prst="rect">
                <a:avLst/>
              </a:prstGeom>
              <a:solidFill>
                <a:schemeClr val="bg1"/>
              </a:solidFill>
            </p:spPr>
            <p:txBody>
              <a:bodyPr wrap="square" rtlCol="0">
                <a:spAutoFit/>
              </a:bodyPr>
              <a:lstStyle/>
              <a:p>
                <a:r>
                  <a:rPr lang="en-US" altLang="zh-CN" sz="1200"/>
                  <a:t>z</a:t>
                </a:r>
              </a:p>
            </p:txBody>
          </p:sp>
        </p:grpSp>
        <p:sp>
          <p:nvSpPr>
            <p:cNvPr id="17" name="矩形 16"/>
            <p:cNvSpPr/>
            <p:nvPr/>
          </p:nvSpPr>
          <p:spPr>
            <a:xfrm>
              <a:off x="270" y="5134"/>
              <a:ext cx="8240" cy="4060"/>
            </a:xfrm>
            <a:prstGeom prst="rect">
              <a:avLst/>
            </a:prstGeom>
            <a:noFill/>
            <a:ln w="12700" cmpd="sng">
              <a:solidFill>
                <a:schemeClr val="accent1">
                  <a:shade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23" name="组合 22"/>
          <p:cNvGrpSpPr/>
          <p:nvPr/>
        </p:nvGrpSpPr>
        <p:grpSpPr>
          <a:xfrm>
            <a:off x="5309235" y="3471545"/>
            <a:ext cx="6656070" cy="2470150"/>
            <a:chOff x="8465" y="5303"/>
            <a:chExt cx="10482" cy="3890"/>
          </a:xfrm>
        </p:grpSpPr>
        <p:grpSp>
          <p:nvGrpSpPr>
            <p:cNvPr id="21" name="组合 20"/>
            <p:cNvGrpSpPr/>
            <p:nvPr/>
          </p:nvGrpSpPr>
          <p:grpSpPr>
            <a:xfrm>
              <a:off x="8465" y="5303"/>
              <a:ext cx="10482" cy="3890"/>
              <a:chOff x="8465" y="5303"/>
              <a:chExt cx="10482" cy="3890"/>
            </a:xfrm>
          </p:grpSpPr>
          <p:pic>
            <p:nvPicPr>
              <p:cNvPr id="11" name="图片 10"/>
              <p:cNvPicPr>
                <a:picLocks noChangeAspect="1"/>
              </p:cNvPicPr>
              <p:nvPr/>
            </p:nvPicPr>
            <p:blipFill>
              <a:blip r:embed="rId5"/>
              <a:srcRect l="20449" b="24839"/>
              <a:stretch>
                <a:fillRect/>
              </a:stretch>
            </p:blipFill>
            <p:spPr>
              <a:xfrm>
                <a:off x="8599" y="5556"/>
                <a:ext cx="10348" cy="3555"/>
              </a:xfrm>
              <a:prstGeom prst="rect">
                <a:avLst/>
              </a:prstGeom>
            </p:spPr>
          </p:pic>
          <p:sp>
            <p:nvSpPr>
              <p:cNvPr id="20" name="矩形 19"/>
              <p:cNvSpPr/>
              <p:nvPr/>
            </p:nvSpPr>
            <p:spPr>
              <a:xfrm>
                <a:off x="8465" y="5303"/>
                <a:ext cx="10310" cy="3891"/>
              </a:xfrm>
              <a:prstGeom prst="rect">
                <a:avLst/>
              </a:prstGeom>
              <a:noFill/>
              <a:ln w="12700" cmpd="sng">
                <a:solidFill>
                  <a:schemeClr val="accent1">
                    <a:shade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22" name="文本框 21"/>
            <p:cNvSpPr txBox="1"/>
            <p:nvPr/>
          </p:nvSpPr>
          <p:spPr>
            <a:xfrm>
              <a:off x="10193" y="5392"/>
              <a:ext cx="6686" cy="555"/>
            </a:xfrm>
            <a:prstGeom prst="rect">
              <a:avLst/>
            </a:prstGeom>
            <a:noFill/>
          </p:spPr>
          <p:txBody>
            <a:bodyPr wrap="square" rtlCol="0">
              <a:noAutofit/>
            </a:bodyPr>
            <a:lstStyle/>
            <a:p>
              <a:pPr algn="ctr"/>
              <a:r>
                <a:rPr lang="en-US" altLang="zh-CN" sz="1600" b="1"/>
                <a:t>CNN Work Flow Schematic</a:t>
              </a:r>
            </a:p>
          </p:txBody>
        </p:sp>
      </p:grpSp>
      <p:sp>
        <p:nvSpPr>
          <p:cNvPr id="10" name="矩形 9"/>
          <p:cNvSpPr/>
          <p:nvPr/>
        </p:nvSpPr>
        <p:spPr>
          <a:xfrm>
            <a:off x="153035" y="3839845"/>
            <a:ext cx="8952230" cy="2513330"/>
          </a:xfrm>
          <a:prstGeom prst="rect">
            <a:avLst/>
          </a:prstGeom>
          <a:noFill/>
          <a:ln w="28575" cmpd="sng">
            <a:solidFill>
              <a:srgbClr val="FF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文本框 11"/>
          <p:cNvSpPr txBox="1"/>
          <p:nvPr/>
        </p:nvSpPr>
        <p:spPr>
          <a:xfrm>
            <a:off x="4229735" y="5972810"/>
            <a:ext cx="2451100" cy="368300"/>
          </a:xfrm>
          <a:prstGeom prst="rect">
            <a:avLst/>
          </a:prstGeom>
          <a:noFill/>
        </p:spPr>
        <p:txBody>
          <a:bodyPr wrap="square" rtlCol="0">
            <a:spAutoFit/>
          </a:bodyPr>
          <a:lstStyle/>
          <a:p>
            <a:r>
              <a:rPr lang="en-US" altLang="zh-CN" b="1">
                <a:solidFill>
                  <a:srgbClr val="FF0000"/>
                </a:solidFill>
                <a:latin typeface="Microsoft YaHei" panose="020B0503020204020204" charset="-122"/>
                <a:ea typeface="Microsoft YaHei" panose="020B0503020204020204" charset="-122"/>
                <a:cs typeface="Times New Roman" panose="02020603050405020304" charset="0"/>
              </a:rPr>
              <a:t>Feature Extraction</a:t>
            </a:r>
          </a:p>
        </p:txBody>
      </p:sp>
      <p:sp>
        <p:nvSpPr>
          <p:cNvPr id="15" name="矩形 14"/>
          <p:cNvSpPr/>
          <p:nvPr/>
        </p:nvSpPr>
        <p:spPr>
          <a:xfrm>
            <a:off x="9166225" y="3839210"/>
            <a:ext cx="2664460" cy="2514600"/>
          </a:xfrm>
          <a:prstGeom prst="rect">
            <a:avLst/>
          </a:prstGeom>
          <a:noFill/>
          <a:ln w="28575" cmpd="sng">
            <a:solidFill>
              <a:srgbClr val="FF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 name="文本框 15"/>
          <p:cNvSpPr txBox="1"/>
          <p:nvPr/>
        </p:nvSpPr>
        <p:spPr>
          <a:xfrm>
            <a:off x="9734550" y="5972175"/>
            <a:ext cx="1818005" cy="368300"/>
          </a:xfrm>
          <a:prstGeom prst="rect">
            <a:avLst/>
          </a:prstGeom>
          <a:noFill/>
        </p:spPr>
        <p:txBody>
          <a:bodyPr wrap="square" rtlCol="0">
            <a:spAutoFit/>
          </a:bodyPr>
          <a:lstStyle/>
          <a:p>
            <a:r>
              <a:rPr lang="en-US" altLang="zh-CN" b="1">
                <a:solidFill>
                  <a:srgbClr val="FF0000"/>
                </a:solidFill>
                <a:latin typeface="Microsoft YaHei" panose="020B0503020204020204" charset="-122"/>
                <a:ea typeface="Microsoft YaHei" panose="020B0503020204020204" charset="-122"/>
                <a:cs typeface="Times New Roman" panose="02020603050405020304" charset="0"/>
              </a:rPr>
              <a:t>Classification</a:t>
            </a:r>
          </a:p>
        </p:txBody>
      </p:sp>
      <p:sp>
        <p:nvSpPr>
          <p:cNvPr id="19" name="文本框 18"/>
          <p:cNvSpPr txBox="1"/>
          <p:nvPr/>
        </p:nvSpPr>
        <p:spPr>
          <a:xfrm>
            <a:off x="636270" y="1358265"/>
            <a:ext cx="4508500" cy="2159000"/>
          </a:xfrm>
          <a:prstGeom prst="rect">
            <a:avLst/>
          </a:prstGeom>
          <a:noFill/>
        </p:spPr>
        <p:txBody>
          <a:bodyPr wrap="square" rtlCol="0">
            <a:spAutoFit/>
          </a:bodyPr>
          <a:lstStyle/>
          <a:p>
            <a:pPr>
              <a:lnSpc>
                <a:spcPct val="110000"/>
              </a:lnSpc>
            </a:pPr>
            <a:r>
              <a:rPr lang="en-US" altLang="zh-CN" sz="2400" b="1"/>
              <a:t>CNN general architecture</a:t>
            </a:r>
          </a:p>
          <a:p>
            <a:pPr marL="800100" lvl="1" indent="-342900">
              <a:lnSpc>
                <a:spcPct val="110000"/>
              </a:lnSpc>
              <a:buFont typeface="Wingdings" panose="05000000000000000000" charset="0"/>
              <a:buChar char="ü"/>
            </a:pPr>
            <a:r>
              <a:rPr lang="en-US" altLang="zh-CN" sz="2000" b="1"/>
              <a:t>Feature Extraction</a:t>
            </a:r>
          </a:p>
          <a:p>
            <a:pPr marL="1257300" lvl="2" indent="-342900">
              <a:lnSpc>
                <a:spcPct val="110000"/>
              </a:lnSpc>
              <a:buFont typeface="Arial" panose="020B0604020202020204" pitchFamily="34" charset="0"/>
              <a:buChar char="•"/>
            </a:pPr>
            <a:r>
              <a:rPr lang="en-US" altLang="zh-CN" sz="2000"/>
              <a:t>input (pre-processing)</a:t>
            </a:r>
          </a:p>
          <a:p>
            <a:pPr marL="1257300" lvl="2" indent="-342900">
              <a:lnSpc>
                <a:spcPct val="110000"/>
              </a:lnSpc>
              <a:buFont typeface="Arial" panose="020B0604020202020204" pitchFamily="34" charset="0"/>
              <a:buChar char="•"/>
            </a:pPr>
            <a:r>
              <a:rPr lang="en-US" altLang="zh-CN" sz="2000"/>
              <a:t>layers</a:t>
            </a:r>
          </a:p>
          <a:p>
            <a:pPr marL="800100" lvl="1" indent="-342900">
              <a:lnSpc>
                <a:spcPct val="110000"/>
              </a:lnSpc>
              <a:buFont typeface="Wingdings" panose="05000000000000000000" charset="0"/>
              <a:buChar char="ü"/>
            </a:pPr>
            <a:r>
              <a:rPr lang="en-US" altLang="zh-CN" sz="2000" b="1"/>
              <a:t>Classification</a:t>
            </a:r>
          </a:p>
          <a:p>
            <a:pPr indent="457200"/>
            <a:endParaRPr lang="en-US" altLang="zh-CN" sz="2000" b="1"/>
          </a:p>
        </p:txBody>
      </p:sp>
      <p:sp>
        <p:nvSpPr>
          <p:cNvPr id="24" name="日期占位符 23"/>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sp>
        <p:nvSpPr>
          <p:cNvPr id="25" name="灯片编号占位符 24"/>
          <p:cNvSpPr>
            <a:spLocks noGrp="1"/>
          </p:cNvSpPr>
          <p:nvPr>
            <p:ph type="sldNum" sz="quarter" idx="12"/>
          </p:nvPr>
        </p:nvSpPr>
        <p:spPr/>
        <p:txBody>
          <a:bodyPr/>
          <a:lstStyle/>
          <a:p>
            <a:fld id="{8141257D-CBAA-4317-A108-DEE4BE529EBA}" type="slidenum">
              <a:rPr lang="zh-CN" altLang="en-US" smtClean="0"/>
              <a:t>3</a:t>
            </a:fld>
            <a:endParaRPr lang="zh-CN" altLang="en-US" dirty="0"/>
          </a:p>
        </p:txBody>
      </p:sp>
      <p:sp>
        <p:nvSpPr>
          <p:cNvPr id="26" name="左大括号 25"/>
          <p:cNvSpPr/>
          <p:nvPr/>
        </p:nvSpPr>
        <p:spPr>
          <a:xfrm>
            <a:off x="4775835" y="1288415"/>
            <a:ext cx="873125" cy="1986915"/>
          </a:xfrm>
          <a:prstGeom prst="leftBrace">
            <a:avLst>
              <a:gd name="adj1" fmla="val 17818"/>
              <a:gd name="adj2" fmla="val 51000"/>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7" name="文本框 26"/>
          <p:cNvSpPr txBox="1"/>
          <p:nvPr/>
        </p:nvSpPr>
        <p:spPr>
          <a:xfrm>
            <a:off x="9224010" y="5481955"/>
            <a:ext cx="1082675" cy="327660"/>
          </a:xfrm>
          <a:prstGeom prst="rect">
            <a:avLst/>
          </a:prstGeom>
          <a:solidFill>
            <a:schemeClr val="bg1"/>
          </a:solidFill>
        </p:spPr>
        <p:txBody>
          <a:bodyPr wrap="square" rtlCol="0">
            <a:noAutofit/>
          </a:bodyPr>
          <a:lstStyle/>
          <a:p>
            <a:pPr algn="ctr"/>
            <a:r>
              <a:rPr lang="en-US" altLang="zh-CN" sz="1200" b="1">
                <a:latin typeface="Microsoft YaHei" panose="020B0503020204020204" charset="-122"/>
                <a:ea typeface="Microsoft YaHei" panose="020B0503020204020204" charset="-122"/>
              </a:rPr>
              <a:t>FCNN</a:t>
            </a:r>
          </a:p>
        </p:txBody>
      </p:sp>
      <p:sp>
        <p:nvSpPr>
          <p:cNvPr id="7" name="文本框 6"/>
          <p:cNvSpPr txBox="1"/>
          <p:nvPr/>
        </p:nvSpPr>
        <p:spPr>
          <a:xfrm>
            <a:off x="9495790" y="5711190"/>
            <a:ext cx="2399665" cy="275590"/>
          </a:xfrm>
          <a:prstGeom prst="rect">
            <a:avLst/>
          </a:prstGeom>
          <a:noFill/>
        </p:spPr>
        <p:txBody>
          <a:bodyPr wrap="square" rtlCol="0">
            <a:spAutoFit/>
          </a:bodyPr>
          <a:lstStyle/>
          <a:p>
            <a:pPr algn="r"/>
            <a:r>
              <a:rPr lang="en-US" altLang="zh-CN" sz="1200" i="1">
                <a:latin typeface="Times New Roman" panose="02020603050405020304" charset="0"/>
                <a:cs typeface="Times New Roman" panose="02020603050405020304" charset="0"/>
              </a:rPr>
              <a:t>M.P. Kuchera et al. NIMA(2019)</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750" fill="hold">
                                          <p:stCondLst>
                                            <p:cond delay="0"/>
                                          </p:stCondLst>
                                        </p:cTn>
                                        <p:tgtEl>
                                          <p:spTgt spid="10"/>
                                        </p:tgtEl>
                                        <p:attrNameLst>
                                          <p:attrName>style.visibility</p:attrName>
                                        </p:attrNameLst>
                                      </p:cBhvr>
                                      <p:to>
                                        <p:strVal val="visible"/>
                                      </p:to>
                                    </p:set>
                                    <p:animEffect transition="in" filter="barn(inVertical)">
                                      <p:cBhvr>
                                        <p:cTn id="7" dur="750"/>
                                        <p:tgtEl>
                                          <p:spTgt spid="10"/>
                                        </p:tgtEl>
                                      </p:cBhvr>
                                    </p:animEffect>
                                  </p:childTnLst>
                                </p:cTn>
                              </p:par>
                              <p:par>
                                <p:cTn id="8" presetID="16" presetClass="entr" presetSubtype="21" fill="hold" grpId="0" nodeType="withEffect">
                                  <p:stCondLst>
                                    <p:cond delay="0"/>
                                  </p:stCondLst>
                                  <p:childTnLst>
                                    <p:set>
                                      <p:cBhvr>
                                        <p:cTn id="9" dur="750" fill="hold">
                                          <p:stCondLst>
                                            <p:cond delay="0"/>
                                          </p:stCondLst>
                                        </p:cTn>
                                        <p:tgtEl>
                                          <p:spTgt spid="12"/>
                                        </p:tgtEl>
                                        <p:attrNameLst>
                                          <p:attrName>style.visibility</p:attrName>
                                        </p:attrNameLst>
                                      </p:cBhvr>
                                      <p:to>
                                        <p:strVal val="visible"/>
                                      </p:to>
                                    </p:set>
                                    <p:animEffect transition="in" filter="barn(inVertical)">
                                      <p:cBhvr>
                                        <p:cTn id="10" dur="750"/>
                                        <p:tgtEl>
                                          <p:spTgt spid="12"/>
                                        </p:tgtEl>
                                      </p:cBhvr>
                                    </p:animEffect>
                                  </p:childTnLst>
                                </p:cTn>
                              </p:par>
                              <p:par>
                                <p:cTn id="11" presetID="16" presetClass="entr" presetSubtype="21" fill="hold" grpId="0" nodeType="withEffect">
                                  <p:stCondLst>
                                    <p:cond delay="0"/>
                                  </p:stCondLst>
                                  <p:childTnLst>
                                    <p:set>
                                      <p:cBhvr>
                                        <p:cTn id="12" dur="750" fill="hold">
                                          <p:stCondLst>
                                            <p:cond delay="0"/>
                                          </p:stCondLst>
                                        </p:cTn>
                                        <p:tgtEl>
                                          <p:spTgt spid="16"/>
                                        </p:tgtEl>
                                        <p:attrNameLst>
                                          <p:attrName>style.visibility</p:attrName>
                                        </p:attrNameLst>
                                      </p:cBhvr>
                                      <p:to>
                                        <p:strVal val="visible"/>
                                      </p:to>
                                    </p:set>
                                    <p:animEffect transition="in" filter="barn(inVertical)">
                                      <p:cBhvr>
                                        <p:cTn id="13" dur="750"/>
                                        <p:tgtEl>
                                          <p:spTgt spid="16"/>
                                        </p:tgtEl>
                                      </p:cBhvr>
                                    </p:animEffect>
                                  </p:childTnLst>
                                </p:cTn>
                              </p:par>
                              <p:par>
                                <p:cTn id="14" presetID="16" presetClass="entr" presetSubtype="21" fill="hold" grpId="0" nodeType="withEffect">
                                  <p:stCondLst>
                                    <p:cond delay="0"/>
                                  </p:stCondLst>
                                  <p:childTnLst>
                                    <p:set>
                                      <p:cBhvr>
                                        <p:cTn id="15" dur="750" fill="hold">
                                          <p:stCondLst>
                                            <p:cond delay="0"/>
                                          </p:stCondLst>
                                        </p:cTn>
                                        <p:tgtEl>
                                          <p:spTgt spid="15"/>
                                        </p:tgtEl>
                                        <p:attrNameLst>
                                          <p:attrName>style.visibility</p:attrName>
                                        </p:attrNameLst>
                                      </p:cBhvr>
                                      <p:to>
                                        <p:strVal val="visible"/>
                                      </p:to>
                                    </p:set>
                                    <p:animEffect transition="in" filter="barn(inVertical)">
                                      <p:cBhvr>
                                        <p:cTn id="16" dur="7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0" grpId="1" animBg="1"/>
      <p:bldP spid="12" grpId="0"/>
      <p:bldP spid="12" grpId="1"/>
      <p:bldP spid="15" grpId="0" bldLvl="0" animBg="1"/>
      <p:bldP spid="15" grpId="1" animBg="1"/>
      <p:bldP spid="16" grpId="0"/>
      <p:bldP spid="16"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Method 1: Benchmark CNN (ResNet-18)</a:t>
            </a:r>
          </a:p>
        </p:txBody>
      </p:sp>
      <p:sp>
        <p:nvSpPr>
          <p:cNvPr id="3" name="灯片编号占位符 2"/>
          <p:cNvSpPr>
            <a:spLocks noGrp="1"/>
          </p:cNvSpPr>
          <p:nvPr>
            <p:ph type="sldNum" sz="quarter" idx="12"/>
          </p:nvPr>
        </p:nvSpPr>
        <p:spPr/>
        <p:txBody>
          <a:bodyPr/>
          <a:lstStyle/>
          <a:p>
            <a:fld id="{8141257D-CBAA-4317-A108-DEE4BE529EBA}" type="slidenum">
              <a:rPr lang="zh-CN" altLang="en-US" smtClean="0"/>
              <a:t>4</a:t>
            </a:fld>
            <a:endParaRPr lang="zh-CN" altLang="en-US" dirty="0"/>
          </a:p>
        </p:txBody>
      </p:sp>
      <p:sp>
        <p:nvSpPr>
          <p:cNvPr id="4" name="日期占位符 3"/>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sp>
        <p:nvSpPr>
          <p:cNvPr id="14" name="文本框 13"/>
          <p:cNvSpPr txBox="1"/>
          <p:nvPr/>
        </p:nvSpPr>
        <p:spPr>
          <a:xfrm>
            <a:off x="3683000" y="1218565"/>
            <a:ext cx="4023995" cy="460375"/>
          </a:xfrm>
          <a:prstGeom prst="rect">
            <a:avLst/>
          </a:prstGeom>
          <a:noFill/>
        </p:spPr>
        <p:txBody>
          <a:bodyPr wrap="square" rtlCol="0">
            <a:spAutoFit/>
          </a:bodyPr>
          <a:lstStyle/>
          <a:p>
            <a:pPr algn="ctr"/>
            <a:r>
              <a:rPr lang="en-US" altLang="zh-CN" sz="2400" b="1">
                <a:solidFill>
                  <a:srgbClr val="FF0000"/>
                </a:solidFill>
                <a:latin typeface="Microsoft YaHei" panose="020B0503020204020204" charset="-122"/>
                <a:ea typeface="Microsoft YaHei" panose="020B0503020204020204" charset="-122"/>
              </a:rPr>
              <a:t>ResNet-18 Architecture</a:t>
            </a:r>
          </a:p>
        </p:txBody>
      </p:sp>
      <p:cxnSp>
        <p:nvCxnSpPr>
          <p:cNvPr id="20" name="直接连接符 19"/>
          <p:cNvCxnSpPr/>
          <p:nvPr/>
        </p:nvCxnSpPr>
        <p:spPr>
          <a:xfrm flipH="1">
            <a:off x="118110" y="4050030"/>
            <a:ext cx="11880850" cy="16510"/>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grpSp>
        <p:nvGrpSpPr>
          <p:cNvPr id="28" name="组合 27"/>
          <p:cNvGrpSpPr/>
          <p:nvPr/>
        </p:nvGrpSpPr>
        <p:grpSpPr>
          <a:xfrm>
            <a:off x="915035" y="2064385"/>
            <a:ext cx="10309860" cy="1590040"/>
            <a:chOff x="1258" y="6980"/>
            <a:chExt cx="16236" cy="2504"/>
          </a:xfrm>
        </p:grpSpPr>
        <p:grpSp>
          <p:nvGrpSpPr>
            <p:cNvPr id="25" name="组合 24"/>
            <p:cNvGrpSpPr/>
            <p:nvPr/>
          </p:nvGrpSpPr>
          <p:grpSpPr>
            <a:xfrm>
              <a:off x="1258" y="6980"/>
              <a:ext cx="16236" cy="2504"/>
              <a:chOff x="1258" y="6980"/>
              <a:chExt cx="16236" cy="2504"/>
            </a:xfrm>
          </p:grpSpPr>
          <p:grpSp>
            <p:nvGrpSpPr>
              <p:cNvPr id="23" name="组合 22"/>
              <p:cNvGrpSpPr/>
              <p:nvPr>
                <p:custDataLst>
                  <p:tags r:id="rId2"/>
                </p:custDataLst>
              </p:nvPr>
            </p:nvGrpSpPr>
            <p:grpSpPr>
              <a:xfrm>
                <a:off x="1258" y="6980"/>
                <a:ext cx="16237" cy="2504"/>
                <a:chOff x="1471" y="7663"/>
                <a:chExt cx="15874" cy="2273"/>
              </a:xfrm>
            </p:grpSpPr>
            <p:pic>
              <p:nvPicPr>
                <p:cNvPr id="15" name="图片 14"/>
                <p:cNvPicPr>
                  <a:picLocks noChangeAspect="1"/>
                </p:cNvPicPr>
                <p:nvPr/>
              </p:nvPicPr>
              <p:blipFill>
                <a:blip r:embed="rId9"/>
                <a:srcRect l="3663" t="22904" b="15805"/>
                <a:stretch>
                  <a:fillRect/>
                </a:stretch>
              </p:blipFill>
              <p:spPr>
                <a:xfrm>
                  <a:off x="1471" y="7663"/>
                  <a:ext cx="15874" cy="2273"/>
                </a:xfrm>
                <a:prstGeom prst="rect">
                  <a:avLst/>
                </a:prstGeom>
              </p:spPr>
            </p:pic>
            <p:sp>
              <p:nvSpPr>
                <p:cNvPr id="5" name="文本框 4"/>
                <p:cNvSpPr txBox="1"/>
                <p:nvPr/>
              </p:nvSpPr>
              <p:spPr>
                <a:xfrm>
                  <a:off x="1591" y="9289"/>
                  <a:ext cx="1243" cy="463"/>
                </a:xfrm>
                <a:prstGeom prst="rect">
                  <a:avLst/>
                </a:prstGeom>
                <a:solidFill>
                  <a:schemeClr val="bg1"/>
                </a:solidFill>
              </p:spPr>
              <p:txBody>
                <a:bodyPr wrap="square" rtlCol="0">
                  <a:noAutofit/>
                </a:bodyPr>
                <a:lstStyle/>
                <a:p>
                  <a:r>
                    <a:rPr lang="en-US" altLang="zh-CN" sz="1200">
                      <a:latin typeface="Times New Roman" panose="02020603050405020304" charset="0"/>
                      <a:cs typeface="Times New Roman" panose="02020603050405020304" charset="0"/>
                    </a:rPr>
                    <a:t>64</a:t>
                  </a:r>
                  <a:r>
                    <a:rPr lang="zh-CN" altLang="en-US" sz="1200">
                      <a:latin typeface="Times New Roman" panose="02020603050405020304" charset="0"/>
                      <a:cs typeface="Times New Roman" panose="02020603050405020304" charset="0"/>
                    </a:rPr>
                    <a:t>×</a:t>
                  </a:r>
                  <a:r>
                    <a:rPr lang="en-US" altLang="zh-CN" sz="1200">
                      <a:latin typeface="Times New Roman" panose="02020603050405020304" charset="0"/>
                      <a:cs typeface="Times New Roman" panose="02020603050405020304" charset="0"/>
                    </a:rPr>
                    <a:t>64</a:t>
                  </a:r>
                </a:p>
              </p:txBody>
            </p:sp>
            <p:sp>
              <p:nvSpPr>
                <p:cNvPr id="6" name="文本框 5"/>
                <p:cNvSpPr txBox="1"/>
                <p:nvPr/>
              </p:nvSpPr>
              <p:spPr>
                <a:xfrm>
                  <a:off x="3398" y="9116"/>
                  <a:ext cx="1182" cy="513"/>
                </a:xfrm>
                <a:prstGeom prst="rect">
                  <a:avLst/>
                </a:prstGeom>
                <a:solidFill>
                  <a:schemeClr val="bg1"/>
                </a:solidFill>
              </p:spPr>
              <p:txBody>
                <a:bodyPr wrap="square" rtlCol="0">
                  <a:noAutofit/>
                </a:bodyPr>
                <a:lstStyle/>
                <a:p>
                  <a:r>
                    <a:rPr lang="en-US" altLang="zh-CN" sz="1200">
                      <a:latin typeface="Times New Roman" panose="02020603050405020304" charset="0"/>
                      <a:cs typeface="Times New Roman" panose="02020603050405020304" charset="0"/>
                    </a:rPr>
                    <a:t>32</a:t>
                  </a:r>
                  <a:r>
                    <a:rPr lang="zh-CN" altLang="en-US" sz="1200">
                      <a:latin typeface="Times New Roman" panose="02020603050405020304" charset="0"/>
                      <a:cs typeface="Times New Roman" panose="02020603050405020304" charset="0"/>
                    </a:rPr>
                    <a:t>×</a:t>
                  </a:r>
                  <a:r>
                    <a:rPr lang="en-US" altLang="zh-CN" sz="1200">
                      <a:latin typeface="Times New Roman" panose="02020603050405020304" charset="0"/>
                      <a:cs typeface="Times New Roman" panose="02020603050405020304" charset="0"/>
                    </a:rPr>
                    <a:t>32</a:t>
                  </a:r>
                </a:p>
              </p:txBody>
            </p:sp>
            <p:sp>
              <p:nvSpPr>
                <p:cNvPr id="7" name="文本框 6"/>
                <p:cNvSpPr txBox="1"/>
                <p:nvPr>
                  <p:custDataLst>
                    <p:tags r:id="rId3"/>
                  </p:custDataLst>
                </p:nvPr>
              </p:nvSpPr>
              <p:spPr>
                <a:xfrm>
                  <a:off x="6499" y="9127"/>
                  <a:ext cx="1131" cy="452"/>
                </a:xfrm>
                <a:prstGeom prst="rect">
                  <a:avLst/>
                </a:prstGeom>
                <a:solidFill>
                  <a:schemeClr val="bg1"/>
                </a:solidFill>
              </p:spPr>
              <p:txBody>
                <a:bodyPr wrap="square" rtlCol="0">
                  <a:noAutofit/>
                </a:bodyPr>
                <a:lstStyle/>
                <a:p>
                  <a:r>
                    <a:rPr lang="en-US" altLang="zh-CN" sz="1200">
                      <a:latin typeface="Times New Roman" panose="02020603050405020304" charset="0"/>
                      <a:cs typeface="Times New Roman" panose="02020603050405020304" charset="0"/>
                    </a:rPr>
                    <a:t>16</a:t>
                  </a:r>
                  <a:r>
                    <a:rPr lang="zh-CN" altLang="en-US" sz="1200">
                      <a:latin typeface="Times New Roman" panose="02020603050405020304" charset="0"/>
                      <a:cs typeface="Times New Roman" panose="02020603050405020304" charset="0"/>
                    </a:rPr>
                    <a:t>×</a:t>
                  </a:r>
                  <a:r>
                    <a:rPr lang="en-US" altLang="zh-CN" sz="1200">
                      <a:latin typeface="Times New Roman" panose="02020603050405020304" charset="0"/>
                      <a:cs typeface="Times New Roman" panose="02020603050405020304" charset="0"/>
                    </a:rPr>
                    <a:t>16</a:t>
                  </a:r>
                </a:p>
              </p:txBody>
            </p:sp>
            <p:sp>
              <p:nvSpPr>
                <p:cNvPr id="10" name="文本框 9"/>
                <p:cNvSpPr txBox="1"/>
                <p:nvPr>
                  <p:custDataLst>
                    <p:tags r:id="rId4"/>
                  </p:custDataLst>
                </p:nvPr>
              </p:nvSpPr>
              <p:spPr>
                <a:xfrm>
                  <a:off x="7963" y="8987"/>
                  <a:ext cx="1033" cy="452"/>
                </a:xfrm>
                <a:prstGeom prst="rect">
                  <a:avLst/>
                </a:prstGeom>
                <a:solidFill>
                  <a:schemeClr val="bg1"/>
                </a:solidFill>
              </p:spPr>
              <p:txBody>
                <a:bodyPr wrap="square" rtlCol="0">
                  <a:noAutofit/>
                </a:bodyPr>
                <a:lstStyle/>
                <a:p>
                  <a:r>
                    <a:rPr lang="en-US" altLang="zh-CN" sz="1200">
                      <a:latin typeface="Times New Roman" panose="02020603050405020304" charset="0"/>
                      <a:cs typeface="Times New Roman" panose="02020603050405020304" charset="0"/>
                    </a:rPr>
                    <a:t>16</a:t>
                  </a:r>
                  <a:r>
                    <a:rPr lang="zh-CN" altLang="en-US" sz="1200">
                      <a:latin typeface="Times New Roman" panose="02020603050405020304" charset="0"/>
                      <a:cs typeface="Times New Roman" panose="02020603050405020304" charset="0"/>
                    </a:rPr>
                    <a:t>×</a:t>
                  </a:r>
                  <a:r>
                    <a:rPr lang="en-US" altLang="zh-CN" sz="1200">
                      <a:latin typeface="Times New Roman" panose="02020603050405020304" charset="0"/>
                      <a:cs typeface="Times New Roman" panose="02020603050405020304" charset="0"/>
                    </a:rPr>
                    <a:t>16</a:t>
                  </a:r>
                </a:p>
              </p:txBody>
            </p:sp>
            <p:sp>
              <p:nvSpPr>
                <p:cNvPr id="12" name="文本框 11"/>
                <p:cNvSpPr txBox="1"/>
                <p:nvPr>
                  <p:custDataLst>
                    <p:tags r:id="rId5"/>
                  </p:custDataLst>
                </p:nvPr>
              </p:nvSpPr>
              <p:spPr>
                <a:xfrm>
                  <a:off x="9507" y="8982"/>
                  <a:ext cx="923" cy="452"/>
                </a:xfrm>
                <a:prstGeom prst="rect">
                  <a:avLst/>
                </a:prstGeom>
                <a:solidFill>
                  <a:schemeClr val="bg1"/>
                </a:solidFill>
              </p:spPr>
              <p:txBody>
                <a:bodyPr wrap="square" rtlCol="0">
                  <a:noAutofit/>
                </a:bodyPr>
                <a:lstStyle/>
                <a:p>
                  <a:r>
                    <a:rPr lang="en-US" altLang="zh-CN" sz="1200">
                      <a:latin typeface="Times New Roman" panose="02020603050405020304" charset="0"/>
                      <a:cs typeface="Times New Roman" panose="02020603050405020304" charset="0"/>
                    </a:rPr>
                    <a:t>8</a:t>
                  </a:r>
                  <a:r>
                    <a:rPr lang="zh-CN" altLang="en-US" sz="1200">
                      <a:latin typeface="Times New Roman" panose="02020603050405020304" charset="0"/>
                      <a:cs typeface="Times New Roman" panose="02020603050405020304" charset="0"/>
                    </a:rPr>
                    <a:t>×</a:t>
                  </a:r>
                  <a:r>
                    <a:rPr lang="en-US" altLang="zh-CN" sz="1200">
                      <a:latin typeface="Times New Roman" panose="02020603050405020304" charset="0"/>
                      <a:cs typeface="Times New Roman" panose="02020603050405020304" charset="0"/>
                    </a:rPr>
                    <a:t>8</a:t>
                  </a:r>
                </a:p>
              </p:txBody>
            </p:sp>
            <p:sp>
              <p:nvSpPr>
                <p:cNvPr id="16" name="文本框 15"/>
                <p:cNvSpPr txBox="1"/>
                <p:nvPr>
                  <p:custDataLst>
                    <p:tags r:id="rId6"/>
                  </p:custDataLst>
                </p:nvPr>
              </p:nvSpPr>
              <p:spPr>
                <a:xfrm>
                  <a:off x="10890" y="8981"/>
                  <a:ext cx="923" cy="452"/>
                </a:xfrm>
                <a:prstGeom prst="rect">
                  <a:avLst/>
                </a:prstGeom>
                <a:solidFill>
                  <a:schemeClr val="bg1"/>
                </a:solidFill>
              </p:spPr>
              <p:txBody>
                <a:bodyPr wrap="square" rtlCol="0">
                  <a:noAutofit/>
                </a:bodyPr>
                <a:lstStyle/>
                <a:p>
                  <a:r>
                    <a:rPr lang="en-US" altLang="zh-CN" sz="1200">
                      <a:latin typeface="Times New Roman" panose="02020603050405020304" charset="0"/>
                      <a:cs typeface="Times New Roman" panose="02020603050405020304" charset="0"/>
                    </a:rPr>
                    <a:t>4</a:t>
                  </a:r>
                  <a:r>
                    <a:rPr lang="zh-CN" altLang="en-US" sz="1200">
                      <a:latin typeface="Times New Roman" panose="02020603050405020304" charset="0"/>
                      <a:cs typeface="Times New Roman" panose="02020603050405020304" charset="0"/>
                    </a:rPr>
                    <a:t>×</a:t>
                  </a:r>
                  <a:r>
                    <a:rPr lang="en-US" altLang="zh-CN" sz="1200">
                      <a:latin typeface="Times New Roman" panose="02020603050405020304" charset="0"/>
                      <a:cs typeface="Times New Roman" panose="02020603050405020304" charset="0"/>
                    </a:rPr>
                    <a:t>4</a:t>
                  </a:r>
                </a:p>
              </p:txBody>
            </p:sp>
            <p:sp>
              <p:nvSpPr>
                <p:cNvPr id="17" name="文本框 16"/>
                <p:cNvSpPr txBox="1"/>
                <p:nvPr/>
              </p:nvSpPr>
              <p:spPr>
                <a:xfrm>
                  <a:off x="12362" y="8979"/>
                  <a:ext cx="753" cy="452"/>
                </a:xfrm>
                <a:prstGeom prst="rect">
                  <a:avLst/>
                </a:prstGeom>
                <a:solidFill>
                  <a:schemeClr val="bg1"/>
                </a:solidFill>
              </p:spPr>
              <p:txBody>
                <a:bodyPr wrap="square" rtlCol="0">
                  <a:noAutofit/>
                </a:bodyPr>
                <a:lstStyle/>
                <a:p>
                  <a:r>
                    <a:rPr lang="en-US" altLang="zh-CN" sz="1200">
                      <a:latin typeface="Times New Roman" panose="02020603050405020304" charset="0"/>
                      <a:cs typeface="Times New Roman" panose="02020603050405020304" charset="0"/>
                    </a:rPr>
                    <a:t>2</a:t>
                  </a:r>
                  <a:r>
                    <a:rPr lang="zh-CN" altLang="en-US" sz="1200">
                      <a:latin typeface="Times New Roman" panose="02020603050405020304" charset="0"/>
                      <a:cs typeface="Times New Roman" panose="02020603050405020304" charset="0"/>
                    </a:rPr>
                    <a:t>×</a:t>
                  </a:r>
                  <a:r>
                    <a:rPr lang="en-US" altLang="zh-CN" sz="1200">
                      <a:latin typeface="Times New Roman" panose="02020603050405020304" charset="0"/>
                      <a:cs typeface="Times New Roman" panose="02020603050405020304" charset="0"/>
                    </a:rPr>
                    <a:t>2</a:t>
                  </a:r>
                </a:p>
              </p:txBody>
            </p:sp>
          </p:grpSp>
          <p:sp>
            <p:nvSpPr>
              <p:cNvPr id="9" name="文本框 8"/>
              <p:cNvSpPr txBox="1"/>
              <p:nvPr/>
            </p:nvSpPr>
            <p:spPr>
              <a:xfrm>
                <a:off x="7899" y="7032"/>
                <a:ext cx="1134" cy="434"/>
              </a:xfrm>
              <a:prstGeom prst="rect">
                <a:avLst/>
              </a:prstGeom>
              <a:solidFill>
                <a:schemeClr val="bg1"/>
              </a:solidFill>
            </p:spPr>
            <p:txBody>
              <a:bodyPr wrap="square" rtlCol="0">
                <a:spAutoFit/>
              </a:bodyPr>
              <a:lstStyle/>
              <a:p>
                <a:r>
                  <a:rPr lang="en-US" altLang="zh-CN" sz="1200">
                    <a:latin typeface="Times New Roman" panose="02020603050405020304" charset="0"/>
                    <a:cs typeface="Times New Roman" panose="02020603050405020304" charset="0"/>
                  </a:rPr>
                  <a:t>3       64</a:t>
                </a:r>
              </a:p>
            </p:txBody>
          </p:sp>
          <p:sp>
            <p:nvSpPr>
              <p:cNvPr id="11" name="文本框 10"/>
              <p:cNvSpPr txBox="1"/>
              <p:nvPr/>
            </p:nvSpPr>
            <p:spPr>
              <a:xfrm>
                <a:off x="9200" y="7029"/>
                <a:ext cx="1462" cy="434"/>
              </a:xfrm>
              <a:prstGeom prst="rect">
                <a:avLst/>
              </a:prstGeom>
              <a:solidFill>
                <a:schemeClr val="bg1"/>
              </a:solidFill>
            </p:spPr>
            <p:txBody>
              <a:bodyPr wrap="square" rtlCol="0">
                <a:spAutoFit/>
              </a:bodyPr>
              <a:lstStyle/>
              <a:p>
                <a:r>
                  <a:rPr lang="en-US" altLang="zh-CN" sz="1200">
                    <a:latin typeface="Times New Roman" panose="02020603050405020304" charset="0"/>
                    <a:cs typeface="Times New Roman" panose="02020603050405020304" charset="0"/>
                  </a:rPr>
                  <a:t>64      128</a:t>
                </a:r>
              </a:p>
            </p:txBody>
          </p:sp>
          <p:sp>
            <p:nvSpPr>
              <p:cNvPr id="18" name="文本框 17"/>
              <p:cNvSpPr txBox="1"/>
              <p:nvPr/>
            </p:nvSpPr>
            <p:spPr>
              <a:xfrm>
                <a:off x="10579" y="7031"/>
                <a:ext cx="1462" cy="434"/>
              </a:xfrm>
              <a:prstGeom prst="rect">
                <a:avLst/>
              </a:prstGeom>
              <a:solidFill>
                <a:schemeClr val="bg1"/>
              </a:solidFill>
            </p:spPr>
            <p:txBody>
              <a:bodyPr wrap="square" rtlCol="0">
                <a:spAutoFit/>
              </a:bodyPr>
              <a:lstStyle/>
              <a:p>
                <a:r>
                  <a:rPr lang="en-US" altLang="zh-CN" sz="1200">
                    <a:latin typeface="Times New Roman" panose="02020603050405020304" charset="0"/>
                    <a:cs typeface="Times New Roman" panose="02020603050405020304" charset="0"/>
                  </a:rPr>
                  <a:t>128      256</a:t>
                </a:r>
              </a:p>
            </p:txBody>
          </p:sp>
          <p:sp>
            <p:nvSpPr>
              <p:cNvPr id="24" name="文本框 23"/>
              <p:cNvSpPr txBox="1"/>
              <p:nvPr/>
            </p:nvSpPr>
            <p:spPr>
              <a:xfrm>
                <a:off x="12057" y="7024"/>
                <a:ext cx="1462" cy="434"/>
              </a:xfrm>
              <a:prstGeom prst="rect">
                <a:avLst/>
              </a:prstGeom>
              <a:solidFill>
                <a:schemeClr val="bg1"/>
              </a:solidFill>
            </p:spPr>
            <p:txBody>
              <a:bodyPr wrap="square" rtlCol="0">
                <a:spAutoFit/>
              </a:bodyPr>
              <a:lstStyle/>
              <a:p>
                <a:r>
                  <a:rPr lang="en-US" altLang="zh-CN" sz="1200">
                    <a:latin typeface="Times New Roman" panose="02020603050405020304" charset="0"/>
                    <a:cs typeface="Times New Roman" panose="02020603050405020304" charset="0"/>
                  </a:rPr>
                  <a:t>256      512</a:t>
                </a:r>
              </a:p>
            </p:txBody>
          </p:sp>
        </p:grpSp>
        <p:sp>
          <p:nvSpPr>
            <p:cNvPr id="27" name="文本框 26"/>
            <p:cNvSpPr txBox="1"/>
            <p:nvPr/>
          </p:nvSpPr>
          <p:spPr>
            <a:xfrm>
              <a:off x="14577" y="8446"/>
              <a:ext cx="802" cy="434"/>
            </a:xfrm>
            <a:prstGeom prst="rect">
              <a:avLst/>
            </a:prstGeom>
            <a:solidFill>
              <a:schemeClr val="bg1"/>
            </a:solidFill>
          </p:spPr>
          <p:txBody>
            <a:bodyPr wrap="square" rtlCol="0">
              <a:spAutoFit/>
            </a:bodyPr>
            <a:lstStyle/>
            <a:p>
              <a:pPr algn="ctr"/>
              <a:r>
                <a:rPr lang="en-US" altLang="zh-CN" sz="1200">
                  <a:latin typeface="Times New Roman" panose="02020603050405020304" charset="0"/>
                  <a:cs typeface="Times New Roman" panose="02020603050405020304" charset="0"/>
                </a:rPr>
                <a:t>1</a:t>
              </a:r>
              <a:r>
                <a:rPr lang="zh-CN" altLang="en-US" sz="1200">
                  <a:latin typeface="Times New Roman" panose="02020603050405020304" charset="0"/>
                  <a:cs typeface="Times New Roman" panose="02020603050405020304" charset="0"/>
                </a:rPr>
                <a:t>×</a:t>
              </a:r>
              <a:r>
                <a:rPr lang="en-US" altLang="zh-CN" sz="1200">
                  <a:latin typeface="Times New Roman" panose="02020603050405020304" charset="0"/>
                  <a:cs typeface="Times New Roman" panose="02020603050405020304" charset="0"/>
                </a:rPr>
                <a:t>2</a:t>
              </a:r>
            </a:p>
          </p:txBody>
        </p:sp>
      </p:grpSp>
      <p:sp>
        <p:nvSpPr>
          <p:cNvPr id="29" name="文本框 28"/>
          <p:cNvSpPr txBox="1"/>
          <p:nvPr/>
        </p:nvSpPr>
        <p:spPr>
          <a:xfrm>
            <a:off x="167005" y="4222115"/>
            <a:ext cx="6096000" cy="1986280"/>
          </a:xfrm>
          <a:prstGeom prst="rect">
            <a:avLst/>
          </a:prstGeom>
          <a:noFill/>
        </p:spPr>
        <p:txBody>
          <a:bodyPr wrap="square" rtlCol="0" anchor="t">
            <a:spAutoFit/>
          </a:bodyPr>
          <a:lstStyle/>
          <a:p>
            <a:pPr>
              <a:lnSpc>
                <a:spcPct val="140000"/>
              </a:lnSpc>
            </a:pPr>
            <a:r>
              <a:rPr lang="en-US" altLang="zh-CN" sz="2800" b="1">
                <a:solidFill>
                  <a:srgbClr val="FF0000"/>
                </a:solidFill>
                <a:latin typeface="+mn-ea"/>
                <a:cs typeface="Times New Roman" panose="02020603050405020304" charset="0"/>
                <a:sym typeface="+mn-ea"/>
              </a:rPr>
              <a:t>ResNet</a:t>
            </a:r>
            <a:r>
              <a:rPr lang="en-US" altLang="zh-CN" b="1">
                <a:latin typeface="+mn-ea"/>
                <a:cs typeface="Times New Roman" panose="02020603050405020304" charset="0"/>
                <a:sym typeface="+mn-ea"/>
              </a:rPr>
              <a:t> vs </a:t>
            </a:r>
            <a:r>
              <a:rPr lang="en-US" altLang="zh-CN" sz="2400" b="1">
                <a:latin typeface="+mn-ea"/>
                <a:cs typeface="Times New Roman" panose="02020603050405020304" charset="0"/>
                <a:sym typeface="+mn-ea"/>
              </a:rPr>
              <a:t>Traditional Architecture</a:t>
            </a:r>
            <a:endParaRPr lang="en-US" altLang="zh-CN" sz="2000" b="1">
              <a:latin typeface="+mn-ea"/>
              <a:cs typeface="Times New Roman" panose="02020603050405020304" charset="0"/>
              <a:sym typeface="+mn-ea"/>
            </a:endParaRPr>
          </a:p>
          <a:p>
            <a:pPr marL="800100" lvl="1" indent="-342900">
              <a:lnSpc>
                <a:spcPct val="140000"/>
              </a:lnSpc>
              <a:buFont typeface="Wingdings" panose="05000000000000000000" charset="0"/>
              <a:buChar char="ü"/>
            </a:pPr>
            <a:r>
              <a:rPr lang="en-US" altLang="zh-CN" sz="2000" b="1">
                <a:solidFill>
                  <a:schemeClr val="tx1"/>
                </a:solidFill>
                <a:latin typeface="+mn-ea"/>
                <a:cs typeface="Times New Roman" panose="02020603050405020304" charset="0"/>
                <a:sym typeface="+mn-ea"/>
              </a:rPr>
              <a:t>deeper structure</a:t>
            </a:r>
            <a:r>
              <a:rPr lang="en-US" altLang="zh-CN" sz="2000">
                <a:latin typeface="+mn-ea"/>
                <a:cs typeface="Times New Roman" panose="02020603050405020304" charset="0"/>
                <a:sym typeface="+mn-ea"/>
              </a:rPr>
              <a:t> (number of layers)</a:t>
            </a:r>
          </a:p>
          <a:p>
            <a:pPr marL="800100" lvl="1" indent="-342900">
              <a:lnSpc>
                <a:spcPct val="140000"/>
              </a:lnSpc>
              <a:buFont typeface="Wingdings" panose="05000000000000000000" charset="0"/>
              <a:buChar char="ü"/>
            </a:pPr>
            <a:r>
              <a:rPr lang="en-US" altLang="zh-CN" sz="2000">
                <a:latin typeface="+mn-ea"/>
                <a:cs typeface="Times New Roman" panose="02020603050405020304" charset="0"/>
                <a:sym typeface="+mn-ea"/>
              </a:rPr>
              <a:t>enhanced learning capabilities</a:t>
            </a:r>
          </a:p>
          <a:p>
            <a:pPr marL="800100" lvl="1" indent="-342900">
              <a:lnSpc>
                <a:spcPct val="140000"/>
              </a:lnSpc>
              <a:buFont typeface="Wingdings" panose="05000000000000000000" charset="0"/>
              <a:buChar char="ü"/>
            </a:pPr>
            <a:r>
              <a:rPr lang="en-US" altLang="zh-CN" sz="2000">
                <a:latin typeface="+mn-ea"/>
                <a:cs typeface="Times New Roman" panose="02020603050405020304" charset="0"/>
                <a:sym typeface="+mn-ea"/>
              </a:rPr>
              <a:t>effectively capture visual features</a:t>
            </a:r>
            <a:endParaRPr lang="en-US" altLang="zh-CN">
              <a:latin typeface="+mn-ea"/>
              <a:cs typeface="Times New Roman" panose="02020603050405020304" charset="0"/>
              <a:sym typeface="+mn-ea"/>
            </a:endParaRPr>
          </a:p>
        </p:txBody>
      </p:sp>
      <p:pic>
        <p:nvPicPr>
          <p:cNvPr id="19" name="图片 18"/>
          <p:cNvPicPr>
            <a:picLocks noChangeAspect="1"/>
          </p:cNvPicPr>
          <p:nvPr/>
        </p:nvPicPr>
        <p:blipFill>
          <a:blip r:embed="rId10"/>
          <a:stretch>
            <a:fillRect/>
          </a:stretch>
        </p:blipFill>
        <p:spPr>
          <a:xfrm>
            <a:off x="8679180" y="1145540"/>
            <a:ext cx="3339465" cy="5300980"/>
          </a:xfrm>
          <a:prstGeom prst="rect">
            <a:avLst/>
          </a:prstGeom>
          <a:ln w="12700" cmpd="sng">
            <a:solidFill>
              <a:schemeClr val="accent1">
                <a:shade val="50000"/>
              </a:schemeClr>
            </a:solidFill>
            <a:prstDash val="sysDash"/>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500"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Method 1: Benchmark CNN (ResNet-18)</a:t>
            </a:r>
          </a:p>
        </p:txBody>
      </p:sp>
      <p:sp>
        <p:nvSpPr>
          <p:cNvPr id="3" name="灯片编号占位符 2"/>
          <p:cNvSpPr>
            <a:spLocks noGrp="1"/>
          </p:cNvSpPr>
          <p:nvPr>
            <p:ph type="sldNum" sz="quarter" idx="12"/>
          </p:nvPr>
        </p:nvSpPr>
        <p:spPr/>
        <p:txBody>
          <a:bodyPr/>
          <a:lstStyle/>
          <a:p>
            <a:fld id="{8141257D-CBAA-4317-A108-DEE4BE529EBA}" type="slidenum">
              <a:rPr lang="zh-CN" altLang="en-US" smtClean="0"/>
              <a:t>5</a:t>
            </a:fld>
            <a:endParaRPr lang="zh-CN" altLang="en-US" dirty="0"/>
          </a:p>
        </p:txBody>
      </p:sp>
      <p:sp>
        <p:nvSpPr>
          <p:cNvPr id="4" name="日期占位符 3"/>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sp>
        <p:nvSpPr>
          <p:cNvPr id="14" name="文本框 13"/>
          <p:cNvSpPr txBox="1"/>
          <p:nvPr/>
        </p:nvSpPr>
        <p:spPr>
          <a:xfrm>
            <a:off x="3683000" y="1218565"/>
            <a:ext cx="4023995" cy="460375"/>
          </a:xfrm>
          <a:prstGeom prst="rect">
            <a:avLst/>
          </a:prstGeom>
          <a:noFill/>
        </p:spPr>
        <p:txBody>
          <a:bodyPr wrap="square" rtlCol="0">
            <a:spAutoFit/>
          </a:bodyPr>
          <a:lstStyle/>
          <a:p>
            <a:pPr algn="ctr"/>
            <a:r>
              <a:rPr lang="en-US" altLang="zh-CN" sz="2400" b="1">
                <a:solidFill>
                  <a:srgbClr val="FF0000"/>
                </a:solidFill>
                <a:latin typeface="Microsoft YaHei" panose="020B0503020204020204" charset="-122"/>
                <a:ea typeface="Microsoft YaHei" panose="020B0503020204020204" charset="-122"/>
              </a:rPr>
              <a:t>ResNet-18 Architecture</a:t>
            </a:r>
          </a:p>
        </p:txBody>
      </p:sp>
      <p:cxnSp>
        <p:nvCxnSpPr>
          <p:cNvPr id="20" name="直接连接符 19"/>
          <p:cNvCxnSpPr/>
          <p:nvPr/>
        </p:nvCxnSpPr>
        <p:spPr>
          <a:xfrm flipH="1">
            <a:off x="118110" y="4050030"/>
            <a:ext cx="11880850" cy="16510"/>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grpSp>
        <p:nvGrpSpPr>
          <p:cNvPr id="28" name="组合 27"/>
          <p:cNvGrpSpPr/>
          <p:nvPr/>
        </p:nvGrpSpPr>
        <p:grpSpPr>
          <a:xfrm>
            <a:off x="930275" y="2064385"/>
            <a:ext cx="10309860" cy="1590040"/>
            <a:chOff x="1258" y="6980"/>
            <a:chExt cx="16236" cy="2504"/>
          </a:xfrm>
        </p:grpSpPr>
        <p:grpSp>
          <p:nvGrpSpPr>
            <p:cNvPr id="25" name="组合 24"/>
            <p:cNvGrpSpPr/>
            <p:nvPr/>
          </p:nvGrpSpPr>
          <p:grpSpPr>
            <a:xfrm>
              <a:off x="1258" y="6980"/>
              <a:ext cx="16236" cy="2504"/>
              <a:chOff x="1258" y="6980"/>
              <a:chExt cx="16236" cy="2504"/>
            </a:xfrm>
          </p:grpSpPr>
          <p:grpSp>
            <p:nvGrpSpPr>
              <p:cNvPr id="23" name="组合 22"/>
              <p:cNvGrpSpPr/>
              <p:nvPr>
                <p:custDataLst>
                  <p:tags r:id="rId2"/>
                </p:custDataLst>
              </p:nvPr>
            </p:nvGrpSpPr>
            <p:grpSpPr>
              <a:xfrm>
                <a:off x="1258" y="6980"/>
                <a:ext cx="16237" cy="2504"/>
                <a:chOff x="1471" y="7663"/>
                <a:chExt cx="15874" cy="2273"/>
              </a:xfrm>
            </p:grpSpPr>
            <p:pic>
              <p:nvPicPr>
                <p:cNvPr id="15" name="图片 14"/>
                <p:cNvPicPr>
                  <a:picLocks noChangeAspect="1"/>
                </p:cNvPicPr>
                <p:nvPr/>
              </p:nvPicPr>
              <p:blipFill>
                <a:blip r:embed="rId9"/>
                <a:srcRect l="3663" t="22904" b="15805"/>
                <a:stretch>
                  <a:fillRect/>
                </a:stretch>
              </p:blipFill>
              <p:spPr>
                <a:xfrm>
                  <a:off x="1471" y="7663"/>
                  <a:ext cx="15874" cy="2273"/>
                </a:xfrm>
                <a:prstGeom prst="rect">
                  <a:avLst/>
                </a:prstGeom>
              </p:spPr>
            </p:pic>
            <p:sp>
              <p:nvSpPr>
                <p:cNvPr id="5" name="文本框 4"/>
                <p:cNvSpPr txBox="1"/>
                <p:nvPr/>
              </p:nvSpPr>
              <p:spPr>
                <a:xfrm>
                  <a:off x="1591" y="9289"/>
                  <a:ext cx="1243" cy="463"/>
                </a:xfrm>
                <a:prstGeom prst="rect">
                  <a:avLst/>
                </a:prstGeom>
                <a:solidFill>
                  <a:schemeClr val="bg1"/>
                </a:solidFill>
              </p:spPr>
              <p:txBody>
                <a:bodyPr wrap="square" rtlCol="0">
                  <a:noAutofit/>
                </a:bodyPr>
                <a:lstStyle/>
                <a:p>
                  <a:r>
                    <a:rPr lang="en-US" altLang="zh-CN" sz="1200">
                      <a:latin typeface="Times New Roman" panose="02020603050405020304" charset="0"/>
                      <a:cs typeface="Times New Roman" panose="02020603050405020304" charset="0"/>
                    </a:rPr>
                    <a:t>64</a:t>
                  </a:r>
                  <a:r>
                    <a:rPr lang="zh-CN" altLang="en-US" sz="1200">
                      <a:latin typeface="Times New Roman" panose="02020603050405020304" charset="0"/>
                      <a:cs typeface="Times New Roman" panose="02020603050405020304" charset="0"/>
                    </a:rPr>
                    <a:t>×</a:t>
                  </a:r>
                  <a:r>
                    <a:rPr lang="en-US" altLang="zh-CN" sz="1200">
                      <a:latin typeface="Times New Roman" panose="02020603050405020304" charset="0"/>
                      <a:cs typeface="Times New Roman" panose="02020603050405020304" charset="0"/>
                    </a:rPr>
                    <a:t>64</a:t>
                  </a:r>
                </a:p>
              </p:txBody>
            </p:sp>
            <p:sp>
              <p:nvSpPr>
                <p:cNvPr id="6" name="文本框 5"/>
                <p:cNvSpPr txBox="1"/>
                <p:nvPr/>
              </p:nvSpPr>
              <p:spPr>
                <a:xfrm>
                  <a:off x="3398" y="9116"/>
                  <a:ext cx="1182" cy="513"/>
                </a:xfrm>
                <a:prstGeom prst="rect">
                  <a:avLst/>
                </a:prstGeom>
                <a:solidFill>
                  <a:schemeClr val="bg1"/>
                </a:solidFill>
              </p:spPr>
              <p:txBody>
                <a:bodyPr wrap="square" rtlCol="0">
                  <a:noAutofit/>
                </a:bodyPr>
                <a:lstStyle/>
                <a:p>
                  <a:r>
                    <a:rPr lang="en-US" altLang="zh-CN" sz="1200">
                      <a:latin typeface="Times New Roman" panose="02020603050405020304" charset="0"/>
                      <a:cs typeface="Times New Roman" panose="02020603050405020304" charset="0"/>
                    </a:rPr>
                    <a:t>32</a:t>
                  </a:r>
                  <a:r>
                    <a:rPr lang="zh-CN" altLang="en-US" sz="1200">
                      <a:latin typeface="Times New Roman" panose="02020603050405020304" charset="0"/>
                      <a:cs typeface="Times New Roman" panose="02020603050405020304" charset="0"/>
                    </a:rPr>
                    <a:t>×</a:t>
                  </a:r>
                  <a:r>
                    <a:rPr lang="en-US" altLang="zh-CN" sz="1200">
                      <a:latin typeface="Times New Roman" panose="02020603050405020304" charset="0"/>
                      <a:cs typeface="Times New Roman" panose="02020603050405020304" charset="0"/>
                    </a:rPr>
                    <a:t>32</a:t>
                  </a:r>
                </a:p>
              </p:txBody>
            </p:sp>
            <p:sp>
              <p:nvSpPr>
                <p:cNvPr id="7" name="文本框 6"/>
                <p:cNvSpPr txBox="1"/>
                <p:nvPr>
                  <p:custDataLst>
                    <p:tags r:id="rId3"/>
                  </p:custDataLst>
                </p:nvPr>
              </p:nvSpPr>
              <p:spPr>
                <a:xfrm>
                  <a:off x="6499" y="9127"/>
                  <a:ext cx="1131" cy="452"/>
                </a:xfrm>
                <a:prstGeom prst="rect">
                  <a:avLst/>
                </a:prstGeom>
                <a:solidFill>
                  <a:schemeClr val="bg1"/>
                </a:solidFill>
              </p:spPr>
              <p:txBody>
                <a:bodyPr wrap="square" rtlCol="0">
                  <a:noAutofit/>
                </a:bodyPr>
                <a:lstStyle/>
                <a:p>
                  <a:r>
                    <a:rPr lang="en-US" altLang="zh-CN" sz="1200">
                      <a:latin typeface="Times New Roman" panose="02020603050405020304" charset="0"/>
                      <a:cs typeface="Times New Roman" panose="02020603050405020304" charset="0"/>
                    </a:rPr>
                    <a:t>16</a:t>
                  </a:r>
                  <a:r>
                    <a:rPr lang="zh-CN" altLang="en-US" sz="1200">
                      <a:latin typeface="Times New Roman" panose="02020603050405020304" charset="0"/>
                      <a:cs typeface="Times New Roman" panose="02020603050405020304" charset="0"/>
                    </a:rPr>
                    <a:t>×</a:t>
                  </a:r>
                  <a:r>
                    <a:rPr lang="en-US" altLang="zh-CN" sz="1200">
                      <a:latin typeface="Times New Roman" panose="02020603050405020304" charset="0"/>
                      <a:cs typeface="Times New Roman" panose="02020603050405020304" charset="0"/>
                    </a:rPr>
                    <a:t>16</a:t>
                  </a:r>
                </a:p>
              </p:txBody>
            </p:sp>
            <p:sp>
              <p:nvSpPr>
                <p:cNvPr id="10" name="文本框 9"/>
                <p:cNvSpPr txBox="1"/>
                <p:nvPr>
                  <p:custDataLst>
                    <p:tags r:id="rId4"/>
                  </p:custDataLst>
                </p:nvPr>
              </p:nvSpPr>
              <p:spPr>
                <a:xfrm>
                  <a:off x="7963" y="8987"/>
                  <a:ext cx="1033" cy="452"/>
                </a:xfrm>
                <a:prstGeom prst="rect">
                  <a:avLst/>
                </a:prstGeom>
                <a:solidFill>
                  <a:schemeClr val="bg1"/>
                </a:solidFill>
              </p:spPr>
              <p:txBody>
                <a:bodyPr wrap="square" rtlCol="0">
                  <a:noAutofit/>
                </a:bodyPr>
                <a:lstStyle/>
                <a:p>
                  <a:r>
                    <a:rPr lang="en-US" altLang="zh-CN" sz="1200">
                      <a:latin typeface="Times New Roman" panose="02020603050405020304" charset="0"/>
                      <a:cs typeface="Times New Roman" panose="02020603050405020304" charset="0"/>
                    </a:rPr>
                    <a:t>16</a:t>
                  </a:r>
                  <a:r>
                    <a:rPr lang="zh-CN" altLang="en-US" sz="1200">
                      <a:latin typeface="Times New Roman" panose="02020603050405020304" charset="0"/>
                      <a:cs typeface="Times New Roman" panose="02020603050405020304" charset="0"/>
                    </a:rPr>
                    <a:t>×</a:t>
                  </a:r>
                  <a:r>
                    <a:rPr lang="en-US" altLang="zh-CN" sz="1200">
                      <a:latin typeface="Times New Roman" panose="02020603050405020304" charset="0"/>
                      <a:cs typeface="Times New Roman" panose="02020603050405020304" charset="0"/>
                    </a:rPr>
                    <a:t>16</a:t>
                  </a:r>
                </a:p>
              </p:txBody>
            </p:sp>
            <p:sp>
              <p:nvSpPr>
                <p:cNvPr id="12" name="文本框 11"/>
                <p:cNvSpPr txBox="1"/>
                <p:nvPr>
                  <p:custDataLst>
                    <p:tags r:id="rId5"/>
                  </p:custDataLst>
                </p:nvPr>
              </p:nvSpPr>
              <p:spPr>
                <a:xfrm>
                  <a:off x="9507" y="8982"/>
                  <a:ext cx="923" cy="452"/>
                </a:xfrm>
                <a:prstGeom prst="rect">
                  <a:avLst/>
                </a:prstGeom>
                <a:solidFill>
                  <a:schemeClr val="bg1"/>
                </a:solidFill>
              </p:spPr>
              <p:txBody>
                <a:bodyPr wrap="square" rtlCol="0">
                  <a:noAutofit/>
                </a:bodyPr>
                <a:lstStyle/>
                <a:p>
                  <a:r>
                    <a:rPr lang="en-US" altLang="zh-CN" sz="1200">
                      <a:latin typeface="Times New Roman" panose="02020603050405020304" charset="0"/>
                      <a:cs typeface="Times New Roman" panose="02020603050405020304" charset="0"/>
                    </a:rPr>
                    <a:t>8</a:t>
                  </a:r>
                  <a:r>
                    <a:rPr lang="zh-CN" altLang="en-US" sz="1200">
                      <a:latin typeface="Times New Roman" panose="02020603050405020304" charset="0"/>
                      <a:cs typeface="Times New Roman" panose="02020603050405020304" charset="0"/>
                    </a:rPr>
                    <a:t>×</a:t>
                  </a:r>
                  <a:r>
                    <a:rPr lang="en-US" altLang="zh-CN" sz="1200">
                      <a:latin typeface="Times New Roman" panose="02020603050405020304" charset="0"/>
                      <a:cs typeface="Times New Roman" panose="02020603050405020304" charset="0"/>
                    </a:rPr>
                    <a:t>8</a:t>
                  </a:r>
                </a:p>
              </p:txBody>
            </p:sp>
            <p:sp>
              <p:nvSpPr>
                <p:cNvPr id="16" name="文本框 15"/>
                <p:cNvSpPr txBox="1"/>
                <p:nvPr>
                  <p:custDataLst>
                    <p:tags r:id="rId6"/>
                  </p:custDataLst>
                </p:nvPr>
              </p:nvSpPr>
              <p:spPr>
                <a:xfrm>
                  <a:off x="10890" y="8981"/>
                  <a:ext cx="923" cy="452"/>
                </a:xfrm>
                <a:prstGeom prst="rect">
                  <a:avLst/>
                </a:prstGeom>
                <a:solidFill>
                  <a:schemeClr val="bg1"/>
                </a:solidFill>
              </p:spPr>
              <p:txBody>
                <a:bodyPr wrap="square" rtlCol="0">
                  <a:noAutofit/>
                </a:bodyPr>
                <a:lstStyle/>
                <a:p>
                  <a:r>
                    <a:rPr lang="en-US" altLang="zh-CN" sz="1200">
                      <a:latin typeface="Times New Roman" panose="02020603050405020304" charset="0"/>
                      <a:cs typeface="Times New Roman" panose="02020603050405020304" charset="0"/>
                    </a:rPr>
                    <a:t>4</a:t>
                  </a:r>
                  <a:r>
                    <a:rPr lang="zh-CN" altLang="en-US" sz="1200">
                      <a:latin typeface="Times New Roman" panose="02020603050405020304" charset="0"/>
                      <a:cs typeface="Times New Roman" panose="02020603050405020304" charset="0"/>
                    </a:rPr>
                    <a:t>×</a:t>
                  </a:r>
                  <a:r>
                    <a:rPr lang="en-US" altLang="zh-CN" sz="1200">
                      <a:latin typeface="Times New Roman" panose="02020603050405020304" charset="0"/>
                      <a:cs typeface="Times New Roman" panose="02020603050405020304" charset="0"/>
                    </a:rPr>
                    <a:t>4</a:t>
                  </a:r>
                </a:p>
              </p:txBody>
            </p:sp>
            <p:sp>
              <p:nvSpPr>
                <p:cNvPr id="17" name="文本框 16"/>
                <p:cNvSpPr txBox="1"/>
                <p:nvPr/>
              </p:nvSpPr>
              <p:spPr>
                <a:xfrm>
                  <a:off x="12362" y="8979"/>
                  <a:ext cx="753" cy="452"/>
                </a:xfrm>
                <a:prstGeom prst="rect">
                  <a:avLst/>
                </a:prstGeom>
                <a:solidFill>
                  <a:schemeClr val="bg1"/>
                </a:solidFill>
              </p:spPr>
              <p:txBody>
                <a:bodyPr wrap="square" rtlCol="0">
                  <a:noAutofit/>
                </a:bodyPr>
                <a:lstStyle/>
                <a:p>
                  <a:r>
                    <a:rPr lang="en-US" altLang="zh-CN" sz="1200">
                      <a:latin typeface="Times New Roman" panose="02020603050405020304" charset="0"/>
                      <a:cs typeface="Times New Roman" panose="02020603050405020304" charset="0"/>
                    </a:rPr>
                    <a:t>2</a:t>
                  </a:r>
                  <a:r>
                    <a:rPr lang="zh-CN" altLang="en-US" sz="1200">
                      <a:latin typeface="Times New Roman" panose="02020603050405020304" charset="0"/>
                      <a:cs typeface="Times New Roman" panose="02020603050405020304" charset="0"/>
                    </a:rPr>
                    <a:t>×</a:t>
                  </a:r>
                  <a:r>
                    <a:rPr lang="en-US" altLang="zh-CN" sz="1200">
                      <a:latin typeface="Times New Roman" panose="02020603050405020304" charset="0"/>
                      <a:cs typeface="Times New Roman" panose="02020603050405020304" charset="0"/>
                    </a:rPr>
                    <a:t>2</a:t>
                  </a:r>
                </a:p>
              </p:txBody>
            </p:sp>
          </p:grpSp>
          <p:sp>
            <p:nvSpPr>
              <p:cNvPr id="9" name="文本框 8"/>
              <p:cNvSpPr txBox="1"/>
              <p:nvPr/>
            </p:nvSpPr>
            <p:spPr>
              <a:xfrm>
                <a:off x="7899" y="7032"/>
                <a:ext cx="1134" cy="434"/>
              </a:xfrm>
              <a:prstGeom prst="rect">
                <a:avLst/>
              </a:prstGeom>
              <a:solidFill>
                <a:schemeClr val="bg1"/>
              </a:solidFill>
            </p:spPr>
            <p:txBody>
              <a:bodyPr wrap="square" rtlCol="0">
                <a:spAutoFit/>
              </a:bodyPr>
              <a:lstStyle/>
              <a:p>
                <a:r>
                  <a:rPr lang="en-US" altLang="zh-CN" sz="1200">
                    <a:latin typeface="Times New Roman" panose="02020603050405020304" charset="0"/>
                    <a:cs typeface="Times New Roman" panose="02020603050405020304" charset="0"/>
                  </a:rPr>
                  <a:t>3       64</a:t>
                </a:r>
              </a:p>
            </p:txBody>
          </p:sp>
          <p:sp>
            <p:nvSpPr>
              <p:cNvPr id="11" name="文本框 10"/>
              <p:cNvSpPr txBox="1"/>
              <p:nvPr/>
            </p:nvSpPr>
            <p:spPr>
              <a:xfrm>
                <a:off x="9200" y="7029"/>
                <a:ext cx="1462" cy="434"/>
              </a:xfrm>
              <a:prstGeom prst="rect">
                <a:avLst/>
              </a:prstGeom>
              <a:solidFill>
                <a:schemeClr val="bg1"/>
              </a:solidFill>
            </p:spPr>
            <p:txBody>
              <a:bodyPr wrap="square" rtlCol="0">
                <a:spAutoFit/>
              </a:bodyPr>
              <a:lstStyle/>
              <a:p>
                <a:r>
                  <a:rPr lang="en-US" altLang="zh-CN" sz="1200">
                    <a:latin typeface="Times New Roman" panose="02020603050405020304" charset="0"/>
                    <a:cs typeface="Times New Roman" panose="02020603050405020304" charset="0"/>
                  </a:rPr>
                  <a:t>64      128</a:t>
                </a:r>
              </a:p>
            </p:txBody>
          </p:sp>
          <p:sp>
            <p:nvSpPr>
              <p:cNvPr id="18" name="文本框 17"/>
              <p:cNvSpPr txBox="1"/>
              <p:nvPr/>
            </p:nvSpPr>
            <p:spPr>
              <a:xfrm>
                <a:off x="10579" y="7031"/>
                <a:ext cx="1462" cy="434"/>
              </a:xfrm>
              <a:prstGeom prst="rect">
                <a:avLst/>
              </a:prstGeom>
              <a:solidFill>
                <a:schemeClr val="bg1"/>
              </a:solidFill>
            </p:spPr>
            <p:txBody>
              <a:bodyPr wrap="square" rtlCol="0">
                <a:spAutoFit/>
              </a:bodyPr>
              <a:lstStyle/>
              <a:p>
                <a:r>
                  <a:rPr lang="en-US" altLang="zh-CN" sz="1200">
                    <a:latin typeface="Times New Roman" panose="02020603050405020304" charset="0"/>
                    <a:cs typeface="Times New Roman" panose="02020603050405020304" charset="0"/>
                  </a:rPr>
                  <a:t>128      256</a:t>
                </a:r>
              </a:p>
            </p:txBody>
          </p:sp>
          <p:sp>
            <p:nvSpPr>
              <p:cNvPr id="24" name="文本框 23"/>
              <p:cNvSpPr txBox="1"/>
              <p:nvPr/>
            </p:nvSpPr>
            <p:spPr>
              <a:xfrm>
                <a:off x="12057" y="7024"/>
                <a:ext cx="1462" cy="434"/>
              </a:xfrm>
              <a:prstGeom prst="rect">
                <a:avLst/>
              </a:prstGeom>
              <a:solidFill>
                <a:schemeClr val="bg1"/>
              </a:solidFill>
            </p:spPr>
            <p:txBody>
              <a:bodyPr wrap="square" rtlCol="0">
                <a:spAutoFit/>
              </a:bodyPr>
              <a:lstStyle/>
              <a:p>
                <a:r>
                  <a:rPr lang="en-US" altLang="zh-CN" sz="1200">
                    <a:latin typeface="Times New Roman" panose="02020603050405020304" charset="0"/>
                    <a:cs typeface="Times New Roman" panose="02020603050405020304" charset="0"/>
                  </a:rPr>
                  <a:t>256      512</a:t>
                </a:r>
              </a:p>
            </p:txBody>
          </p:sp>
        </p:grpSp>
        <p:sp>
          <p:nvSpPr>
            <p:cNvPr id="27" name="文本框 26"/>
            <p:cNvSpPr txBox="1"/>
            <p:nvPr/>
          </p:nvSpPr>
          <p:spPr>
            <a:xfrm>
              <a:off x="14577" y="8446"/>
              <a:ext cx="802" cy="434"/>
            </a:xfrm>
            <a:prstGeom prst="rect">
              <a:avLst/>
            </a:prstGeom>
            <a:solidFill>
              <a:schemeClr val="bg1"/>
            </a:solidFill>
          </p:spPr>
          <p:txBody>
            <a:bodyPr wrap="square" rtlCol="0">
              <a:spAutoFit/>
            </a:bodyPr>
            <a:lstStyle/>
            <a:p>
              <a:pPr algn="ctr"/>
              <a:r>
                <a:rPr lang="en-US" altLang="zh-CN" sz="1200">
                  <a:latin typeface="Times New Roman" panose="02020603050405020304" charset="0"/>
                  <a:cs typeface="Times New Roman" panose="02020603050405020304" charset="0"/>
                </a:rPr>
                <a:t>1</a:t>
              </a:r>
              <a:r>
                <a:rPr lang="zh-CN" altLang="en-US" sz="1200">
                  <a:latin typeface="Times New Roman" panose="02020603050405020304" charset="0"/>
                  <a:cs typeface="Times New Roman" panose="02020603050405020304" charset="0"/>
                </a:rPr>
                <a:t>×</a:t>
              </a:r>
              <a:r>
                <a:rPr lang="en-US" altLang="zh-CN" sz="1200">
                  <a:latin typeface="Times New Roman" panose="02020603050405020304" charset="0"/>
                  <a:cs typeface="Times New Roman" panose="02020603050405020304" charset="0"/>
                </a:rPr>
                <a:t>2</a:t>
              </a:r>
            </a:p>
          </p:txBody>
        </p:sp>
      </p:grpSp>
      <p:sp>
        <p:nvSpPr>
          <p:cNvPr id="8" name="矩形 7"/>
          <p:cNvSpPr/>
          <p:nvPr/>
        </p:nvSpPr>
        <p:spPr>
          <a:xfrm>
            <a:off x="761365" y="1927225"/>
            <a:ext cx="7853680" cy="1861185"/>
          </a:xfrm>
          <a:prstGeom prst="rect">
            <a:avLst/>
          </a:prstGeom>
          <a:noFill/>
          <a:ln w="28575" cmpd="sng">
            <a:solidFill>
              <a:srgbClr val="FF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文本框 12"/>
          <p:cNvSpPr txBox="1"/>
          <p:nvPr/>
        </p:nvSpPr>
        <p:spPr>
          <a:xfrm>
            <a:off x="3492500" y="3404870"/>
            <a:ext cx="2667000" cy="368300"/>
          </a:xfrm>
          <a:prstGeom prst="rect">
            <a:avLst/>
          </a:prstGeom>
          <a:noFill/>
        </p:spPr>
        <p:txBody>
          <a:bodyPr wrap="square" rtlCol="0">
            <a:spAutoFit/>
          </a:bodyPr>
          <a:lstStyle/>
          <a:p>
            <a:r>
              <a:rPr lang="en-US" altLang="zh-CN" b="1">
                <a:solidFill>
                  <a:srgbClr val="FF0000"/>
                </a:solidFill>
                <a:latin typeface="Microsoft YaHei" panose="020B0503020204020204" charset="-122"/>
                <a:ea typeface="Microsoft YaHei" panose="020B0503020204020204" charset="-122"/>
                <a:cs typeface="Times New Roman" panose="02020603050405020304" charset="0"/>
              </a:rPr>
              <a:t>Feature Extraction</a:t>
            </a:r>
          </a:p>
        </p:txBody>
      </p:sp>
      <p:sp>
        <p:nvSpPr>
          <p:cNvPr id="22" name="矩形 21"/>
          <p:cNvSpPr/>
          <p:nvPr/>
        </p:nvSpPr>
        <p:spPr>
          <a:xfrm>
            <a:off x="8713470" y="1927225"/>
            <a:ext cx="2773680" cy="1847215"/>
          </a:xfrm>
          <a:prstGeom prst="rect">
            <a:avLst/>
          </a:prstGeom>
          <a:noFill/>
          <a:ln w="28575" cmpd="sng">
            <a:solidFill>
              <a:srgbClr val="FF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6" name="文本框 25"/>
          <p:cNvSpPr txBox="1"/>
          <p:nvPr/>
        </p:nvSpPr>
        <p:spPr>
          <a:xfrm>
            <a:off x="9129395" y="3404870"/>
            <a:ext cx="1978025" cy="368300"/>
          </a:xfrm>
          <a:prstGeom prst="rect">
            <a:avLst/>
          </a:prstGeom>
          <a:noFill/>
        </p:spPr>
        <p:txBody>
          <a:bodyPr wrap="square" rtlCol="0">
            <a:spAutoFit/>
          </a:bodyPr>
          <a:lstStyle/>
          <a:p>
            <a:r>
              <a:rPr lang="en-US" altLang="zh-CN" b="1">
                <a:solidFill>
                  <a:srgbClr val="FF0000"/>
                </a:solidFill>
                <a:latin typeface="Microsoft YaHei" panose="020B0503020204020204" charset="-122"/>
                <a:ea typeface="Microsoft YaHei" panose="020B0503020204020204" charset="-122"/>
                <a:cs typeface="Times New Roman" panose="02020603050405020304" charset="0"/>
              </a:rPr>
              <a:t>Classification</a:t>
            </a:r>
          </a:p>
        </p:txBody>
      </p:sp>
      <p:sp>
        <p:nvSpPr>
          <p:cNvPr id="35" name="文本框 34"/>
          <p:cNvSpPr txBox="1"/>
          <p:nvPr/>
        </p:nvSpPr>
        <p:spPr>
          <a:xfrm>
            <a:off x="7133590" y="4690745"/>
            <a:ext cx="1448435" cy="776605"/>
          </a:xfrm>
          <a:prstGeom prst="rect">
            <a:avLst/>
          </a:prstGeom>
          <a:noFill/>
          <a:ln w="31750" cmpd="sng">
            <a:solidFill>
              <a:srgbClr val="FF0000"/>
            </a:solidFill>
            <a:prstDash val="solid"/>
          </a:ln>
        </p:spPr>
        <p:txBody>
          <a:bodyPr wrap="square" rtlCol="0" anchor="ctr" anchorCtr="0">
            <a:noAutofit/>
          </a:bodyPr>
          <a:lstStyle/>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Feature Extraction</a:t>
            </a:r>
          </a:p>
        </p:txBody>
      </p:sp>
      <p:sp>
        <p:nvSpPr>
          <p:cNvPr id="36" name="文本框 35"/>
          <p:cNvSpPr txBox="1"/>
          <p:nvPr/>
        </p:nvSpPr>
        <p:spPr>
          <a:xfrm>
            <a:off x="9520555" y="4787900"/>
            <a:ext cx="1550035" cy="589280"/>
          </a:xfrm>
          <a:prstGeom prst="rect">
            <a:avLst/>
          </a:prstGeom>
          <a:noFill/>
          <a:ln w="31750" cmpd="sng">
            <a:solidFill>
              <a:srgbClr val="FF0000"/>
            </a:solidFill>
            <a:prstDash val="solid"/>
          </a:ln>
        </p:spPr>
        <p:txBody>
          <a:bodyPr wrap="square" rtlCol="0" anchor="ctr" anchorCtr="0">
            <a:noAutofit/>
          </a:bodyPr>
          <a:lstStyle/>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Classification</a:t>
            </a:r>
          </a:p>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(FCNN)</a:t>
            </a:r>
          </a:p>
        </p:txBody>
      </p:sp>
      <p:cxnSp>
        <p:nvCxnSpPr>
          <p:cNvPr id="37" name="直接箭头连接符 36"/>
          <p:cNvCxnSpPr>
            <a:stCxn id="35" idx="3"/>
            <a:endCxn id="36" idx="1"/>
          </p:cNvCxnSpPr>
          <p:nvPr/>
        </p:nvCxnSpPr>
        <p:spPr>
          <a:xfrm>
            <a:off x="8582025" y="5079365"/>
            <a:ext cx="938530" cy="3175"/>
          </a:xfrm>
          <a:prstGeom prst="straightConnector1">
            <a:avLst/>
          </a:prstGeom>
          <a:ln w="19050" cmpd="sng">
            <a:solidFill>
              <a:schemeClr val="accent1">
                <a:shade val="50000"/>
              </a:schemeClr>
            </a:solidFill>
            <a:prstDash val="solid"/>
            <a:tailEnd type="triangle"/>
          </a:ln>
        </p:spPr>
        <p:style>
          <a:lnRef idx="2">
            <a:schemeClr val="accent1"/>
          </a:lnRef>
          <a:fillRef idx="0">
            <a:srgbClr val="FFFFFF"/>
          </a:fillRef>
          <a:effectRef idx="0">
            <a:srgbClr val="FFFFFF"/>
          </a:effectRef>
          <a:fontRef idx="minor">
            <a:schemeClr val="tx1"/>
          </a:fontRef>
        </p:style>
      </p:cxnSp>
      <p:cxnSp>
        <p:nvCxnSpPr>
          <p:cNvPr id="31" name="直接连接符 30"/>
          <p:cNvCxnSpPr/>
          <p:nvPr/>
        </p:nvCxnSpPr>
        <p:spPr>
          <a:xfrm>
            <a:off x="6451600" y="4175125"/>
            <a:ext cx="6985" cy="2210435"/>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sp>
        <p:nvSpPr>
          <p:cNvPr id="29" name="文本框 28"/>
          <p:cNvSpPr txBox="1"/>
          <p:nvPr/>
        </p:nvSpPr>
        <p:spPr>
          <a:xfrm>
            <a:off x="167005" y="4222115"/>
            <a:ext cx="6096000" cy="1986280"/>
          </a:xfrm>
          <a:prstGeom prst="rect">
            <a:avLst/>
          </a:prstGeom>
          <a:noFill/>
        </p:spPr>
        <p:txBody>
          <a:bodyPr wrap="square" rtlCol="0" anchor="t">
            <a:spAutoFit/>
          </a:bodyPr>
          <a:lstStyle/>
          <a:p>
            <a:pPr>
              <a:lnSpc>
                <a:spcPct val="140000"/>
              </a:lnSpc>
            </a:pPr>
            <a:r>
              <a:rPr lang="en-US" altLang="zh-CN" sz="2800" b="1">
                <a:solidFill>
                  <a:srgbClr val="FF0000"/>
                </a:solidFill>
                <a:latin typeface="+mn-ea"/>
                <a:cs typeface="Times New Roman" panose="02020603050405020304" charset="0"/>
                <a:sym typeface="+mn-ea"/>
              </a:rPr>
              <a:t>ResNet</a:t>
            </a:r>
            <a:r>
              <a:rPr lang="en-US" altLang="zh-CN" b="1">
                <a:latin typeface="+mn-ea"/>
                <a:cs typeface="Times New Roman" panose="02020603050405020304" charset="0"/>
                <a:sym typeface="+mn-ea"/>
              </a:rPr>
              <a:t> vs </a:t>
            </a:r>
            <a:r>
              <a:rPr lang="en-US" altLang="zh-CN" sz="2400" b="1">
                <a:latin typeface="+mn-ea"/>
                <a:cs typeface="Times New Roman" panose="02020603050405020304" charset="0"/>
                <a:sym typeface="+mn-ea"/>
              </a:rPr>
              <a:t>Traditional Architecture</a:t>
            </a:r>
            <a:endParaRPr lang="en-US" altLang="zh-CN" sz="2000" b="1">
              <a:latin typeface="+mn-ea"/>
              <a:cs typeface="Times New Roman" panose="02020603050405020304" charset="0"/>
              <a:sym typeface="+mn-ea"/>
            </a:endParaRPr>
          </a:p>
          <a:p>
            <a:pPr marL="800100" lvl="1" indent="-342900">
              <a:lnSpc>
                <a:spcPct val="140000"/>
              </a:lnSpc>
              <a:buFont typeface="Wingdings" panose="05000000000000000000" charset="0"/>
              <a:buChar char="ü"/>
            </a:pPr>
            <a:r>
              <a:rPr lang="en-US" altLang="zh-CN" sz="2000" b="1">
                <a:solidFill>
                  <a:schemeClr val="tx1"/>
                </a:solidFill>
                <a:latin typeface="+mn-ea"/>
                <a:cs typeface="Times New Roman" panose="02020603050405020304" charset="0"/>
                <a:sym typeface="+mn-ea"/>
              </a:rPr>
              <a:t>deeper structure</a:t>
            </a:r>
            <a:r>
              <a:rPr lang="en-US" altLang="zh-CN" sz="2000">
                <a:latin typeface="+mn-ea"/>
                <a:cs typeface="Times New Roman" panose="02020603050405020304" charset="0"/>
                <a:sym typeface="+mn-ea"/>
              </a:rPr>
              <a:t> (number of layers)</a:t>
            </a:r>
          </a:p>
          <a:p>
            <a:pPr marL="800100" lvl="1" indent="-342900">
              <a:lnSpc>
                <a:spcPct val="140000"/>
              </a:lnSpc>
              <a:buFont typeface="Wingdings" panose="05000000000000000000" charset="0"/>
              <a:buChar char="ü"/>
            </a:pPr>
            <a:r>
              <a:rPr lang="en-US" altLang="zh-CN" sz="2000">
                <a:latin typeface="+mn-ea"/>
                <a:cs typeface="Times New Roman" panose="02020603050405020304" charset="0"/>
                <a:sym typeface="+mn-ea"/>
              </a:rPr>
              <a:t>enhanced learning capabilities</a:t>
            </a:r>
          </a:p>
          <a:p>
            <a:pPr marL="800100" lvl="1" indent="-342900">
              <a:lnSpc>
                <a:spcPct val="140000"/>
              </a:lnSpc>
              <a:buFont typeface="Wingdings" panose="05000000000000000000" charset="0"/>
              <a:buChar char="ü"/>
            </a:pPr>
            <a:r>
              <a:rPr lang="en-US" altLang="zh-CN" sz="2000">
                <a:latin typeface="+mn-ea"/>
                <a:cs typeface="Times New Roman" panose="02020603050405020304" charset="0"/>
                <a:sym typeface="+mn-ea"/>
              </a:rPr>
              <a:t>effectively capture visual features</a:t>
            </a:r>
            <a:endParaRPr lang="en-US" altLang="zh-CN">
              <a:latin typeface="+mn-ea"/>
              <a:cs typeface="Times New Roman" panose="02020603050405020304" charset="0"/>
              <a:sym typeface="+mn-ea"/>
            </a:endParaRPr>
          </a:p>
        </p:txBody>
      </p:sp>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750" fill="hold">
                                          <p:stCondLst>
                                            <p:cond delay="0"/>
                                          </p:stCondLst>
                                        </p:cTn>
                                        <p:tgtEl>
                                          <p:spTgt spid="8"/>
                                        </p:tgtEl>
                                        <p:attrNameLst>
                                          <p:attrName>style.visibility</p:attrName>
                                        </p:attrNameLst>
                                      </p:cBhvr>
                                      <p:to>
                                        <p:strVal val="visible"/>
                                      </p:to>
                                    </p:set>
                                    <p:animEffect transition="in" filter="barn(inVertical)">
                                      <p:cBhvr>
                                        <p:cTn id="7" dur="750"/>
                                        <p:tgtEl>
                                          <p:spTgt spid="8"/>
                                        </p:tgtEl>
                                      </p:cBhvr>
                                    </p:animEffect>
                                  </p:childTnLst>
                                </p:cTn>
                              </p:par>
                              <p:par>
                                <p:cTn id="8" presetID="16" presetClass="entr" presetSubtype="21" fill="hold" grpId="0" nodeType="withEffect">
                                  <p:stCondLst>
                                    <p:cond delay="0"/>
                                  </p:stCondLst>
                                  <p:childTnLst>
                                    <p:set>
                                      <p:cBhvr>
                                        <p:cTn id="9" dur="750" fill="hold">
                                          <p:stCondLst>
                                            <p:cond delay="0"/>
                                          </p:stCondLst>
                                        </p:cTn>
                                        <p:tgtEl>
                                          <p:spTgt spid="13"/>
                                        </p:tgtEl>
                                        <p:attrNameLst>
                                          <p:attrName>style.visibility</p:attrName>
                                        </p:attrNameLst>
                                      </p:cBhvr>
                                      <p:to>
                                        <p:strVal val="visible"/>
                                      </p:to>
                                    </p:set>
                                    <p:animEffect transition="in" filter="barn(inVertical)">
                                      <p:cBhvr>
                                        <p:cTn id="10" dur="750"/>
                                        <p:tgtEl>
                                          <p:spTgt spid="13"/>
                                        </p:tgtEl>
                                      </p:cBhvr>
                                    </p:animEffect>
                                  </p:childTnLst>
                                </p:cTn>
                              </p:par>
                              <p:par>
                                <p:cTn id="11" presetID="16" presetClass="entr" presetSubtype="21" fill="hold" grpId="0" nodeType="withEffect">
                                  <p:stCondLst>
                                    <p:cond delay="0"/>
                                  </p:stCondLst>
                                  <p:childTnLst>
                                    <p:set>
                                      <p:cBhvr>
                                        <p:cTn id="12" dur="750" fill="hold">
                                          <p:stCondLst>
                                            <p:cond delay="0"/>
                                          </p:stCondLst>
                                        </p:cTn>
                                        <p:tgtEl>
                                          <p:spTgt spid="26"/>
                                        </p:tgtEl>
                                        <p:attrNameLst>
                                          <p:attrName>style.visibility</p:attrName>
                                        </p:attrNameLst>
                                      </p:cBhvr>
                                      <p:to>
                                        <p:strVal val="visible"/>
                                      </p:to>
                                    </p:set>
                                    <p:animEffect transition="in" filter="barn(inVertical)">
                                      <p:cBhvr>
                                        <p:cTn id="13" dur="750"/>
                                        <p:tgtEl>
                                          <p:spTgt spid="26"/>
                                        </p:tgtEl>
                                      </p:cBhvr>
                                    </p:animEffect>
                                  </p:childTnLst>
                                </p:cTn>
                              </p:par>
                              <p:par>
                                <p:cTn id="14" presetID="16" presetClass="entr" presetSubtype="21" fill="hold" grpId="0" nodeType="withEffect">
                                  <p:stCondLst>
                                    <p:cond delay="0"/>
                                  </p:stCondLst>
                                  <p:childTnLst>
                                    <p:set>
                                      <p:cBhvr>
                                        <p:cTn id="15" dur="750" fill="hold">
                                          <p:stCondLst>
                                            <p:cond delay="0"/>
                                          </p:stCondLst>
                                        </p:cTn>
                                        <p:tgtEl>
                                          <p:spTgt spid="22"/>
                                        </p:tgtEl>
                                        <p:attrNameLst>
                                          <p:attrName>style.visibility</p:attrName>
                                        </p:attrNameLst>
                                      </p:cBhvr>
                                      <p:to>
                                        <p:strVal val="visible"/>
                                      </p:to>
                                    </p:set>
                                    <p:animEffect transition="in" filter="barn(inVertical)">
                                      <p:cBhvr>
                                        <p:cTn id="16" dur="75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barn(inVertical)">
                                      <p:cBhvr>
                                        <p:cTn id="21" dur="500"/>
                                        <p:tgtEl>
                                          <p:spTgt spid="35"/>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barn(inVertical)">
                                      <p:cBhvr>
                                        <p:cTn id="24" dur="500"/>
                                        <p:tgtEl>
                                          <p:spTgt spid="36"/>
                                        </p:tgtEl>
                                      </p:cBhvr>
                                    </p:animEffect>
                                  </p:childTnLst>
                                </p:cTn>
                              </p:par>
                              <p:par>
                                <p:cTn id="25" presetID="16" presetClass="entr" presetSubtype="21"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barn(inVertical)">
                                      <p:cBhvr>
                                        <p:cTn id="2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P spid="13" grpId="0"/>
      <p:bldP spid="13" grpId="1"/>
      <p:bldP spid="22" grpId="0" bldLvl="0" animBg="1"/>
      <p:bldP spid="22" grpId="1" animBg="1"/>
      <p:bldP spid="26" grpId="0"/>
      <p:bldP spid="26" grpId="1"/>
      <p:bldP spid="35" grpId="0" bldLvl="0" animBg="1"/>
      <p:bldP spid="35" grpId="1" animBg="1"/>
      <p:bldP spid="36" grpId="0" bldLvl="0" animBg="1"/>
      <p:bldP spid="36"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Method 2: Gated-Fusion CNN </a:t>
            </a:r>
          </a:p>
        </p:txBody>
      </p:sp>
      <p:sp>
        <p:nvSpPr>
          <p:cNvPr id="3" name="灯片编号占位符 2"/>
          <p:cNvSpPr>
            <a:spLocks noGrp="1"/>
          </p:cNvSpPr>
          <p:nvPr>
            <p:ph type="sldNum" sz="quarter" idx="12"/>
          </p:nvPr>
        </p:nvSpPr>
        <p:spPr/>
        <p:txBody>
          <a:bodyPr/>
          <a:lstStyle/>
          <a:p>
            <a:fld id="{8141257D-CBAA-4317-A108-DEE4BE529EBA}" type="slidenum">
              <a:rPr lang="zh-CN" altLang="en-US" smtClean="0"/>
              <a:t>6</a:t>
            </a:fld>
            <a:endParaRPr lang="zh-CN" altLang="en-US" dirty="0"/>
          </a:p>
        </p:txBody>
      </p:sp>
      <p:sp>
        <p:nvSpPr>
          <p:cNvPr id="4" name="日期占位符 3"/>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sp>
        <p:nvSpPr>
          <p:cNvPr id="19" name="文本框 18"/>
          <p:cNvSpPr txBox="1"/>
          <p:nvPr/>
        </p:nvSpPr>
        <p:spPr>
          <a:xfrm>
            <a:off x="256540" y="2528570"/>
            <a:ext cx="4064000" cy="755650"/>
          </a:xfrm>
          <a:prstGeom prst="rect">
            <a:avLst/>
          </a:prstGeom>
          <a:noFill/>
        </p:spPr>
        <p:txBody>
          <a:bodyPr wrap="square" rtlCol="0">
            <a:spAutoFit/>
          </a:bodyPr>
          <a:lstStyle/>
          <a:p>
            <a:pPr algn="l">
              <a:lnSpc>
                <a:spcPct val="120000"/>
              </a:lnSpc>
            </a:pPr>
            <a:r>
              <a:rPr lang="en-US" altLang="zh-CN">
                <a:latin typeface="Times New Roman" panose="02020603050405020304" charset="0"/>
                <a:cs typeface="Times New Roman" panose="02020603050405020304" charset="0"/>
              </a:rPr>
              <a:t>MOI Tensor: moment of inertia tensor</a:t>
            </a:r>
          </a:p>
          <a:p>
            <a:pPr algn="l">
              <a:lnSpc>
                <a:spcPct val="120000"/>
              </a:lnSpc>
            </a:pPr>
            <a:r>
              <a:rPr lang="en-US" altLang="zh-CN">
                <a:latin typeface="Times New Roman" panose="02020603050405020304" charset="0"/>
                <a:cs typeface="Times New Roman" panose="02020603050405020304" charset="0"/>
              </a:rPr>
              <a:t>(Direction of the trajectory)</a:t>
            </a:r>
            <a:endParaRPr lang="zh-CN" altLang="en-US">
              <a:latin typeface="Times New Roman" panose="02020603050405020304" charset="0"/>
              <a:cs typeface="Times New Roman" panose="02020603050405020304" charset="0"/>
            </a:endParaRPr>
          </a:p>
        </p:txBody>
      </p:sp>
      <p:sp>
        <p:nvSpPr>
          <p:cNvPr id="26" name="文本框 25"/>
          <p:cNvSpPr txBox="1"/>
          <p:nvPr/>
        </p:nvSpPr>
        <p:spPr>
          <a:xfrm>
            <a:off x="256540" y="4382770"/>
            <a:ext cx="5895340" cy="36830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Among them, (x, y) repersent the coordinate of picture pixel</a:t>
            </a:r>
          </a:p>
        </p:txBody>
      </p:sp>
      <p:sp>
        <p:nvSpPr>
          <p:cNvPr id="28" name="文本框 27"/>
          <p:cNvSpPr txBox="1"/>
          <p:nvPr/>
        </p:nvSpPr>
        <p:spPr>
          <a:xfrm>
            <a:off x="316230" y="1252855"/>
            <a:ext cx="11731625" cy="829945"/>
          </a:xfrm>
          <a:prstGeom prst="rect">
            <a:avLst/>
          </a:prstGeom>
          <a:noFill/>
        </p:spPr>
        <p:txBody>
          <a:bodyPr wrap="square" rtlCol="0">
            <a:spAutoFit/>
          </a:bodyPr>
          <a:lstStyle/>
          <a:p>
            <a:r>
              <a:rPr lang="en-US" altLang="zh-CN" sz="2400" b="1">
                <a:solidFill>
                  <a:schemeClr val="tx1"/>
                </a:solidFill>
                <a:latin typeface="Microsoft YaHei" panose="020B0503020204020204" charset="-122"/>
                <a:ea typeface="Microsoft YaHei" panose="020B0503020204020204" charset="-122"/>
                <a:cs typeface="Times New Roman" panose="02020603050405020304" charset="0"/>
              </a:rPr>
              <a:t>Physical knowledge: </a:t>
            </a:r>
          </a:p>
          <a:p>
            <a:pPr indent="457200"/>
            <a:r>
              <a:rPr lang="en-US" altLang="zh-CN" sz="2400" b="1">
                <a:solidFill>
                  <a:schemeClr val="tx1"/>
                </a:solidFill>
                <a:latin typeface="Microsoft YaHei" panose="020B0503020204020204" charset="-122"/>
                <a:ea typeface="Microsoft YaHei" panose="020B0503020204020204" charset="-122"/>
                <a:cs typeface="Times New Roman" panose="02020603050405020304" charset="0"/>
              </a:rPr>
              <a:t>Guidance to attach importance to which visual feature channels</a:t>
            </a:r>
          </a:p>
        </p:txBody>
      </p:sp>
      <p:pic>
        <p:nvPicPr>
          <p:cNvPr id="6" name="图片 5"/>
          <p:cNvPicPr>
            <a:picLocks noChangeAspect="1"/>
          </p:cNvPicPr>
          <p:nvPr/>
        </p:nvPicPr>
        <p:blipFill>
          <a:blip r:embed="rId4"/>
          <a:stretch>
            <a:fillRect/>
          </a:stretch>
        </p:blipFill>
        <p:spPr>
          <a:xfrm>
            <a:off x="256540" y="3363595"/>
            <a:ext cx="5694680" cy="1003300"/>
          </a:xfrm>
          <a:prstGeom prst="rect">
            <a:avLst/>
          </a:prstGeom>
        </p:spPr>
      </p:pic>
      <p:cxnSp>
        <p:nvCxnSpPr>
          <p:cNvPr id="34" name="直接连接符 33"/>
          <p:cNvCxnSpPr/>
          <p:nvPr/>
        </p:nvCxnSpPr>
        <p:spPr>
          <a:xfrm flipH="1">
            <a:off x="27940" y="2200910"/>
            <a:ext cx="11880850" cy="16510"/>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grpSp>
        <p:nvGrpSpPr>
          <p:cNvPr id="37" name="组合 36"/>
          <p:cNvGrpSpPr/>
          <p:nvPr/>
        </p:nvGrpSpPr>
        <p:grpSpPr>
          <a:xfrm>
            <a:off x="326390" y="4846208"/>
            <a:ext cx="4523736" cy="1254312"/>
            <a:chOff x="10849" y="4218"/>
            <a:chExt cx="6784" cy="1679"/>
          </a:xfrm>
        </p:grpSpPr>
        <p:sp>
          <p:nvSpPr>
            <p:cNvPr id="7" name="文本框 6"/>
            <p:cNvSpPr txBox="1"/>
            <p:nvPr/>
          </p:nvSpPr>
          <p:spPr>
            <a:xfrm>
              <a:off x="11233" y="4218"/>
              <a:ext cx="6400" cy="1677"/>
            </a:xfrm>
            <a:prstGeom prst="rect">
              <a:avLst/>
            </a:prstGeom>
            <a:noFill/>
          </p:spPr>
          <p:txBody>
            <a:bodyPr wrap="square" rtlCol="0">
              <a:spAutoFit/>
            </a:bodyPr>
            <a:lstStyle/>
            <a:p>
              <a:pPr>
                <a:lnSpc>
                  <a:spcPct val="140000"/>
                </a:lnSpc>
              </a:pPr>
              <a:r>
                <a:rPr lang="en-US" altLang="zh-CN">
                  <a:latin typeface="Times New Roman" panose="02020603050405020304" charset="0"/>
                  <a:cs typeface="Times New Roman" panose="02020603050405020304" charset="0"/>
                </a:rPr>
                <a:t>: Moment of Inertia about the x-axis</a:t>
              </a:r>
            </a:p>
            <a:p>
              <a:pPr>
                <a:lnSpc>
                  <a:spcPct val="140000"/>
                </a:lnSpc>
              </a:pPr>
              <a:r>
                <a:rPr lang="en-US" altLang="zh-CN">
                  <a:latin typeface="Times New Roman" panose="02020603050405020304" charset="0"/>
                  <a:cs typeface="Times New Roman" panose="02020603050405020304" charset="0"/>
                </a:rPr>
                <a:t>: Moment of Inertia about the y-axis</a:t>
              </a:r>
            </a:p>
            <a:p>
              <a:pPr>
                <a:lnSpc>
                  <a:spcPct val="140000"/>
                </a:lnSpc>
              </a:pPr>
              <a:r>
                <a:rPr lang="en-US" altLang="zh-CN">
                  <a:latin typeface="Times New Roman" panose="02020603050405020304" charset="0"/>
                  <a:cs typeface="Times New Roman" panose="02020603050405020304" charset="0"/>
                </a:rPr>
                <a:t>        : Product of Inertia</a:t>
              </a:r>
            </a:p>
          </p:txBody>
        </p:sp>
        <p:graphicFrame>
          <p:nvGraphicFramePr>
            <p:cNvPr id="35" name="对象 34">
              <a:hlinkClick r:id="" action="ppaction://ole?verb=0"/>
            </p:cNvPr>
            <p:cNvGraphicFramePr>
              <a:graphicFrameLocks noChangeAspect="1"/>
            </p:cNvGraphicFramePr>
            <p:nvPr/>
          </p:nvGraphicFramePr>
          <p:xfrm>
            <a:off x="10849" y="4332"/>
            <a:ext cx="1153" cy="1565"/>
          </p:xfrm>
          <a:graphic>
            <a:graphicData uri="http://schemas.openxmlformats.org/presentationml/2006/ole">
              <mc:AlternateContent xmlns:mc="http://schemas.openxmlformats.org/markup-compatibility/2006">
                <mc:Choice xmlns:v="urn:schemas-microsoft-com:vml" Requires="v">
                  <p:oleObj r:id="rId5" imgW="533400" imgH="723900" progId="Equation.KSEE3">
                    <p:embed/>
                  </p:oleObj>
                </mc:Choice>
                <mc:Fallback>
                  <p:oleObj r:id="rId5" imgW="533400" imgH="723900" progId="Equation.KSEE3">
                    <p:embed/>
                    <p:pic>
                      <p:nvPicPr>
                        <p:cNvPr id="0" name="图片 1024"/>
                        <p:cNvPicPr/>
                        <p:nvPr/>
                      </p:nvPicPr>
                      <p:blipFill>
                        <a:blip r:embed="rId6"/>
                        <a:stretch>
                          <a:fillRect/>
                        </a:stretch>
                      </p:blipFill>
                      <p:spPr>
                        <a:xfrm>
                          <a:off x="10849" y="4332"/>
                          <a:ext cx="1153" cy="1565"/>
                        </a:xfrm>
                        <a:prstGeom prst="rect">
                          <a:avLst/>
                        </a:prstGeom>
                      </p:spPr>
                    </p:pic>
                  </p:oleObj>
                </mc:Fallback>
              </mc:AlternateContent>
            </a:graphicData>
          </a:graphic>
        </p:graphicFrame>
      </p:grpSp>
      <p:sp>
        <p:nvSpPr>
          <p:cNvPr id="21" name="文本框 20"/>
          <p:cNvSpPr txBox="1"/>
          <p:nvPr/>
        </p:nvSpPr>
        <p:spPr>
          <a:xfrm>
            <a:off x="6725285" y="3284220"/>
            <a:ext cx="1448435" cy="776605"/>
          </a:xfrm>
          <a:prstGeom prst="rect">
            <a:avLst/>
          </a:prstGeom>
          <a:noFill/>
          <a:ln w="31750" cmpd="sng">
            <a:solidFill>
              <a:srgbClr val="FF0000"/>
            </a:solidFill>
            <a:prstDash val="solid"/>
          </a:ln>
        </p:spPr>
        <p:txBody>
          <a:bodyPr wrap="square" rtlCol="0" anchor="ctr" anchorCtr="0">
            <a:noAutofit/>
          </a:bodyPr>
          <a:lstStyle/>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Feature Extraction</a:t>
            </a:r>
          </a:p>
        </p:txBody>
      </p:sp>
      <p:sp>
        <p:nvSpPr>
          <p:cNvPr id="22" name="文本框 21"/>
          <p:cNvSpPr txBox="1"/>
          <p:nvPr/>
        </p:nvSpPr>
        <p:spPr>
          <a:xfrm>
            <a:off x="8256905" y="4354830"/>
            <a:ext cx="1448435" cy="501015"/>
          </a:xfrm>
          <a:prstGeom prst="rect">
            <a:avLst/>
          </a:prstGeom>
          <a:noFill/>
          <a:ln w="19050" cmpd="sng">
            <a:solidFill>
              <a:schemeClr val="accent1">
                <a:lumMod val="75000"/>
              </a:schemeClr>
            </a:solidFill>
            <a:prstDash val="solid"/>
          </a:ln>
        </p:spPr>
        <p:txBody>
          <a:bodyPr wrap="square" rtlCol="0" anchor="ctr" anchorCtr="0">
            <a:noAutofit/>
          </a:bodyPr>
          <a:lstStyle/>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Gating Signal</a:t>
            </a:r>
          </a:p>
        </p:txBody>
      </p:sp>
      <p:sp>
        <p:nvSpPr>
          <p:cNvPr id="23" name="文本框 22"/>
          <p:cNvSpPr txBox="1"/>
          <p:nvPr/>
        </p:nvSpPr>
        <p:spPr>
          <a:xfrm>
            <a:off x="9775190" y="3369310"/>
            <a:ext cx="1626235" cy="589280"/>
          </a:xfrm>
          <a:prstGeom prst="rect">
            <a:avLst/>
          </a:prstGeom>
          <a:noFill/>
          <a:ln w="31750" cmpd="sng">
            <a:solidFill>
              <a:srgbClr val="FF0000"/>
            </a:solidFill>
            <a:prstDash val="solid"/>
          </a:ln>
        </p:spPr>
        <p:txBody>
          <a:bodyPr wrap="square" rtlCol="0" anchor="ctr" anchorCtr="0">
            <a:noAutofit/>
          </a:bodyPr>
          <a:lstStyle/>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Classification</a:t>
            </a:r>
          </a:p>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(FCNN)</a:t>
            </a:r>
          </a:p>
        </p:txBody>
      </p:sp>
      <p:cxnSp>
        <p:nvCxnSpPr>
          <p:cNvPr id="29" name="直接箭头连接符 28"/>
          <p:cNvCxnSpPr>
            <a:stCxn id="22" idx="0"/>
            <a:endCxn id="39" idx="4"/>
          </p:cNvCxnSpPr>
          <p:nvPr/>
        </p:nvCxnSpPr>
        <p:spPr>
          <a:xfrm flipH="1" flipV="1">
            <a:off x="8974455" y="4057650"/>
            <a:ext cx="6985" cy="297180"/>
          </a:xfrm>
          <a:prstGeom prst="straightConnector1">
            <a:avLst/>
          </a:prstGeom>
          <a:ln w="19050" cmpd="sng">
            <a:solidFill>
              <a:schemeClr val="accent1">
                <a:shade val="50000"/>
              </a:schemeClr>
            </a:solidFill>
            <a:prstDash val="solid"/>
            <a:tailEnd type="triangle"/>
          </a:ln>
        </p:spPr>
        <p:style>
          <a:lnRef idx="2">
            <a:schemeClr val="accent1"/>
          </a:lnRef>
          <a:fillRef idx="0">
            <a:srgbClr val="FFFFFF"/>
          </a:fillRef>
          <a:effectRef idx="0">
            <a:srgbClr val="FFFFFF"/>
          </a:effectRef>
          <a:fontRef idx="minor">
            <a:schemeClr val="tx1"/>
          </a:fontRef>
        </p:style>
      </p:cxnSp>
      <p:sp>
        <p:nvSpPr>
          <p:cNvPr id="30" name="文本框 29"/>
          <p:cNvSpPr txBox="1"/>
          <p:nvPr/>
        </p:nvSpPr>
        <p:spPr>
          <a:xfrm>
            <a:off x="8256905" y="5207000"/>
            <a:ext cx="1448435" cy="738505"/>
          </a:xfrm>
          <a:prstGeom prst="rect">
            <a:avLst/>
          </a:prstGeom>
          <a:noFill/>
          <a:ln w="31750" cmpd="sng">
            <a:solidFill>
              <a:srgbClr val="FF0000"/>
            </a:solidFill>
            <a:prstDash val="solid"/>
          </a:ln>
        </p:spPr>
        <p:txBody>
          <a:bodyPr wrap="square" rtlCol="0" anchor="ctr" anchorCtr="0">
            <a:noAutofit/>
          </a:bodyPr>
          <a:lstStyle/>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Feature Engineering</a:t>
            </a:r>
            <a:b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b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(MOI Tensor)</a:t>
            </a:r>
          </a:p>
        </p:txBody>
      </p:sp>
      <p:cxnSp>
        <p:nvCxnSpPr>
          <p:cNvPr id="32" name="直接箭头连接符 31"/>
          <p:cNvCxnSpPr>
            <a:stCxn id="21" idx="3"/>
            <a:endCxn id="23" idx="1"/>
          </p:cNvCxnSpPr>
          <p:nvPr/>
        </p:nvCxnSpPr>
        <p:spPr>
          <a:xfrm flipV="1">
            <a:off x="8173720" y="3663950"/>
            <a:ext cx="1601470" cy="8890"/>
          </a:xfrm>
          <a:prstGeom prst="straightConnector1">
            <a:avLst/>
          </a:prstGeom>
          <a:ln w="19050" cmpd="sng">
            <a:solidFill>
              <a:schemeClr val="accent1">
                <a:shade val="50000"/>
              </a:schemeClr>
            </a:solidFill>
            <a:prstDash val="solid"/>
            <a:tailEnd type="triangle"/>
          </a:ln>
        </p:spPr>
        <p:style>
          <a:lnRef idx="2">
            <a:schemeClr val="accent1"/>
          </a:lnRef>
          <a:fillRef idx="0">
            <a:srgbClr val="FFFFFF"/>
          </a:fillRef>
          <a:effectRef idx="0">
            <a:srgbClr val="FFFFFF"/>
          </a:effectRef>
          <a:fontRef idx="minor">
            <a:schemeClr val="tx1"/>
          </a:fontRef>
        </p:style>
      </p:cxnSp>
      <p:cxnSp>
        <p:nvCxnSpPr>
          <p:cNvPr id="38" name="直接箭头连接符 37"/>
          <p:cNvCxnSpPr>
            <a:stCxn id="30" idx="0"/>
            <a:endCxn id="22" idx="2"/>
          </p:cNvCxnSpPr>
          <p:nvPr/>
        </p:nvCxnSpPr>
        <p:spPr>
          <a:xfrm flipV="1">
            <a:off x="8981440" y="4855845"/>
            <a:ext cx="0" cy="351155"/>
          </a:xfrm>
          <a:prstGeom prst="straightConnector1">
            <a:avLst/>
          </a:prstGeom>
          <a:ln w="19050">
            <a:solidFill>
              <a:srgbClr val="174994"/>
            </a:solidFill>
            <a:tailEnd type="triangle"/>
          </a:ln>
        </p:spPr>
        <p:style>
          <a:lnRef idx="2">
            <a:schemeClr val="accent1"/>
          </a:lnRef>
          <a:fillRef idx="0">
            <a:srgbClr val="FFFFFF"/>
          </a:fillRef>
          <a:effectRef idx="0">
            <a:srgbClr val="FFFFFF"/>
          </a:effectRef>
          <a:fontRef idx="minor">
            <a:schemeClr val="tx1"/>
          </a:fontRef>
        </p:style>
      </p:cxnSp>
      <p:sp>
        <p:nvSpPr>
          <p:cNvPr id="39" name="椭圆 38"/>
          <p:cNvSpPr/>
          <p:nvPr/>
        </p:nvSpPr>
        <p:spPr>
          <a:xfrm>
            <a:off x="8524240" y="3267710"/>
            <a:ext cx="899795" cy="789940"/>
          </a:xfrm>
          <a:prstGeom prst="ellipse">
            <a:avLst/>
          </a:prstGeom>
          <a:solidFill>
            <a:schemeClr val="bg1"/>
          </a:solidFill>
          <a:ln w="19050">
            <a:solidFill>
              <a:srgbClr val="174994"/>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Microsoft YaHei" panose="020B0503020204020204" charset="-122"/>
              <a:ea typeface="Microsoft YaHei" panose="020B0503020204020204" charset="-122"/>
            </a:endParaRPr>
          </a:p>
        </p:txBody>
      </p:sp>
      <p:sp>
        <p:nvSpPr>
          <p:cNvPr id="40" name="文本框 39"/>
          <p:cNvSpPr txBox="1"/>
          <p:nvPr/>
        </p:nvSpPr>
        <p:spPr>
          <a:xfrm>
            <a:off x="8434070" y="3509010"/>
            <a:ext cx="1125220" cy="306705"/>
          </a:xfrm>
          <a:prstGeom prst="rect">
            <a:avLst/>
          </a:prstGeom>
          <a:noFill/>
        </p:spPr>
        <p:txBody>
          <a:bodyPr wrap="square" rtlCol="0">
            <a:spAutoFit/>
          </a:bodyPr>
          <a:lstStyle/>
          <a:p>
            <a:r>
              <a:rPr lang="en-US" altLang="zh-CN" sz="1400" b="1">
                <a:latin typeface="Microsoft YaHei" panose="020B0503020204020204" charset="-122"/>
                <a:ea typeface="Microsoft YaHei" panose="020B0503020204020204" charset="-122"/>
                <a:cs typeface="Times New Roman" panose="02020603050405020304" charset="0"/>
              </a:rPr>
              <a:t>Weighted</a:t>
            </a:r>
          </a:p>
        </p:txBody>
      </p:sp>
      <p:sp>
        <p:nvSpPr>
          <p:cNvPr id="44" name="文本框 43"/>
          <p:cNvSpPr txBox="1"/>
          <p:nvPr/>
        </p:nvSpPr>
        <p:spPr>
          <a:xfrm>
            <a:off x="7085965" y="2685415"/>
            <a:ext cx="4549775" cy="368300"/>
          </a:xfrm>
          <a:prstGeom prst="rect">
            <a:avLst/>
          </a:prstGeom>
          <a:noFill/>
        </p:spPr>
        <p:txBody>
          <a:bodyPr wrap="square" rtlCol="0">
            <a:spAutoFit/>
          </a:bodyPr>
          <a:lstStyle/>
          <a:p>
            <a:r>
              <a:rPr lang="en-US" altLang="zh-CN" b="1">
                <a:latin typeface="Microsoft YaHei" panose="020B0503020204020204" charset="-122"/>
                <a:ea typeface="Microsoft YaHei" panose="020B0503020204020204" charset="-122"/>
              </a:rPr>
              <a:t>Gated-Fusion Workflow Schematic</a:t>
            </a:r>
          </a:p>
        </p:txBody>
      </p:sp>
      <p:cxnSp>
        <p:nvCxnSpPr>
          <p:cNvPr id="9" name="直接连接符 8"/>
          <p:cNvCxnSpPr/>
          <p:nvPr/>
        </p:nvCxnSpPr>
        <p:spPr>
          <a:xfrm>
            <a:off x="6123305" y="2217420"/>
            <a:ext cx="28575" cy="4152900"/>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750" fill="hold">
                                          <p:stCondLst>
                                            <p:cond delay="0"/>
                                          </p:stCondLst>
                                        </p:cTn>
                                        <p:tgtEl>
                                          <p:spTgt spid="30"/>
                                        </p:tgtEl>
                                        <p:attrNameLst>
                                          <p:attrName>style.visibility</p:attrName>
                                        </p:attrNameLst>
                                      </p:cBhvr>
                                      <p:to>
                                        <p:strVal val="visible"/>
                                      </p:to>
                                    </p:set>
                                    <p:animEffect transition="in" filter="barn(inVertical)">
                                      <p:cBhvr>
                                        <p:cTn id="7" dur="750"/>
                                        <p:tgtEl>
                                          <p:spTgt spid="30"/>
                                        </p:tgtEl>
                                      </p:cBhvr>
                                    </p:animEffect>
                                  </p:childTnLst>
                                </p:cTn>
                              </p:par>
                              <p:par>
                                <p:cTn id="8" presetID="16" presetClass="entr" presetSubtype="21" fill="hold" nodeType="withEffect">
                                  <p:stCondLst>
                                    <p:cond delay="0"/>
                                  </p:stCondLst>
                                  <p:childTnLst>
                                    <p:set>
                                      <p:cBhvr>
                                        <p:cTn id="9" dur="750" fill="hold">
                                          <p:stCondLst>
                                            <p:cond delay="0"/>
                                          </p:stCondLst>
                                        </p:cTn>
                                        <p:tgtEl>
                                          <p:spTgt spid="38"/>
                                        </p:tgtEl>
                                        <p:attrNameLst>
                                          <p:attrName>style.visibility</p:attrName>
                                        </p:attrNameLst>
                                      </p:cBhvr>
                                      <p:to>
                                        <p:strVal val="visible"/>
                                      </p:to>
                                    </p:set>
                                    <p:animEffect transition="in" filter="barn(inVertical)">
                                      <p:cBhvr>
                                        <p:cTn id="10" dur="750"/>
                                        <p:tgtEl>
                                          <p:spTgt spid="38"/>
                                        </p:tgtEl>
                                      </p:cBhvr>
                                    </p:animEffect>
                                  </p:childTnLst>
                                </p:cTn>
                              </p:par>
                              <p:par>
                                <p:cTn id="11" presetID="16" presetClass="entr" presetSubtype="21" fill="hold" grpId="0" nodeType="withEffect">
                                  <p:stCondLst>
                                    <p:cond delay="0"/>
                                  </p:stCondLst>
                                  <p:childTnLst>
                                    <p:set>
                                      <p:cBhvr>
                                        <p:cTn id="12" dur="750" fill="hold">
                                          <p:stCondLst>
                                            <p:cond delay="0"/>
                                          </p:stCondLst>
                                        </p:cTn>
                                        <p:tgtEl>
                                          <p:spTgt spid="22"/>
                                        </p:tgtEl>
                                        <p:attrNameLst>
                                          <p:attrName>style.visibility</p:attrName>
                                        </p:attrNameLst>
                                      </p:cBhvr>
                                      <p:to>
                                        <p:strVal val="visible"/>
                                      </p:to>
                                    </p:set>
                                    <p:animEffect transition="in" filter="barn(inVertical)">
                                      <p:cBhvr>
                                        <p:cTn id="13" dur="750"/>
                                        <p:tgtEl>
                                          <p:spTgt spid="22"/>
                                        </p:tgtEl>
                                      </p:cBhvr>
                                    </p:animEffect>
                                  </p:childTnLst>
                                </p:cTn>
                              </p:par>
                              <p:par>
                                <p:cTn id="14" presetID="16" presetClass="entr" presetSubtype="21" fill="hold" grpId="0" nodeType="withEffect">
                                  <p:stCondLst>
                                    <p:cond delay="0"/>
                                  </p:stCondLst>
                                  <p:childTnLst>
                                    <p:set>
                                      <p:cBhvr>
                                        <p:cTn id="15" dur="750" fill="hold">
                                          <p:stCondLst>
                                            <p:cond delay="0"/>
                                          </p:stCondLst>
                                        </p:cTn>
                                        <p:tgtEl>
                                          <p:spTgt spid="40"/>
                                        </p:tgtEl>
                                        <p:attrNameLst>
                                          <p:attrName>style.visibility</p:attrName>
                                        </p:attrNameLst>
                                      </p:cBhvr>
                                      <p:to>
                                        <p:strVal val="visible"/>
                                      </p:to>
                                    </p:set>
                                    <p:animEffect transition="in" filter="barn(inVertical)">
                                      <p:cBhvr>
                                        <p:cTn id="16" dur="750"/>
                                        <p:tgtEl>
                                          <p:spTgt spid="40"/>
                                        </p:tgtEl>
                                      </p:cBhvr>
                                    </p:animEffect>
                                  </p:childTnLst>
                                </p:cTn>
                              </p:par>
                              <p:par>
                                <p:cTn id="17" presetID="16" presetClass="entr" presetSubtype="21" fill="hold" grpId="0" nodeType="withEffect">
                                  <p:stCondLst>
                                    <p:cond delay="0"/>
                                  </p:stCondLst>
                                  <p:childTnLst>
                                    <p:set>
                                      <p:cBhvr>
                                        <p:cTn id="18" dur="750" fill="hold">
                                          <p:stCondLst>
                                            <p:cond delay="0"/>
                                          </p:stCondLst>
                                        </p:cTn>
                                        <p:tgtEl>
                                          <p:spTgt spid="39"/>
                                        </p:tgtEl>
                                        <p:attrNameLst>
                                          <p:attrName>style.visibility</p:attrName>
                                        </p:attrNameLst>
                                      </p:cBhvr>
                                      <p:to>
                                        <p:strVal val="visible"/>
                                      </p:to>
                                    </p:set>
                                    <p:animEffect transition="in" filter="barn(inVertical)">
                                      <p:cBhvr>
                                        <p:cTn id="19" dur="750"/>
                                        <p:tgtEl>
                                          <p:spTgt spid="39"/>
                                        </p:tgtEl>
                                      </p:cBhvr>
                                    </p:animEffect>
                                  </p:childTnLst>
                                </p:cTn>
                              </p:par>
                              <p:par>
                                <p:cTn id="20" presetID="16" presetClass="entr" presetSubtype="21" fill="hold" nodeType="withEffect">
                                  <p:stCondLst>
                                    <p:cond delay="0"/>
                                  </p:stCondLst>
                                  <p:childTnLst>
                                    <p:set>
                                      <p:cBhvr>
                                        <p:cTn id="21" dur="750" fill="hold">
                                          <p:stCondLst>
                                            <p:cond delay="0"/>
                                          </p:stCondLst>
                                        </p:cTn>
                                        <p:tgtEl>
                                          <p:spTgt spid="29"/>
                                        </p:tgtEl>
                                        <p:attrNameLst>
                                          <p:attrName>style.visibility</p:attrName>
                                        </p:attrNameLst>
                                      </p:cBhvr>
                                      <p:to>
                                        <p:strVal val="visible"/>
                                      </p:to>
                                    </p:set>
                                    <p:animEffect transition="in" filter="barn(inVertical)">
                                      <p:cBhvr>
                                        <p:cTn id="22" dur="7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P spid="22" grpId="1" animBg="1"/>
      <p:bldP spid="30" grpId="0" bldLvl="0" animBg="1"/>
      <p:bldP spid="30" grpId="1" animBg="1"/>
      <p:bldP spid="39" grpId="0" bldLvl="0" animBg="1"/>
      <p:bldP spid="39" grpId="1" animBg="1"/>
      <p:bldP spid="40" grpId="0"/>
      <p:bldP spid="40"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直接箭头连接符 47"/>
          <p:cNvCxnSpPr>
            <a:stCxn id="33" idx="3"/>
            <a:endCxn id="40" idx="1"/>
          </p:cNvCxnSpPr>
          <p:nvPr/>
        </p:nvCxnSpPr>
        <p:spPr>
          <a:xfrm flipV="1">
            <a:off x="5459095" y="2697480"/>
            <a:ext cx="967740" cy="626745"/>
          </a:xfrm>
          <a:prstGeom prst="straightConnector1">
            <a:avLst/>
          </a:prstGeom>
          <a:ln w="19050" cmpd="sng">
            <a:solidFill>
              <a:schemeClr val="accent1">
                <a:shade val="50000"/>
              </a:schemeClr>
            </a:solidFill>
            <a:prstDash val="solid"/>
            <a:tailEnd type="triangle"/>
          </a:ln>
        </p:spPr>
        <p:style>
          <a:lnRef idx="2">
            <a:schemeClr val="accent1"/>
          </a:lnRef>
          <a:fillRef idx="0">
            <a:srgbClr val="FFFFFF"/>
          </a:fillRef>
          <a:effectRef idx="0">
            <a:srgbClr val="FFFFFF"/>
          </a:effectRef>
          <a:fontRef idx="minor">
            <a:schemeClr val="tx1"/>
          </a:fontRef>
        </p:style>
      </p:cxnSp>
      <p:sp>
        <p:nvSpPr>
          <p:cNvPr id="31" name="椭圆 30"/>
          <p:cNvSpPr/>
          <p:nvPr/>
        </p:nvSpPr>
        <p:spPr>
          <a:xfrm>
            <a:off x="5556250" y="2752090"/>
            <a:ext cx="676910" cy="528955"/>
          </a:xfrm>
          <a:prstGeom prst="ellipse">
            <a:avLst/>
          </a:prstGeom>
          <a:solidFill>
            <a:schemeClr val="bg1"/>
          </a:solidFill>
          <a:ln w="19050">
            <a:solidFill>
              <a:srgbClr val="174994"/>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Microsoft YaHei" panose="020B0503020204020204" charset="-122"/>
              <a:ea typeface="Microsoft YaHei" panose="020B0503020204020204" charset="-122"/>
            </a:endParaRPr>
          </a:p>
        </p:txBody>
      </p:sp>
      <p:sp>
        <p:nvSpPr>
          <p:cNvPr id="2" name="标题 1"/>
          <p:cNvSpPr>
            <a:spLocks noGrp="1"/>
          </p:cNvSpPr>
          <p:nvPr>
            <p:ph type="title"/>
          </p:nvPr>
        </p:nvSpPr>
        <p:spPr/>
        <p:txBody>
          <a:bodyPr>
            <a:normAutofit/>
          </a:bodyPr>
          <a:lstStyle/>
          <a:p>
            <a:r>
              <a:rPr lang="en-US" altLang="zh-CN">
                <a:sym typeface="+mn-ea"/>
              </a:rPr>
              <a:t>Method 3: Cross-Attention CNN </a:t>
            </a:r>
          </a:p>
        </p:txBody>
      </p:sp>
      <p:sp>
        <p:nvSpPr>
          <p:cNvPr id="3" name="灯片编号占位符 2"/>
          <p:cNvSpPr>
            <a:spLocks noGrp="1"/>
          </p:cNvSpPr>
          <p:nvPr>
            <p:ph type="sldNum" sz="quarter" idx="12"/>
          </p:nvPr>
        </p:nvSpPr>
        <p:spPr/>
        <p:txBody>
          <a:bodyPr/>
          <a:lstStyle/>
          <a:p>
            <a:fld id="{8141257D-CBAA-4317-A108-DEE4BE529EBA}" type="slidenum">
              <a:rPr lang="zh-CN" altLang="en-US" smtClean="0"/>
              <a:t>7</a:t>
            </a:fld>
            <a:endParaRPr lang="zh-CN" altLang="en-US" dirty="0"/>
          </a:p>
        </p:txBody>
      </p:sp>
      <p:sp>
        <p:nvSpPr>
          <p:cNvPr id="4" name="日期占位符 3"/>
          <p:cNvSpPr>
            <a:spLocks noGrp="1"/>
          </p:cNvSpPr>
          <p:nvPr>
            <p:ph type="dt" sz="half" idx="10"/>
          </p:nvPr>
        </p:nvSpPr>
        <p:spPr/>
        <p:txBody>
          <a:bodyPr/>
          <a:lstStyle/>
          <a:p>
            <a:fld id="{760FBDFE-C587-4B4C-A407-44438C67B59E}" type="datetime2">
              <a:rPr lang="en-US" altLang="en-US" smtClean="0">
                <a:latin typeface="Microsoft YaHei" panose="020B0503020204020204" charset="-122"/>
                <a:ea typeface="Microsoft YaHei" panose="020B0503020204020204" charset="-122"/>
              </a:rPr>
              <a:t>Sunday, April 12, 2026</a:t>
            </a:fld>
            <a:endParaRPr lang="en-US" altLang="en-US">
              <a:latin typeface="Microsoft YaHei" panose="020B0503020204020204" charset="-122"/>
              <a:ea typeface="Microsoft YaHei" panose="020B0503020204020204" charset="-122"/>
            </a:endParaRPr>
          </a:p>
        </p:txBody>
      </p:sp>
      <p:sp>
        <p:nvSpPr>
          <p:cNvPr id="40" name="文本框 39"/>
          <p:cNvSpPr txBox="1"/>
          <p:nvPr/>
        </p:nvSpPr>
        <p:spPr>
          <a:xfrm>
            <a:off x="6426835" y="2237105"/>
            <a:ext cx="1322705" cy="920115"/>
          </a:xfrm>
          <a:prstGeom prst="rect">
            <a:avLst/>
          </a:prstGeom>
          <a:noFill/>
          <a:ln w="19050" cmpd="sng">
            <a:solidFill>
              <a:schemeClr val="accent1">
                <a:lumMod val="75000"/>
              </a:schemeClr>
            </a:solidFill>
            <a:prstDash val="solid"/>
          </a:ln>
        </p:spPr>
        <p:txBody>
          <a:bodyPr wrap="square" rtlCol="0" anchor="ctr" anchorCtr="0">
            <a:noAutofit/>
          </a:bodyPr>
          <a:lstStyle/>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Attention Score Matrix</a:t>
            </a:r>
          </a:p>
        </p:txBody>
      </p:sp>
      <p:cxnSp>
        <p:nvCxnSpPr>
          <p:cNvPr id="41" name="直接箭头连接符 40"/>
          <p:cNvCxnSpPr>
            <a:stCxn id="32" idx="3"/>
            <a:endCxn id="40" idx="1"/>
          </p:cNvCxnSpPr>
          <p:nvPr/>
        </p:nvCxnSpPr>
        <p:spPr>
          <a:xfrm>
            <a:off x="5461000" y="2065020"/>
            <a:ext cx="965835" cy="632460"/>
          </a:xfrm>
          <a:prstGeom prst="straightConnector1">
            <a:avLst/>
          </a:prstGeom>
          <a:ln w="19050" cmpd="sng">
            <a:solidFill>
              <a:schemeClr val="accent1">
                <a:shade val="50000"/>
              </a:schemeClr>
            </a:solidFill>
            <a:prstDash val="solid"/>
            <a:tailEnd type="triangle"/>
          </a:ln>
        </p:spPr>
        <p:style>
          <a:lnRef idx="2">
            <a:schemeClr val="accent1"/>
          </a:lnRef>
          <a:fillRef idx="0">
            <a:srgbClr val="FFFFFF"/>
          </a:fillRef>
          <a:effectRef idx="0">
            <a:srgbClr val="FFFFFF"/>
          </a:effectRef>
          <a:fontRef idx="minor">
            <a:schemeClr val="tx1"/>
          </a:fontRef>
        </p:style>
      </p:cxnSp>
      <p:sp>
        <p:nvSpPr>
          <p:cNvPr id="45" name="文本框 44"/>
          <p:cNvSpPr txBox="1"/>
          <p:nvPr/>
        </p:nvSpPr>
        <p:spPr>
          <a:xfrm>
            <a:off x="7964805" y="2237105"/>
            <a:ext cx="1448435" cy="568960"/>
          </a:xfrm>
          <a:prstGeom prst="rect">
            <a:avLst/>
          </a:prstGeom>
          <a:noFill/>
          <a:ln w="19050" cmpd="sng">
            <a:solidFill>
              <a:schemeClr val="accent1">
                <a:lumMod val="75000"/>
              </a:schemeClr>
            </a:solidFill>
            <a:prstDash val="solid"/>
          </a:ln>
        </p:spPr>
        <p:txBody>
          <a:bodyPr wrap="square" rtlCol="0" anchor="ctr" anchorCtr="0">
            <a:noAutofit/>
          </a:bodyPr>
          <a:lstStyle/>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Context</a:t>
            </a:r>
          </a:p>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Vector</a:t>
            </a:r>
          </a:p>
        </p:txBody>
      </p:sp>
      <p:sp>
        <p:nvSpPr>
          <p:cNvPr id="46" name="文本框 45"/>
          <p:cNvSpPr txBox="1"/>
          <p:nvPr/>
        </p:nvSpPr>
        <p:spPr>
          <a:xfrm>
            <a:off x="9872980" y="2237105"/>
            <a:ext cx="1571625" cy="575945"/>
          </a:xfrm>
          <a:prstGeom prst="rect">
            <a:avLst/>
          </a:prstGeom>
          <a:noFill/>
          <a:ln w="31750" cmpd="sng">
            <a:solidFill>
              <a:srgbClr val="FF0000"/>
            </a:solidFill>
            <a:prstDash val="solid"/>
          </a:ln>
        </p:spPr>
        <p:txBody>
          <a:bodyPr wrap="square" rtlCol="0" anchor="ctr" anchorCtr="0">
            <a:noAutofit/>
          </a:bodyPr>
          <a:lstStyle/>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Classification</a:t>
            </a:r>
          </a:p>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(FCNN)</a:t>
            </a:r>
          </a:p>
        </p:txBody>
      </p:sp>
      <p:sp>
        <p:nvSpPr>
          <p:cNvPr id="26" name="文本框 25"/>
          <p:cNvSpPr txBox="1"/>
          <p:nvPr/>
        </p:nvSpPr>
        <p:spPr>
          <a:xfrm>
            <a:off x="34925" y="4507230"/>
            <a:ext cx="3237230" cy="1698625"/>
          </a:xfrm>
          <a:prstGeom prst="rect">
            <a:avLst/>
          </a:prstGeom>
          <a:noFill/>
          <a:ln w="12700" cmpd="sng">
            <a:noFill/>
            <a:prstDash val="dash"/>
          </a:ln>
        </p:spPr>
        <p:txBody>
          <a:bodyPr wrap="square" rtlCol="0">
            <a:noAutofit/>
          </a:bodyPr>
          <a:lstStyle/>
          <a:p>
            <a:pPr marL="285750" indent="-285750">
              <a:lnSpc>
                <a:spcPct val="110000"/>
              </a:lnSpc>
              <a:buFont typeface="Wingdings" panose="05000000000000000000" charset="0"/>
              <a:buChar char="n"/>
            </a:pPr>
            <a:endParaRPr lang="en-US" altLang="zh-CN" sz="1400" i="1">
              <a:latin typeface="Microsoft YaHei" panose="020B0503020204020204" charset="-122"/>
              <a:ea typeface="Microsoft YaHei" panose="020B0503020204020204" charset="-122"/>
              <a:cs typeface="Times New Roman" panose="02020603050405020304" charset="0"/>
            </a:endParaRPr>
          </a:p>
        </p:txBody>
      </p:sp>
      <p:sp>
        <p:nvSpPr>
          <p:cNvPr id="9" name="文本框 8"/>
          <p:cNvSpPr txBox="1"/>
          <p:nvPr/>
        </p:nvSpPr>
        <p:spPr>
          <a:xfrm>
            <a:off x="5507990" y="2778760"/>
            <a:ext cx="758190" cy="458470"/>
          </a:xfrm>
          <a:prstGeom prst="rect">
            <a:avLst/>
          </a:prstGeom>
          <a:noFill/>
        </p:spPr>
        <p:txBody>
          <a:bodyPr wrap="square" rtlCol="0">
            <a:noAutofit/>
          </a:bodyPr>
          <a:lstStyle/>
          <a:p>
            <a:pPr algn="ctr"/>
            <a:r>
              <a:rPr lang="en-US" altLang="zh-CN" sz="1400">
                <a:latin typeface="Microsoft YaHei" panose="020B0503020204020204" charset="-122"/>
                <a:ea typeface="Microsoft YaHei" panose="020B0503020204020204" charset="-122"/>
                <a:cs typeface="Times New Roman" panose="02020603050405020304" charset="0"/>
              </a:rPr>
              <a:t>Query</a:t>
            </a:r>
          </a:p>
          <a:p>
            <a:pPr algn="ctr"/>
            <a:r>
              <a:rPr lang="en-US" altLang="zh-CN" sz="1400">
                <a:latin typeface="Microsoft YaHei" panose="020B0503020204020204" charset="-122"/>
                <a:ea typeface="Microsoft YaHei" panose="020B0503020204020204" charset="-122"/>
                <a:cs typeface="Times New Roman" panose="02020603050405020304" charset="0"/>
              </a:rPr>
              <a:t>Vector</a:t>
            </a:r>
          </a:p>
        </p:txBody>
      </p:sp>
      <p:sp>
        <p:nvSpPr>
          <p:cNvPr id="10" name="椭圆 9"/>
          <p:cNvSpPr/>
          <p:nvPr/>
        </p:nvSpPr>
        <p:spPr>
          <a:xfrm>
            <a:off x="5541010" y="2009140"/>
            <a:ext cx="676910" cy="528955"/>
          </a:xfrm>
          <a:prstGeom prst="ellipse">
            <a:avLst/>
          </a:prstGeom>
          <a:solidFill>
            <a:schemeClr val="bg1"/>
          </a:solidFill>
          <a:ln w="19050">
            <a:solidFill>
              <a:srgbClr val="174994"/>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Microsoft YaHei" panose="020B0503020204020204" charset="-122"/>
              <a:ea typeface="Microsoft YaHei" panose="020B0503020204020204" charset="-122"/>
            </a:endParaRPr>
          </a:p>
        </p:txBody>
      </p:sp>
      <p:sp>
        <p:nvSpPr>
          <p:cNvPr id="11" name="文本框 10"/>
          <p:cNvSpPr txBox="1"/>
          <p:nvPr/>
        </p:nvSpPr>
        <p:spPr>
          <a:xfrm>
            <a:off x="5501005" y="2009140"/>
            <a:ext cx="731520" cy="463550"/>
          </a:xfrm>
          <a:prstGeom prst="rect">
            <a:avLst/>
          </a:prstGeom>
          <a:noFill/>
        </p:spPr>
        <p:txBody>
          <a:bodyPr wrap="square" rtlCol="0">
            <a:noAutofit/>
          </a:bodyPr>
          <a:lstStyle/>
          <a:p>
            <a:pPr algn="ctr"/>
            <a:r>
              <a:rPr lang="en-US" altLang="zh-CN" sz="1400">
                <a:latin typeface="Microsoft YaHei" panose="020B0503020204020204" charset="-122"/>
                <a:ea typeface="Microsoft YaHei" panose="020B0503020204020204" charset="-122"/>
                <a:cs typeface="Times New Roman" panose="02020603050405020304" charset="0"/>
              </a:rPr>
              <a:t>Key</a:t>
            </a:r>
          </a:p>
          <a:p>
            <a:pPr algn="ctr"/>
            <a:r>
              <a:rPr lang="en-US" altLang="zh-CN" sz="1400">
                <a:latin typeface="Microsoft YaHei" panose="020B0503020204020204" charset="-122"/>
                <a:ea typeface="Microsoft YaHei" panose="020B0503020204020204" charset="-122"/>
                <a:cs typeface="Times New Roman" panose="02020603050405020304" charset="0"/>
              </a:rPr>
              <a:t>Vector</a:t>
            </a:r>
          </a:p>
        </p:txBody>
      </p:sp>
      <p:cxnSp>
        <p:nvCxnSpPr>
          <p:cNvPr id="14" name="肘形连接符 13"/>
          <p:cNvCxnSpPr>
            <a:stCxn id="32" idx="0"/>
            <a:endCxn id="45" idx="0"/>
          </p:cNvCxnSpPr>
          <p:nvPr/>
        </p:nvCxnSpPr>
        <p:spPr>
          <a:xfrm rot="16200000" flipH="1">
            <a:off x="6432550" y="-19685"/>
            <a:ext cx="560705" cy="3952240"/>
          </a:xfrm>
          <a:prstGeom prst="bentConnector3">
            <a:avLst>
              <a:gd name="adj1" fmla="val -42525"/>
            </a:avLst>
          </a:prstGeom>
          <a:ln w="19050">
            <a:solidFill>
              <a:srgbClr val="174994"/>
            </a:solidFill>
            <a:tailEnd type="triangle"/>
          </a:ln>
        </p:spPr>
        <p:style>
          <a:lnRef idx="2">
            <a:schemeClr val="accent1"/>
          </a:lnRef>
          <a:fillRef idx="0">
            <a:srgbClr val="FFFFFF"/>
          </a:fillRef>
          <a:effectRef idx="0">
            <a:srgbClr val="FFFFFF"/>
          </a:effectRef>
          <a:fontRef idx="minor">
            <a:schemeClr val="tx1"/>
          </a:fontRef>
        </p:style>
      </p:cxnSp>
      <p:grpSp>
        <p:nvGrpSpPr>
          <p:cNvPr id="18" name="组合 17"/>
          <p:cNvGrpSpPr/>
          <p:nvPr/>
        </p:nvGrpSpPr>
        <p:grpSpPr>
          <a:xfrm>
            <a:off x="5445760" y="1231900"/>
            <a:ext cx="827405" cy="515620"/>
            <a:chOff x="5625" y="2195"/>
            <a:chExt cx="1122" cy="812"/>
          </a:xfrm>
        </p:grpSpPr>
        <p:sp>
          <p:nvSpPr>
            <p:cNvPr id="15" name="椭圆 14"/>
            <p:cNvSpPr/>
            <p:nvPr/>
          </p:nvSpPr>
          <p:spPr>
            <a:xfrm>
              <a:off x="5745" y="2195"/>
              <a:ext cx="905" cy="812"/>
            </a:xfrm>
            <a:prstGeom prst="ellipse">
              <a:avLst/>
            </a:prstGeom>
            <a:solidFill>
              <a:schemeClr val="bg1"/>
            </a:solidFill>
            <a:ln w="19050">
              <a:solidFill>
                <a:srgbClr val="174994"/>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Microsoft YaHei" panose="020B0503020204020204" charset="-122"/>
                <a:ea typeface="Microsoft YaHei" panose="020B0503020204020204" charset="-122"/>
              </a:endParaRPr>
            </a:p>
          </p:txBody>
        </p:sp>
        <p:sp>
          <p:nvSpPr>
            <p:cNvPr id="17" name="文本框 16"/>
            <p:cNvSpPr txBox="1"/>
            <p:nvPr/>
          </p:nvSpPr>
          <p:spPr>
            <a:xfrm>
              <a:off x="5625" y="2196"/>
              <a:ext cx="1123" cy="710"/>
            </a:xfrm>
            <a:prstGeom prst="rect">
              <a:avLst/>
            </a:prstGeom>
            <a:noFill/>
          </p:spPr>
          <p:txBody>
            <a:bodyPr wrap="square" rtlCol="0">
              <a:noAutofit/>
            </a:bodyPr>
            <a:lstStyle/>
            <a:p>
              <a:pPr algn="ctr"/>
              <a:r>
                <a:rPr lang="en-US" altLang="zh-CN" sz="1400">
                  <a:latin typeface="Microsoft YaHei" panose="020B0503020204020204" charset="-122"/>
                  <a:ea typeface="Microsoft YaHei" panose="020B0503020204020204" charset="-122"/>
                  <a:cs typeface="Times New Roman" panose="02020603050405020304" charset="0"/>
                </a:rPr>
                <a:t>Value</a:t>
              </a:r>
            </a:p>
            <a:p>
              <a:pPr algn="ctr"/>
              <a:r>
                <a:rPr lang="en-US" altLang="zh-CN" sz="1400">
                  <a:latin typeface="Microsoft YaHei" panose="020B0503020204020204" charset="-122"/>
                  <a:ea typeface="Microsoft YaHei" panose="020B0503020204020204" charset="-122"/>
                  <a:cs typeface="Times New Roman" panose="02020603050405020304" charset="0"/>
                </a:rPr>
                <a:t>Vector</a:t>
              </a:r>
            </a:p>
          </p:txBody>
        </p:sp>
      </p:grpSp>
      <p:cxnSp>
        <p:nvCxnSpPr>
          <p:cNvPr id="19" name="直接箭头连接符 18"/>
          <p:cNvCxnSpPr>
            <a:stCxn id="40" idx="0"/>
          </p:cNvCxnSpPr>
          <p:nvPr/>
        </p:nvCxnSpPr>
        <p:spPr>
          <a:xfrm flipV="1">
            <a:off x="7088505" y="1822450"/>
            <a:ext cx="1905" cy="414655"/>
          </a:xfrm>
          <a:prstGeom prst="straightConnector1">
            <a:avLst/>
          </a:prstGeom>
          <a:ln w="19050">
            <a:solidFill>
              <a:srgbClr val="174994"/>
            </a:solidFill>
            <a:tailEnd type="triangle"/>
          </a:ln>
        </p:spPr>
        <p:style>
          <a:lnRef idx="2">
            <a:schemeClr val="accent1"/>
          </a:lnRef>
          <a:fillRef idx="0">
            <a:srgbClr val="FFFFFF"/>
          </a:fillRef>
          <a:effectRef idx="0">
            <a:srgbClr val="FFFFFF"/>
          </a:effectRef>
          <a:fontRef idx="minor">
            <a:schemeClr val="tx1"/>
          </a:fontRef>
        </p:style>
      </p:cxnSp>
      <p:cxnSp>
        <p:nvCxnSpPr>
          <p:cNvPr id="20" name="肘形连接符 19"/>
          <p:cNvCxnSpPr>
            <a:stCxn id="33" idx="3"/>
            <a:endCxn id="45" idx="2"/>
          </p:cNvCxnSpPr>
          <p:nvPr/>
        </p:nvCxnSpPr>
        <p:spPr>
          <a:xfrm flipV="1">
            <a:off x="5459095" y="2806065"/>
            <a:ext cx="3230245" cy="518160"/>
          </a:xfrm>
          <a:prstGeom prst="bentConnector2">
            <a:avLst/>
          </a:prstGeom>
          <a:ln w="19050">
            <a:solidFill>
              <a:srgbClr val="2E54A1"/>
            </a:solidFill>
            <a:tailEnd type="triangle"/>
          </a:ln>
        </p:spPr>
        <p:style>
          <a:lnRef idx="2">
            <a:schemeClr val="accent1"/>
          </a:lnRef>
          <a:fillRef idx="0">
            <a:srgbClr val="FFFFFF"/>
          </a:fillRef>
          <a:effectRef idx="0">
            <a:srgbClr val="FFFFFF"/>
          </a:effectRef>
          <a:fontRef idx="minor">
            <a:schemeClr val="tx1"/>
          </a:fontRef>
        </p:style>
      </p:cxnSp>
      <p:cxnSp>
        <p:nvCxnSpPr>
          <p:cNvPr id="21" name="直接箭头连接符 20"/>
          <p:cNvCxnSpPr>
            <a:stCxn id="45" idx="3"/>
            <a:endCxn id="46" idx="1"/>
          </p:cNvCxnSpPr>
          <p:nvPr/>
        </p:nvCxnSpPr>
        <p:spPr>
          <a:xfrm>
            <a:off x="9413240" y="2521585"/>
            <a:ext cx="459740" cy="3810"/>
          </a:xfrm>
          <a:prstGeom prst="straightConnector1">
            <a:avLst/>
          </a:prstGeom>
          <a:ln w="19050">
            <a:solidFill>
              <a:srgbClr val="174994"/>
            </a:solidFill>
            <a:tailEnd type="triangle"/>
          </a:ln>
        </p:spPr>
        <p:style>
          <a:lnRef idx="2">
            <a:schemeClr val="accent1"/>
          </a:lnRef>
          <a:fillRef idx="0">
            <a:srgbClr val="FFFFFF"/>
          </a:fillRef>
          <a:effectRef idx="0">
            <a:srgbClr val="FFFFFF"/>
          </a:effectRef>
          <a:fontRef idx="minor">
            <a:schemeClr val="tx1"/>
          </a:fontRef>
        </p:style>
      </p:cxnSp>
      <p:sp>
        <p:nvSpPr>
          <p:cNvPr id="22" name="矩形 21"/>
          <p:cNvSpPr/>
          <p:nvPr/>
        </p:nvSpPr>
        <p:spPr>
          <a:xfrm>
            <a:off x="3704590" y="1154430"/>
            <a:ext cx="4146550" cy="2679700"/>
          </a:xfrm>
          <a:prstGeom prst="rect">
            <a:avLst/>
          </a:prstGeom>
          <a:noFill/>
          <a:ln w="22225">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Microsoft YaHei" panose="020B0503020204020204" charset="-122"/>
              <a:ea typeface="Microsoft YaHei" panose="020B0503020204020204" charset="-122"/>
            </a:endParaRPr>
          </a:p>
        </p:txBody>
      </p:sp>
      <p:sp>
        <p:nvSpPr>
          <p:cNvPr id="23" name="文本框 22"/>
          <p:cNvSpPr txBox="1"/>
          <p:nvPr/>
        </p:nvSpPr>
        <p:spPr>
          <a:xfrm>
            <a:off x="5571490" y="3431540"/>
            <a:ext cx="2393315" cy="368300"/>
          </a:xfrm>
          <a:prstGeom prst="rect">
            <a:avLst/>
          </a:prstGeom>
          <a:noFill/>
        </p:spPr>
        <p:txBody>
          <a:bodyPr wrap="square" rtlCol="0">
            <a:spAutoFit/>
          </a:bodyPr>
          <a:lstStyle/>
          <a:p>
            <a:r>
              <a:rPr lang="en-US" altLang="zh-CN" b="1">
                <a:solidFill>
                  <a:srgbClr val="FF0000"/>
                </a:solidFill>
                <a:latin typeface="Microsoft YaHei" panose="020B0503020204020204" charset="-122"/>
                <a:ea typeface="Microsoft YaHei" panose="020B0503020204020204" charset="-122"/>
                <a:cs typeface="Times New Roman" panose="02020603050405020304" charset="0"/>
              </a:rPr>
              <a:t>Cross-Attention</a:t>
            </a:r>
          </a:p>
        </p:txBody>
      </p:sp>
      <p:cxnSp>
        <p:nvCxnSpPr>
          <p:cNvPr id="24" name="直接连接符 23"/>
          <p:cNvCxnSpPr/>
          <p:nvPr/>
        </p:nvCxnSpPr>
        <p:spPr>
          <a:xfrm flipH="1">
            <a:off x="46990" y="3939540"/>
            <a:ext cx="12109450" cy="38100"/>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sp>
        <p:nvSpPr>
          <p:cNvPr id="25" name="文本框 24"/>
          <p:cNvSpPr txBox="1"/>
          <p:nvPr/>
        </p:nvSpPr>
        <p:spPr>
          <a:xfrm>
            <a:off x="297180" y="1752600"/>
            <a:ext cx="2974975" cy="1060450"/>
          </a:xfrm>
          <a:prstGeom prst="rect">
            <a:avLst/>
          </a:prstGeom>
          <a:noFill/>
        </p:spPr>
        <p:txBody>
          <a:bodyPr wrap="square" rtlCol="0">
            <a:noAutofit/>
          </a:bodyPr>
          <a:lstStyle/>
          <a:p>
            <a:pPr algn="ctr"/>
            <a:r>
              <a:rPr lang="en-US" altLang="zh-CN" sz="2400" b="1">
                <a:latin typeface="Microsoft YaHei" panose="020B0503020204020204" charset="-122"/>
                <a:ea typeface="Microsoft YaHei" panose="020B0503020204020204" charset="-122"/>
              </a:rPr>
              <a:t>Cross-Attention</a:t>
            </a:r>
          </a:p>
          <a:p>
            <a:pPr algn="ctr"/>
            <a:r>
              <a:rPr lang="en-US" altLang="zh-CN" sz="2400" b="1">
                <a:latin typeface="Microsoft YaHei" panose="020B0503020204020204" charset="-122"/>
                <a:ea typeface="Microsoft YaHei" panose="020B0503020204020204" charset="-122"/>
              </a:rPr>
              <a:t>Workflow Schematic</a:t>
            </a:r>
          </a:p>
        </p:txBody>
      </p:sp>
      <p:grpSp>
        <p:nvGrpSpPr>
          <p:cNvPr id="28" name="组合 27"/>
          <p:cNvGrpSpPr/>
          <p:nvPr/>
        </p:nvGrpSpPr>
        <p:grpSpPr>
          <a:xfrm>
            <a:off x="6342380" y="1194435"/>
            <a:ext cx="1445895" cy="628015"/>
            <a:chOff x="4606" y="2107"/>
            <a:chExt cx="2152" cy="989"/>
          </a:xfrm>
        </p:grpSpPr>
        <p:sp>
          <p:nvSpPr>
            <p:cNvPr id="12" name="圆角矩形 11"/>
            <p:cNvSpPr/>
            <p:nvPr/>
          </p:nvSpPr>
          <p:spPr>
            <a:xfrm>
              <a:off x="4794" y="2107"/>
              <a:ext cx="1794" cy="989"/>
            </a:xfrm>
            <a:prstGeom prst="roundRect">
              <a:avLst/>
            </a:prstGeom>
            <a:solidFill>
              <a:schemeClr val="bg1"/>
            </a:solidFill>
            <a:ln w="19050">
              <a:solidFill>
                <a:srgbClr val="174994"/>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Microsoft YaHei" panose="020B0503020204020204" charset="-122"/>
                <a:ea typeface="Microsoft YaHei" panose="020B0503020204020204" charset="-122"/>
              </a:endParaRPr>
            </a:p>
          </p:txBody>
        </p:sp>
        <p:sp>
          <p:nvSpPr>
            <p:cNvPr id="13" name="文本框 12"/>
            <p:cNvSpPr txBox="1"/>
            <p:nvPr/>
          </p:nvSpPr>
          <p:spPr>
            <a:xfrm>
              <a:off x="4606" y="2156"/>
              <a:ext cx="2152" cy="822"/>
            </a:xfrm>
            <a:prstGeom prst="rect">
              <a:avLst/>
            </a:prstGeom>
            <a:noFill/>
          </p:spPr>
          <p:txBody>
            <a:bodyPr wrap="square" rtlCol="0">
              <a:spAutoFit/>
            </a:bodyPr>
            <a:lstStyle/>
            <a:p>
              <a:pPr algn="ctr"/>
              <a:r>
                <a:rPr lang="en-US" altLang="zh-CN" sz="1400">
                  <a:latin typeface="Microsoft YaHei" panose="020B0503020204020204" charset="-122"/>
                  <a:ea typeface="Microsoft YaHei" panose="020B0503020204020204" charset="-122"/>
                  <a:cs typeface="Times New Roman" panose="02020603050405020304" charset="0"/>
                </a:rPr>
                <a:t>Matrix Multiplication</a:t>
              </a:r>
            </a:p>
          </p:txBody>
        </p:sp>
      </p:grpSp>
      <p:sp>
        <p:nvSpPr>
          <p:cNvPr id="30" name="文本框 29"/>
          <p:cNvSpPr txBox="1"/>
          <p:nvPr/>
        </p:nvSpPr>
        <p:spPr>
          <a:xfrm>
            <a:off x="116840" y="4548505"/>
            <a:ext cx="3155315" cy="1198880"/>
          </a:xfrm>
          <a:prstGeom prst="rect">
            <a:avLst/>
          </a:prstGeom>
          <a:noFill/>
        </p:spPr>
        <p:txBody>
          <a:bodyPr wrap="square" rtlCol="0">
            <a:spAutoFit/>
          </a:bodyPr>
          <a:lstStyle/>
          <a:p>
            <a:pPr algn="ctr"/>
            <a:r>
              <a:rPr lang="en-US" altLang="zh-CN" sz="2400" b="1">
                <a:latin typeface="Microsoft YaHei" panose="020B0503020204020204" charset="-122"/>
                <a:ea typeface="Microsoft YaHei" panose="020B0503020204020204" charset="-122"/>
              </a:rPr>
              <a:t>Interpretability of Attention Mechanism</a:t>
            </a:r>
          </a:p>
        </p:txBody>
      </p:sp>
      <p:sp>
        <p:nvSpPr>
          <p:cNvPr id="32" name="文本框 31"/>
          <p:cNvSpPr txBox="1"/>
          <p:nvPr/>
        </p:nvSpPr>
        <p:spPr>
          <a:xfrm>
            <a:off x="4012565" y="1676400"/>
            <a:ext cx="1448435" cy="776605"/>
          </a:xfrm>
          <a:prstGeom prst="rect">
            <a:avLst/>
          </a:prstGeom>
          <a:noFill/>
          <a:ln w="31750" cmpd="sng">
            <a:solidFill>
              <a:srgbClr val="FF0000"/>
            </a:solidFill>
            <a:prstDash val="solid"/>
          </a:ln>
        </p:spPr>
        <p:txBody>
          <a:bodyPr wrap="square" rtlCol="0" anchor="ctr" anchorCtr="0">
            <a:noAutofit/>
          </a:bodyPr>
          <a:lstStyle/>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Feature Extraction</a:t>
            </a:r>
          </a:p>
        </p:txBody>
      </p:sp>
      <p:sp>
        <p:nvSpPr>
          <p:cNvPr id="33" name="文本框 32"/>
          <p:cNvSpPr txBox="1"/>
          <p:nvPr/>
        </p:nvSpPr>
        <p:spPr>
          <a:xfrm>
            <a:off x="4010660" y="2954655"/>
            <a:ext cx="1448435" cy="738505"/>
          </a:xfrm>
          <a:prstGeom prst="rect">
            <a:avLst/>
          </a:prstGeom>
          <a:noFill/>
          <a:ln w="31750" cmpd="sng">
            <a:solidFill>
              <a:srgbClr val="FF0000"/>
            </a:solidFill>
            <a:prstDash val="solid"/>
          </a:ln>
        </p:spPr>
        <p:txBody>
          <a:bodyPr wrap="square" rtlCol="0" anchor="ctr" anchorCtr="0">
            <a:noAutofit/>
          </a:bodyPr>
          <a:lstStyle/>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Feature Engineering</a:t>
            </a:r>
            <a:b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b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(MOI Tensor)</a:t>
            </a:r>
          </a:p>
        </p:txBody>
      </p:sp>
      <p:grpSp>
        <p:nvGrpSpPr>
          <p:cNvPr id="43" name="组合 42"/>
          <p:cNvGrpSpPr/>
          <p:nvPr/>
        </p:nvGrpSpPr>
        <p:grpSpPr>
          <a:xfrm>
            <a:off x="3488055" y="3972560"/>
            <a:ext cx="8304530" cy="2435860"/>
            <a:chOff x="5493" y="6256"/>
            <a:chExt cx="13078" cy="3836"/>
          </a:xfrm>
        </p:grpSpPr>
        <p:grpSp>
          <p:nvGrpSpPr>
            <p:cNvPr id="36" name="组合 35"/>
            <p:cNvGrpSpPr/>
            <p:nvPr/>
          </p:nvGrpSpPr>
          <p:grpSpPr>
            <a:xfrm>
              <a:off x="5493" y="6256"/>
              <a:ext cx="13078" cy="3836"/>
              <a:chOff x="5493" y="6206"/>
              <a:chExt cx="13078" cy="3836"/>
            </a:xfrm>
          </p:grpSpPr>
          <p:grpSp>
            <p:nvGrpSpPr>
              <p:cNvPr id="6" name="组合 5"/>
              <p:cNvGrpSpPr/>
              <p:nvPr/>
            </p:nvGrpSpPr>
            <p:grpSpPr>
              <a:xfrm>
                <a:off x="5493" y="6206"/>
                <a:ext cx="13079" cy="3837"/>
                <a:chOff x="563" y="5886"/>
                <a:chExt cx="12539" cy="3580"/>
              </a:xfrm>
            </p:grpSpPr>
            <p:pic>
              <p:nvPicPr>
                <p:cNvPr id="16" name="图片 15"/>
                <p:cNvPicPr>
                  <a:picLocks noChangeAspect="1"/>
                </p:cNvPicPr>
                <p:nvPr/>
              </p:nvPicPr>
              <p:blipFill>
                <a:blip r:embed="rId4"/>
                <a:srcRect t="6999" b="8882"/>
                <a:stretch>
                  <a:fillRect/>
                </a:stretch>
              </p:blipFill>
              <p:spPr>
                <a:xfrm>
                  <a:off x="563" y="5886"/>
                  <a:ext cx="12539" cy="3580"/>
                </a:xfrm>
                <a:prstGeom prst="rect">
                  <a:avLst/>
                </a:prstGeom>
              </p:spPr>
            </p:pic>
            <p:sp>
              <p:nvSpPr>
                <p:cNvPr id="5" name="文本框 4"/>
                <p:cNvSpPr txBox="1"/>
                <p:nvPr/>
              </p:nvSpPr>
              <p:spPr>
                <a:xfrm>
                  <a:off x="563" y="9153"/>
                  <a:ext cx="1297" cy="313"/>
                </a:xfrm>
                <a:prstGeom prst="rect">
                  <a:avLst/>
                </a:prstGeom>
                <a:solidFill>
                  <a:schemeClr val="bg1"/>
                </a:solidFill>
              </p:spPr>
              <p:txBody>
                <a:bodyPr wrap="square" rtlCol="0">
                  <a:noAutofit/>
                </a:bodyPr>
                <a:lstStyle/>
                <a:p>
                  <a:endParaRPr lang="zh-CN" altLang="en-US">
                    <a:latin typeface="Microsoft YaHei" panose="020B0503020204020204" charset="-122"/>
                    <a:ea typeface="Microsoft YaHei" panose="020B0503020204020204" charset="-122"/>
                  </a:endParaRPr>
                </a:p>
              </p:txBody>
            </p:sp>
          </p:grpSp>
          <p:sp>
            <p:nvSpPr>
              <p:cNvPr id="35" name="文本框 34"/>
              <p:cNvSpPr txBox="1"/>
              <p:nvPr/>
            </p:nvSpPr>
            <p:spPr>
              <a:xfrm>
                <a:off x="12093" y="8574"/>
                <a:ext cx="990" cy="483"/>
              </a:xfrm>
              <a:prstGeom prst="rect">
                <a:avLst/>
              </a:prstGeom>
              <a:solidFill>
                <a:srgbClr val="FDE724"/>
              </a:solidFill>
            </p:spPr>
            <p:txBody>
              <a:bodyPr wrap="square" rtlCol="0">
                <a:spAutoFit/>
              </a:bodyPr>
              <a:lstStyle/>
              <a:p>
                <a:r>
                  <a:rPr lang="en-US" altLang="zh-CN" sz="1400" b="1">
                    <a:solidFill>
                      <a:srgbClr val="FF0000"/>
                    </a:solidFill>
                    <a:latin typeface="Times New Roman" panose="02020603050405020304" charset="0"/>
                    <a:ea typeface="Microsoft YaHei" panose="020B0503020204020204" charset="-122"/>
                    <a:cs typeface="Times New Roman" panose="02020603050405020304" charset="0"/>
                  </a:rPr>
                  <a:t>0.433</a:t>
                </a:r>
              </a:p>
            </p:txBody>
          </p:sp>
        </p:grpSp>
        <p:sp>
          <p:nvSpPr>
            <p:cNvPr id="37" name="文本框 36"/>
            <p:cNvSpPr txBox="1"/>
            <p:nvPr/>
          </p:nvSpPr>
          <p:spPr>
            <a:xfrm>
              <a:off x="12093" y="7163"/>
              <a:ext cx="990" cy="483"/>
            </a:xfrm>
            <a:prstGeom prst="rect">
              <a:avLst/>
            </a:prstGeom>
            <a:solidFill>
              <a:srgbClr val="37588C"/>
            </a:solidFill>
          </p:spPr>
          <p:txBody>
            <a:bodyPr wrap="square" rtlCol="0">
              <a:spAutoFit/>
            </a:bodyPr>
            <a:lstStyle/>
            <a:p>
              <a:r>
                <a:rPr lang="en-US" altLang="zh-CN" sz="1400" b="1">
                  <a:solidFill>
                    <a:schemeClr val="bg1"/>
                  </a:solidFill>
                  <a:latin typeface="Times New Roman" panose="02020603050405020304" charset="0"/>
                  <a:ea typeface="Microsoft YaHei" panose="020B0503020204020204" charset="-122"/>
                  <a:cs typeface="Times New Roman" panose="02020603050405020304" charset="0"/>
                </a:rPr>
                <a:t>0.200</a:t>
              </a:r>
            </a:p>
          </p:txBody>
        </p:sp>
        <p:sp>
          <p:nvSpPr>
            <p:cNvPr id="38" name="文本框 37"/>
            <p:cNvSpPr txBox="1"/>
            <p:nvPr/>
          </p:nvSpPr>
          <p:spPr>
            <a:xfrm>
              <a:off x="10773" y="7163"/>
              <a:ext cx="990" cy="483"/>
            </a:xfrm>
            <a:prstGeom prst="rect">
              <a:avLst/>
            </a:prstGeom>
            <a:solidFill>
              <a:srgbClr val="440154"/>
            </a:solidFill>
          </p:spPr>
          <p:txBody>
            <a:bodyPr wrap="square" rtlCol="0">
              <a:spAutoFit/>
            </a:bodyPr>
            <a:lstStyle/>
            <a:p>
              <a:r>
                <a:rPr lang="en-US" altLang="zh-CN" sz="1400" b="1">
                  <a:solidFill>
                    <a:schemeClr val="bg1"/>
                  </a:solidFill>
                  <a:latin typeface="Times New Roman" panose="02020603050405020304" charset="0"/>
                  <a:ea typeface="Microsoft YaHei" panose="020B0503020204020204" charset="-122"/>
                  <a:cs typeface="Times New Roman" panose="02020603050405020304" charset="0"/>
                </a:rPr>
                <a:t>0.113</a:t>
              </a:r>
            </a:p>
          </p:txBody>
        </p:sp>
        <p:sp>
          <p:nvSpPr>
            <p:cNvPr id="42" name="文本框 41"/>
            <p:cNvSpPr txBox="1"/>
            <p:nvPr/>
          </p:nvSpPr>
          <p:spPr>
            <a:xfrm>
              <a:off x="10773" y="8623"/>
              <a:ext cx="990" cy="483"/>
            </a:xfrm>
            <a:prstGeom prst="rect">
              <a:avLst/>
            </a:prstGeom>
            <a:solidFill>
              <a:srgbClr val="26808E"/>
            </a:solidFill>
          </p:spPr>
          <p:txBody>
            <a:bodyPr wrap="square" rtlCol="0">
              <a:spAutoFit/>
            </a:bodyPr>
            <a:lstStyle/>
            <a:p>
              <a:r>
                <a:rPr lang="en-US" altLang="zh-CN" sz="1400" b="1">
                  <a:solidFill>
                    <a:schemeClr val="bg1"/>
                  </a:solidFill>
                  <a:latin typeface="Times New Roman" panose="02020603050405020304" charset="0"/>
                  <a:ea typeface="Microsoft YaHei" panose="020B0503020204020204" charset="-122"/>
                  <a:cs typeface="Times New Roman" panose="02020603050405020304" charset="0"/>
                </a:rPr>
                <a:t>0.254</a:t>
              </a:r>
            </a:p>
          </p:txBody>
        </p:sp>
      </p:grpSp>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down)">
                                      <p:cBhvr>
                                        <p:cTn id="7" dur="500"/>
                                        <p:tgtEl>
                                          <p:spTgt spid="4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par>
                                <p:cTn id="17" presetID="22" presetClass="entr" presetSubtype="4"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wipe(down)">
                                      <p:cBhvr>
                                        <p:cTn id="19" dur="500"/>
                                        <p:tgtEl>
                                          <p:spTgt spid="48"/>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wipe(down)">
                                      <p:cBhvr>
                                        <p:cTn id="22" dur="500"/>
                                        <p:tgtEl>
                                          <p:spTgt spid="40"/>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wipe(down)">
                                      <p:cBhvr>
                                        <p:cTn id="25" dur="500"/>
                                        <p:tgtEl>
                                          <p:spTgt spid="3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down)">
                                      <p:cBhvr>
                                        <p:cTn id="30" dur="500"/>
                                        <p:tgtEl>
                                          <p:spTgt spid="14"/>
                                        </p:tgtEl>
                                      </p:cBhvr>
                                    </p:animEffect>
                                  </p:childTnLst>
                                </p:cTn>
                              </p:par>
                              <p:par>
                                <p:cTn id="31" presetID="22" presetClass="entr" presetSubtype="4"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down)">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down)">
                                      <p:cBhvr>
                                        <p:cTn id="38" dur="500"/>
                                        <p:tgtEl>
                                          <p:spTgt spid="19"/>
                                        </p:tgtEl>
                                      </p:cBhvr>
                                    </p:animEffect>
                                  </p:childTnLst>
                                </p:cTn>
                              </p:par>
                              <p:par>
                                <p:cTn id="39" presetID="22" presetClass="entr" presetSubtype="4"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wipe(down)">
                                      <p:cBhvr>
                                        <p:cTn id="41" dur="500"/>
                                        <p:tgtEl>
                                          <p:spTgt spid="2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45"/>
                                        </p:tgtEl>
                                        <p:attrNameLst>
                                          <p:attrName>style.visibility</p:attrName>
                                        </p:attrNameLst>
                                      </p:cBhvr>
                                      <p:to>
                                        <p:strVal val="visible"/>
                                      </p:to>
                                    </p:set>
                                    <p:animEffect transition="in" filter="wipe(down)">
                                      <p:cBhvr>
                                        <p:cTn id="46" dur="500"/>
                                        <p:tgtEl>
                                          <p:spTgt spid="45"/>
                                        </p:tgtEl>
                                      </p:cBhvr>
                                    </p:animEffect>
                                  </p:childTnLst>
                                </p:cTn>
                              </p:par>
                              <p:par>
                                <p:cTn id="47" presetID="22" presetClass="entr" presetSubtype="4"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wipe(down)">
                                      <p:cBhvr>
                                        <p:cTn id="49" dur="500"/>
                                        <p:tgtEl>
                                          <p:spTgt spid="20"/>
                                        </p:tgtEl>
                                      </p:cBhvr>
                                    </p:animEffect>
                                  </p:childTnLst>
                                </p:cTn>
                              </p:par>
                              <p:par>
                                <p:cTn id="50" presetID="22" presetClass="entr" presetSubtype="4"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wipe(down)">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wipe(down)">
                                      <p:cBhvr>
                                        <p:cTn id="57" dur="500"/>
                                        <p:tgtEl>
                                          <p:spTgt spid="22"/>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wipe(down)">
                                      <p:cBhvr>
                                        <p:cTn id="60" dur="500"/>
                                        <p:tgtEl>
                                          <p:spTgt spid="2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wipe(down)">
                                      <p:cBhvr>
                                        <p:cTn id="65" dur="500"/>
                                        <p:tgtEl>
                                          <p:spTgt spid="30"/>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wipe(down)">
                                      <p:cBhvr>
                                        <p:cTn id="68" dur="500"/>
                                        <p:tgtEl>
                                          <p:spTgt spid="26"/>
                                        </p:tgtEl>
                                      </p:cBhvr>
                                    </p:animEffect>
                                  </p:childTnLst>
                                </p:cTn>
                              </p:par>
                              <p:par>
                                <p:cTn id="69" presetID="22" presetClass="entr" presetSubtype="4" fill="hold" nodeType="withEffect">
                                  <p:stCondLst>
                                    <p:cond delay="0"/>
                                  </p:stCondLst>
                                  <p:childTnLst>
                                    <p:set>
                                      <p:cBhvr>
                                        <p:cTn id="70" dur="1" fill="hold">
                                          <p:stCondLst>
                                            <p:cond delay="0"/>
                                          </p:stCondLst>
                                        </p:cTn>
                                        <p:tgtEl>
                                          <p:spTgt spid="43"/>
                                        </p:tgtEl>
                                        <p:attrNameLst>
                                          <p:attrName>style.visibility</p:attrName>
                                        </p:attrNameLst>
                                      </p:cBhvr>
                                      <p:to>
                                        <p:strVal val="visible"/>
                                      </p:to>
                                    </p:set>
                                    <p:animEffect transition="in" filter="wipe(down)">
                                      <p:cBhvr>
                                        <p:cTn id="71"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ldLvl="0" animBg="1"/>
      <p:bldP spid="31" grpId="1" animBg="1"/>
      <p:bldP spid="40" grpId="0" bldLvl="0" animBg="1"/>
      <p:bldP spid="40" grpId="1" animBg="1"/>
      <p:bldP spid="45" grpId="0" bldLvl="0" animBg="1"/>
      <p:bldP spid="45" grpId="1" animBg="1"/>
      <p:bldP spid="26" grpId="0"/>
      <p:bldP spid="26" grpId="1"/>
      <p:bldP spid="9" grpId="0"/>
      <p:bldP spid="9" grpId="1"/>
      <p:bldP spid="10" grpId="0" bldLvl="0" animBg="1"/>
      <p:bldP spid="10" grpId="1" animBg="1"/>
      <p:bldP spid="11" grpId="0"/>
      <p:bldP spid="11" grpId="1"/>
      <p:bldP spid="22" grpId="0" bldLvl="0" animBg="1"/>
      <p:bldP spid="22" grpId="1" animBg="1"/>
      <p:bldP spid="23" grpId="0"/>
      <p:bldP spid="23" grpId="1"/>
      <p:bldP spid="30" grpId="0"/>
      <p:bldP spid="30"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t>Performance Metrics</a:t>
            </a:r>
          </a:p>
        </p:txBody>
      </p:sp>
      <p:sp>
        <p:nvSpPr>
          <p:cNvPr id="2" name="日期占位符 1"/>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8</a:t>
            </a:fld>
            <a:endParaRPr lang="zh-CN" altLang="en-US"/>
          </a:p>
        </p:txBody>
      </p:sp>
      <p:sp>
        <p:nvSpPr>
          <p:cNvPr id="11" name="文本框 10"/>
          <p:cNvSpPr txBox="1"/>
          <p:nvPr/>
        </p:nvSpPr>
        <p:spPr>
          <a:xfrm>
            <a:off x="8890" y="5777865"/>
            <a:ext cx="5912485" cy="521970"/>
          </a:xfrm>
          <a:prstGeom prst="rect">
            <a:avLst/>
          </a:prstGeom>
          <a:noFill/>
        </p:spPr>
        <p:txBody>
          <a:bodyPr wrap="square" rtlCol="0">
            <a:spAutoFit/>
          </a:bodyPr>
          <a:lstStyle/>
          <a:p>
            <a:pPr algn="ctr"/>
            <a:r>
              <a:rPr lang="en-US" altLang="zh-CN" sz="1400" i="1">
                <a:latin typeface="Times New Roman" panose="02020603050405020304" charset="0"/>
                <a:cs typeface="Times New Roman" panose="02020603050405020304" charset="0"/>
                <a:sym typeface="+mn-ea"/>
              </a:rPr>
              <a:t>M.P. Kuchera, R. Ramanujan, J.Z. Taylor et al. Nuclear Inst. and Methods in Physics Research, A 940 (2019) 156–167</a:t>
            </a:r>
          </a:p>
        </p:txBody>
      </p:sp>
      <p:cxnSp>
        <p:nvCxnSpPr>
          <p:cNvPr id="20" name="直接连接符 19"/>
          <p:cNvCxnSpPr/>
          <p:nvPr/>
        </p:nvCxnSpPr>
        <p:spPr>
          <a:xfrm>
            <a:off x="6303645" y="1393190"/>
            <a:ext cx="0" cy="4838700"/>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graphicFrame>
        <p:nvGraphicFramePr>
          <p:cNvPr id="15" name="对象 14">
            <a:hlinkClick r:id="" action="ppaction://ole?verb=0"/>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r:id="rId4" imgW="114300" imgH="215900" progId="Equation.KSEE3">
                  <p:embed/>
                </p:oleObj>
              </mc:Choice>
              <mc:Fallback>
                <p:oleObj r:id="rId4" imgW="114300" imgH="215900" progId="Equation.KSEE3">
                  <p:embed/>
                  <p:pic>
                    <p:nvPicPr>
                      <p:cNvPr id="0" name="图片 2048"/>
                      <p:cNvPicPr/>
                      <p:nvPr/>
                    </p:nvPicPr>
                    <p:blipFill>
                      <a:blip r:embed="rId5"/>
                      <a:stretch>
                        <a:fillRect/>
                      </a:stretch>
                    </p:blipFill>
                    <p:spPr>
                      <a:xfrm>
                        <a:off x="6038850" y="3321050"/>
                        <a:ext cx="114300" cy="215900"/>
                      </a:xfrm>
                      <a:prstGeom prst="rect">
                        <a:avLst/>
                      </a:prstGeom>
                    </p:spPr>
                  </p:pic>
                </p:oleObj>
              </mc:Fallback>
            </mc:AlternateContent>
          </a:graphicData>
        </a:graphic>
      </p:graphicFrame>
      <p:grpSp>
        <p:nvGrpSpPr>
          <p:cNvPr id="28" name="组合 27"/>
          <p:cNvGrpSpPr/>
          <p:nvPr/>
        </p:nvGrpSpPr>
        <p:grpSpPr>
          <a:xfrm>
            <a:off x="759460" y="1320800"/>
            <a:ext cx="4737100" cy="4281170"/>
            <a:chOff x="1286" y="2080"/>
            <a:chExt cx="7460" cy="6742"/>
          </a:xfrm>
        </p:grpSpPr>
        <p:grpSp>
          <p:nvGrpSpPr>
            <p:cNvPr id="24" name="组合 23"/>
            <p:cNvGrpSpPr/>
            <p:nvPr/>
          </p:nvGrpSpPr>
          <p:grpSpPr>
            <a:xfrm>
              <a:off x="1286" y="2080"/>
              <a:ext cx="7460" cy="6742"/>
              <a:chOff x="1286" y="2080"/>
              <a:chExt cx="7460" cy="6742"/>
            </a:xfrm>
          </p:grpSpPr>
          <p:pic>
            <p:nvPicPr>
              <p:cNvPr id="5" name="图片 4"/>
              <p:cNvPicPr>
                <a:picLocks noChangeAspect="1"/>
              </p:cNvPicPr>
              <p:nvPr/>
            </p:nvPicPr>
            <p:blipFill>
              <a:blip r:embed="rId6"/>
              <a:srcRect l="52643" b="30991"/>
              <a:stretch>
                <a:fillRect/>
              </a:stretch>
            </p:blipFill>
            <p:spPr>
              <a:xfrm>
                <a:off x="1286" y="2080"/>
                <a:ext cx="7461" cy="6742"/>
              </a:xfrm>
              <a:prstGeom prst="rect">
                <a:avLst/>
              </a:prstGeom>
            </p:spPr>
          </p:pic>
          <p:sp>
            <p:nvSpPr>
              <p:cNvPr id="8" name="文本框 7"/>
              <p:cNvSpPr txBox="1"/>
              <p:nvPr/>
            </p:nvSpPr>
            <p:spPr>
              <a:xfrm>
                <a:off x="3292" y="3698"/>
                <a:ext cx="1831" cy="1888"/>
              </a:xfrm>
              <a:prstGeom prst="rect">
                <a:avLst/>
              </a:prstGeom>
              <a:solidFill>
                <a:srgbClr val="E2F0D9"/>
              </a:solidFill>
            </p:spPr>
            <p:txBody>
              <a:bodyPr wrap="square" rtlCol="0">
                <a:spAutoFit/>
              </a:bodyPr>
              <a:lstStyle/>
              <a:p>
                <a:pPr algn="ctr"/>
                <a:r>
                  <a:rPr lang="en-US" altLang="zh-CN" b="1">
                    <a:solidFill>
                      <a:schemeClr val="tx1"/>
                    </a:solidFill>
                    <a:latin typeface="Times New Roman" panose="02020603050405020304" charset="0"/>
                    <a:cs typeface="Times New Roman" panose="02020603050405020304" charset="0"/>
                  </a:rPr>
                  <a:t>TP</a:t>
                </a:r>
              </a:p>
              <a:p>
                <a:pPr algn="ctr"/>
                <a:r>
                  <a:rPr lang="en-US" altLang="zh-CN" b="1">
                    <a:solidFill>
                      <a:schemeClr val="tx1"/>
                    </a:solidFill>
                    <a:latin typeface="Times New Roman" panose="02020603050405020304" charset="0"/>
                    <a:cs typeface="Times New Roman" panose="02020603050405020304" charset="0"/>
                  </a:rPr>
                  <a:t>#protons</a:t>
                </a:r>
              </a:p>
              <a:p>
                <a:pPr algn="ctr"/>
                <a:r>
                  <a:rPr lang="en-US" altLang="zh-CN" b="1">
                    <a:solidFill>
                      <a:schemeClr val="tx1"/>
                    </a:solidFill>
                    <a:latin typeface="Times New Roman" panose="02020603050405020304" charset="0"/>
                    <a:cs typeface="Times New Roman" panose="02020603050405020304" charset="0"/>
                  </a:rPr>
                  <a:t>correctly</a:t>
                </a:r>
              </a:p>
              <a:p>
                <a:pPr algn="ctr"/>
                <a:r>
                  <a:rPr lang="en-US" altLang="zh-CN" b="1">
                    <a:solidFill>
                      <a:schemeClr val="tx1"/>
                    </a:solidFill>
                    <a:latin typeface="Times New Roman" panose="02020603050405020304" charset="0"/>
                    <a:cs typeface="Times New Roman" panose="02020603050405020304" charset="0"/>
                  </a:rPr>
                  <a:t>classified</a:t>
                </a:r>
              </a:p>
            </p:txBody>
          </p:sp>
          <p:sp>
            <p:nvSpPr>
              <p:cNvPr id="14" name="文本框 13"/>
              <p:cNvSpPr txBox="1"/>
              <p:nvPr/>
            </p:nvSpPr>
            <p:spPr>
              <a:xfrm>
                <a:off x="5842" y="6068"/>
                <a:ext cx="1831" cy="2325"/>
              </a:xfrm>
              <a:prstGeom prst="rect">
                <a:avLst/>
              </a:prstGeom>
              <a:solidFill>
                <a:srgbClr val="E2F0D9"/>
              </a:solidFill>
            </p:spPr>
            <p:txBody>
              <a:bodyPr wrap="square" rtlCol="0">
                <a:spAutoFit/>
              </a:bodyPr>
              <a:lstStyle/>
              <a:p>
                <a:pPr algn="ctr"/>
                <a:r>
                  <a:rPr lang="en-US" altLang="zh-CN" b="1">
                    <a:solidFill>
                      <a:schemeClr val="tx1"/>
                    </a:solidFill>
                    <a:latin typeface="Times New Roman" panose="02020603050405020304" charset="0"/>
                    <a:cs typeface="Times New Roman" panose="02020603050405020304" charset="0"/>
                  </a:rPr>
                  <a:t>TN</a:t>
                </a:r>
              </a:p>
              <a:p>
                <a:pPr algn="ctr"/>
                <a:r>
                  <a:rPr lang="en-US" altLang="zh-CN" b="1">
                    <a:solidFill>
                      <a:schemeClr val="tx1"/>
                    </a:solidFill>
                    <a:latin typeface="Times New Roman" panose="02020603050405020304" charset="0"/>
                    <a:cs typeface="Times New Roman" panose="02020603050405020304" charset="0"/>
                  </a:rPr>
                  <a:t>#non-protons</a:t>
                </a:r>
              </a:p>
              <a:p>
                <a:pPr algn="ctr"/>
                <a:r>
                  <a:rPr lang="en-US" altLang="zh-CN" b="1">
                    <a:solidFill>
                      <a:schemeClr val="tx1"/>
                    </a:solidFill>
                    <a:latin typeface="Times New Roman" panose="02020603050405020304" charset="0"/>
                    <a:cs typeface="Times New Roman" panose="02020603050405020304" charset="0"/>
                  </a:rPr>
                  <a:t>correctly</a:t>
                </a:r>
              </a:p>
              <a:p>
                <a:pPr algn="ctr"/>
                <a:r>
                  <a:rPr lang="en-US" altLang="zh-CN" b="1">
                    <a:solidFill>
                      <a:schemeClr val="tx1"/>
                    </a:solidFill>
                    <a:latin typeface="Times New Roman" panose="02020603050405020304" charset="0"/>
                    <a:cs typeface="Times New Roman" panose="02020603050405020304" charset="0"/>
                  </a:rPr>
                  <a:t>classified</a:t>
                </a:r>
              </a:p>
            </p:txBody>
          </p:sp>
          <p:sp>
            <p:nvSpPr>
              <p:cNvPr id="18" name="文本框 17"/>
              <p:cNvSpPr txBox="1"/>
              <p:nvPr/>
            </p:nvSpPr>
            <p:spPr>
              <a:xfrm>
                <a:off x="5683" y="3563"/>
                <a:ext cx="2150" cy="2325"/>
              </a:xfrm>
              <a:prstGeom prst="rect">
                <a:avLst/>
              </a:prstGeom>
              <a:solidFill>
                <a:schemeClr val="bg1"/>
              </a:solidFill>
            </p:spPr>
            <p:txBody>
              <a:bodyPr wrap="square" rtlCol="0">
                <a:spAutoFit/>
              </a:bodyPr>
              <a:lstStyle/>
              <a:p>
                <a:pPr algn="ctr"/>
                <a:r>
                  <a:rPr lang="en-US" altLang="zh-CN" b="1">
                    <a:solidFill>
                      <a:schemeClr val="tx1"/>
                    </a:solidFill>
                    <a:latin typeface="Times New Roman" panose="02020603050405020304" charset="0"/>
                    <a:cs typeface="Times New Roman" panose="02020603050405020304" charset="0"/>
                  </a:rPr>
                  <a:t>FN</a:t>
                </a:r>
              </a:p>
              <a:p>
                <a:pPr algn="ctr"/>
                <a:r>
                  <a:rPr lang="en-US" altLang="zh-CN" b="1">
                    <a:solidFill>
                      <a:schemeClr val="tx1"/>
                    </a:solidFill>
                    <a:latin typeface="Times New Roman" panose="02020603050405020304" charset="0"/>
                    <a:cs typeface="Times New Roman" panose="02020603050405020304" charset="0"/>
                  </a:rPr>
                  <a:t>#non-protons</a:t>
                </a:r>
              </a:p>
              <a:p>
                <a:pPr algn="ctr"/>
                <a:r>
                  <a:rPr lang="en-US" altLang="zh-CN" b="1">
                    <a:solidFill>
                      <a:schemeClr val="tx1"/>
                    </a:solidFill>
                    <a:latin typeface="Times New Roman" panose="02020603050405020304" charset="0"/>
                    <a:cs typeface="Times New Roman" panose="02020603050405020304" charset="0"/>
                  </a:rPr>
                  <a:t>incorrectly</a:t>
                </a:r>
              </a:p>
              <a:p>
                <a:pPr algn="ctr"/>
                <a:r>
                  <a:rPr lang="en-US" altLang="zh-CN" b="1">
                    <a:solidFill>
                      <a:schemeClr val="tx1"/>
                    </a:solidFill>
                    <a:latin typeface="Times New Roman" panose="02020603050405020304" charset="0"/>
                    <a:cs typeface="Times New Roman" panose="02020603050405020304" charset="0"/>
                  </a:rPr>
                  <a:t>classified</a:t>
                </a:r>
              </a:p>
            </p:txBody>
          </p:sp>
          <p:sp>
            <p:nvSpPr>
              <p:cNvPr id="23" name="文本框 22"/>
              <p:cNvSpPr txBox="1"/>
              <p:nvPr/>
            </p:nvSpPr>
            <p:spPr>
              <a:xfrm>
                <a:off x="3133" y="6221"/>
                <a:ext cx="2150" cy="1898"/>
              </a:xfrm>
              <a:prstGeom prst="rect">
                <a:avLst/>
              </a:prstGeom>
              <a:solidFill>
                <a:schemeClr val="bg1"/>
              </a:solidFill>
            </p:spPr>
            <p:txBody>
              <a:bodyPr wrap="square" rtlCol="0">
                <a:noAutofit/>
              </a:bodyPr>
              <a:lstStyle/>
              <a:p>
                <a:pPr algn="ctr"/>
                <a:r>
                  <a:rPr lang="en-US" altLang="zh-CN" b="1">
                    <a:solidFill>
                      <a:schemeClr val="tx1"/>
                    </a:solidFill>
                    <a:latin typeface="Times New Roman" panose="02020603050405020304" charset="0"/>
                    <a:cs typeface="Times New Roman" panose="02020603050405020304" charset="0"/>
                  </a:rPr>
                  <a:t>FP</a:t>
                </a:r>
              </a:p>
              <a:p>
                <a:pPr algn="ctr"/>
                <a:r>
                  <a:rPr lang="en-US" altLang="zh-CN" b="1">
                    <a:solidFill>
                      <a:schemeClr val="tx1"/>
                    </a:solidFill>
                    <a:latin typeface="Times New Roman" panose="02020603050405020304" charset="0"/>
                    <a:cs typeface="Times New Roman" panose="02020603050405020304" charset="0"/>
                  </a:rPr>
                  <a:t>#protons</a:t>
                </a:r>
              </a:p>
              <a:p>
                <a:pPr algn="ctr"/>
                <a:r>
                  <a:rPr lang="en-US" altLang="zh-CN" b="1">
                    <a:solidFill>
                      <a:schemeClr val="tx1"/>
                    </a:solidFill>
                    <a:latin typeface="Times New Roman" panose="02020603050405020304" charset="0"/>
                    <a:cs typeface="Times New Roman" panose="02020603050405020304" charset="0"/>
                  </a:rPr>
                  <a:t>incorrectly</a:t>
                </a:r>
              </a:p>
              <a:p>
                <a:pPr algn="ctr"/>
                <a:r>
                  <a:rPr lang="en-US" altLang="zh-CN" b="1">
                    <a:solidFill>
                      <a:schemeClr val="tx1"/>
                    </a:solidFill>
                    <a:latin typeface="Times New Roman" panose="02020603050405020304" charset="0"/>
                    <a:cs typeface="Times New Roman" panose="02020603050405020304" charset="0"/>
                  </a:rPr>
                  <a:t>classified</a:t>
                </a:r>
              </a:p>
            </p:txBody>
          </p:sp>
        </p:grpSp>
        <p:sp>
          <p:nvSpPr>
            <p:cNvPr id="27" name="矩形 26"/>
            <p:cNvSpPr/>
            <p:nvPr/>
          </p:nvSpPr>
          <p:spPr>
            <a:xfrm>
              <a:off x="5428" y="5983"/>
              <a:ext cx="2571" cy="2537"/>
            </a:xfrm>
            <a:prstGeom prst="rect">
              <a:avLst/>
            </a:prstGeom>
            <a:noFill/>
            <a:ln w="1905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6" name="组合 5"/>
          <p:cNvGrpSpPr/>
          <p:nvPr/>
        </p:nvGrpSpPr>
        <p:grpSpPr>
          <a:xfrm>
            <a:off x="7712075" y="1417320"/>
            <a:ext cx="2772410" cy="4360545"/>
            <a:chOff x="10229" y="2072"/>
            <a:chExt cx="4366" cy="6867"/>
          </a:xfrm>
        </p:grpSpPr>
        <p:pic>
          <p:nvPicPr>
            <p:cNvPr id="32" name="图片 31"/>
            <p:cNvPicPr>
              <a:picLocks noChangeAspect="1"/>
            </p:cNvPicPr>
            <p:nvPr/>
          </p:nvPicPr>
          <p:blipFill>
            <a:blip r:embed="rId7"/>
            <a:srcRect l="4306" t="11978"/>
            <a:stretch>
              <a:fillRect/>
            </a:stretch>
          </p:blipFill>
          <p:spPr>
            <a:xfrm>
              <a:off x="10236" y="2072"/>
              <a:ext cx="3901" cy="1022"/>
            </a:xfrm>
            <a:prstGeom prst="rect">
              <a:avLst/>
            </a:prstGeom>
          </p:spPr>
        </p:pic>
        <p:pic>
          <p:nvPicPr>
            <p:cNvPr id="33" name="图片 32"/>
            <p:cNvPicPr>
              <a:picLocks noChangeAspect="1"/>
            </p:cNvPicPr>
            <p:nvPr/>
          </p:nvPicPr>
          <p:blipFill>
            <a:blip r:embed="rId8"/>
            <a:srcRect l="3902" t="4667"/>
            <a:stretch>
              <a:fillRect/>
            </a:stretch>
          </p:blipFill>
          <p:spPr>
            <a:xfrm>
              <a:off x="10229" y="3938"/>
              <a:ext cx="3901" cy="1133"/>
            </a:xfrm>
            <a:prstGeom prst="rect">
              <a:avLst/>
            </a:prstGeom>
          </p:spPr>
        </p:pic>
        <p:pic>
          <p:nvPicPr>
            <p:cNvPr id="34" name="图片 33"/>
            <p:cNvPicPr>
              <a:picLocks noChangeAspect="1"/>
            </p:cNvPicPr>
            <p:nvPr/>
          </p:nvPicPr>
          <p:blipFill>
            <a:blip r:embed="rId9"/>
            <a:srcRect l="1516" t="6218"/>
            <a:stretch>
              <a:fillRect/>
            </a:stretch>
          </p:blipFill>
          <p:spPr>
            <a:xfrm>
              <a:off x="10236" y="6005"/>
              <a:ext cx="3135" cy="973"/>
            </a:xfrm>
            <a:prstGeom prst="rect">
              <a:avLst/>
            </a:prstGeom>
          </p:spPr>
        </p:pic>
        <p:pic>
          <p:nvPicPr>
            <p:cNvPr id="35" name="图片 34"/>
            <p:cNvPicPr>
              <a:picLocks noChangeAspect="1"/>
            </p:cNvPicPr>
            <p:nvPr/>
          </p:nvPicPr>
          <p:blipFill>
            <a:blip r:embed="rId10"/>
            <a:srcRect l="4254" t="11563"/>
            <a:stretch>
              <a:fillRect/>
            </a:stretch>
          </p:blipFill>
          <p:spPr>
            <a:xfrm>
              <a:off x="10229" y="7995"/>
              <a:ext cx="4366" cy="944"/>
            </a:xfrm>
            <a:prstGeom prst="rect">
              <a:avLst/>
            </a:prstGeom>
          </p:spPr>
        </p:pic>
      </p:gr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Model Performance Comparison</a:t>
            </a:r>
          </a:p>
        </p:txBody>
      </p:sp>
      <p:sp>
        <p:nvSpPr>
          <p:cNvPr id="3" name="灯片编号占位符 2"/>
          <p:cNvSpPr>
            <a:spLocks noGrp="1"/>
          </p:cNvSpPr>
          <p:nvPr>
            <p:ph type="sldNum" sz="quarter" idx="12"/>
          </p:nvPr>
        </p:nvSpPr>
        <p:spPr/>
        <p:txBody>
          <a:bodyPr/>
          <a:lstStyle/>
          <a:p>
            <a:fld id="{8141257D-CBAA-4317-A108-DEE4BE529EBA}" type="slidenum">
              <a:rPr lang="zh-CN" altLang="en-US" smtClean="0"/>
              <a:t>9</a:t>
            </a:fld>
            <a:endParaRPr lang="zh-CN" altLang="en-US" dirty="0"/>
          </a:p>
        </p:txBody>
      </p:sp>
      <p:sp>
        <p:nvSpPr>
          <p:cNvPr id="4" name="日期占位符 3"/>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grpSp>
        <p:nvGrpSpPr>
          <p:cNvPr id="7" name="组合 6"/>
          <p:cNvGrpSpPr/>
          <p:nvPr/>
        </p:nvGrpSpPr>
        <p:grpSpPr>
          <a:xfrm>
            <a:off x="528320" y="1205230"/>
            <a:ext cx="10802620" cy="5214620"/>
            <a:chOff x="832" y="1898"/>
            <a:chExt cx="17012" cy="8212"/>
          </a:xfrm>
        </p:grpSpPr>
        <p:grpSp>
          <p:nvGrpSpPr>
            <p:cNvPr id="27" name="组合 26"/>
            <p:cNvGrpSpPr/>
            <p:nvPr/>
          </p:nvGrpSpPr>
          <p:grpSpPr>
            <a:xfrm>
              <a:off x="832" y="1898"/>
              <a:ext cx="17013" cy="8077"/>
              <a:chOff x="389" y="1978"/>
              <a:chExt cx="14346" cy="8063"/>
            </a:xfrm>
          </p:grpSpPr>
          <p:pic>
            <p:nvPicPr>
              <p:cNvPr id="9" name="图片 8"/>
              <p:cNvPicPr>
                <a:picLocks noChangeAspect="1"/>
              </p:cNvPicPr>
              <p:nvPr/>
            </p:nvPicPr>
            <p:blipFill>
              <a:blip r:embed="rId4"/>
              <a:srcRect r="20972"/>
              <a:stretch>
                <a:fillRect/>
              </a:stretch>
            </p:blipFill>
            <p:spPr>
              <a:xfrm>
                <a:off x="389" y="1978"/>
                <a:ext cx="14346" cy="8063"/>
              </a:xfrm>
              <a:prstGeom prst="rect">
                <a:avLst/>
              </a:prstGeom>
            </p:spPr>
          </p:pic>
          <p:sp>
            <p:nvSpPr>
              <p:cNvPr id="10" name="文本框 9"/>
              <p:cNvSpPr txBox="1"/>
              <p:nvPr/>
            </p:nvSpPr>
            <p:spPr>
              <a:xfrm>
                <a:off x="5586" y="2178"/>
                <a:ext cx="8231" cy="1089"/>
              </a:xfrm>
              <a:prstGeom prst="rect">
                <a:avLst/>
              </a:prstGeom>
              <a:solidFill>
                <a:schemeClr val="bg1"/>
              </a:solidFill>
            </p:spPr>
            <p:txBody>
              <a:bodyPr wrap="square" rtlCol="0">
                <a:noAutofit/>
              </a:bodyPr>
              <a:lstStyle/>
              <a:p>
                <a:r>
                  <a:rPr lang="en-US" altLang="zh-CN" sz="2800" b="1">
                    <a:latin typeface="Microsoft YaHei" panose="020B0503020204020204" charset="-122"/>
                    <a:ea typeface="Microsoft YaHei" panose="020B0503020204020204" charset="-122"/>
                    <a:cs typeface="Times New Roman" panose="02020603050405020304" charset="0"/>
                    <a:sym typeface="+mn-ea"/>
                  </a:rPr>
                  <a:t>Model Performance Comparison</a:t>
                </a:r>
                <a:endParaRPr lang="en-US" altLang="zh-CN" sz="2800" b="1">
                  <a:latin typeface="Microsoft YaHei" panose="020B0503020204020204" charset="-122"/>
                  <a:ea typeface="Microsoft YaHei" panose="020B0503020204020204" charset="-122"/>
                  <a:cs typeface="Times New Roman" panose="02020603050405020304" charset="0"/>
                </a:endParaRPr>
              </a:p>
              <a:p>
                <a:endParaRPr lang="en-US" altLang="zh-CN" sz="2800" b="1">
                  <a:latin typeface="Microsoft YaHei" panose="020B0503020204020204" charset="-122"/>
                  <a:ea typeface="Microsoft YaHei" panose="020B0503020204020204" charset="-122"/>
                  <a:cs typeface="Times New Roman" panose="02020603050405020304" charset="0"/>
                </a:endParaRPr>
              </a:p>
            </p:txBody>
          </p:sp>
          <p:grpSp>
            <p:nvGrpSpPr>
              <p:cNvPr id="23" name="组合 22"/>
              <p:cNvGrpSpPr/>
              <p:nvPr/>
            </p:nvGrpSpPr>
            <p:grpSpPr>
              <a:xfrm>
                <a:off x="1659" y="2178"/>
                <a:ext cx="3497" cy="1711"/>
                <a:chOff x="1812" y="2331"/>
                <a:chExt cx="3497" cy="1711"/>
              </a:xfrm>
            </p:grpSpPr>
            <p:sp>
              <p:nvSpPr>
                <p:cNvPr id="22" name="圆角矩形 21"/>
                <p:cNvSpPr/>
                <p:nvPr/>
              </p:nvSpPr>
              <p:spPr>
                <a:xfrm>
                  <a:off x="1812" y="2331"/>
                  <a:ext cx="3497" cy="1711"/>
                </a:xfrm>
                <a:prstGeom prst="round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文本框 11"/>
                <p:cNvSpPr txBox="1"/>
                <p:nvPr/>
              </p:nvSpPr>
              <p:spPr>
                <a:xfrm>
                  <a:off x="2725" y="2391"/>
                  <a:ext cx="2322" cy="1624"/>
                </a:xfrm>
                <a:prstGeom prst="rect">
                  <a:avLst/>
                </a:prstGeom>
                <a:solidFill>
                  <a:schemeClr val="bg1"/>
                </a:solidFill>
              </p:spPr>
              <p:txBody>
                <a:bodyPr wrap="square" rtlCol="0">
                  <a:noAutofit/>
                </a:bodyPr>
                <a:lstStyle/>
                <a:p>
                  <a:pPr>
                    <a:lnSpc>
                      <a:spcPct val="120000"/>
                    </a:lnSpc>
                  </a:pPr>
                  <a:r>
                    <a:rPr lang="en-US" altLang="zh-CN" sz="1600">
                      <a:latin typeface="Times New Roman" panose="02020603050405020304" charset="0"/>
                      <a:cs typeface="Times New Roman" panose="02020603050405020304" charset="0"/>
                      <a:sym typeface="+mn-ea"/>
                    </a:rPr>
                    <a:t>Baseline</a:t>
                  </a:r>
                  <a:endParaRPr lang="en-US" altLang="zh-CN" sz="1600">
                    <a:latin typeface="Times New Roman" panose="02020603050405020304" charset="0"/>
                    <a:cs typeface="Times New Roman" panose="02020603050405020304" charset="0"/>
                  </a:endParaRPr>
                </a:p>
                <a:p>
                  <a:pPr>
                    <a:lnSpc>
                      <a:spcPct val="120000"/>
                    </a:lnSpc>
                  </a:pPr>
                  <a:r>
                    <a:rPr lang="en-US" altLang="zh-CN" sz="1600">
                      <a:latin typeface="Times New Roman" panose="02020603050405020304" charset="0"/>
                      <a:cs typeface="Times New Roman" panose="02020603050405020304" charset="0"/>
                      <a:sym typeface="+mn-ea"/>
                    </a:rPr>
                    <a:t>Gated Fusion</a:t>
                  </a:r>
                  <a:endParaRPr lang="en-US" altLang="zh-CN" sz="1600">
                    <a:latin typeface="Times New Roman" panose="02020603050405020304" charset="0"/>
                    <a:cs typeface="Times New Roman" panose="02020603050405020304" charset="0"/>
                  </a:endParaRPr>
                </a:p>
                <a:p>
                  <a:pPr>
                    <a:lnSpc>
                      <a:spcPct val="120000"/>
                    </a:lnSpc>
                  </a:pPr>
                  <a:r>
                    <a:rPr lang="en-US" altLang="zh-CN" sz="1600">
                      <a:latin typeface="Times New Roman" panose="02020603050405020304" charset="0"/>
                      <a:cs typeface="Times New Roman" panose="02020603050405020304" charset="0"/>
                      <a:sym typeface="+mn-ea"/>
                    </a:rPr>
                    <a:t>Cross Attention</a:t>
                  </a:r>
                  <a:endParaRPr lang="en-US" altLang="zh-CN" sz="1600">
                    <a:latin typeface="Times New Roman" panose="02020603050405020304" charset="0"/>
                    <a:cs typeface="Times New Roman" panose="02020603050405020304" charset="0"/>
                  </a:endParaRPr>
                </a:p>
                <a:p>
                  <a:endParaRPr lang="en-US" altLang="zh-CN" sz="1600">
                    <a:latin typeface="Times New Roman" panose="02020603050405020304" charset="0"/>
                    <a:cs typeface="Times New Roman" panose="02020603050405020304" charset="0"/>
                  </a:endParaRPr>
                </a:p>
              </p:txBody>
            </p:sp>
            <p:pic>
              <p:nvPicPr>
                <p:cNvPr id="17" name="图片 16"/>
                <p:cNvPicPr>
                  <a:picLocks noChangeAspect="1"/>
                </p:cNvPicPr>
                <p:nvPr/>
              </p:nvPicPr>
              <p:blipFill>
                <a:blip r:embed="rId5"/>
                <a:stretch>
                  <a:fillRect/>
                </a:stretch>
              </p:blipFill>
              <p:spPr>
                <a:xfrm>
                  <a:off x="2017" y="2553"/>
                  <a:ext cx="540" cy="255"/>
                </a:xfrm>
                <a:prstGeom prst="rect">
                  <a:avLst/>
                </a:prstGeom>
              </p:spPr>
            </p:pic>
            <p:pic>
              <p:nvPicPr>
                <p:cNvPr id="19" name="图片 18"/>
                <p:cNvPicPr>
                  <a:picLocks noChangeAspect="1"/>
                </p:cNvPicPr>
                <p:nvPr/>
              </p:nvPicPr>
              <p:blipFill>
                <a:blip r:embed="rId6"/>
                <a:stretch>
                  <a:fillRect/>
                </a:stretch>
              </p:blipFill>
              <p:spPr>
                <a:xfrm>
                  <a:off x="2017" y="3057"/>
                  <a:ext cx="543" cy="255"/>
                </a:xfrm>
                <a:prstGeom prst="rect">
                  <a:avLst/>
                </a:prstGeom>
              </p:spPr>
            </p:pic>
            <p:pic>
              <p:nvPicPr>
                <p:cNvPr id="20" name="图片 19"/>
                <p:cNvPicPr>
                  <a:picLocks noChangeAspect="1"/>
                </p:cNvPicPr>
                <p:nvPr/>
              </p:nvPicPr>
              <p:blipFill>
                <a:blip r:embed="rId7"/>
                <a:stretch>
                  <a:fillRect/>
                </a:stretch>
              </p:blipFill>
              <p:spPr>
                <a:xfrm>
                  <a:off x="2017" y="3535"/>
                  <a:ext cx="542" cy="256"/>
                </a:xfrm>
                <a:prstGeom prst="rect">
                  <a:avLst/>
                </a:prstGeom>
              </p:spPr>
            </p:pic>
          </p:grpSp>
          <p:sp>
            <p:nvSpPr>
              <p:cNvPr id="26" name="文本框 25"/>
              <p:cNvSpPr txBox="1"/>
              <p:nvPr/>
            </p:nvSpPr>
            <p:spPr>
              <a:xfrm>
                <a:off x="498" y="2074"/>
                <a:ext cx="730" cy="1524"/>
              </a:xfrm>
              <a:prstGeom prst="rect">
                <a:avLst/>
              </a:prstGeom>
              <a:solidFill>
                <a:schemeClr val="bg1"/>
              </a:solidFill>
            </p:spPr>
            <p:txBody>
              <a:bodyPr wrap="square" rtlCol="0">
                <a:noAutofit/>
              </a:bodyPr>
              <a:lstStyle/>
              <a:p>
                <a:endParaRPr lang="zh-CN" altLang="en-US"/>
              </a:p>
            </p:txBody>
          </p:sp>
        </p:grpSp>
        <p:sp>
          <p:nvSpPr>
            <p:cNvPr id="6" name="文本框 5"/>
            <p:cNvSpPr txBox="1"/>
            <p:nvPr/>
          </p:nvSpPr>
          <p:spPr>
            <a:xfrm>
              <a:off x="8150" y="9530"/>
              <a:ext cx="6400" cy="580"/>
            </a:xfrm>
            <a:prstGeom prst="rect">
              <a:avLst/>
            </a:prstGeom>
            <a:solidFill>
              <a:schemeClr val="bg1"/>
            </a:solidFill>
          </p:spPr>
          <p:txBody>
            <a:bodyPr wrap="square" rtlCol="0">
              <a:spAutoFit/>
            </a:bodyPr>
            <a:lstStyle/>
            <a:p>
              <a:r>
                <a:rPr lang="en-US" altLang="zh-CN" b="1">
                  <a:latin typeface="Times New Roman" panose="02020603050405020304" charset="0"/>
                  <a:cs typeface="Times New Roman" panose="02020603050405020304" charset="0"/>
                </a:rPr>
                <a:t>Performance Metrics</a:t>
              </a:r>
            </a:p>
          </p:txBody>
        </p:sp>
      </p:gr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t>Summary</a:t>
            </a:r>
          </a:p>
        </p:txBody>
      </p:sp>
      <p:sp>
        <p:nvSpPr>
          <p:cNvPr id="2" name="日期占位符 1"/>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sp>
        <p:nvSpPr>
          <p:cNvPr id="3" name="灯片编号占位符 2"/>
          <p:cNvSpPr>
            <a:spLocks noGrp="1"/>
          </p:cNvSpPr>
          <p:nvPr>
            <p:ph type="sldNum" sz="quarter" idx="12"/>
          </p:nvPr>
        </p:nvSpPr>
        <p:spPr/>
        <p:txBody>
          <a:bodyPr>
            <a:normAutofit/>
          </a:bodyPr>
          <a:lstStyle/>
          <a:p>
            <a:fld id="{49AE70B2-8BF9-45C0-BB95-33D1B9D3A854}" type="slidenum">
              <a:rPr lang="zh-CN" altLang="en-US" smtClean="0"/>
              <a:t>10</a:t>
            </a:fld>
            <a:endParaRPr lang="en-US" altLang="zh-CN"/>
          </a:p>
        </p:txBody>
      </p:sp>
      <p:sp>
        <p:nvSpPr>
          <p:cNvPr id="5" name="文本框 4"/>
          <p:cNvSpPr txBox="1"/>
          <p:nvPr/>
        </p:nvSpPr>
        <p:spPr>
          <a:xfrm>
            <a:off x="767715" y="1456055"/>
            <a:ext cx="10723880" cy="4492625"/>
          </a:xfrm>
          <a:prstGeom prst="rect">
            <a:avLst/>
          </a:prstGeom>
          <a:noFill/>
        </p:spPr>
        <p:txBody>
          <a:bodyPr wrap="square" rtlCol="0">
            <a:spAutoFit/>
          </a:bodyPr>
          <a:lstStyle/>
          <a:p>
            <a:pPr marL="342900" indent="-342900">
              <a:lnSpc>
                <a:spcPct val="130000"/>
              </a:lnSpc>
              <a:buFont typeface="+mj-lt"/>
              <a:buAutoNum type="arabicPeriod"/>
            </a:pPr>
            <a:r>
              <a:rPr lang="en-US" altLang="zh-CN" sz="2000">
                <a:latin typeface="Microsoft YaHei" panose="020B0503020204020204" charset="-122"/>
                <a:ea typeface="Microsoft YaHei" panose="020B0503020204020204" charset="-122"/>
                <a:cs typeface="Times New Roman" panose="02020603050405020304" charset="0"/>
              </a:rPr>
              <a:t>CNN is an excellent method for processing three-dimensional tracks, highly suitable for the data analysis process of active target TPCs. </a:t>
            </a:r>
          </a:p>
          <a:p>
            <a:pPr marL="342900" indent="-342900">
              <a:lnSpc>
                <a:spcPct val="130000"/>
              </a:lnSpc>
              <a:buFont typeface="+mj-lt"/>
              <a:buAutoNum type="arabicPeriod"/>
            </a:pPr>
            <a:r>
              <a:rPr lang="en-US" altLang="zh-CN" sz="2000">
                <a:latin typeface="Microsoft YaHei" panose="020B0503020204020204" charset="-122"/>
                <a:ea typeface="Microsoft YaHei" panose="020B0503020204020204" charset="-122"/>
                <a:cs typeface="Times New Roman" panose="02020603050405020304" charset="0"/>
              </a:rPr>
              <a:t>We employed </a:t>
            </a:r>
            <a:r>
              <a:rPr lang="en-US" altLang="zh-CN" sz="2000" b="1">
                <a:solidFill>
                  <a:srgbClr val="FF0000"/>
                </a:solidFill>
                <a:latin typeface="Microsoft YaHei" panose="020B0503020204020204" charset="-122"/>
                <a:ea typeface="Microsoft YaHei" panose="020B0503020204020204" charset="-122"/>
                <a:cs typeface="Times New Roman" panose="02020603050405020304" charset="0"/>
              </a:rPr>
              <a:t>two novel architectures</a:t>
            </a:r>
            <a:r>
              <a:rPr lang="en-US" altLang="zh-CN" sz="2000">
                <a:latin typeface="Microsoft YaHei" panose="020B0503020204020204" charset="-122"/>
                <a:ea typeface="Microsoft YaHei" panose="020B0503020204020204" charset="-122"/>
                <a:cs typeface="Times New Roman" panose="02020603050405020304" charset="0"/>
              </a:rPr>
              <a:t> that are currently less applied in nuclear physics, based on simulated datasets of (p,p) and (p,α) reactions, and compared them with traditional methods. </a:t>
            </a:r>
          </a:p>
          <a:p>
            <a:pPr marL="342900" indent="-342900">
              <a:lnSpc>
                <a:spcPct val="130000"/>
              </a:lnSpc>
              <a:buFont typeface="+mj-lt"/>
              <a:buAutoNum type="arabicPeriod"/>
            </a:pPr>
            <a:r>
              <a:rPr lang="en-US" altLang="zh-CN" sz="2000">
                <a:latin typeface="Microsoft YaHei" panose="020B0503020204020204" charset="-122"/>
                <a:ea typeface="Microsoft YaHei" panose="020B0503020204020204" charset="-122"/>
                <a:cs typeface="Times New Roman" panose="02020603050405020304" charset="0"/>
              </a:rPr>
              <a:t>The </a:t>
            </a:r>
            <a:r>
              <a:rPr lang="en-US" altLang="zh-CN" sz="2000" b="1">
                <a:solidFill>
                  <a:srgbClr val="FF0000"/>
                </a:solidFill>
                <a:latin typeface="Microsoft YaHei" panose="020B0503020204020204" charset="-122"/>
                <a:ea typeface="Microsoft YaHei" panose="020B0503020204020204" charset="-122"/>
                <a:cs typeface="Times New Roman" panose="02020603050405020304" charset="0"/>
              </a:rPr>
              <a:t>feasibility</a:t>
            </a:r>
            <a:r>
              <a:rPr lang="en-US" altLang="zh-CN" sz="2000">
                <a:latin typeface="Microsoft YaHei" panose="020B0503020204020204" charset="-122"/>
                <a:ea typeface="Microsoft YaHei" panose="020B0503020204020204" charset="-122"/>
                <a:cs typeface="Times New Roman" panose="02020603050405020304" charset="0"/>
              </a:rPr>
              <a:t> of Gated-Fusion and Cross-Attention method have been verified, and they can indeed bring performance improvements to the model. </a:t>
            </a:r>
          </a:p>
          <a:p>
            <a:pPr marL="342900" indent="-342900">
              <a:lnSpc>
                <a:spcPct val="130000"/>
              </a:lnSpc>
              <a:buFont typeface="+mj-lt"/>
              <a:buAutoNum type="arabicPeriod"/>
            </a:pPr>
            <a:r>
              <a:rPr lang="en-US" altLang="zh-CN" sz="2000">
                <a:latin typeface="Microsoft YaHei" panose="020B0503020204020204" charset="-122"/>
                <a:ea typeface="Microsoft YaHei" panose="020B0503020204020204" charset="-122"/>
                <a:cs typeface="Times New Roman" panose="02020603050405020304" charset="0"/>
              </a:rPr>
              <a:t>The next step involves introducing simulated datasets that more closely resemble experimental conditions for further analysis. </a:t>
            </a:r>
          </a:p>
          <a:p>
            <a:pPr marL="342900" indent="-342900">
              <a:lnSpc>
                <a:spcPct val="130000"/>
              </a:lnSpc>
              <a:buFont typeface="+mj-lt"/>
              <a:buAutoNum type="arabicPeriod"/>
            </a:pPr>
            <a:r>
              <a:rPr lang="en-US" altLang="zh-CN" sz="2000">
                <a:latin typeface="Microsoft YaHei" panose="020B0503020204020204" charset="-122"/>
                <a:ea typeface="Microsoft YaHei" panose="020B0503020204020204" charset="-122"/>
                <a:cs typeface="Times New Roman" panose="02020603050405020304" charset="0"/>
              </a:rPr>
              <a:t>Based on the machine learning results, we plan to apply ML methods to the data analysis of MATE.</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05560"/>
            <a:ext cx="12209780" cy="4462145"/>
          </a:xfrm>
          <a:prstGeom prst="rect">
            <a:avLst/>
          </a:prstGeom>
          <a:solidFill>
            <a:srgbClr val="17499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文本框 5"/>
          <p:cNvSpPr txBox="1"/>
          <p:nvPr/>
        </p:nvSpPr>
        <p:spPr>
          <a:xfrm>
            <a:off x="3789045" y="2976880"/>
            <a:ext cx="4745990" cy="1106805"/>
          </a:xfrm>
          <a:prstGeom prst="rect">
            <a:avLst/>
          </a:prstGeom>
          <a:noFill/>
        </p:spPr>
        <p:txBody>
          <a:bodyPr wrap="square" rtlCol="0">
            <a:spAutoFit/>
          </a:bodyPr>
          <a:lstStyle/>
          <a:p>
            <a:pPr algn="ctr"/>
            <a:r>
              <a:rPr lang="en-US" altLang="zh-CN" sz="6600" b="1">
                <a:solidFill>
                  <a:schemeClr val="bg1"/>
                </a:solidFill>
                <a:latin typeface="Times New Roman" panose="02020603050405020304" charset="0"/>
                <a:cs typeface="Times New Roman" panose="02020603050405020304" charset="0"/>
              </a:rPr>
              <a:t>Thank You</a:t>
            </a:r>
            <a:r>
              <a:rPr lang="zh-CN" altLang="en-US" sz="6600" b="1">
                <a:solidFill>
                  <a:schemeClr val="bg1"/>
                </a:solidFill>
                <a:latin typeface="Times New Roman" panose="02020603050405020304" charset="0"/>
                <a:cs typeface="Times New Roman" panose="02020603050405020304" charset="0"/>
              </a:rPr>
              <a:t>！</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t>MATE: A new generation detector</a:t>
            </a:r>
          </a:p>
        </p:txBody>
      </p:sp>
      <p:sp>
        <p:nvSpPr>
          <p:cNvPr id="2" name="日期占位符 1"/>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pic>
        <p:nvPicPr>
          <p:cNvPr id="7" name="图片 6"/>
          <p:cNvPicPr>
            <a:picLocks noChangeAspect="1"/>
          </p:cNvPicPr>
          <p:nvPr/>
        </p:nvPicPr>
        <p:blipFill>
          <a:blip r:embed="rId3"/>
          <a:srcRect t="12232" r="3932"/>
          <a:stretch>
            <a:fillRect/>
          </a:stretch>
        </p:blipFill>
        <p:spPr>
          <a:xfrm>
            <a:off x="463550" y="1141095"/>
            <a:ext cx="10260330" cy="5273040"/>
          </a:xfrm>
          <a:prstGeom prst="rect">
            <a:avLst/>
          </a:prstGeom>
        </p:spPr>
      </p:pic>
      <p:sp>
        <p:nvSpPr>
          <p:cNvPr id="8" name="灯片编号占位符 7"/>
          <p:cNvSpPr>
            <a:spLocks noGrp="1"/>
          </p:cNvSpPr>
          <p:nvPr>
            <p:ph type="sldNum" sz="quarter" idx="12"/>
          </p:nvPr>
        </p:nvSpPr>
        <p:spPr/>
        <p:txBody>
          <a:bodyPr/>
          <a:lstStyle/>
          <a:p>
            <a:fld id="{49AE70B2-8BF9-45C0-BB95-33D1B9D3A854}" type="slidenum">
              <a:rPr lang="zh-CN" altLang="en-US" smtClean="0"/>
              <a:t>12</a:t>
            </a:fld>
            <a:endParaRPr lang="zh-CN" altLang="en-US"/>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p:cNvPicPr>
            <a:picLocks noChangeAspect="1"/>
          </p:cNvPicPr>
          <p:nvPr/>
        </p:nvPicPr>
        <p:blipFill>
          <a:blip r:embed="rId4"/>
          <a:stretch>
            <a:fillRect/>
          </a:stretch>
        </p:blipFill>
        <p:spPr>
          <a:xfrm>
            <a:off x="6806565" y="3048000"/>
            <a:ext cx="4375150" cy="2905760"/>
          </a:xfrm>
          <a:prstGeom prst="rect">
            <a:avLst/>
          </a:prstGeom>
        </p:spPr>
      </p:pic>
      <p:sp>
        <p:nvSpPr>
          <p:cNvPr id="4" name="标题 3"/>
          <p:cNvSpPr>
            <a:spLocks noGrp="1"/>
          </p:cNvSpPr>
          <p:nvPr>
            <p:ph type="title"/>
          </p:nvPr>
        </p:nvSpPr>
        <p:spPr/>
        <p:txBody>
          <a:bodyPr/>
          <a:lstStyle/>
          <a:p>
            <a:r>
              <a:rPr lang="en-US" altLang="zh-CN">
                <a:sym typeface="+mn-ea"/>
              </a:rPr>
              <a:t>Detailed Motivation </a:t>
            </a:r>
            <a:endParaRPr lang="en-US" altLang="zh-CN"/>
          </a:p>
        </p:txBody>
      </p:sp>
      <p:sp>
        <p:nvSpPr>
          <p:cNvPr id="2" name="日期占位符 1"/>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13</a:t>
            </a:fld>
            <a:endParaRPr lang="zh-CN" altLang="en-US"/>
          </a:p>
        </p:txBody>
      </p:sp>
      <p:sp>
        <p:nvSpPr>
          <p:cNvPr id="15" name="灯片编号占位符 14"/>
          <p:cNvSpPr>
            <a:spLocks noGrp="1"/>
          </p:cNvSpPr>
          <p:nvPr>
            <p:custDataLst>
              <p:tags r:id="rId2"/>
            </p:custDataLst>
          </p:nvPr>
        </p:nvSpPr>
        <p:spPr>
          <a:xfrm>
            <a:off x="11186160" y="6549390"/>
            <a:ext cx="455930" cy="316865"/>
          </a:xfrm>
          <a:prstGeom prst="rect">
            <a:avLst/>
          </a:prstGeom>
        </p:spPr>
        <p:txBody>
          <a:bodyPr vert="horz" lIns="91440" tIns="45720" rIns="91440" bIns="45720" rtlCol="0" anchor="ctr">
            <a:no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z="1800" smtClean="0">
                <a:solidFill>
                  <a:schemeClr val="bg1"/>
                </a:solidFill>
                <a:latin typeface="Times New Roman" panose="02020603050405020304" charset="0"/>
                <a:cs typeface="Times New Roman" panose="02020603050405020304" charset="0"/>
              </a:rPr>
              <a:t>13</a:t>
            </a:fld>
            <a:endParaRPr lang="zh-CN" altLang="en-US" sz="1800" dirty="0">
              <a:solidFill>
                <a:schemeClr val="bg1"/>
              </a:solidFill>
              <a:latin typeface="Times New Roman" panose="02020603050405020304" charset="0"/>
              <a:cs typeface="Times New Roman" panose="02020603050405020304" charset="0"/>
            </a:endParaRPr>
          </a:p>
        </p:txBody>
      </p:sp>
      <p:sp>
        <p:nvSpPr>
          <p:cNvPr id="70" name="文本框 69"/>
          <p:cNvSpPr txBox="1"/>
          <p:nvPr/>
        </p:nvSpPr>
        <p:spPr>
          <a:xfrm>
            <a:off x="26035" y="4063365"/>
            <a:ext cx="1849755" cy="368300"/>
          </a:xfrm>
          <a:prstGeom prst="rect">
            <a:avLst/>
          </a:prstGeom>
          <a:solidFill>
            <a:schemeClr val="bg1"/>
          </a:solidFill>
        </p:spPr>
        <p:txBody>
          <a:bodyPr wrap="square" rtlCol="0">
            <a:spAutoFit/>
          </a:bodyPr>
          <a:lstStyle/>
          <a:p>
            <a:endParaRPr lang="zh-CN" altLang="en-US"/>
          </a:p>
        </p:txBody>
      </p:sp>
      <p:sp>
        <p:nvSpPr>
          <p:cNvPr id="87" name="文本框 86"/>
          <p:cNvSpPr txBox="1"/>
          <p:nvPr/>
        </p:nvSpPr>
        <p:spPr>
          <a:xfrm>
            <a:off x="316230" y="1269365"/>
            <a:ext cx="3890645" cy="460375"/>
          </a:xfrm>
          <a:prstGeom prst="rect">
            <a:avLst/>
          </a:prstGeom>
          <a:noFill/>
        </p:spPr>
        <p:txBody>
          <a:bodyPr wrap="square" rtlCol="0">
            <a:spAutoFit/>
          </a:bodyPr>
          <a:lstStyle/>
          <a:p>
            <a:r>
              <a:rPr lang="en-US" altLang="zh-CN" sz="2400" b="1"/>
              <a:t>Motivation</a:t>
            </a:r>
            <a:r>
              <a:rPr lang="zh-CN" altLang="en-US" sz="2400" b="1"/>
              <a:t>：</a:t>
            </a:r>
            <a:endParaRPr lang="en-US" altLang="zh-CN" sz="2000" b="1"/>
          </a:p>
        </p:txBody>
      </p:sp>
      <p:sp>
        <p:nvSpPr>
          <p:cNvPr id="8" name="文本框 7"/>
          <p:cNvSpPr txBox="1"/>
          <p:nvPr/>
        </p:nvSpPr>
        <p:spPr>
          <a:xfrm>
            <a:off x="316230" y="1863090"/>
            <a:ext cx="4906010" cy="706755"/>
          </a:xfrm>
          <a:prstGeom prst="rect">
            <a:avLst/>
          </a:prstGeom>
          <a:noFill/>
        </p:spPr>
        <p:txBody>
          <a:bodyPr wrap="square" rtlCol="0">
            <a:spAutoFit/>
          </a:bodyPr>
          <a:lstStyle/>
          <a:p>
            <a:pPr marL="342900" indent="-342900">
              <a:buFont typeface="Wingdings" panose="05000000000000000000" charset="0"/>
              <a:buChar char="n"/>
            </a:pPr>
            <a:r>
              <a:rPr lang="en-US" altLang="zh-CN" sz="2000" b="1"/>
              <a:t>The Data Challenge: </a:t>
            </a:r>
          </a:p>
          <a:p>
            <a:pPr indent="0">
              <a:buFont typeface="Wingdings" panose="05000000000000000000" charset="0"/>
              <a:buNone/>
            </a:pPr>
            <a:r>
              <a:rPr lang="en-US" altLang="zh-CN" sz="2000" b="1"/>
              <a:t>     A Tsunami of 3D Point-Cloud Data</a:t>
            </a:r>
          </a:p>
        </p:txBody>
      </p:sp>
      <p:sp>
        <p:nvSpPr>
          <p:cNvPr id="5" name="文本框 4"/>
          <p:cNvSpPr txBox="1"/>
          <p:nvPr/>
        </p:nvSpPr>
        <p:spPr>
          <a:xfrm>
            <a:off x="6026150" y="1863090"/>
            <a:ext cx="5414010" cy="1322070"/>
          </a:xfrm>
          <a:prstGeom prst="rect">
            <a:avLst/>
          </a:prstGeom>
          <a:noFill/>
        </p:spPr>
        <p:txBody>
          <a:bodyPr wrap="square" rtlCol="0">
            <a:spAutoFit/>
          </a:bodyPr>
          <a:lstStyle/>
          <a:p>
            <a:pPr marL="342900" indent="-342900">
              <a:buFont typeface="Wingdings" panose="05000000000000000000" charset="0"/>
              <a:buChar char="n"/>
            </a:pPr>
            <a:r>
              <a:rPr lang="en-US" altLang="zh-CN" sz="2000" b="1"/>
              <a:t>The Verification Challenge:</a:t>
            </a:r>
          </a:p>
          <a:p>
            <a:pPr indent="0" algn="l">
              <a:buClrTx/>
              <a:buSzTx/>
              <a:buFont typeface="Wingdings" panose="05000000000000000000" charset="0"/>
              <a:buNone/>
            </a:pPr>
            <a:r>
              <a:rPr lang="en-US" altLang="zh-CN" sz="2000">
                <a:latin typeface="Times New Roman" panose="02020603050405020304" charset="0"/>
                <a:cs typeface="Times New Roman" panose="02020603050405020304" charset="0"/>
                <a:sym typeface="+mn-ea"/>
              </a:rPr>
              <a:t> </a:t>
            </a:r>
            <a:r>
              <a:rPr lang="en-US" altLang="zh-CN" sz="2000" b="1">
                <a:sym typeface="+mn-ea"/>
              </a:rPr>
              <a:t>The subjectivity and potential biases of a "one-size-fits-all" standard.</a:t>
            </a:r>
            <a:endParaRPr lang="en-US" altLang="zh-CN" sz="2000" b="1"/>
          </a:p>
          <a:p>
            <a:pPr indent="0">
              <a:buFont typeface="Wingdings" panose="05000000000000000000" charset="0"/>
              <a:buNone/>
            </a:pPr>
            <a:endParaRPr lang="en-US" altLang="zh-CN" sz="2000" b="1"/>
          </a:p>
        </p:txBody>
      </p:sp>
      <p:sp>
        <p:nvSpPr>
          <p:cNvPr id="7" name="文本框 6"/>
          <p:cNvSpPr txBox="1"/>
          <p:nvPr/>
        </p:nvSpPr>
        <p:spPr>
          <a:xfrm>
            <a:off x="246380" y="2631440"/>
            <a:ext cx="5779770" cy="2030095"/>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Experiments generate </a:t>
            </a:r>
            <a:r>
              <a:rPr lang="en-US" altLang="zh-CN" b="1">
                <a:solidFill>
                  <a:schemeClr val="accent1">
                    <a:lumMod val="75000"/>
                  </a:schemeClr>
                </a:solidFill>
                <a:latin typeface="Times New Roman" panose="02020603050405020304" charset="0"/>
                <a:cs typeface="Times New Roman" panose="02020603050405020304" charset="0"/>
              </a:rPr>
              <a:t>massive and complex</a:t>
            </a:r>
            <a:r>
              <a:rPr lang="en-US" altLang="zh-CN">
                <a:latin typeface="Times New Roman" panose="02020603050405020304" charset="0"/>
                <a:cs typeface="Times New Roman" panose="02020603050405020304" charset="0"/>
              </a:rPr>
              <a:t> datasets.Each event is a 3D point-cloud representing the ionization trail of particles.</a:t>
            </a:r>
          </a:p>
          <a:p>
            <a:r>
              <a:rPr lang="en-US" altLang="zh-CN">
                <a:latin typeface="Times New Roman" panose="02020603050405020304" charset="0"/>
                <a:cs typeface="Times New Roman" panose="02020603050405020304" charset="0"/>
              </a:rPr>
              <a:t>The sheer volume of data makes manual analysis extremely challenging.</a:t>
            </a:r>
          </a:p>
          <a:p>
            <a:r>
              <a:rPr lang="en-US" altLang="zh-CN" b="1">
                <a:solidFill>
                  <a:schemeClr val="accent1">
                    <a:lumMod val="75000"/>
                  </a:schemeClr>
                </a:solidFill>
                <a:latin typeface="Times New Roman" panose="02020603050405020304" charset="0"/>
                <a:cs typeface="Times New Roman" panose="02020603050405020304" charset="0"/>
              </a:rPr>
              <a:t>Efficiently and accurately </a:t>
            </a:r>
            <a:r>
              <a:rPr lang="en-US" altLang="zh-CN">
                <a:latin typeface="Times New Roman" panose="02020603050405020304" charset="0"/>
                <a:cs typeface="Times New Roman" panose="02020603050405020304" charset="0"/>
              </a:rPr>
              <a:t>identifying different reaction events is a major bottleneck.</a:t>
            </a:r>
          </a:p>
        </p:txBody>
      </p:sp>
      <p:cxnSp>
        <p:nvCxnSpPr>
          <p:cNvPr id="10" name="直接连接符 9"/>
          <p:cNvCxnSpPr/>
          <p:nvPr/>
        </p:nvCxnSpPr>
        <p:spPr>
          <a:xfrm>
            <a:off x="5956300" y="1838960"/>
            <a:ext cx="16510" cy="4554220"/>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cxnSp>
        <p:nvCxnSpPr>
          <p:cNvPr id="11" name="直接连接符 10"/>
          <p:cNvCxnSpPr/>
          <p:nvPr/>
        </p:nvCxnSpPr>
        <p:spPr>
          <a:xfrm flipH="1">
            <a:off x="0" y="1788160"/>
            <a:ext cx="12223750" cy="38100"/>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sp>
        <p:nvSpPr>
          <p:cNvPr id="21" name="文本框 20"/>
          <p:cNvSpPr txBox="1"/>
          <p:nvPr/>
        </p:nvSpPr>
        <p:spPr>
          <a:xfrm>
            <a:off x="5817235" y="5934075"/>
            <a:ext cx="6324600" cy="337185"/>
          </a:xfrm>
          <a:prstGeom prst="rect">
            <a:avLst/>
          </a:prstGeom>
          <a:noFill/>
        </p:spPr>
        <p:txBody>
          <a:bodyPr wrap="square" rtlCol="0">
            <a:spAutoFit/>
          </a:bodyPr>
          <a:lstStyle/>
          <a:p>
            <a:pPr algn="ctr"/>
            <a:r>
              <a:rPr lang="en-US" altLang="zh-CN" sz="1600" i="1">
                <a:latin typeface="Times New Roman" panose="02020603050405020304" charset="0"/>
                <a:cs typeface="Times New Roman" panose="02020603050405020304" charset="0"/>
              </a:rPr>
              <a:t>Machine learning methods for track classification in the AT-TPC</a:t>
            </a:r>
          </a:p>
        </p:txBody>
      </p:sp>
      <p:cxnSp>
        <p:nvCxnSpPr>
          <p:cNvPr id="23" name="直接连接符 22"/>
          <p:cNvCxnSpPr/>
          <p:nvPr/>
        </p:nvCxnSpPr>
        <p:spPr>
          <a:xfrm>
            <a:off x="8348345" y="3115945"/>
            <a:ext cx="3810" cy="2413000"/>
          </a:xfrm>
          <a:prstGeom prst="line">
            <a:avLst/>
          </a:prstGeom>
          <a:ln w="28575" cmpd="sng">
            <a:solidFill>
              <a:srgbClr val="FF0000"/>
            </a:solidFill>
            <a:prstDash val="sysDash"/>
          </a:ln>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8884285" y="3698875"/>
            <a:ext cx="2806065" cy="318770"/>
          </a:xfrm>
          <a:prstGeom prst="rect">
            <a:avLst/>
          </a:prstGeom>
          <a:noFill/>
        </p:spPr>
        <p:txBody>
          <a:bodyPr wrap="square" rtlCol="0">
            <a:noAutofit/>
          </a:bodyPr>
          <a:lstStyle/>
          <a:p>
            <a:pPr algn="ctr"/>
            <a:r>
              <a:rPr lang="en-US" altLang="zh-CN" sz="1600">
                <a:solidFill>
                  <a:srgbClr val="FF0000"/>
                </a:solidFill>
                <a:latin typeface="Times New Roman" panose="02020603050405020304" charset="0"/>
                <a:cs typeface="Times New Roman" panose="02020603050405020304" charset="0"/>
              </a:rPr>
              <a:t>Maybe another person’s cutoff</a:t>
            </a:r>
          </a:p>
        </p:txBody>
      </p:sp>
      <p:cxnSp>
        <p:nvCxnSpPr>
          <p:cNvPr id="25" name="直接箭头连接符 24"/>
          <p:cNvCxnSpPr/>
          <p:nvPr/>
        </p:nvCxnSpPr>
        <p:spPr>
          <a:xfrm flipH="1">
            <a:off x="8416290" y="3877310"/>
            <a:ext cx="487045" cy="5715"/>
          </a:xfrm>
          <a:prstGeom prst="straightConnector1">
            <a:avLst/>
          </a:prstGeom>
          <a:ln w="12700" cmpd="sng">
            <a:solidFill>
              <a:srgbClr val="FF0000"/>
            </a:solidFill>
            <a:prstDash val="solid"/>
            <a:tailEnd type="arrow"/>
          </a:ln>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wipe(down)">
                                      <p:cBhvr>
                                        <p:cTn id="13" dur="500"/>
                                        <p:tgtEl>
                                          <p:spTgt spid="24"/>
                                        </p:tgtEl>
                                      </p:cBhvr>
                                    </p:animEffect>
                                  </p:childTnLst>
                                </p:cTn>
                              </p:par>
                              <p:par>
                                <p:cTn id="14" presetID="22" presetClass="entr" presetSubtype="4"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down)">
                                      <p:cBhvr>
                                        <p:cTn id="1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4"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t>ResNet-18 detailed Structure</a:t>
            </a:r>
          </a:p>
        </p:txBody>
      </p:sp>
      <p:sp>
        <p:nvSpPr>
          <p:cNvPr id="2" name="日期占位符 1"/>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14</a:t>
            </a:fld>
            <a:endParaRPr lang="zh-CN" altLang="en-US"/>
          </a:p>
        </p:txBody>
      </p:sp>
      <p:pic>
        <p:nvPicPr>
          <p:cNvPr id="5" name="图片 4"/>
          <p:cNvPicPr>
            <a:picLocks noChangeAspect="1"/>
          </p:cNvPicPr>
          <p:nvPr/>
        </p:nvPicPr>
        <p:blipFill>
          <a:blip r:embed="rId3"/>
          <a:stretch>
            <a:fillRect/>
          </a:stretch>
        </p:blipFill>
        <p:spPr>
          <a:xfrm>
            <a:off x="1640205" y="1132840"/>
            <a:ext cx="9391015" cy="4709160"/>
          </a:xfrm>
          <a:prstGeom prst="rect">
            <a:avLst/>
          </a:prstGeom>
        </p:spPr>
      </p:pic>
      <p:sp>
        <p:nvSpPr>
          <p:cNvPr id="6" name="文本框 5"/>
          <p:cNvSpPr txBox="1"/>
          <p:nvPr/>
        </p:nvSpPr>
        <p:spPr>
          <a:xfrm>
            <a:off x="607060" y="5842000"/>
            <a:ext cx="11227435" cy="36830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The ResNet-18 network architecture consists of 18 weight layers, including 17 convolutional layers and 1 dense layer. </a:t>
            </a:r>
          </a:p>
        </p:txBody>
      </p:sp>
      <p:sp>
        <p:nvSpPr>
          <p:cNvPr id="7" name="文本框 6"/>
          <p:cNvSpPr txBox="1"/>
          <p:nvPr/>
        </p:nvSpPr>
        <p:spPr>
          <a:xfrm>
            <a:off x="1951355" y="6165850"/>
            <a:ext cx="7719060" cy="306705"/>
          </a:xfrm>
          <a:prstGeom prst="rect">
            <a:avLst/>
          </a:prstGeom>
          <a:noFill/>
        </p:spPr>
        <p:txBody>
          <a:bodyPr wrap="square" rtlCol="0">
            <a:spAutoFit/>
          </a:bodyPr>
          <a:lstStyle/>
          <a:p>
            <a:r>
              <a:rPr lang="en-US" altLang="zh-CN" sz="1400" i="1">
                <a:latin typeface="Times New Roman" panose="02020603050405020304" charset="0"/>
                <a:cs typeface="Times New Roman" panose="02020603050405020304" charset="0"/>
              </a:rPr>
              <a:t>H. Wu, Y. Wang, Y. Wang et al. Nuclear Inst. and Methods in Physics Research, A 1055 (2023) 168528</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a:sym typeface="+mn-ea"/>
              </a:rPr>
              <a:t>A Further more Motivation </a:t>
            </a:r>
            <a:r>
              <a:rPr lang="zh-CN" altLang="en-US">
                <a:sym typeface="+mn-ea"/>
              </a:rPr>
              <a:t>：</a:t>
            </a:r>
            <a:br>
              <a:rPr lang="zh-CN" altLang="en-US">
                <a:sym typeface="+mn-ea"/>
              </a:rPr>
            </a:br>
            <a:r>
              <a:rPr lang="en-US" altLang="zh-CN">
                <a:sym typeface="+mn-ea"/>
              </a:rPr>
              <a:t>High-Dimensional Connections</a:t>
            </a:r>
            <a:endParaRPr lang="en-US" altLang="zh-CN"/>
          </a:p>
        </p:txBody>
      </p:sp>
      <p:sp>
        <p:nvSpPr>
          <p:cNvPr id="2" name="日期占位符 1"/>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15</a:t>
            </a:fld>
            <a:endParaRPr lang="zh-CN" altLang="en-US"/>
          </a:p>
        </p:txBody>
      </p:sp>
      <p:pic>
        <p:nvPicPr>
          <p:cNvPr id="5" name="图片 4" descr="大脑"/>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5650" y="2194560"/>
            <a:ext cx="914400" cy="914400"/>
          </a:xfrm>
          <a:prstGeom prst="rect">
            <a:avLst/>
          </a:prstGeom>
        </p:spPr>
      </p:pic>
      <p:sp>
        <p:nvSpPr>
          <p:cNvPr id="8" name="文本框 7"/>
          <p:cNvSpPr txBox="1"/>
          <p:nvPr/>
        </p:nvSpPr>
        <p:spPr>
          <a:xfrm>
            <a:off x="685800" y="3658235"/>
            <a:ext cx="4064000" cy="119888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The human brain is good at thinking in two or three dimensions and can only process a limited number of variables at a time.</a:t>
            </a:r>
          </a:p>
        </p:txBody>
      </p:sp>
      <p:sp>
        <p:nvSpPr>
          <p:cNvPr id="9" name="文本框 8"/>
          <p:cNvSpPr txBox="1"/>
          <p:nvPr/>
        </p:nvSpPr>
        <p:spPr>
          <a:xfrm>
            <a:off x="6292850" y="3651885"/>
            <a:ext cx="5390515" cy="1476375"/>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AI models map positional relationships and concepts into a "</a:t>
            </a:r>
            <a:r>
              <a:rPr lang="en-US" altLang="zh-CN" b="1">
                <a:solidFill>
                  <a:srgbClr val="174994"/>
                </a:solidFill>
                <a:latin typeface="Times New Roman" panose="02020603050405020304" charset="0"/>
                <a:cs typeface="Times New Roman" panose="02020603050405020304" charset="0"/>
              </a:rPr>
              <a:t>latent space</a:t>
            </a:r>
            <a:r>
              <a:rPr lang="en-US" altLang="zh-CN">
                <a:latin typeface="Times New Roman" panose="02020603050405020304" charset="0"/>
                <a:cs typeface="Times New Roman" panose="02020603050405020304" charset="0"/>
              </a:rPr>
              <a:t>" containing hundreds even thousands of dimensions. In this high-dimensional space, two features that appear unrelated to humans may be close together due to some deep, abstract similarities. </a:t>
            </a:r>
          </a:p>
        </p:txBody>
      </p:sp>
      <p:pic>
        <p:nvPicPr>
          <p:cNvPr id="11" name="图片 10" descr="人工智能"/>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89900" y="1993265"/>
            <a:ext cx="1143635" cy="1143635"/>
          </a:xfrm>
          <a:prstGeom prst="rect">
            <a:avLst/>
          </a:prstGeom>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sym typeface="+mn-ea"/>
              </a:rPr>
              <a:t>An Automated, Two-Stage Workflow</a:t>
            </a:r>
          </a:p>
        </p:txBody>
      </p:sp>
      <p:sp>
        <p:nvSpPr>
          <p:cNvPr id="2" name="日期占位符 1"/>
          <p:cNvSpPr>
            <a:spLocks noGrp="1"/>
          </p:cNvSpPr>
          <p:nvPr>
            <p:ph type="dt" sz="half" idx="10"/>
          </p:nvPr>
        </p:nvSpPr>
        <p:spPr/>
        <p:txBody>
          <a:bodyPr/>
          <a:lstStyle/>
          <a:p>
            <a:fld id="{760FBDFE-C587-4B4C-A407-44438C67B59E}" type="datetime2">
              <a:rPr lang="en-US" altLang="en-US" smtClean="0">
                <a:latin typeface="Microsoft YaHei" panose="020B0503020204020204" charset="-122"/>
                <a:ea typeface="Microsoft YaHei" panose="020B0503020204020204" charset="-122"/>
              </a:rPr>
              <a:t>Sunday, April 12, 2026</a:t>
            </a:fld>
            <a:endParaRPr lang="en-US" altLang="en-US">
              <a:latin typeface="Microsoft YaHei" panose="020B0503020204020204" charset="-122"/>
              <a:ea typeface="Microsoft YaHei" panose="020B0503020204020204" charset="-122"/>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t>16</a:t>
            </a:fld>
            <a:endParaRPr lang="zh-CN" altLang="en-US"/>
          </a:p>
        </p:txBody>
      </p:sp>
      <p:sp>
        <p:nvSpPr>
          <p:cNvPr id="8" name="文本框 7"/>
          <p:cNvSpPr txBox="1"/>
          <p:nvPr/>
        </p:nvSpPr>
        <p:spPr>
          <a:xfrm>
            <a:off x="392430" y="1850390"/>
            <a:ext cx="1423035" cy="1936115"/>
          </a:xfrm>
          <a:prstGeom prst="rect">
            <a:avLst/>
          </a:prstGeom>
          <a:solidFill>
            <a:srgbClr val="174994"/>
          </a:solidFill>
          <a:ln w="19050" cmpd="sng">
            <a:noFill/>
            <a:prstDash val="solid"/>
          </a:ln>
        </p:spPr>
        <p:txBody>
          <a:bodyPr wrap="square" rtlCol="0" anchor="ctr" anchorCtr="0">
            <a:noAutofit/>
          </a:bodyPr>
          <a:lstStyle/>
          <a:p>
            <a:pPr algn="ctr"/>
            <a:r>
              <a:rPr lang="en-US" altLang="zh-CN" b="1">
                <a:solidFill>
                  <a:schemeClr val="bg1"/>
                </a:solidFill>
                <a:latin typeface="Microsoft YaHei" panose="020B0503020204020204" charset="-122"/>
                <a:ea typeface="Microsoft YaHei" panose="020B0503020204020204" charset="-122"/>
              </a:rPr>
              <a:t>Stage 1:</a:t>
            </a:r>
          </a:p>
          <a:p>
            <a:pPr algn="ctr">
              <a:lnSpc>
                <a:spcPct val="110000"/>
              </a:lnSpc>
            </a:pPr>
            <a:r>
              <a:rPr lang="en-US" altLang="zh-CN" b="1">
                <a:solidFill>
                  <a:schemeClr val="bg1"/>
                </a:solidFill>
                <a:latin typeface="Microsoft YaHei" panose="020B0503020204020204" charset="-122"/>
                <a:ea typeface="Microsoft YaHei" panose="020B0503020204020204" charset="-122"/>
              </a:rPr>
              <a:t>The Event Filter</a:t>
            </a:r>
          </a:p>
        </p:txBody>
      </p:sp>
      <p:sp>
        <p:nvSpPr>
          <p:cNvPr id="9" name="文本框 8"/>
          <p:cNvSpPr txBox="1"/>
          <p:nvPr/>
        </p:nvSpPr>
        <p:spPr>
          <a:xfrm>
            <a:off x="430530" y="4295140"/>
            <a:ext cx="1423035" cy="1822450"/>
          </a:xfrm>
          <a:prstGeom prst="rect">
            <a:avLst/>
          </a:prstGeom>
          <a:solidFill>
            <a:srgbClr val="174994"/>
          </a:solidFill>
          <a:ln w="19050" cmpd="sng">
            <a:noFill/>
            <a:prstDash val="solid"/>
          </a:ln>
        </p:spPr>
        <p:txBody>
          <a:bodyPr wrap="square" rtlCol="0" anchor="ctr" anchorCtr="0">
            <a:noAutofit/>
          </a:bodyPr>
          <a:lstStyle/>
          <a:p>
            <a:pPr algn="ctr"/>
            <a:r>
              <a:rPr lang="en-US" altLang="zh-CN" sz="1800" b="1">
                <a:solidFill>
                  <a:schemeClr val="bg1"/>
                </a:solidFill>
                <a:latin typeface="Microsoft YaHei" panose="020B0503020204020204" charset="-122"/>
                <a:ea typeface="Microsoft YaHei" panose="020B0503020204020204" charset="-122"/>
              </a:rPr>
              <a:t>Stage 2:</a:t>
            </a:r>
          </a:p>
          <a:p>
            <a:pPr algn="ctr">
              <a:lnSpc>
                <a:spcPct val="110000"/>
              </a:lnSpc>
            </a:pPr>
            <a:r>
              <a:rPr lang="en-US" altLang="zh-CN" sz="1800" b="1">
                <a:solidFill>
                  <a:schemeClr val="bg1"/>
                </a:solidFill>
                <a:latin typeface="Microsoft YaHei" panose="020B0503020204020204" charset="-122"/>
                <a:ea typeface="Microsoft YaHei" panose="020B0503020204020204" charset="-122"/>
              </a:rPr>
              <a:t>Detailed Analysis</a:t>
            </a:r>
          </a:p>
        </p:txBody>
      </p:sp>
      <p:sp>
        <p:nvSpPr>
          <p:cNvPr id="26" name="圆角矩形 25"/>
          <p:cNvSpPr/>
          <p:nvPr>
            <p:custDataLst>
              <p:tags r:id="rId2"/>
            </p:custDataLst>
          </p:nvPr>
        </p:nvSpPr>
        <p:spPr>
          <a:xfrm>
            <a:off x="2537460" y="1976755"/>
            <a:ext cx="1735455" cy="1499235"/>
          </a:xfrm>
          <a:prstGeom prst="roundRect">
            <a:avLst/>
          </a:prstGeom>
          <a:noFill/>
          <a:ln>
            <a:solidFill>
              <a:srgbClr val="1F293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Microsoft YaHei" panose="020B0503020204020204" charset="-122"/>
              <a:ea typeface="Microsoft YaHei" panose="020B0503020204020204" charset="-122"/>
            </a:endParaRPr>
          </a:p>
        </p:txBody>
      </p:sp>
      <p:sp>
        <p:nvSpPr>
          <p:cNvPr id="10" name="文本框 9"/>
          <p:cNvSpPr txBox="1"/>
          <p:nvPr>
            <p:custDataLst>
              <p:tags r:id="rId3"/>
            </p:custDataLst>
          </p:nvPr>
        </p:nvSpPr>
        <p:spPr>
          <a:xfrm>
            <a:off x="2569845" y="2261235"/>
            <a:ext cx="1703070" cy="895350"/>
          </a:xfrm>
          <a:prstGeom prst="rect">
            <a:avLst/>
          </a:prstGeom>
          <a:noFill/>
        </p:spPr>
        <p:txBody>
          <a:bodyPr wrap="square" rtlCol="0">
            <a:noAutofit/>
          </a:bodyPr>
          <a:lstStyle/>
          <a:p>
            <a:pPr algn="ctr"/>
            <a:r>
              <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t>Raw 3D Event Data</a:t>
            </a:r>
            <a:br>
              <a:rPr lang="en-US" altLang="zh-CN" sz="1400"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br>
            <a:r>
              <a:rPr lang="en-US" altLang="zh-CN" sz="1400">
                <a:solidFill>
                  <a:schemeClr val="tx1"/>
                </a:solidFill>
                <a:latin typeface="Microsoft YaHei" panose="020B0503020204020204" charset="-122"/>
                <a:ea typeface="Microsoft YaHei" panose="020B0503020204020204" charset="-122"/>
                <a:cs typeface="Times New Roman" panose="02020603050405020304" charset="0"/>
              </a:rPr>
              <a:t>(x,y,z,charge)</a:t>
            </a:r>
          </a:p>
        </p:txBody>
      </p:sp>
      <p:sp>
        <p:nvSpPr>
          <p:cNvPr id="11" name="文本框 10"/>
          <p:cNvSpPr txBox="1"/>
          <p:nvPr/>
        </p:nvSpPr>
        <p:spPr>
          <a:xfrm>
            <a:off x="2861945" y="1450975"/>
            <a:ext cx="1059815" cy="398780"/>
          </a:xfrm>
          <a:prstGeom prst="rect">
            <a:avLst/>
          </a:prstGeom>
          <a:noFill/>
        </p:spPr>
        <p:txBody>
          <a:bodyPr wrap="square" rtlCol="0">
            <a:spAutoFit/>
          </a:bodyPr>
          <a:lstStyle/>
          <a:p>
            <a:pPr algn="ctr">
              <a:buClrTx/>
              <a:buSzTx/>
              <a:buFontTx/>
            </a:pPr>
            <a:r>
              <a:rPr lang="en-US" altLang="zh-CN" sz="2000" b="1">
                <a:solidFill>
                  <a:schemeClr val="accent1">
                    <a:lumMod val="50000"/>
                  </a:schemeClr>
                </a:solidFill>
                <a:latin typeface="Microsoft YaHei" panose="020B0503020204020204" charset="-122"/>
                <a:ea typeface="Microsoft YaHei" panose="020B0503020204020204" charset="-122"/>
              </a:rPr>
              <a:t>Input</a:t>
            </a:r>
          </a:p>
        </p:txBody>
      </p:sp>
      <p:sp>
        <p:nvSpPr>
          <p:cNvPr id="12" name="圆角矩形 11"/>
          <p:cNvSpPr/>
          <p:nvPr>
            <p:custDataLst>
              <p:tags r:id="rId4"/>
            </p:custDataLst>
          </p:nvPr>
        </p:nvSpPr>
        <p:spPr>
          <a:xfrm>
            <a:off x="4912995" y="1986280"/>
            <a:ext cx="1735455" cy="1489075"/>
          </a:xfrm>
          <a:prstGeom prst="roundRect">
            <a:avLst/>
          </a:prstGeom>
          <a:noFill/>
          <a:ln>
            <a:solidFill>
              <a:srgbClr val="1F293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Microsoft YaHei" panose="020B0503020204020204" charset="-122"/>
              <a:ea typeface="Microsoft YaHei" panose="020B0503020204020204" charset="-122"/>
            </a:endParaRPr>
          </a:p>
        </p:txBody>
      </p:sp>
      <p:sp>
        <p:nvSpPr>
          <p:cNvPr id="13" name="文本框 12"/>
          <p:cNvSpPr txBox="1"/>
          <p:nvPr>
            <p:custDataLst>
              <p:tags r:id="rId5"/>
            </p:custDataLst>
          </p:nvPr>
        </p:nvSpPr>
        <p:spPr>
          <a:xfrm>
            <a:off x="4926330" y="2105660"/>
            <a:ext cx="1703070" cy="1276350"/>
          </a:xfrm>
          <a:prstGeom prst="rect">
            <a:avLst/>
          </a:prstGeom>
          <a:noFill/>
        </p:spPr>
        <p:txBody>
          <a:bodyPr wrap="square" rtlCol="0">
            <a:noAutofit/>
          </a:bodyPr>
          <a:lstStyle/>
          <a:p>
            <a:pPr algn="ctr">
              <a:buClrTx/>
              <a:buSzTx/>
              <a:buFontTx/>
            </a:pPr>
            <a:r>
              <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t>Project to 2D Dual-Channel Image</a:t>
            </a:r>
            <a:br>
              <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br>
            <a:r>
              <a:rPr lang="en-US" altLang="zh-CN" sz="1400">
                <a:latin typeface="Microsoft YaHei" panose="020B0503020204020204" charset="-122"/>
                <a:ea typeface="Microsoft YaHei" panose="020B0503020204020204" charset="-122"/>
                <a:cs typeface="Times New Roman" panose="02020603050405020304" charset="0"/>
              </a:rPr>
              <a:t>Charge - 0</a:t>
            </a:r>
          </a:p>
          <a:p>
            <a:pPr algn="ctr">
              <a:buClrTx/>
              <a:buSzTx/>
              <a:buFontTx/>
            </a:pPr>
            <a:r>
              <a:rPr lang="en-US" altLang="zh-CN" sz="1400">
                <a:latin typeface="Microsoft YaHei" panose="020B0503020204020204" charset="-122"/>
                <a:ea typeface="Microsoft YaHei" panose="020B0503020204020204" charset="-122"/>
                <a:cs typeface="Times New Roman" panose="02020603050405020304" charset="0"/>
              </a:rPr>
              <a:t>Drift Time - 1</a:t>
            </a:r>
            <a:br>
              <a:rPr lang="en-US" altLang="zh-CN" sz="1400">
                <a:latin typeface="Microsoft YaHei" panose="020B0503020204020204" charset="-122"/>
                <a:ea typeface="Microsoft YaHei" panose="020B0503020204020204" charset="-122"/>
                <a:cs typeface="Times New Roman" panose="02020603050405020304" charset="0"/>
              </a:rPr>
            </a:br>
            <a:br>
              <a:rPr lang="en-US" altLang="zh-CN" sz="1400"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br>
            <a:endParaRPr lang="en-US" altLang="zh-CN" sz="1400">
              <a:solidFill>
                <a:schemeClr val="tx1"/>
              </a:solidFill>
              <a:latin typeface="Microsoft YaHei" panose="020B0503020204020204" charset="-122"/>
              <a:ea typeface="Microsoft YaHei" panose="020B0503020204020204" charset="-122"/>
              <a:cs typeface="Times New Roman" panose="02020603050405020304" charset="0"/>
            </a:endParaRPr>
          </a:p>
        </p:txBody>
      </p:sp>
      <p:sp>
        <p:nvSpPr>
          <p:cNvPr id="14" name="文本框 13"/>
          <p:cNvSpPr txBox="1"/>
          <p:nvPr/>
        </p:nvSpPr>
        <p:spPr>
          <a:xfrm>
            <a:off x="4642485" y="1450975"/>
            <a:ext cx="2200275" cy="398780"/>
          </a:xfrm>
          <a:prstGeom prst="rect">
            <a:avLst/>
          </a:prstGeom>
          <a:noFill/>
        </p:spPr>
        <p:txBody>
          <a:bodyPr wrap="square" rtlCol="0">
            <a:spAutoFit/>
          </a:bodyPr>
          <a:lstStyle/>
          <a:p>
            <a:pPr algn="ctr">
              <a:buClrTx/>
              <a:buSzTx/>
              <a:buFontTx/>
            </a:pPr>
            <a:r>
              <a:rPr lang="en-US" altLang="zh-CN" sz="2000" b="1">
                <a:solidFill>
                  <a:schemeClr val="accent1">
                    <a:lumMod val="50000"/>
                  </a:schemeClr>
                </a:solidFill>
                <a:latin typeface="Microsoft YaHei" panose="020B0503020204020204" charset="-122"/>
                <a:ea typeface="Microsoft YaHei" panose="020B0503020204020204" charset="-122"/>
              </a:rPr>
              <a:t>Preprocessing</a:t>
            </a:r>
          </a:p>
        </p:txBody>
      </p:sp>
      <p:sp>
        <p:nvSpPr>
          <p:cNvPr id="15" name="圆角矩形 14"/>
          <p:cNvSpPr/>
          <p:nvPr>
            <p:custDataLst>
              <p:tags r:id="rId6"/>
            </p:custDataLst>
          </p:nvPr>
        </p:nvSpPr>
        <p:spPr>
          <a:xfrm>
            <a:off x="7161530" y="1976755"/>
            <a:ext cx="1735455" cy="1498600"/>
          </a:xfrm>
          <a:prstGeom prst="roundRect">
            <a:avLst/>
          </a:prstGeom>
          <a:solidFill>
            <a:schemeClr val="bg1"/>
          </a:solidFill>
          <a:ln>
            <a:solidFill>
              <a:srgbClr val="1F293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Microsoft YaHei" panose="020B0503020204020204" charset="-122"/>
              <a:ea typeface="Microsoft YaHei" panose="020B0503020204020204" charset="-122"/>
            </a:endParaRPr>
          </a:p>
        </p:txBody>
      </p:sp>
      <p:sp>
        <p:nvSpPr>
          <p:cNvPr id="16" name="文本框 15"/>
          <p:cNvSpPr txBox="1"/>
          <p:nvPr>
            <p:custDataLst>
              <p:tags r:id="rId7"/>
            </p:custDataLst>
          </p:nvPr>
        </p:nvSpPr>
        <p:spPr>
          <a:xfrm>
            <a:off x="7176770" y="2301240"/>
            <a:ext cx="1703070" cy="1063625"/>
          </a:xfrm>
          <a:prstGeom prst="rect">
            <a:avLst/>
          </a:prstGeom>
          <a:noFill/>
        </p:spPr>
        <p:txBody>
          <a:bodyPr wrap="square" rtlCol="0">
            <a:noAutofit/>
          </a:bodyPr>
          <a:lstStyle/>
          <a:p>
            <a:pPr algn="ctr"/>
            <a:r>
              <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t>ResNet-18</a:t>
            </a:r>
          </a:p>
          <a:p>
            <a:pPr algn="ctr"/>
            <a:r>
              <a:rPr lang="en-US" altLang="zh-CN" sz="1400">
                <a:solidFill>
                  <a:schemeClr val="tx1"/>
                </a:solidFill>
                <a:latin typeface="Microsoft YaHei" panose="020B0503020204020204" charset="-122"/>
                <a:ea typeface="Microsoft YaHei" panose="020B0503020204020204" charset="-122"/>
                <a:cs typeface="Times New Roman" panose="02020603050405020304" charset="0"/>
              </a:rPr>
              <a:t>Binary Classifier</a:t>
            </a:r>
          </a:p>
        </p:txBody>
      </p:sp>
      <p:sp>
        <p:nvSpPr>
          <p:cNvPr id="17" name="文本框 16"/>
          <p:cNvSpPr txBox="1"/>
          <p:nvPr/>
        </p:nvSpPr>
        <p:spPr>
          <a:xfrm>
            <a:off x="7486015" y="1441450"/>
            <a:ext cx="1059815" cy="398780"/>
          </a:xfrm>
          <a:prstGeom prst="rect">
            <a:avLst/>
          </a:prstGeom>
          <a:noFill/>
        </p:spPr>
        <p:txBody>
          <a:bodyPr wrap="square" rtlCol="0">
            <a:spAutoFit/>
          </a:bodyPr>
          <a:lstStyle/>
          <a:p>
            <a:pPr algn="ctr">
              <a:buClrTx/>
              <a:buSzTx/>
              <a:buFontTx/>
            </a:pPr>
            <a:r>
              <a:rPr lang="en-US" altLang="zh-CN" sz="2000" b="1">
                <a:solidFill>
                  <a:schemeClr val="accent1">
                    <a:lumMod val="50000"/>
                  </a:schemeClr>
                </a:solidFill>
                <a:latin typeface="Microsoft YaHei" panose="020B0503020204020204" charset="-122"/>
                <a:ea typeface="Microsoft YaHei" panose="020B0503020204020204" charset="-122"/>
              </a:rPr>
              <a:t>Model</a:t>
            </a:r>
          </a:p>
        </p:txBody>
      </p:sp>
      <p:sp>
        <p:nvSpPr>
          <p:cNvPr id="18" name="圆角矩形 17"/>
          <p:cNvSpPr/>
          <p:nvPr>
            <p:custDataLst>
              <p:tags r:id="rId8"/>
            </p:custDataLst>
          </p:nvPr>
        </p:nvSpPr>
        <p:spPr>
          <a:xfrm>
            <a:off x="9403715" y="1986280"/>
            <a:ext cx="1735455" cy="1489075"/>
          </a:xfrm>
          <a:prstGeom prst="roundRect">
            <a:avLst/>
          </a:prstGeom>
          <a:solidFill>
            <a:srgbClr val="79AE72"/>
          </a:solidFill>
          <a:ln>
            <a:solidFill>
              <a:srgbClr val="1F293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Microsoft YaHei" panose="020B0503020204020204" charset="-122"/>
              <a:ea typeface="Microsoft YaHei" panose="020B0503020204020204" charset="-122"/>
            </a:endParaRPr>
          </a:p>
        </p:txBody>
      </p:sp>
      <p:sp>
        <p:nvSpPr>
          <p:cNvPr id="19" name="文本框 18"/>
          <p:cNvSpPr txBox="1"/>
          <p:nvPr>
            <p:custDataLst>
              <p:tags r:id="rId9"/>
            </p:custDataLst>
          </p:nvPr>
        </p:nvSpPr>
        <p:spPr>
          <a:xfrm>
            <a:off x="9436100" y="2273935"/>
            <a:ext cx="1703070" cy="895350"/>
          </a:xfrm>
          <a:prstGeom prst="rect">
            <a:avLst/>
          </a:prstGeom>
          <a:noFill/>
        </p:spPr>
        <p:txBody>
          <a:bodyPr wrap="square" rtlCol="0">
            <a:noAutofit/>
          </a:bodyPr>
          <a:lstStyle/>
          <a:p>
            <a:pPr algn="ctr"/>
            <a:r>
              <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t>EventLabel</a:t>
            </a:r>
            <a:endParaRPr lang="en-US" altLang="zh-CN" b="1">
              <a:solidFill>
                <a:srgbClr val="6DDF9C"/>
              </a:solidFill>
              <a:latin typeface="Microsoft YaHei" panose="020B0503020204020204" charset="-122"/>
              <a:ea typeface="Microsoft YaHei" panose="020B0503020204020204" charset="-122"/>
              <a:cs typeface="Times New Roman" panose="02020603050405020304" charset="0"/>
            </a:endParaRPr>
          </a:p>
          <a:p>
            <a:pPr algn="ctr">
              <a:buClrTx/>
              <a:buSzTx/>
              <a:buFontTx/>
            </a:pPr>
            <a:r>
              <a:rPr lang="en-US" altLang="zh-CN" sz="1400">
                <a:latin typeface="Microsoft YaHei" panose="020B0503020204020204" charset="-122"/>
                <a:ea typeface="Microsoft YaHei" panose="020B0503020204020204" charset="-122"/>
                <a:cs typeface="Times New Roman" panose="02020603050405020304" charset="0"/>
              </a:rPr>
              <a:t>Proton_event or other</a:t>
            </a:r>
          </a:p>
        </p:txBody>
      </p:sp>
      <p:sp>
        <p:nvSpPr>
          <p:cNvPr id="20" name="文本框 19"/>
          <p:cNvSpPr txBox="1"/>
          <p:nvPr/>
        </p:nvSpPr>
        <p:spPr>
          <a:xfrm>
            <a:off x="9569450" y="1450975"/>
            <a:ext cx="1318895" cy="398780"/>
          </a:xfrm>
          <a:prstGeom prst="rect">
            <a:avLst/>
          </a:prstGeom>
          <a:noFill/>
        </p:spPr>
        <p:txBody>
          <a:bodyPr wrap="square" rtlCol="0">
            <a:spAutoFit/>
          </a:bodyPr>
          <a:lstStyle/>
          <a:p>
            <a:pPr algn="ctr">
              <a:buClrTx/>
              <a:buSzTx/>
              <a:buFontTx/>
            </a:pPr>
            <a:r>
              <a:rPr lang="en-US" altLang="zh-CN" sz="2000" b="1">
                <a:solidFill>
                  <a:schemeClr val="accent1">
                    <a:lumMod val="50000"/>
                  </a:schemeClr>
                </a:solidFill>
                <a:latin typeface="Microsoft YaHei" panose="020B0503020204020204" charset="-122"/>
                <a:ea typeface="Microsoft YaHei" panose="020B0503020204020204" charset="-122"/>
              </a:rPr>
              <a:t>Output</a:t>
            </a:r>
          </a:p>
        </p:txBody>
      </p:sp>
      <p:sp>
        <p:nvSpPr>
          <p:cNvPr id="21" name="圆角矩形 20"/>
          <p:cNvSpPr/>
          <p:nvPr>
            <p:custDataLst>
              <p:tags r:id="rId10"/>
            </p:custDataLst>
          </p:nvPr>
        </p:nvSpPr>
        <p:spPr>
          <a:xfrm>
            <a:off x="2569845" y="4431665"/>
            <a:ext cx="1735455" cy="1692275"/>
          </a:xfrm>
          <a:prstGeom prst="roundRect">
            <a:avLst/>
          </a:prstGeom>
          <a:solidFill>
            <a:srgbClr val="79AE72"/>
          </a:solidFill>
          <a:ln>
            <a:solidFill>
              <a:srgbClr val="1F293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Microsoft YaHei" panose="020B0503020204020204" charset="-122"/>
              <a:ea typeface="Microsoft YaHei" panose="020B0503020204020204" charset="-122"/>
            </a:endParaRPr>
          </a:p>
        </p:txBody>
      </p:sp>
      <p:sp>
        <p:nvSpPr>
          <p:cNvPr id="22" name="文本框 21"/>
          <p:cNvSpPr txBox="1"/>
          <p:nvPr>
            <p:custDataLst>
              <p:tags r:id="rId11"/>
            </p:custDataLst>
          </p:nvPr>
        </p:nvSpPr>
        <p:spPr>
          <a:xfrm>
            <a:off x="2602230" y="4706620"/>
            <a:ext cx="1703070" cy="895350"/>
          </a:xfrm>
          <a:prstGeom prst="rect">
            <a:avLst/>
          </a:prstGeom>
          <a:noFill/>
        </p:spPr>
        <p:txBody>
          <a:bodyPr wrap="square" rtlCol="0">
            <a:noAutofit/>
          </a:bodyPr>
          <a:lstStyle/>
          <a:p>
            <a:pPr algn="ctr"/>
            <a:r>
              <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t>Filtered</a:t>
            </a:r>
          </a:p>
          <a:p>
            <a:pPr algn="ctr"/>
            <a:r>
              <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t> 3D events</a:t>
            </a:r>
            <a:br>
              <a:rPr lang="en-US" altLang="zh-CN" sz="1400"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br>
            <a:r>
              <a:rPr lang="en-US" altLang="zh-CN" sz="1400">
                <a:solidFill>
                  <a:schemeClr val="tx1"/>
                </a:solidFill>
                <a:latin typeface="Microsoft YaHei" panose="020B0503020204020204" charset="-122"/>
                <a:ea typeface="Microsoft YaHei" panose="020B0503020204020204" charset="-122"/>
                <a:cs typeface="Times New Roman" panose="02020603050405020304" charset="0"/>
              </a:rPr>
              <a:t>Filetered by Stage 1</a:t>
            </a:r>
          </a:p>
        </p:txBody>
      </p:sp>
      <p:sp>
        <p:nvSpPr>
          <p:cNvPr id="23" name="文本框 22"/>
          <p:cNvSpPr txBox="1"/>
          <p:nvPr/>
        </p:nvSpPr>
        <p:spPr>
          <a:xfrm>
            <a:off x="2894330" y="3896360"/>
            <a:ext cx="1059815" cy="398780"/>
          </a:xfrm>
          <a:prstGeom prst="rect">
            <a:avLst/>
          </a:prstGeom>
          <a:noFill/>
        </p:spPr>
        <p:txBody>
          <a:bodyPr wrap="square" rtlCol="0">
            <a:spAutoFit/>
          </a:bodyPr>
          <a:lstStyle/>
          <a:p>
            <a:pPr algn="ctr">
              <a:buClrTx/>
              <a:buSzTx/>
              <a:buFontTx/>
            </a:pPr>
            <a:r>
              <a:rPr lang="en-US" altLang="zh-CN" sz="2000" b="1">
                <a:solidFill>
                  <a:schemeClr val="accent1">
                    <a:lumMod val="50000"/>
                  </a:schemeClr>
                </a:solidFill>
                <a:latin typeface="Microsoft YaHei" panose="020B0503020204020204" charset="-122"/>
                <a:ea typeface="Microsoft YaHei" panose="020B0503020204020204" charset="-122"/>
              </a:rPr>
              <a:t>Input</a:t>
            </a:r>
          </a:p>
        </p:txBody>
      </p:sp>
      <p:sp>
        <p:nvSpPr>
          <p:cNvPr id="24" name="圆角矩形 23"/>
          <p:cNvSpPr/>
          <p:nvPr>
            <p:custDataLst>
              <p:tags r:id="rId12"/>
            </p:custDataLst>
          </p:nvPr>
        </p:nvSpPr>
        <p:spPr>
          <a:xfrm>
            <a:off x="4935855" y="4425315"/>
            <a:ext cx="1735455" cy="1692275"/>
          </a:xfrm>
          <a:prstGeom prst="roundRect">
            <a:avLst/>
          </a:prstGeom>
          <a:noFill/>
          <a:ln>
            <a:solidFill>
              <a:srgbClr val="1F293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Microsoft YaHei" panose="020B0503020204020204" charset="-122"/>
              <a:ea typeface="Microsoft YaHei" panose="020B0503020204020204" charset="-122"/>
            </a:endParaRPr>
          </a:p>
        </p:txBody>
      </p:sp>
      <p:sp>
        <p:nvSpPr>
          <p:cNvPr id="25" name="文本框 24"/>
          <p:cNvSpPr txBox="1"/>
          <p:nvPr>
            <p:custDataLst>
              <p:tags r:id="rId13"/>
            </p:custDataLst>
          </p:nvPr>
        </p:nvSpPr>
        <p:spPr>
          <a:xfrm>
            <a:off x="4888230" y="4496435"/>
            <a:ext cx="1811655" cy="895350"/>
          </a:xfrm>
          <a:prstGeom prst="rect">
            <a:avLst/>
          </a:prstGeom>
          <a:noFill/>
        </p:spPr>
        <p:txBody>
          <a:bodyPr wrap="square" rtlCol="0">
            <a:noAutofit/>
          </a:bodyPr>
          <a:lstStyle/>
          <a:p>
            <a:pPr algn="ctr"/>
            <a:r>
              <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t>3D Clustering to find individual tracks</a:t>
            </a:r>
          </a:p>
          <a:p>
            <a:pPr algn="ctr"/>
            <a:r>
              <a:rPr lang="en-US" altLang="zh-CN" sz="1400">
                <a:solidFill>
                  <a:schemeClr val="tx1"/>
                </a:solidFill>
                <a:latin typeface="Microsoft YaHei" panose="020B0503020204020204" charset="-122"/>
                <a:ea typeface="Microsoft YaHei" panose="020B0503020204020204" charset="-122"/>
                <a:cs typeface="Times New Roman" panose="02020603050405020304" charset="0"/>
              </a:rPr>
              <a:t>DBSCAN/</a:t>
            </a:r>
          </a:p>
          <a:p>
            <a:pPr algn="ctr"/>
            <a:r>
              <a:rPr lang="en-US" altLang="zh-CN" sz="1400">
                <a:solidFill>
                  <a:schemeClr val="tx1"/>
                </a:solidFill>
                <a:latin typeface="Microsoft YaHei" panose="020B0503020204020204" charset="-122"/>
                <a:ea typeface="Microsoft YaHei" panose="020B0503020204020204" charset="-122"/>
                <a:cs typeface="Times New Roman" panose="02020603050405020304" charset="0"/>
              </a:rPr>
              <a:t>HDBSCAN</a:t>
            </a:r>
          </a:p>
        </p:txBody>
      </p:sp>
      <p:sp>
        <p:nvSpPr>
          <p:cNvPr id="27" name="文本框 26"/>
          <p:cNvSpPr txBox="1"/>
          <p:nvPr/>
        </p:nvSpPr>
        <p:spPr>
          <a:xfrm>
            <a:off x="4718685" y="3890010"/>
            <a:ext cx="2060575" cy="398780"/>
          </a:xfrm>
          <a:prstGeom prst="rect">
            <a:avLst/>
          </a:prstGeom>
          <a:noFill/>
        </p:spPr>
        <p:txBody>
          <a:bodyPr wrap="square" rtlCol="0">
            <a:spAutoFit/>
          </a:bodyPr>
          <a:lstStyle/>
          <a:p>
            <a:pPr algn="ctr">
              <a:buClrTx/>
              <a:buSzTx/>
              <a:buFontTx/>
            </a:pPr>
            <a:r>
              <a:rPr lang="en-US" altLang="zh-CN" sz="2000" b="1">
                <a:solidFill>
                  <a:schemeClr val="accent1">
                    <a:lumMod val="50000"/>
                  </a:schemeClr>
                </a:solidFill>
                <a:latin typeface="Microsoft YaHei" panose="020B0503020204020204" charset="-122"/>
                <a:ea typeface="Microsoft YaHei" panose="020B0503020204020204" charset="-122"/>
              </a:rPr>
              <a:t>Segmentation</a:t>
            </a:r>
          </a:p>
        </p:txBody>
      </p:sp>
      <p:sp>
        <p:nvSpPr>
          <p:cNvPr id="28" name="圆角矩形 27"/>
          <p:cNvSpPr/>
          <p:nvPr>
            <p:custDataLst>
              <p:tags r:id="rId14"/>
            </p:custDataLst>
          </p:nvPr>
        </p:nvSpPr>
        <p:spPr>
          <a:xfrm>
            <a:off x="7214870" y="4425315"/>
            <a:ext cx="1735455" cy="1692275"/>
          </a:xfrm>
          <a:prstGeom prst="roundRect">
            <a:avLst/>
          </a:prstGeom>
          <a:noFill/>
          <a:ln>
            <a:solidFill>
              <a:srgbClr val="1F293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Microsoft YaHei" panose="020B0503020204020204" charset="-122"/>
              <a:ea typeface="Microsoft YaHei" panose="020B0503020204020204" charset="-122"/>
            </a:endParaRPr>
          </a:p>
        </p:txBody>
      </p:sp>
      <p:sp>
        <p:nvSpPr>
          <p:cNvPr id="29" name="文本框 28"/>
          <p:cNvSpPr txBox="1"/>
          <p:nvPr>
            <p:custDataLst>
              <p:tags r:id="rId15"/>
            </p:custDataLst>
          </p:nvPr>
        </p:nvSpPr>
        <p:spPr>
          <a:xfrm>
            <a:off x="7247255" y="4700270"/>
            <a:ext cx="1703070" cy="895350"/>
          </a:xfrm>
          <a:prstGeom prst="rect">
            <a:avLst/>
          </a:prstGeom>
          <a:noFill/>
        </p:spPr>
        <p:txBody>
          <a:bodyPr wrap="square" rtlCol="0">
            <a:noAutofit/>
          </a:bodyPr>
          <a:lstStyle/>
          <a:p>
            <a:pPr algn="ctr"/>
            <a:r>
              <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t>Classify each track via CNN</a:t>
            </a:r>
          </a:p>
          <a:p>
            <a:pPr algn="ctr"/>
            <a:r>
              <a:rPr lang="en-US" altLang="zh-CN" sz="1400">
                <a:solidFill>
                  <a:schemeClr val="tx1"/>
                </a:solidFill>
                <a:latin typeface="Microsoft YaHei" panose="020B0503020204020204" charset="-122"/>
                <a:ea typeface="Microsoft YaHei" panose="020B0503020204020204" charset="-122"/>
                <a:cs typeface="Times New Roman" panose="02020603050405020304" charset="0"/>
              </a:rPr>
              <a:t>proton,alpha,etc.</a:t>
            </a:r>
          </a:p>
        </p:txBody>
      </p:sp>
      <p:sp>
        <p:nvSpPr>
          <p:cNvPr id="30" name="文本框 29"/>
          <p:cNvSpPr txBox="1"/>
          <p:nvPr/>
        </p:nvSpPr>
        <p:spPr>
          <a:xfrm>
            <a:off x="7106285" y="3890010"/>
            <a:ext cx="1901190" cy="398780"/>
          </a:xfrm>
          <a:prstGeom prst="rect">
            <a:avLst/>
          </a:prstGeom>
          <a:noFill/>
        </p:spPr>
        <p:txBody>
          <a:bodyPr wrap="square" rtlCol="0">
            <a:spAutoFit/>
          </a:bodyPr>
          <a:lstStyle/>
          <a:p>
            <a:pPr algn="ctr">
              <a:buClrTx/>
              <a:buSzTx/>
              <a:buFontTx/>
            </a:pPr>
            <a:r>
              <a:rPr lang="en-US" altLang="zh-CN" sz="2000" b="1">
                <a:solidFill>
                  <a:schemeClr val="accent1">
                    <a:lumMod val="50000"/>
                  </a:schemeClr>
                </a:solidFill>
                <a:latin typeface="Microsoft YaHei" panose="020B0503020204020204" charset="-122"/>
                <a:ea typeface="Microsoft YaHei" panose="020B0503020204020204" charset="-122"/>
              </a:rPr>
              <a:t>Identification</a:t>
            </a:r>
          </a:p>
        </p:txBody>
      </p:sp>
      <p:sp>
        <p:nvSpPr>
          <p:cNvPr id="31" name="圆角矩形 30"/>
          <p:cNvSpPr/>
          <p:nvPr>
            <p:custDataLst>
              <p:tags r:id="rId16"/>
            </p:custDataLst>
          </p:nvPr>
        </p:nvSpPr>
        <p:spPr>
          <a:xfrm>
            <a:off x="9408160" y="4431665"/>
            <a:ext cx="1735455" cy="1692275"/>
          </a:xfrm>
          <a:prstGeom prst="roundRect">
            <a:avLst/>
          </a:prstGeom>
          <a:noFill/>
          <a:ln>
            <a:solidFill>
              <a:srgbClr val="1F293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Microsoft YaHei" panose="020B0503020204020204" charset="-122"/>
              <a:ea typeface="Microsoft YaHei" panose="020B0503020204020204" charset="-122"/>
            </a:endParaRPr>
          </a:p>
        </p:txBody>
      </p:sp>
      <p:sp>
        <p:nvSpPr>
          <p:cNvPr id="32" name="文本框 31"/>
          <p:cNvSpPr txBox="1"/>
          <p:nvPr>
            <p:custDataLst>
              <p:tags r:id="rId17"/>
            </p:custDataLst>
          </p:nvPr>
        </p:nvSpPr>
        <p:spPr>
          <a:xfrm>
            <a:off x="9440545" y="4598035"/>
            <a:ext cx="1703070" cy="895350"/>
          </a:xfrm>
          <a:prstGeom prst="rect">
            <a:avLst/>
          </a:prstGeom>
          <a:noFill/>
        </p:spPr>
        <p:txBody>
          <a:bodyPr wrap="square" rtlCol="0">
            <a:noAutofit/>
          </a:bodyPr>
          <a:lstStyle/>
          <a:p>
            <a:pPr algn="ctr"/>
            <a:r>
              <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t>Predict Physics Parameters</a:t>
            </a:r>
            <a:br>
              <a:rPr lang="en-US" altLang="zh-CN" sz="1400"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br>
            <a:r>
              <a:rPr lang="en-US" altLang="zh-CN" sz="1400">
                <a:latin typeface="Microsoft YaHei" panose="020B0503020204020204" charset="-122"/>
                <a:ea typeface="Microsoft YaHei" panose="020B0503020204020204" charset="-122"/>
                <a:cs typeface="Times New Roman" panose="02020603050405020304" charset="0"/>
              </a:rPr>
              <a:t>E</a:t>
            </a:r>
            <a:r>
              <a:rPr lang="en-US" altLang="zh-CN" sz="1400">
                <a:solidFill>
                  <a:schemeClr val="tx1"/>
                </a:solidFill>
                <a:latin typeface="Microsoft YaHei" panose="020B0503020204020204" charset="-122"/>
                <a:ea typeface="Microsoft YaHei" panose="020B0503020204020204" charset="-122"/>
                <a:cs typeface="Times New Roman" panose="02020603050405020304" charset="0"/>
              </a:rPr>
              <a:t>nergy,Angle,Vertex</a:t>
            </a:r>
          </a:p>
        </p:txBody>
      </p:sp>
      <p:sp>
        <p:nvSpPr>
          <p:cNvPr id="33" name="文本框 32"/>
          <p:cNvSpPr txBox="1"/>
          <p:nvPr/>
        </p:nvSpPr>
        <p:spPr>
          <a:xfrm>
            <a:off x="9403715" y="3896360"/>
            <a:ext cx="1762125" cy="398780"/>
          </a:xfrm>
          <a:prstGeom prst="rect">
            <a:avLst/>
          </a:prstGeom>
          <a:noFill/>
        </p:spPr>
        <p:txBody>
          <a:bodyPr wrap="square" rtlCol="0">
            <a:spAutoFit/>
          </a:bodyPr>
          <a:lstStyle/>
          <a:p>
            <a:pPr algn="ctr">
              <a:buClrTx/>
              <a:buSzTx/>
              <a:buFontTx/>
            </a:pPr>
            <a:r>
              <a:rPr lang="en-US" altLang="zh-CN" sz="2000" b="1">
                <a:solidFill>
                  <a:schemeClr val="accent1">
                    <a:lumMod val="50000"/>
                  </a:schemeClr>
                </a:solidFill>
                <a:latin typeface="Microsoft YaHei" panose="020B0503020204020204" charset="-122"/>
                <a:ea typeface="Microsoft YaHei" panose="020B0503020204020204" charset="-122"/>
              </a:rPr>
              <a:t>Regression</a:t>
            </a:r>
          </a:p>
        </p:txBody>
      </p:sp>
      <p:cxnSp>
        <p:nvCxnSpPr>
          <p:cNvPr id="34" name="直接箭头连接符 33"/>
          <p:cNvCxnSpPr/>
          <p:nvPr/>
        </p:nvCxnSpPr>
        <p:spPr>
          <a:xfrm flipV="1">
            <a:off x="4259580" y="2831465"/>
            <a:ext cx="628650" cy="4445"/>
          </a:xfrm>
          <a:prstGeom prst="straightConnector1">
            <a:avLst/>
          </a:prstGeom>
          <a:ln>
            <a:solidFill>
              <a:srgbClr val="152379"/>
            </a:solidFill>
            <a:tailEnd type="arrow"/>
          </a:ln>
        </p:spPr>
        <p:style>
          <a:lnRef idx="2">
            <a:schemeClr val="accent1"/>
          </a:lnRef>
          <a:fillRef idx="0">
            <a:srgbClr val="FFFFFF"/>
          </a:fillRef>
          <a:effectRef idx="0">
            <a:srgbClr val="FFFFFF"/>
          </a:effectRef>
          <a:fontRef idx="minor">
            <a:schemeClr val="tx1"/>
          </a:fontRef>
        </p:style>
      </p:cxnSp>
      <p:cxnSp>
        <p:nvCxnSpPr>
          <p:cNvPr id="35" name="直接箭头连接符 34"/>
          <p:cNvCxnSpPr/>
          <p:nvPr/>
        </p:nvCxnSpPr>
        <p:spPr>
          <a:xfrm flipV="1">
            <a:off x="6648450" y="2825115"/>
            <a:ext cx="506730" cy="6350"/>
          </a:xfrm>
          <a:prstGeom prst="straightConnector1">
            <a:avLst/>
          </a:prstGeom>
          <a:ln>
            <a:solidFill>
              <a:srgbClr val="152379"/>
            </a:solidFill>
            <a:tailEnd type="arrow"/>
          </a:ln>
        </p:spPr>
        <p:style>
          <a:lnRef idx="2">
            <a:schemeClr val="accent1"/>
          </a:lnRef>
          <a:fillRef idx="0">
            <a:srgbClr val="FFFFFF"/>
          </a:fillRef>
          <a:effectRef idx="0">
            <a:srgbClr val="FFFFFF"/>
          </a:effectRef>
          <a:fontRef idx="minor">
            <a:schemeClr val="tx1"/>
          </a:fontRef>
        </p:style>
      </p:cxnSp>
      <p:cxnSp>
        <p:nvCxnSpPr>
          <p:cNvPr id="36" name="直接箭头连接符 35"/>
          <p:cNvCxnSpPr/>
          <p:nvPr/>
        </p:nvCxnSpPr>
        <p:spPr>
          <a:xfrm>
            <a:off x="8879840" y="2840355"/>
            <a:ext cx="520700" cy="1905"/>
          </a:xfrm>
          <a:prstGeom prst="straightConnector1">
            <a:avLst/>
          </a:prstGeom>
          <a:ln>
            <a:solidFill>
              <a:srgbClr val="152379"/>
            </a:solidFill>
            <a:tailEnd type="arrow"/>
          </a:ln>
        </p:spPr>
        <p:style>
          <a:lnRef idx="2">
            <a:schemeClr val="accent1"/>
          </a:lnRef>
          <a:fillRef idx="0">
            <a:srgbClr val="FFFFFF"/>
          </a:fillRef>
          <a:effectRef idx="0">
            <a:srgbClr val="FFFFFF"/>
          </a:effectRef>
          <a:fontRef idx="minor">
            <a:schemeClr val="tx1"/>
          </a:fontRef>
        </p:style>
      </p:cxnSp>
      <p:cxnSp>
        <p:nvCxnSpPr>
          <p:cNvPr id="37" name="直接箭头连接符 36"/>
          <p:cNvCxnSpPr/>
          <p:nvPr/>
        </p:nvCxnSpPr>
        <p:spPr>
          <a:xfrm flipV="1">
            <a:off x="4307205" y="5469890"/>
            <a:ext cx="628650" cy="4445"/>
          </a:xfrm>
          <a:prstGeom prst="straightConnector1">
            <a:avLst/>
          </a:prstGeom>
          <a:ln>
            <a:solidFill>
              <a:srgbClr val="152379"/>
            </a:solidFill>
            <a:tailEnd type="arrow"/>
          </a:ln>
        </p:spPr>
        <p:style>
          <a:lnRef idx="2">
            <a:schemeClr val="accent1"/>
          </a:lnRef>
          <a:fillRef idx="0">
            <a:srgbClr val="FFFFFF"/>
          </a:fillRef>
          <a:effectRef idx="0">
            <a:srgbClr val="FFFFFF"/>
          </a:effectRef>
          <a:fontRef idx="minor">
            <a:schemeClr val="tx1"/>
          </a:fontRef>
        </p:style>
      </p:cxnSp>
      <p:cxnSp>
        <p:nvCxnSpPr>
          <p:cNvPr id="38" name="直接箭头连接符 37"/>
          <p:cNvCxnSpPr/>
          <p:nvPr/>
        </p:nvCxnSpPr>
        <p:spPr>
          <a:xfrm flipV="1">
            <a:off x="6671310" y="5475605"/>
            <a:ext cx="531495" cy="3175"/>
          </a:xfrm>
          <a:prstGeom prst="straightConnector1">
            <a:avLst/>
          </a:prstGeom>
          <a:ln>
            <a:solidFill>
              <a:srgbClr val="152379"/>
            </a:solidFill>
            <a:tailEnd type="arrow"/>
          </a:ln>
        </p:spPr>
        <p:style>
          <a:lnRef idx="2">
            <a:schemeClr val="accent1"/>
          </a:lnRef>
          <a:fillRef idx="0">
            <a:srgbClr val="FFFFFF"/>
          </a:fillRef>
          <a:effectRef idx="0">
            <a:srgbClr val="FFFFFF"/>
          </a:effectRef>
          <a:fontRef idx="minor">
            <a:schemeClr val="tx1"/>
          </a:fontRef>
        </p:style>
      </p:cxnSp>
      <p:cxnSp>
        <p:nvCxnSpPr>
          <p:cNvPr id="39" name="直接箭头连接符 38"/>
          <p:cNvCxnSpPr/>
          <p:nvPr/>
        </p:nvCxnSpPr>
        <p:spPr>
          <a:xfrm>
            <a:off x="8925560" y="5463540"/>
            <a:ext cx="482600" cy="0"/>
          </a:xfrm>
          <a:prstGeom prst="straightConnector1">
            <a:avLst/>
          </a:prstGeom>
          <a:ln>
            <a:solidFill>
              <a:srgbClr val="152379"/>
            </a:solidFill>
            <a:tailEnd type="arrow"/>
          </a:ln>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t>N.Further Explanations</a:t>
            </a:r>
          </a:p>
        </p:txBody>
      </p:sp>
      <p:sp>
        <p:nvSpPr>
          <p:cNvPr id="2" name="日期占位符 1"/>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17</a:t>
            </a:fld>
            <a:endParaRPr lang="zh-CN" altLang="en-US"/>
          </a:p>
        </p:txBody>
      </p:sp>
      <p:pic>
        <p:nvPicPr>
          <p:cNvPr id="5" name="图片 4"/>
          <p:cNvPicPr>
            <a:picLocks noChangeAspect="1"/>
          </p:cNvPicPr>
          <p:nvPr/>
        </p:nvPicPr>
        <p:blipFill>
          <a:blip r:embed="rId3"/>
          <a:stretch>
            <a:fillRect/>
          </a:stretch>
        </p:blipFill>
        <p:spPr>
          <a:xfrm>
            <a:off x="3068320" y="1150620"/>
            <a:ext cx="5898515" cy="5238115"/>
          </a:xfrm>
          <a:prstGeom prst="rect">
            <a:avLst/>
          </a:prstGeom>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6230" y="219710"/>
            <a:ext cx="10854690" cy="705485"/>
          </a:xfrm>
        </p:spPr>
        <p:txBody>
          <a:bodyPr>
            <a:normAutofit/>
          </a:bodyPr>
          <a:lstStyle/>
          <a:p>
            <a:r>
              <a:rPr lang="en-US" altLang="zh-CN">
                <a:sym typeface="+mn-ea"/>
              </a:rPr>
              <a:t>Cross-Attention Performance </a:t>
            </a:r>
            <a:endParaRPr lang="en-US" altLang="zh-CN"/>
          </a:p>
        </p:txBody>
      </p:sp>
      <p:sp>
        <p:nvSpPr>
          <p:cNvPr id="3" name="灯片编号占位符 2"/>
          <p:cNvSpPr>
            <a:spLocks noGrp="1"/>
          </p:cNvSpPr>
          <p:nvPr>
            <p:ph type="sldNum" sz="quarter" idx="12"/>
          </p:nvPr>
        </p:nvSpPr>
        <p:spPr/>
        <p:txBody>
          <a:bodyPr/>
          <a:lstStyle/>
          <a:p>
            <a:fld id="{8141257D-CBAA-4317-A108-DEE4BE529EBA}" type="slidenum">
              <a:rPr lang="zh-CN" altLang="en-US" smtClean="0"/>
              <a:t>18</a:t>
            </a:fld>
            <a:endParaRPr lang="zh-CN" altLang="en-US" dirty="0"/>
          </a:p>
        </p:txBody>
      </p:sp>
      <p:sp>
        <p:nvSpPr>
          <p:cNvPr id="4" name="日期占位符 3"/>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sp>
        <p:nvSpPr>
          <p:cNvPr id="6" name="文本框 5"/>
          <p:cNvSpPr txBox="1"/>
          <p:nvPr/>
        </p:nvSpPr>
        <p:spPr>
          <a:xfrm>
            <a:off x="601345" y="1569085"/>
            <a:ext cx="4400550" cy="3529330"/>
          </a:xfrm>
          <a:prstGeom prst="rect">
            <a:avLst/>
          </a:prstGeom>
          <a:noFill/>
        </p:spPr>
        <p:txBody>
          <a:bodyPr wrap="square" rtlCol="0">
            <a:noAutofit/>
          </a:bodyPr>
          <a:lstStyle/>
          <a:p>
            <a:pPr marL="285750" indent="-285750">
              <a:lnSpc>
                <a:spcPct val="120000"/>
              </a:lnSpc>
              <a:buFont typeface="Wingdings" panose="05000000000000000000" charset="0"/>
              <a:buChar char="n"/>
            </a:pPr>
            <a:r>
              <a:rPr lang="en-US" altLang="zh-CN">
                <a:latin typeface="Times New Roman" panose="02020603050405020304" charset="0"/>
                <a:cs typeface="Times New Roman" panose="02020603050405020304" charset="0"/>
              </a:rPr>
              <a:t>Overall Accuracy reached </a:t>
            </a:r>
            <a:r>
              <a:rPr lang="en-US" altLang="zh-CN" b="1">
                <a:solidFill>
                  <a:srgbClr val="FF0000"/>
                </a:solidFill>
                <a:latin typeface="Times New Roman" panose="02020603050405020304" charset="0"/>
                <a:cs typeface="Times New Roman" panose="02020603050405020304" charset="0"/>
              </a:rPr>
              <a:t>95.68%</a:t>
            </a:r>
            <a:r>
              <a:rPr lang="en-US" altLang="zh-CN">
                <a:latin typeface="Times New Roman" panose="02020603050405020304" charset="0"/>
                <a:cs typeface="Times New Roman" panose="02020603050405020304" charset="0"/>
              </a:rPr>
              <a:t>, surpassing all previous baselines.</a:t>
            </a:r>
          </a:p>
          <a:p>
            <a:pPr marL="285750" indent="-285750">
              <a:lnSpc>
                <a:spcPct val="120000"/>
              </a:lnSpc>
              <a:buFont typeface="Wingdings" panose="05000000000000000000" charset="0"/>
              <a:buChar char="n"/>
            </a:pPr>
            <a:r>
              <a:rPr lang="en-US" altLang="zh-CN">
                <a:latin typeface="Times New Roman" panose="02020603050405020304" charset="0"/>
                <a:cs typeface="Times New Roman" panose="02020603050405020304" charset="0"/>
              </a:rPr>
              <a:t>Most critically, the </a:t>
            </a:r>
            <a:r>
              <a:rPr lang="en-US" altLang="zh-CN" b="1">
                <a:solidFill>
                  <a:srgbClr val="FF0000"/>
                </a:solidFill>
                <a:latin typeface="Times New Roman" panose="02020603050405020304" charset="0"/>
                <a:cs typeface="Times New Roman" panose="02020603050405020304" charset="0"/>
              </a:rPr>
              <a:t>Proton Recall</a:t>
            </a:r>
            <a:r>
              <a:rPr lang="en-US" altLang="zh-CN">
                <a:latin typeface="Times New Roman" panose="02020603050405020304" charset="0"/>
                <a:cs typeface="Times New Roman" panose="02020603050405020304" charset="0"/>
              </a:rPr>
              <a:t>—our primary physics metric—was boosted to </a:t>
            </a:r>
            <a:r>
              <a:rPr lang="en-US" altLang="zh-CN" b="1">
                <a:solidFill>
                  <a:srgbClr val="FF0000"/>
                </a:solidFill>
                <a:latin typeface="Times New Roman" panose="02020603050405020304" charset="0"/>
                <a:cs typeface="Times New Roman" panose="02020603050405020304" charset="0"/>
              </a:rPr>
              <a:t>96.67%</a:t>
            </a:r>
            <a:r>
              <a:rPr lang="en-US" altLang="zh-CN">
                <a:latin typeface="Times New Roman" panose="02020603050405020304" charset="0"/>
                <a:cs typeface="Times New Roman" panose="02020603050405020304" charset="0"/>
              </a:rPr>
              <a:t>, a significant improvement over the ResNet-18 baseline's 87.6%.</a:t>
            </a:r>
          </a:p>
          <a:p>
            <a:pPr marL="285750" indent="-285750">
              <a:lnSpc>
                <a:spcPct val="120000"/>
              </a:lnSpc>
              <a:buFont typeface="Wingdings" panose="05000000000000000000" charset="0"/>
              <a:buChar char="n"/>
            </a:pPr>
            <a:r>
              <a:rPr lang="en-US" altLang="zh-CN">
                <a:latin typeface="Times New Roman" panose="02020603050405020304" charset="0"/>
                <a:cs typeface="Times New Roman" panose="02020603050405020304" charset="0"/>
              </a:rPr>
              <a:t>This demonstrates that our physics-informed architecture is not just more interpretable, but also more effective.</a:t>
            </a:r>
          </a:p>
        </p:txBody>
      </p:sp>
      <p:cxnSp>
        <p:nvCxnSpPr>
          <p:cNvPr id="12" name="直接连接符 11"/>
          <p:cNvCxnSpPr/>
          <p:nvPr/>
        </p:nvCxnSpPr>
        <p:spPr>
          <a:xfrm>
            <a:off x="5283200" y="1316990"/>
            <a:ext cx="31115" cy="4859655"/>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6939280" y="1717040"/>
            <a:ext cx="762000" cy="368300"/>
          </a:xfrm>
          <a:prstGeom prst="rect">
            <a:avLst/>
          </a:prstGeom>
          <a:solidFill>
            <a:srgbClr val="F7FBFF"/>
          </a:solidFill>
        </p:spPr>
        <p:txBody>
          <a:bodyPr wrap="square" rtlCol="0">
            <a:spAutoFit/>
          </a:bodyPr>
          <a:lstStyle/>
          <a:p>
            <a:pPr algn="ctr"/>
            <a:r>
              <a:rPr lang="en-US" altLang="zh-CN">
                <a:solidFill>
                  <a:schemeClr val="tx1"/>
                </a:solidFill>
              </a:rPr>
              <a:t>100</a:t>
            </a:r>
          </a:p>
        </p:txBody>
      </p:sp>
      <p:sp>
        <p:nvSpPr>
          <p:cNvPr id="5" name="文本框 4"/>
          <p:cNvSpPr txBox="1"/>
          <p:nvPr/>
        </p:nvSpPr>
        <p:spPr>
          <a:xfrm>
            <a:off x="1142365" y="4944745"/>
            <a:ext cx="1671955" cy="440690"/>
          </a:xfrm>
          <a:prstGeom prst="rect">
            <a:avLst/>
          </a:prstGeom>
          <a:noFill/>
        </p:spPr>
        <p:txBody>
          <a:bodyPr wrap="square" rtlCol="0">
            <a:noAutofit/>
          </a:bodyPr>
          <a:lstStyle/>
          <a:p>
            <a:r>
              <a:rPr lang="en-US" altLang="zh-CN">
                <a:latin typeface="Times New Roman" panose="02020603050405020304" charset="0"/>
                <a:cs typeface="Times New Roman" panose="02020603050405020304" charset="0"/>
              </a:rPr>
              <a:t>Proton</a:t>
            </a:r>
            <a:r>
              <a:rPr lang="zh-CN" altLang="en-US">
                <a:latin typeface="Times New Roman" panose="02020603050405020304" charset="0"/>
                <a:cs typeface="Times New Roman" panose="02020603050405020304" charset="0"/>
              </a:rPr>
              <a:t>：</a:t>
            </a:r>
          </a:p>
          <a:p>
            <a:endParaRPr lang="zh-CN" altLang="en-US">
              <a:latin typeface="Times New Roman" panose="02020603050405020304" charset="0"/>
              <a:cs typeface="Times New Roman" panose="02020603050405020304" charset="0"/>
            </a:endParaRPr>
          </a:p>
        </p:txBody>
      </p:sp>
      <p:graphicFrame>
        <p:nvGraphicFramePr>
          <p:cNvPr id="17" name="对象 16">
            <a:hlinkClick r:id="" action="ppaction://ole?verb=0"/>
          </p:cNvPr>
          <p:cNvGraphicFramePr>
            <a:graphicFrameLocks noChangeAspect="1"/>
          </p:cNvGraphicFramePr>
          <p:nvPr/>
        </p:nvGraphicFramePr>
        <p:xfrm>
          <a:off x="2273300" y="4878705"/>
          <a:ext cx="1438910" cy="572135"/>
        </p:xfrm>
        <a:graphic>
          <a:graphicData uri="http://schemas.openxmlformats.org/presentationml/2006/ole">
            <mc:AlternateContent xmlns:mc="http://schemas.openxmlformats.org/markup-compatibility/2006">
              <mc:Choice xmlns:v="urn:schemas-microsoft-com:vml" Requires="v">
                <p:oleObj r:id="rId3" imgW="990600" imgH="393700" progId="Equation.KSEE3">
                  <p:embed/>
                </p:oleObj>
              </mc:Choice>
              <mc:Fallback>
                <p:oleObj r:id="rId3" imgW="990600" imgH="393700" progId="Equation.KSEE3">
                  <p:embed/>
                  <p:pic>
                    <p:nvPicPr>
                      <p:cNvPr id="0" name="图片 1025"/>
                      <p:cNvPicPr/>
                      <p:nvPr/>
                    </p:nvPicPr>
                    <p:blipFill>
                      <a:blip r:embed="rId4"/>
                      <a:stretch>
                        <a:fillRect/>
                      </a:stretch>
                    </p:blipFill>
                    <p:spPr>
                      <a:xfrm>
                        <a:off x="2273300" y="4878705"/>
                        <a:ext cx="1438910" cy="572135"/>
                      </a:xfrm>
                      <a:prstGeom prst="rect">
                        <a:avLst/>
                      </a:prstGeom>
                    </p:spPr>
                  </p:pic>
                </p:oleObj>
              </mc:Fallback>
            </mc:AlternateContent>
          </a:graphicData>
        </a:graphic>
      </p:graphicFrame>
      <p:sp>
        <p:nvSpPr>
          <p:cNvPr id="18" name="文本框 17"/>
          <p:cNvSpPr txBox="1"/>
          <p:nvPr/>
        </p:nvSpPr>
        <p:spPr>
          <a:xfrm>
            <a:off x="567690" y="5661025"/>
            <a:ext cx="1876425" cy="440690"/>
          </a:xfrm>
          <a:prstGeom prst="rect">
            <a:avLst/>
          </a:prstGeom>
          <a:noFill/>
        </p:spPr>
        <p:txBody>
          <a:bodyPr wrap="square" rtlCol="0">
            <a:noAutofit/>
          </a:bodyPr>
          <a:lstStyle/>
          <a:p>
            <a:r>
              <a:rPr lang="en-US" altLang="zh-CN">
                <a:latin typeface="Times New Roman" panose="02020603050405020304" charset="0"/>
                <a:cs typeface="Times New Roman" panose="02020603050405020304" charset="0"/>
              </a:rPr>
              <a:t>Overall Accuracy</a:t>
            </a:r>
            <a:r>
              <a:rPr lang="zh-CN" altLang="en-US">
                <a:latin typeface="Times New Roman" panose="02020603050405020304" charset="0"/>
                <a:cs typeface="Times New Roman" panose="02020603050405020304" charset="0"/>
              </a:rPr>
              <a:t>：</a:t>
            </a:r>
          </a:p>
          <a:p>
            <a:endParaRPr lang="zh-CN" altLang="en-US">
              <a:latin typeface="Times New Roman" panose="02020603050405020304" charset="0"/>
              <a:cs typeface="Times New Roman" panose="02020603050405020304" charset="0"/>
            </a:endParaRPr>
          </a:p>
        </p:txBody>
      </p:sp>
      <p:graphicFrame>
        <p:nvGraphicFramePr>
          <p:cNvPr id="19" name="对象 18">
            <a:hlinkClick r:id="" action="ppaction://ole?verb=0"/>
          </p:cNvPr>
          <p:cNvGraphicFramePr>
            <a:graphicFrameLocks noChangeAspect="1"/>
          </p:cNvGraphicFramePr>
          <p:nvPr/>
        </p:nvGraphicFramePr>
        <p:xfrm>
          <a:off x="2622550" y="5594985"/>
          <a:ext cx="2068830" cy="572770"/>
        </p:xfrm>
        <a:graphic>
          <a:graphicData uri="http://schemas.openxmlformats.org/presentationml/2006/ole">
            <mc:AlternateContent xmlns:mc="http://schemas.openxmlformats.org/markup-compatibility/2006">
              <mc:Choice xmlns:v="urn:schemas-microsoft-com:vml" Requires="v">
                <p:oleObj r:id="rId5" imgW="1422400" imgH="393700" progId="Equation.KSEE3">
                  <p:embed/>
                </p:oleObj>
              </mc:Choice>
              <mc:Fallback>
                <p:oleObj r:id="rId5" imgW="1422400" imgH="393700" progId="Equation.KSEE3">
                  <p:embed/>
                  <p:pic>
                    <p:nvPicPr>
                      <p:cNvPr id="0" name="图片 1026"/>
                      <p:cNvPicPr/>
                      <p:nvPr/>
                    </p:nvPicPr>
                    <p:blipFill>
                      <a:blip r:embed="rId6"/>
                      <a:stretch>
                        <a:fillRect/>
                      </a:stretch>
                    </p:blipFill>
                    <p:spPr>
                      <a:xfrm>
                        <a:off x="2622550" y="5594985"/>
                        <a:ext cx="2068830" cy="572770"/>
                      </a:xfrm>
                      <a:prstGeom prst="rect">
                        <a:avLst/>
                      </a:prstGeom>
                    </p:spPr>
                  </p:pic>
                </p:oleObj>
              </mc:Fallback>
            </mc:AlternateContent>
          </a:graphicData>
        </a:graphic>
      </p:graphicFrame>
      <p:grpSp>
        <p:nvGrpSpPr>
          <p:cNvPr id="24" name="组合 23"/>
          <p:cNvGrpSpPr/>
          <p:nvPr/>
        </p:nvGrpSpPr>
        <p:grpSpPr>
          <a:xfrm>
            <a:off x="5910580" y="1395095"/>
            <a:ext cx="5728970" cy="4779010"/>
            <a:chOff x="9308" y="2197"/>
            <a:chExt cx="9022" cy="7526"/>
          </a:xfrm>
        </p:grpSpPr>
        <p:pic>
          <p:nvPicPr>
            <p:cNvPr id="8" name="图片 7"/>
            <p:cNvPicPr>
              <a:picLocks noChangeAspect="1"/>
            </p:cNvPicPr>
            <p:nvPr/>
          </p:nvPicPr>
          <p:blipFill>
            <a:blip r:embed="rId7"/>
            <a:srcRect l="5004" t="4749" r="9330"/>
            <a:stretch>
              <a:fillRect/>
            </a:stretch>
          </p:blipFill>
          <p:spPr>
            <a:xfrm>
              <a:off x="9308" y="2197"/>
              <a:ext cx="9022" cy="7526"/>
            </a:xfrm>
            <a:prstGeom prst="rect">
              <a:avLst/>
            </a:prstGeom>
          </p:spPr>
        </p:pic>
        <p:sp>
          <p:nvSpPr>
            <p:cNvPr id="20" name="文本框 19"/>
            <p:cNvSpPr txBox="1"/>
            <p:nvPr/>
          </p:nvSpPr>
          <p:spPr>
            <a:xfrm rot="16200000">
              <a:off x="9143" y="3950"/>
              <a:ext cx="1203" cy="483"/>
            </a:xfrm>
            <a:prstGeom prst="rect">
              <a:avLst/>
            </a:prstGeom>
            <a:solidFill>
              <a:schemeClr val="bg1"/>
            </a:solidFill>
          </p:spPr>
          <p:txBody>
            <a:bodyPr wrap="square" rtlCol="0">
              <a:spAutoFit/>
            </a:bodyPr>
            <a:lstStyle/>
            <a:p>
              <a:r>
                <a:rPr lang="en-US" altLang="zh-CN" sz="1400"/>
                <a:t>proton</a:t>
              </a:r>
            </a:p>
          </p:txBody>
        </p:sp>
        <p:sp>
          <p:nvSpPr>
            <p:cNvPr id="21" name="文本框 20"/>
            <p:cNvSpPr txBox="1"/>
            <p:nvPr/>
          </p:nvSpPr>
          <p:spPr>
            <a:xfrm rot="16200000">
              <a:off x="8921" y="7110"/>
              <a:ext cx="1666" cy="483"/>
            </a:xfrm>
            <a:prstGeom prst="rect">
              <a:avLst/>
            </a:prstGeom>
            <a:solidFill>
              <a:schemeClr val="bg1"/>
            </a:solidFill>
          </p:spPr>
          <p:txBody>
            <a:bodyPr wrap="square" rtlCol="0">
              <a:spAutoFit/>
            </a:bodyPr>
            <a:lstStyle/>
            <a:p>
              <a:r>
                <a:rPr lang="en-US" altLang="zh-CN" sz="1400"/>
                <a:t>non-proton</a:t>
              </a:r>
            </a:p>
          </p:txBody>
        </p:sp>
        <p:sp>
          <p:nvSpPr>
            <p:cNvPr id="22" name="文本框 21"/>
            <p:cNvSpPr txBox="1"/>
            <p:nvPr/>
          </p:nvSpPr>
          <p:spPr>
            <a:xfrm>
              <a:off x="11285" y="8975"/>
              <a:ext cx="1203" cy="483"/>
            </a:xfrm>
            <a:prstGeom prst="rect">
              <a:avLst/>
            </a:prstGeom>
            <a:solidFill>
              <a:schemeClr val="bg1"/>
            </a:solidFill>
          </p:spPr>
          <p:txBody>
            <a:bodyPr wrap="square" rtlCol="0">
              <a:spAutoFit/>
            </a:bodyPr>
            <a:lstStyle/>
            <a:p>
              <a:r>
                <a:rPr lang="en-US" altLang="zh-CN" sz="1400"/>
                <a:t>proton</a:t>
              </a:r>
            </a:p>
          </p:txBody>
        </p:sp>
        <p:sp>
          <p:nvSpPr>
            <p:cNvPr id="23" name="文本框 22"/>
            <p:cNvSpPr txBox="1"/>
            <p:nvPr/>
          </p:nvSpPr>
          <p:spPr>
            <a:xfrm>
              <a:off x="14359" y="8975"/>
              <a:ext cx="1666" cy="483"/>
            </a:xfrm>
            <a:prstGeom prst="rect">
              <a:avLst/>
            </a:prstGeom>
            <a:solidFill>
              <a:schemeClr val="bg1"/>
            </a:solidFill>
          </p:spPr>
          <p:txBody>
            <a:bodyPr wrap="square" rtlCol="0">
              <a:spAutoFit/>
            </a:bodyPr>
            <a:lstStyle/>
            <a:p>
              <a:r>
                <a:rPr lang="en-US" altLang="zh-CN" sz="1400"/>
                <a:t>non-proton</a:t>
              </a:r>
            </a:p>
          </p:txBody>
        </p:sp>
      </p:gr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Attention Entropy</a:t>
            </a:r>
          </a:p>
        </p:txBody>
      </p:sp>
      <p:sp>
        <p:nvSpPr>
          <p:cNvPr id="3" name="灯片编号占位符 2"/>
          <p:cNvSpPr>
            <a:spLocks noGrp="1"/>
          </p:cNvSpPr>
          <p:nvPr>
            <p:ph type="sldNum" sz="quarter" idx="12"/>
          </p:nvPr>
        </p:nvSpPr>
        <p:spPr/>
        <p:txBody>
          <a:bodyPr/>
          <a:lstStyle/>
          <a:p>
            <a:fld id="{8141257D-CBAA-4317-A108-DEE4BE529EBA}" type="slidenum">
              <a:rPr lang="zh-CN" altLang="en-US" smtClean="0"/>
              <a:t>19</a:t>
            </a:fld>
            <a:endParaRPr lang="zh-CN" altLang="en-US" dirty="0"/>
          </a:p>
        </p:txBody>
      </p:sp>
      <p:sp>
        <p:nvSpPr>
          <p:cNvPr id="4" name="日期占位符 3"/>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pic>
        <p:nvPicPr>
          <p:cNvPr id="5" name="图片 4"/>
          <p:cNvPicPr>
            <a:picLocks noChangeAspect="1"/>
          </p:cNvPicPr>
          <p:nvPr/>
        </p:nvPicPr>
        <p:blipFill>
          <a:blip r:embed="rId3"/>
          <a:stretch>
            <a:fillRect/>
          </a:stretch>
        </p:blipFill>
        <p:spPr>
          <a:xfrm>
            <a:off x="5734050" y="1537335"/>
            <a:ext cx="5566410" cy="4639310"/>
          </a:xfrm>
          <a:prstGeom prst="rect">
            <a:avLst/>
          </a:prstGeom>
        </p:spPr>
      </p:pic>
      <p:cxnSp>
        <p:nvCxnSpPr>
          <p:cNvPr id="12" name="直接连接符 11"/>
          <p:cNvCxnSpPr/>
          <p:nvPr/>
        </p:nvCxnSpPr>
        <p:spPr>
          <a:xfrm>
            <a:off x="5334000" y="1316990"/>
            <a:ext cx="31115" cy="4859655"/>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247650" y="1247140"/>
            <a:ext cx="4381500" cy="36830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Shannon entropy for a discrete distribution p</a:t>
            </a:r>
            <a:r>
              <a:rPr lang="zh-CN" altLang="en-US">
                <a:latin typeface="Times New Roman" panose="02020603050405020304" charset="0"/>
                <a:cs typeface="Times New Roman" panose="02020603050405020304" charset="0"/>
              </a:rPr>
              <a:t>：</a:t>
            </a:r>
          </a:p>
        </p:txBody>
      </p:sp>
      <p:pic>
        <p:nvPicPr>
          <p:cNvPr id="7" name="图片 6"/>
          <p:cNvPicPr>
            <a:picLocks noChangeAspect="1"/>
          </p:cNvPicPr>
          <p:nvPr/>
        </p:nvPicPr>
        <p:blipFill>
          <a:blip r:embed="rId4"/>
          <a:stretch>
            <a:fillRect/>
          </a:stretch>
        </p:blipFill>
        <p:spPr>
          <a:xfrm>
            <a:off x="1395095" y="1619250"/>
            <a:ext cx="2197100" cy="654050"/>
          </a:xfrm>
          <a:prstGeom prst="rect">
            <a:avLst/>
          </a:prstGeom>
        </p:spPr>
      </p:pic>
      <p:sp>
        <p:nvSpPr>
          <p:cNvPr id="8" name="文本框 7"/>
          <p:cNvSpPr txBox="1"/>
          <p:nvPr/>
        </p:nvSpPr>
        <p:spPr>
          <a:xfrm>
            <a:off x="278130" y="2289810"/>
            <a:ext cx="4686935" cy="64516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Assume that the attention matrix of a specific head is</a:t>
            </a:r>
            <a:endParaRPr lang="zh-CN" altLang="en-US">
              <a:latin typeface="Times New Roman" panose="02020603050405020304" charset="0"/>
              <a:cs typeface="Times New Roman" panose="02020603050405020304" charset="0"/>
            </a:endParaRPr>
          </a:p>
        </p:txBody>
      </p:sp>
      <p:pic>
        <p:nvPicPr>
          <p:cNvPr id="9" name="图片 8"/>
          <p:cNvPicPr>
            <a:picLocks noChangeAspect="1"/>
          </p:cNvPicPr>
          <p:nvPr/>
        </p:nvPicPr>
        <p:blipFill>
          <a:blip r:embed="rId5"/>
          <a:srcRect t="24908" r="5845"/>
          <a:stretch>
            <a:fillRect/>
          </a:stretch>
        </p:blipFill>
        <p:spPr>
          <a:xfrm>
            <a:off x="1105535" y="2594610"/>
            <a:ext cx="1005840" cy="367665"/>
          </a:xfrm>
          <a:prstGeom prst="rect">
            <a:avLst/>
          </a:prstGeom>
        </p:spPr>
      </p:pic>
      <p:sp>
        <p:nvSpPr>
          <p:cNvPr id="10" name="文本框 9"/>
          <p:cNvSpPr txBox="1"/>
          <p:nvPr/>
        </p:nvSpPr>
        <p:spPr>
          <a:xfrm>
            <a:off x="316230" y="4022090"/>
            <a:ext cx="4064000" cy="64516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Measures the concentration of attention of token i on all tokens</a:t>
            </a:r>
          </a:p>
        </p:txBody>
      </p:sp>
      <p:sp>
        <p:nvSpPr>
          <p:cNvPr id="11" name="文本框 10"/>
          <p:cNvSpPr txBox="1"/>
          <p:nvPr/>
        </p:nvSpPr>
        <p:spPr>
          <a:xfrm>
            <a:off x="316230" y="2955290"/>
            <a:ext cx="4064000" cy="36830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Row Entropy</a:t>
            </a:r>
            <a:r>
              <a:rPr lang="zh-CN" altLang="en-US">
                <a:latin typeface="Times New Roman" panose="02020603050405020304" charset="0"/>
                <a:cs typeface="Times New Roman" panose="02020603050405020304" charset="0"/>
              </a:rPr>
              <a:t>：</a:t>
            </a:r>
          </a:p>
        </p:txBody>
      </p:sp>
      <p:pic>
        <p:nvPicPr>
          <p:cNvPr id="13" name="图片 12"/>
          <p:cNvPicPr>
            <a:picLocks noChangeAspect="1"/>
          </p:cNvPicPr>
          <p:nvPr/>
        </p:nvPicPr>
        <p:blipFill>
          <a:blip r:embed="rId6"/>
          <a:stretch>
            <a:fillRect/>
          </a:stretch>
        </p:blipFill>
        <p:spPr>
          <a:xfrm>
            <a:off x="1482090" y="3338830"/>
            <a:ext cx="2265045" cy="668020"/>
          </a:xfrm>
          <a:prstGeom prst="rect">
            <a:avLst/>
          </a:prstGeom>
        </p:spPr>
      </p:pic>
      <p:sp>
        <p:nvSpPr>
          <p:cNvPr id="14" name="文本框 13"/>
          <p:cNvSpPr txBox="1"/>
          <p:nvPr/>
        </p:nvSpPr>
        <p:spPr>
          <a:xfrm>
            <a:off x="323850" y="4641850"/>
            <a:ext cx="4806315" cy="1753235"/>
          </a:xfrm>
          <a:prstGeom prst="rect">
            <a:avLst/>
          </a:prstGeom>
          <a:noFill/>
        </p:spPr>
        <p:txBody>
          <a:bodyPr wrap="square" rtlCol="0">
            <a:spAutoFit/>
          </a:bodyPr>
          <a:lstStyle/>
          <a:p>
            <a:r>
              <a:rPr lang="en-US" altLang="zh-CN" b="1">
                <a:solidFill>
                  <a:srgbClr val="083573"/>
                </a:solidFill>
                <a:latin typeface="Times New Roman" panose="02020603050405020304" charset="0"/>
                <a:cs typeface="Times New Roman" panose="02020603050405020304" charset="0"/>
              </a:rPr>
              <a:t>Physical Meaning</a:t>
            </a:r>
          </a:p>
          <a:p>
            <a:r>
              <a:rPr lang="en-US" altLang="zh-CN" b="1">
                <a:solidFill>
                  <a:srgbClr val="083573"/>
                </a:solidFill>
                <a:latin typeface="Times New Roman" panose="02020603050405020304" charset="0"/>
                <a:cs typeface="Times New Roman" panose="02020603050405020304" charset="0"/>
              </a:rPr>
              <a:t>High entropy: </a:t>
            </a:r>
            <a:r>
              <a:rPr lang="en-US" altLang="zh-CN">
                <a:latin typeface="Times New Roman" panose="02020603050405020304" charset="0"/>
                <a:cs typeface="Times New Roman" panose="02020603050405020304" charset="0"/>
              </a:rPr>
              <a:t>Attention is evenly distributed </a:t>
            </a:r>
            <a:r>
              <a:rPr lang="en-US"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 Model uncertainty, worth further exploration;</a:t>
            </a:r>
          </a:p>
          <a:p>
            <a:r>
              <a:rPr lang="en-US" altLang="zh-CN" b="1">
                <a:solidFill>
                  <a:srgbClr val="083573"/>
                </a:solidFill>
                <a:latin typeface="Times New Roman" panose="02020603050405020304" charset="0"/>
                <a:cs typeface="Times New Roman" panose="02020603050405020304" charset="0"/>
              </a:rPr>
              <a:t>Low entropy: </a:t>
            </a:r>
            <a:r>
              <a:rPr lang="en-US" altLang="zh-CN">
                <a:latin typeface="Times New Roman" panose="02020603050405020304" charset="0"/>
                <a:cs typeface="Times New Roman" panose="02020603050405020304" charset="0"/>
              </a:rPr>
              <a:t>Attention is almost exclusively focused on a single token </a:t>
            </a:r>
            <a:r>
              <a:rPr lang="en-US"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 Model certainty, but may overfit.</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Attention Entropy</a:t>
            </a:r>
            <a:endParaRPr lang="zh-CN" altLang="en-US"/>
          </a:p>
        </p:txBody>
      </p:sp>
      <p:sp>
        <p:nvSpPr>
          <p:cNvPr id="3" name="灯片编号占位符 2"/>
          <p:cNvSpPr>
            <a:spLocks noGrp="1"/>
          </p:cNvSpPr>
          <p:nvPr>
            <p:ph type="sldNum" sz="quarter" idx="12"/>
          </p:nvPr>
        </p:nvSpPr>
        <p:spPr/>
        <p:txBody>
          <a:bodyPr/>
          <a:lstStyle/>
          <a:p>
            <a:fld id="{8141257D-CBAA-4317-A108-DEE4BE529EBA}" type="slidenum">
              <a:rPr lang="zh-CN" altLang="en-US" smtClean="0"/>
              <a:t>20</a:t>
            </a:fld>
            <a:endParaRPr lang="zh-CN" altLang="en-US" dirty="0"/>
          </a:p>
        </p:txBody>
      </p:sp>
      <p:sp>
        <p:nvSpPr>
          <p:cNvPr id="4" name="日期占位符 3"/>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sp>
        <p:nvSpPr>
          <p:cNvPr id="5" name="文本框 4"/>
          <p:cNvSpPr txBox="1"/>
          <p:nvPr/>
        </p:nvSpPr>
        <p:spPr>
          <a:xfrm>
            <a:off x="171450" y="1167765"/>
            <a:ext cx="4946650" cy="535432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When the model handles different types of misclassified examples, its internal attention mechanism exhibits diametrically opposed "</a:t>
            </a:r>
            <a:r>
              <a:rPr lang="en-US" altLang="zh-CN" b="1">
                <a:solidFill>
                  <a:srgbClr val="083573"/>
                </a:solidFill>
                <a:latin typeface="Times New Roman" panose="02020603050405020304" charset="0"/>
                <a:cs typeface="Times New Roman" panose="02020603050405020304" charset="0"/>
              </a:rPr>
              <a:t>cognitive states</a:t>
            </a:r>
            <a:r>
              <a:rPr lang="en-US" altLang="zh-CN">
                <a:latin typeface="Times New Roman" panose="02020603050405020304" charset="0"/>
                <a:cs typeface="Times New Roman" panose="02020603050405020304" charset="0"/>
              </a:rPr>
              <a:t>":</a:t>
            </a:r>
          </a:p>
          <a:p>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For </a:t>
            </a:r>
            <a:r>
              <a:rPr lang="en-US" altLang="zh-CN" b="1">
                <a:solidFill>
                  <a:srgbClr val="083573"/>
                </a:solidFill>
                <a:latin typeface="Times New Roman" panose="02020603050405020304" charset="0"/>
                <a:cs typeface="Times New Roman" panose="02020603050405020304" charset="0"/>
              </a:rPr>
              <a:t>FN examples (missed protons)</a:t>
            </a:r>
            <a:r>
              <a:rPr lang="en-US" altLang="zh-CN">
                <a:latin typeface="Times New Roman" panose="02020603050405020304" charset="0"/>
                <a:cs typeface="Times New Roman" panose="02020603050405020304" charset="0"/>
              </a:rPr>
              <a:t>, the model exhibits significant "confusion." Its attention entropy is generally higher and more widely distributed, indicating that when faced with a real proton track, the model is unable to find a clear feature to focus its attention on, resulting in a false negative.</a:t>
            </a:r>
          </a:p>
          <a:p>
            <a:r>
              <a:rPr lang="en-US" altLang="zh-CN">
                <a:latin typeface="Times New Roman" panose="02020603050405020304" charset="0"/>
                <a:cs typeface="Times New Roman" panose="02020603050405020304" charset="0"/>
              </a:rPr>
              <a:t>- For FP examples (falsely positive background), the model exhibits high "false confidence." Its attention entropy is generally lower and more concentrated, indicating that the model mistakenly focuses on certain local features (such as a bright cluster of pixels) and makes high-confidence judgments based on this incorrect focus.</a:t>
            </a:r>
          </a:p>
        </p:txBody>
      </p:sp>
      <p:pic>
        <p:nvPicPr>
          <p:cNvPr id="7" name="图片 6"/>
          <p:cNvPicPr>
            <a:picLocks noChangeAspect="1"/>
          </p:cNvPicPr>
          <p:nvPr/>
        </p:nvPicPr>
        <p:blipFill>
          <a:blip r:embed="rId3"/>
          <a:stretch>
            <a:fillRect/>
          </a:stretch>
        </p:blipFill>
        <p:spPr>
          <a:xfrm>
            <a:off x="5881370" y="1597660"/>
            <a:ext cx="5566410" cy="4639310"/>
          </a:xfrm>
          <a:prstGeom prst="rect">
            <a:avLst/>
          </a:prstGeom>
        </p:spPr>
      </p:pic>
      <p:cxnSp>
        <p:nvCxnSpPr>
          <p:cNvPr id="8" name="直接连接符 7"/>
          <p:cNvCxnSpPr/>
          <p:nvPr/>
        </p:nvCxnSpPr>
        <p:spPr>
          <a:xfrm>
            <a:off x="5334000" y="1316990"/>
            <a:ext cx="31115" cy="4859655"/>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Interpretability Analysis</a:t>
            </a:r>
          </a:p>
        </p:txBody>
      </p:sp>
      <p:sp>
        <p:nvSpPr>
          <p:cNvPr id="3" name="灯片编号占位符 2"/>
          <p:cNvSpPr>
            <a:spLocks noGrp="1"/>
          </p:cNvSpPr>
          <p:nvPr>
            <p:ph type="sldNum" sz="quarter" idx="12"/>
          </p:nvPr>
        </p:nvSpPr>
        <p:spPr/>
        <p:txBody>
          <a:bodyPr/>
          <a:lstStyle/>
          <a:p>
            <a:fld id="{8141257D-CBAA-4317-A108-DEE4BE529EBA}" type="slidenum">
              <a:rPr lang="zh-CN" altLang="en-US" smtClean="0"/>
              <a:t>21</a:t>
            </a:fld>
            <a:endParaRPr lang="zh-CN" altLang="en-US" dirty="0"/>
          </a:p>
        </p:txBody>
      </p:sp>
      <p:sp>
        <p:nvSpPr>
          <p:cNvPr id="4" name="日期占位符 3"/>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sp>
        <p:nvSpPr>
          <p:cNvPr id="8" name="文本框 7"/>
          <p:cNvSpPr txBox="1"/>
          <p:nvPr/>
        </p:nvSpPr>
        <p:spPr>
          <a:xfrm>
            <a:off x="375920" y="1797685"/>
            <a:ext cx="6096000" cy="3876675"/>
          </a:xfrm>
          <a:prstGeom prst="rect">
            <a:avLst/>
          </a:prstGeom>
          <a:noFill/>
        </p:spPr>
        <p:txBody>
          <a:bodyPr wrap="square" rtlCol="0" anchor="t">
            <a:spAutoFit/>
          </a:bodyPr>
          <a:lstStyle/>
          <a:p>
            <a:pPr indent="0" fontAlgn="auto">
              <a:lnSpc>
                <a:spcPts val="2460"/>
              </a:lnSpc>
            </a:pPr>
            <a:r>
              <a:rPr lang="en-US" altLang="zh-CN">
                <a:latin typeface="Times New Roman" panose="02020603050405020304" charset="0"/>
                <a:cs typeface="Times New Roman" panose="02020603050405020304" charset="0"/>
              </a:rPr>
              <a:t>The model's level of "perplexity" (high attention entropy) shows a strong correlation with the physical form of the track. Specifically, </a:t>
            </a:r>
            <a:r>
              <a:rPr lang="en-US" altLang="zh-CN" b="1">
                <a:solidFill>
                  <a:srgbClr val="083573"/>
                </a:solidFill>
                <a:latin typeface="Times New Roman" panose="02020603050405020304" charset="0"/>
                <a:cs typeface="Times New Roman" panose="02020603050405020304" charset="0"/>
              </a:rPr>
              <a:t>when the model misidentifies a "long" background event as a proton (FP), it exhibits systematic uncertainty.</a:t>
            </a:r>
          </a:p>
          <a:p>
            <a:pPr indent="0" fontAlgn="auto">
              <a:lnSpc>
                <a:spcPts val="2460"/>
              </a:lnSpc>
            </a:pPr>
            <a:endParaRPr lang="en-US" altLang="zh-CN" b="1">
              <a:solidFill>
                <a:srgbClr val="083573"/>
              </a:solidFill>
              <a:latin typeface="Times New Roman" panose="02020603050405020304" charset="0"/>
              <a:cs typeface="Times New Roman" panose="02020603050405020304" charset="0"/>
            </a:endParaRPr>
          </a:p>
          <a:p>
            <a:pPr indent="0" fontAlgn="auto">
              <a:lnSpc>
                <a:spcPts val="2460"/>
              </a:lnSpc>
            </a:pPr>
            <a:r>
              <a:rPr lang="en-US" altLang="zh-CN">
                <a:latin typeface="Times New Roman" panose="02020603050405020304" charset="0"/>
                <a:cs typeface="Times New Roman" panose="02020603050405020304" charset="0"/>
              </a:rPr>
              <a:t>This reveals a key weakness in the model and provides a clear direction for improvement: the model's ability to discriminate long tracks must be improved, and attention entropy should be used as a reference indicator of decision confidence. When the entropy value is too high, the confidence of the prediction should be reduced.</a:t>
            </a:r>
            <a:endParaRPr lang="zh-CN" altLang="en-US">
              <a:latin typeface="Times New Roman" panose="02020603050405020304" charset="0"/>
              <a:cs typeface="Times New Roman" panose="02020603050405020304" charset="0"/>
            </a:endParaRPr>
          </a:p>
        </p:txBody>
      </p:sp>
      <p:grpSp>
        <p:nvGrpSpPr>
          <p:cNvPr id="14" name="组合 13"/>
          <p:cNvGrpSpPr/>
          <p:nvPr/>
        </p:nvGrpSpPr>
        <p:grpSpPr>
          <a:xfrm>
            <a:off x="7559675" y="3862705"/>
            <a:ext cx="3185160" cy="2503170"/>
            <a:chOff x="12251" y="5973"/>
            <a:chExt cx="5016" cy="3942"/>
          </a:xfrm>
        </p:grpSpPr>
        <p:pic>
          <p:nvPicPr>
            <p:cNvPr id="10" name="图片 9"/>
            <p:cNvPicPr>
              <a:picLocks noChangeAspect="1"/>
            </p:cNvPicPr>
            <p:nvPr/>
          </p:nvPicPr>
          <p:blipFill>
            <a:blip r:embed="rId3"/>
            <a:srcRect r="66054"/>
            <a:stretch>
              <a:fillRect/>
            </a:stretch>
          </p:blipFill>
          <p:spPr>
            <a:xfrm>
              <a:off x="12251" y="5973"/>
              <a:ext cx="5017" cy="3943"/>
            </a:xfrm>
            <a:prstGeom prst="rect">
              <a:avLst/>
            </a:prstGeom>
          </p:spPr>
        </p:pic>
        <p:pic>
          <p:nvPicPr>
            <p:cNvPr id="11" name="图片 10"/>
            <p:cNvPicPr>
              <a:picLocks noChangeAspect="1"/>
            </p:cNvPicPr>
            <p:nvPr/>
          </p:nvPicPr>
          <p:blipFill>
            <a:blip r:embed="rId3"/>
            <a:srcRect l="93818" t="10175" r="1205" b="76193"/>
            <a:stretch>
              <a:fillRect/>
            </a:stretch>
          </p:blipFill>
          <p:spPr>
            <a:xfrm>
              <a:off x="16242" y="6514"/>
              <a:ext cx="950" cy="694"/>
            </a:xfrm>
            <a:prstGeom prst="rect">
              <a:avLst/>
            </a:prstGeom>
          </p:spPr>
        </p:pic>
      </p:grpSp>
      <p:grpSp>
        <p:nvGrpSpPr>
          <p:cNvPr id="13" name="组合 12"/>
          <p:cNvGrpSpPr/>
          <p:nvPr/>
        </p:nvGrpSpPr>
        <p:grpSpPr>
          <a:xfrm>
            <a:off x="7493000" y="1183005"/>
            <a:ext cx="3386455" cy="2542540"/>
            <a:chOff x="12120" y="1783"/>
            <a:chExt cx="5333" cy="4004"/>
          </a:xfrm>
        </p:grpSpPr>
        <p:pic>
          <p:nvPicPr>
            <p:cNvPr id="9" name="图片 8"/>
            <p:cNvPicPr>
              <a:picLocks noChangeAspect="1"/>
            </p:cNvPicPr>
            <p:nvPr/>
          </p:nvPicPr>
          <p:blipFill>
            <a:blip r:embed="rId3"/>
            <a:srcRect l="34470" r="32422"/>
            <a:stretch>
              <a:fillRect/>
            </a:stretch>
          </p:blipFill>
          <p:spPr>
            <a:xfrm>
              <a:off x="12481" y="1783"/>
              <a:ext cx="4972" cy="4005"/>
            </a:xfrm>
            <a:prstGeom prst="rect">
              <a:avLst/>
            </a:prstGeom>
          </p:spPr>
        </p:pic>
        <p:pic>
          <p:nvPicPr>
            <p:cNvPr id="7" name="图片 6"/>
            <p:cNvPicPr>
              <a:picLocks noChangeAspect="1"/>
            </p:cNvPicPr>
            <p:nvPr/>
          </p:nvPicPr>
          <p:blipFill>
            <a:blip r:embed="rId3"/>
            <a:srcRect l="93818" t="10175" r="1205" b="76193"/>
            <a:stretch>
              <a:fillRect/>
            </a:stretch>
          </p:blipFill>
          <p:spPr>
            <a:xfrm>
              <a:off x="16242" y="2236"/>
              <a:ext cx="950" cy="694"/>
            </a:xfrm>
            <a:prstGeom prst="rect">
              <a:avLst/>
            </a:prstGeom>
          </p:spPr>
        </p:pic>
        <p:pic>
          <p:nvPicPr>
            <p:cNvPr id="12" name="图片 11"/>
            <p:cNvPicPr>
              <a:picLocks noChangeAspect="1"/>
            </p:cNvPicPr>
            <p:nvPr/>
          </p:nvPicPr>
          <p:blipFill>
            <a:blip r:embed="rId3"/>
            <a:srcRect l="-589" t="18502" r="98185" b="28414"/>
            <a:stretch>
              <a:fillRect/>
            </a:stretch>
          </p:blipFill>
          <p:spPr>
            <a:xfrm>
              <a:off x="12120" y="2524"/>
              <a:ext cx="361" cy="2126"/>
            </a:xfrm>
            <a:prstGeom prst="rect">
              <a:avLst/>
            </a:prstGeom>
          </p:spPr>
        </p:pic>
      </p:grpSp>
      <p:cxnSp>
        <p:nvCxnSpPr>
          <p:cNvPr id="15" name="直接连接符 14"/>
          <p:cNvCxnSpPr/>
          <p:nvPr/>
        </p:nvCxnSpPr>
        <p:spPr>
          <a:xfrm>
            <a:off x="6807200" y="1316990"/>
            <a:ext cx="31115" cy="4859655"/>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cxnSp>
        <p:nvCxnSpPr>
          <p:cNvPr id="16" name="直接连接符 15"/>
          <p:cNvCxnSpPr/>
          <p:nvPr/>
        </p:nvCxnSpPr>
        <p:spPr>
          <a:xfrm flipH="1">
            <a:off x="6965950" y="3793490"/>
            <a:ext cx="4959350" cy="25400"/>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3"/>
          <a:srcRect l="1993" r="11411" b="44630"/>
          <a:stretch>
            <a:fillRect/>
          </a:stretch>
        </p:blipFill>
        <p:spPr>
          <a:xfrm>
            <a:off x="19685" y="3589655"/>
            <a:ext cx="4820285" cy="480060"/>
          </a:xfrm>
          <a:prstGeom prst="rect">
            <a:avLst/>
          </a:prstGeom>
        </p:spPr>
      </p:pic>
      <p:sp>
        <p:nvSpPr>
          <p:cNvPr id="2" name="标题 1"/>
          <p:cNvSpPr>
            <a:spLocks noGrp="1"/>
          </p:cNvSpPr>
          <p:nvPr>
            <p:ph type="title"/>
          </p:nvPr>
        </p:nvSpPr>
        <p:spPr>
          <a:xfrm>
            <a:off x="316230" y="219710"/>
            <a:ext cx="10702290" cy="705485"/>
          </a:xfrm>
        </p:spPr>
        <p:txBody>
          <a:bodyPr>
            <a:normAutofit fontScale="90000"/>
          </a:bodyPr>
          <a:lstStyle/>
          <a:p>
            <a:r>
              <a:rPr lang="en-US" altLang="zh-CN"/>
              <a:t>Mechanism of Cross-Attention Architecture</a:t>
            </a:r>
          </a:p>
        </p:txBody>
      </p:sp>
      <p:sp>
        <p:nvSpPr>
          <p:cNvPr id="3" name="灯片编号占位符 2"/>
          <p:cNvSpPr>
            <a:spLocks noGrp="1"/>
          </p:cNvSpPr>
          <p:nvPr>
            <p:ph type="sldNum" sz="quarter" idx="12"/>
          </p:nvPr>
        </p:nvSpPr>
        <p:spPr/>
        <p:txBody>
          <a:bodyPr/>
          <a:lstStyle/>
          <a:p>
            <a:fld id="{8141257D-CBAA-4317-A108-DEE4BE529EBA}" type="slidenum">
              <a:rPr lang="zh-CN" altLang="en-US" smtClean="0"/>
              <a:t>22</a:t>
            </a:fld>
            <a:endParaRPr lang="zh-CN" altLang="en-US" dirty="0"/>
          </a:p>
        </p:txBody>
      </p:sp>
      <p:sp>
        <p:nvSpPr>
          <p:cNvPr id="4" name="日期占位符 3"/>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pic>
        <p:nvPicPr>
          <p:cNvPr id="5" name="图片 4"/>
          <p:cNvPicPr>
            <a:picLocks noChangeAspect="1"/>
          </p:cNvPicPr>
          <p:nvPr/>
        </p:nvPicPr>
        <p:blipFill>
          <a:blip r:embed="rId4"/>
          <a:stretch>
            <a:fillRect/>
          </a:stretch>
        </p:blipFill>
        <p:spPr>
          <a:xfrm>
            <a:off x="4826635" y="1220470"/>
            <a:ext cx="4090035" cy="5082540"/>
          </a:xfrm>
          <a:prstGeom prst="rect">
            <a:avLst/>
          </a:prstGeom>
        </p:spPr>
      </p:pic>
      <p:sp>
        <p:nvSpPr>
          <p:cNvPr id="6" name="文本框 5"/>
          <p:cNvSpPr txBox="1"/>
          <p:nvPr/>
        </p:nvSpPr>
        <p:spPr>
          <a:xfrm>
            <a:off x="316230" y="1428750"/>
            <a:ext cx="4064000" cy="398780"/>
          </a:xfrm>
          <a:prstGeom prst="rect">
            <a:avLst/>
          </a:prstGeom>
          <a:noFill/>
        </p:spPr>
        <p:txBody>
          <a:bodyPr wrap="square" rtlCol="0">
            <a:spAutoFit/>
          </a:bodyPr>
          <a:lstStyle/>
          <a:p>
            <a:r>
              <a:rPr lang="en-US" altLang="zh-CN" sz="2000" b="1"/>
              <a:t>Transformer Architecture</a:t>
            </a:r>
            <a:r>
              <a:rPr lang="zh-CN" altLang="en-US" sz="2000" b="1"/>
              <a:t>：</a:t>
            </a:r>
          </a:p>
        </p:txBody>
      </p:sp>
      <p:pic>
        <p:nvPicPr>
          <p:cNvPr id="7" name="图片 6"/>
          <p:cNvPicPr>
            <a:picLocks noChangeAspect="1"/>
          </p:cNvPicPr>
          <p:nvPr/>
        </p:nvPicPr>
        <p:blipFill>
          <a:blip r:embed="rId5"/>
          <a:stretch>
            <a:fillRect/>
          </a:stretch>
        </p:blipFill>
        <p:spPr>
          <a:xfrm>
            <a:off x="8879205" y="1760855"/>
            <a:ext cx="2991485" cy="3852545"/>
          </a:xfrm>
          <a:prstGeom prst="rect">
            <a:avLst/>
          </a:prstGeom>
        </p:spPr>
      </p:pic>
      <p:pic>
        <p:nvPicPr>
          <p:cNvPr id="9" name="图片 8"/>
          <p:cNvPicPr>
            <a:picLocks noChangeAspect="1"/>
          </p:cNvPicPr>
          <p:nvPr/>
        </p:nvPicPr>
        <p:blipFill>
          <a:blip r:embed="rId6"/>
          <a:stretch>
            <a:fillRect/>
          </a:stretch>
        </p:blipFill>
        <p:spPr>
          <a:xfrm>
            <a:off x="121920" y="2331085"/>
            <a:ext cx="4258310" cy="818515"/>
          </a:xfrm>
          <a:prstGeom prst="rect">
            <a:avLst/>
          </a:prstGeom>
        </p:spPr>
      </p:pic>
      <p:cxnSp>
        <p:nvCxnSpPr>
          <p:cNvPr id="12" name="直接连接符 11"/>
          <p:cNvCxnSpPr/>
          <p:nvPr/>
        </p:nvCxnSpPr>
        <p:spPr>
          <a:xfrm flipH="1">
            <a:off x="4998720" y="2009140"/>
            <a:ext cx="5715" cy="3876675"/>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3742055" y="6111240"/>
            <a:ext cx="3211195" cy="337185"/>
          </a:xfrm>
          <a:prstGeom prst="rect">
            <a:avLst/>
          </a:prstGeom>
          <a:noFill/>
        </p:spPr>
        <p:txBody>
          <a:bodyPr wrap="square" rtlCol="0">
            <a:spAutoFit/>
          </a:bodyPr>
          <a:lstStyle/>
          <a:p>
            <a:r>
              <a:rPr lang="en-US" altLang="zh-CN" sz="1600" i="1">
                <a:latin typeface="Times New Roman" panose="02020603050405020304" charset="0"/>
                <a:cs typeface="Times New Roman" panose="02020603050405020304" charset="0"/>
              </a:rPr>
              <a:t>Attention is all you need</a:t>
            </a:r>
            <a:endParaRPr lang="zh-CN" altLang="en-US" sz="1600" i="1">
              <a:latin typeface="Times New Roman" panose="02020603050405020304" charset="0"/>
              <a:cs typeface="Times New Roman" panose="02020603050405020304" charset="0"/>
            </a:endParaRPr>
          </a:p>
        </p:txBody>
      </p:sp>
      <p:pic>
        <p:nvPicPr>
          <p:cNvPr id="14" name="图片 13"/>
          <p:cNvPicPr>
            <a:picLocks noChangeAspect="1"/>
          </p:cNvPicPr>
          <p:nvPr/>
        </p:nvPicPr>
        <p:blipFill>
          <a:blip r:embed="rId3"/>
          <a:srcRect l="15151" t="48369" r="6319" b="1512"/>
          <a:stretch>
            <a:fillRect/>
          </a:stretch>
        </p:blipFill>
        <p:spPr>
          <a:xfrm>
            <a:off x="245110" y="4728845"/>
            <a:ext cx="4369435" cy="434340"/>
          </a:xfrm>
          <a:prstGeom prst="rect">
            <a:avLst/>
          </a:prstGeom>
        </p:spPr>
      </p:pic>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6230" y="219710"/>
            <a:ext cx="10778490" cy="705485"/>
          </a:xfrm>
        </p:spPr>
        <p:txBody>
          <a:bodyPr>
            <a:normAutofit fontScale="90000"/>
          </a:bodyPr>
          <a:lstStyle/>
          <a:p>
            <a:r>
              <a:rPr lang="en-US" altLang="zh-CN">
                <a:solidFill>
                  <a:schemeClr val="bg1"/>
                </a:solidFill>
                <a:sym typeface="+mn-ea"/>
              </a:rPr>
              <a:t>Mechanism of Cross-Attention Architecture</a:t>
            </a:r>
          </a:p>
        </p:txBody>
      </p:sp>
      <p:sp>
        <p:nvSpPr>
          <p:cNvPr id="3" name="灯片编号占位符 2"/>
          <p:cNvSpPr>
            <a:spLocks noGrp="1"/>
          </p:cNvSpPr>
          <p:nvPr>
            <p:ph type="sldNum" sz="quarter" idx="12"/>
          </p:nvPr>
        </p:nvSpPr>
        <p:spPr/>
        <p:txBody>
          <a:bodyPr/>
          <a:lstStyle/>
          <a:p>
            <a:fld id="{8141257D-CBAA-4317-A108-DEE4BE529EBA}" type="slidenum">
              <a:rPr lang="zh-CN" altLang="en-US" smtClean="0"/>
              <a:t>23</a:t>
            </a:fld>
            <a:endParaRPr lang="zh-CN" altLang="en-US" dirty="0"/>
          </a:p>
        </p:txBody>
      </p:sp>
      <p:sp>
        <p:nvSpPr>
          <p:cNvPr id="4" name="日期占位符 3"/>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pic>
        <p:nvPicPr>
          <p:cNvPr id="6" name="Cross_Attention_Physical_Feature.mp4">
            <a:hlinkClick r:id="" action="ppaction://media"/>
          </p:cNvPr>
          <p:cNvPicPr/>
          <p:nvPr>
            <a:videoFile r:link="rId3"/>
            <p:extLst>
              <p:ext uri="{DAA4B4D4-6D71-4841-9C94-3DE7FCFB9230}">
                <p14:media xmlns:p14="http://schemas.microsoft.com/office/powerpoint/2010/main" r:embed="rId2"/>
              </p:ext>
            </p:extLst>
          </p:nvPr>
        </p:nvPicPr>
        <p:blipFill>
          <a:blip r:embed="rId5"/>
          <a:stretch>
            <a:fillRect/>
          </a:stretch>
        </p:blipFill>
        <p:spPr>
          <a:xfrm>
            <a:off x="1741170" y="1146175"/>
            <a:ext cx="9405620" cy="5235575"/>
          </a:xfrm>
          <a:prstGeom prst="rect">
            <a:avLst/>
          </a:prstGeom>
        </p:spPr>
      </p:pic>
      <p:sp>
        <p:nvSpPr>
          <p:cNvPr id="7" name="文本框 6"/>
          <p:cNvSpPr txBox="1"/>
          <p:nvPr/>
        </p:nvSpPr>
        <p:spPr>
          <a:xfrm>
            <a:off x="1684655" y="5616575"/>
            <a:ext cx="9529445" cy="765175"/>
          </a:xfrm>
          <a:prstGeom prst="rect">
            <a:avLst/>
          </a:prstGeom>
          <a:solidFill>
            <a:schemeClr val="bg1"/>
          </a:solidFill>
        </p:spPr>
        <p:txBody>
          <a:bodyPr wrap="square" rtlCol="0">
            <a:noAutofit/>
          </a:bodyPr>
          <a:lstStyle/>
          <a:p>
            <a:endParaRPr lang="zh-CN" altLang="en-US"/>
          </a:p>
        </p:txBody>
      </p:sp>
      <p:sp>
        <p:nvSpPr>
          <p:cNvPr id="8" name="文本框 7"/>
          <p:cNvSpPr txBox="1"/>
          <p:nvPr/>
        </p:nvSpPr>
        <p:spPr>
          <a:xfrm>
            <a:off x="1541145" y="1134745"/>
            <a:ext cx="9605645" cy="762635"/>
          </a:xfrm>
          <a:prstGeom prst="rect">
            <a:avLst/>
          </a:prstGeom>
          <a:solidFill>
            <a:schemeClr val="bg1"/>
          </a:solidFill>
        </p:spPr>
        <p:txBody>
          <a:bodyPr wrap="square" rtlCol="0">
            <a:noAutofit/>
          </a:bodyPr>
          <a:lstStyle/>
          <a:p>
            <a:endParaRPr lang="zh-CN" altLang="en-US"/>
          </a:p>
        </p:txBody>
      </p:sp>
      <p:sp>
        <p:nvSpPr>
          <p:cNvPr id="9" name="文本框 8"/>
          <p:cNvSpPr txBox="1"/>
          <p:nvPr/>
        </p:nvSpPr>
        <p:spPr>
          <a:xfrm>
            <a:off x="476885" y="1959610"/>
            <a:ext cx="1479550" cy="583565"/>
          </a:xfrm>
          <a:prstGeom prst="rect">
            <a:avLst/>
          </a:prstGeom>
          <a:noFill/>
          <a:ln w="12700" cmpd="sng">
            <a:solidFill>
              <a:schemeClr val="tx1"/>
            </a:solidFill>
            <a:prstDash val="solid"/>
          </a:ln>
        </p:spPr>
        <p:txBody>
          <a:bodyPr wrap="square" rtlCol="0">
            <a:spAutoFit/>
          </a:bodyPr>
          <a:lstStyle/>
          <a:p>
            <a:r>
              <a:rPr lang="en-US" altLang="zh-CN" sz="1600">
                <a:latin typeface="Times New Roman" panose="02020603050405020304" charset="0"/>
                <a:cs typeface="Times New Roman" panose="02020603050405020304" charset="0"/>
              </a:rPr>
              <a:t>Moment of </a:t>
            </a:r>
          </a:p>
          <a:p>
            <a:r>
              <a:rPr lang="en-US" altLang="zh-CN" sz="1600">
                <a:latin typeface="Times New Roman" panose="02020603050405020304" charset="0"/>
                <a:cs typeface="Times New Roman" panose="02020603050405020304" charset="0"/>
              </a:rPr>
              <a:t>Interia Tensor</a:t>
            </a:r>
          </a:p>
        </p:txBody>
      </p:sp>
      <p:sp>
        <p:nvSpPr>
          <p:cNvPr id="10" name="文本框 9"/>
          <p:cNvSpPr txBox="1"/>
          <p:nvPr/>
        </p:nvSpPr>
        <p:spPr>
          <a:xfrm>
            <a:off x="2724785" y="5730240"/>
            <a:ext cx="2494915" cy="368300"/>
          </a:xfrm>
          <a:prstGeom prst="rect">
            <a:avLst/>
          </a:prstGeom>
          <a:noFill/>
          <a:ln w="12700" cmpd="sng">
            <a:solidFill>
              <a:srgbClr val="174994"/>
            </a:solidFill>
            <a:prstDash val="solid"/>
          </a:ln>
        </p:spPr>
        <p:txBody>
          <a:bodyPr wrap="square" rtlCol="0">
            <a:spAutoFit/>
          </a:bodyPr>
          <a:lstStyle/>
          <a:p>
            <a:pPr algn="ctr"/>
            <a:r>
              <a:rPr lang="en-US" altLang="zh-CN">
                <a:solidFill>
                  <a:srgbClr val="174994"/>
                </a:solidFill>
                <a:latin typeface="Times New Roman" panose="02020603050405020304" charset="0"/>
                <a:cs typeface="Times New Roman" panose="02020603050405020304" charset="0"/>
              </a:rPr>
              <a:t>Parameter Matrix: W</a:t>
            </a:r>
            <a:r>
              <a:rPr lang="en-US" altLang="zh-CN" baseline="30000">
                <a:solidFill>
                  <a:srgbClr val="174994"/>
                </a:solidFill>
                <a:latin typeface="Times New Roman" panose="02020603050405020304" charset="0"/>
                <a:cs typeface="Times New Roman" panose="02020603050405020304" charset="0"/>
              </a:rPr>
              <a:t>Q</a:t>
            </a:r>
          </a:p>
        </p:txBody>
      </p:sp>
      <p:sp>
        <p:nvSpPr>
          <p:cNvPr id="11" name="文本框 10"/>
          <p:cNvSpPr txBox="1"/>
          <p:nvPr/>
        </p:nvSpPr>
        <p:spPr>
          <a:xfrm>
            <a:off x="7138035" y="5730240"/>
            <a:ext cx="3212465" cy="368300"/>
          </a:xfrm>
          <a:prstGeom prst="rect">
            <a:avLst/>
          </a:prstGeom>
          <a:noFill/>
          <a:ln w="12700" cmpd="sng">
            <a:solidFill>
              <a:srgbClr val="174994"/>
            </a:solidFill>
            <a:prstDash val="solid"/>
          </a:ln>
        </p:spPr>
        <p:txBody>
          <a:bodyPr wrap="square" rtlCol="0">
            <a:spAutoFit/>
          </a:bodyPr>
          <a:lstStyle/>
          <a:p>
            <a:pPr algn="ctr"/>
            <a:r>
              <a:rPr lang="en-US" altLang="zh-CN">
                <a:solidFill>
                  <a:srgbClr val="174994"/>
                </a:solidFill>
                <a:latin typeface="Times New Roman" panose="02020603050405020304" charset="0"/>
                <a:cs typeface="Times New Roman" panose="02020603050405020304" charset="0"/>
              </a:rPr>
              <a:t>Parameter Matrix: W</a:t>
            </a:r>
            <a:r>
              <a:rPr lang="en-US" altLang="zh-CN" baseline="30000">
                <a:solidFill>
                  <a:srgbClr val="174994"/>
                </a:solidFill>
                <a:latin typeface="Times New Roman" panose="02020603050405020304" charset="0"/>
                <a:cs typeface="Times New Roman" panose="02020603050405020304" charset="0"/>
              </a:rPr>
              <a:t>K</a:t>
            </a:r>
            <a:r>
              <a:rPr lang="en-US" altLang="zh-CN">
                <a:solidFill>
                  <a:srgbClr val="174994"/>
                </a:solidFill>
                <a:latin typeface="Times New Roman" panose="02020603050405020304" charset="0"/>
                <a:cs typeface="Times New Roman" panose="02020603050405020304" charset="0"/>
              </a:rPr>
              <a:t>, W</a:t>
            </a:r>
            <a:r>
              <a:rPr lang="en-US" altLang="zh-CN" baseline="30000">
                <a:solidFill>
                  <a:srgbClr val="174994"/>
                </a:solidFill>
                <a:latin typeface="Times New Roman" panose="02020603050405020304" charset="0"/>
                <a:cs typeface="Times New Roman" panose="02020603050405020304" charset="0"/>
              </a:rPr>
              <a:t>V</a:t>
            </a:r>
            <a:endParaRPr lang="zh-CN" altLang="en-US" baseline="30000">
              <a:solidFill>
                <a:srgbClr val="174994"/>
              </a:solidFill>
              <a:latin typeface="Times New Roman" panose="02020603050405020304" charset="0"/>
              <a:cs typeface="Times New Roman" panose="02020603050405020304" charset="0"/>
            </a:endParaRPr>
          </a:p>
        </p:txBody>
      </p:sp>
      <p:sp>
        <p:nvSpPr>
          <p:cNvPr id="13" name="文本框 12"/>
          <p:cNvSpPr txBox="1"/>
          <p:nvPr/>
        </p:nvSpPr>
        <p:spPr>
          <a:xfrm>
            <a:off x="8814435" y="1959610"/>
            <a:ext cx="1406525" cy="583565"/>
          </a:xfrm>
          <a:prstGeom prst="rect">
            <a:avLst/>
          </a:prstGeom>
          <a:noFill/>
          <a:ln w="12700" cmpd="sng">
            <a:solidFill>
              <a:schemeClr val="tx1"/>
            </a:solidFill>
            <a:prstDash val="solid"/>
          </a:ln>
        </p:spPr>
        <p:txBody>
          <a:bodyPr wrap="square" rtlCol="0">
            <a:spAutoFit/>
          </a:bodyPr>
          <a:lstStyle/>
          <a:p>
            <a:r>
              <a:rPr lang="en-US" altLang="zh-CN" sz="1600">
                <a:latin typeface="Times New Roman" panose="02020603050405020304" charset="0"/>
                <a:cs typeface="Times New Roman" panose="02020603050405020304" charset="0"/>
              </a:rPr>
              <a:t>Extracted by ResNet-18 </a:t>
            </a:r>
          </a:p>
        </p:txBody>
      </p:sp>
      <p:sp>
        <p:nvSpPr>
          <p:cNvPr id="15" name="文本框 14"/>
          <p:cNvSpPr txBox="1"/>
          <p:nvPr/>
        </p:nvSpPr>
        <p:spPr>
          <a:xfrm>
            <a:off x="10531475" y="3193415"/>
            <a:ext cx="1431925" cy="922020"/>
          </a:xfrm>
          <a:prstGeom prst="rect">
            <a:avLst/>
          </a:prstGeom>
          <a:noFill/>
        </p:spPr>
        <p:txBody>
          <a:bodyPr wrap="square" rtlCol="0">
            <a:spAutoFit/>
          </a:bodyPr>
          <a:lstStyle/>
          <a:p>
            <a:pPr indent="0" fontAlgn="auto">
              <a:lnSpc>
                <a:spcPct val="150000"/>
              </a:lnSpc>
            </a:pPr>
            <a:r>
              <a:rPr lang="en-US" altLang="zh-CN">
                <a:solidFill>
                  <a:srgbClr val="00B0F0"/>
                </a:solidFill>
                <a:latin typeface="Times New Roman" panose="02020603050405020304" charset="0"/>
                <a:cs typeface="Times New Roman" panose="02020603050405020304" charset="0"/>
              </a:rPr>
              <a:t>Vectors:</a:t>
            </a:r>
            <a:br>
              <a:rPr lang="en-US" altLang="zh-CN">
                <a:solidFill>
                  <a:srgbClr val="00B0F0"/>
                </a:solidFill>
                <a:latin typeface="Times New Roman" panose="02020603050405020304" charset="0"/>
                <a:cs typeface="Times New Roman" panose="02020603050405020304" charset="0"/>
              </a:rPr>
            </a:br>
            <a:r>
              <a:rPr lang="en-US" altLang="zh-CN">
                <a:solidFill>
                  <a:srgbClr val="00B0F0"/>
                </a:solidFill>
                <a:latin typeface="Times New Roman" panose="02020603050405020304" charset="0"/>
                <a:cs typeface="Times New Roman" panose="02020603050405020304" charset="0"/>
              </a:rPr>
              <a:t>K &amp; V</a:t>
            </a:r>
          </a:p>
        </p:txBody>
      </p:sp>
    </p:spTree>
    <p:custDataLst>
      <p:tags r:id="rId1"/>
    </p:custDataLst>
  </p:cSld>
  <p:clrMapOvr>
    <a:masterClrMapping/>
  </p:clrMapOvr>
  <p:timing>
    <p:tnLst>
      <p:par>
        <p:cTn id="1" dur="indefinite" restart="never" nodeType="tmRoot">
          <p:childTnLst>
            <p:video>
              <p:cMediaNode>
                <p:cTn id="2" repeatCount="indefinite" fill="remove" display="1">
                  <p:stCondLst>
                    <p:cond delay="indefinite"/>
                  </p:stCondLst>
                </p:cTn>
                <p:tgtEl>
                  <p:spTgt spid="6"/>
                </p:tgtEl>
              </p:cMediaNode>
            </p:video>
            <p:seq concurrent="1" nextAc="seek">
              <p:cTn id="3" restart="whenNotActive" fill="hold" evtFilter="cancelBubble" nodeType="interactiveSeq">
                <p:stCondLst>
                  <p:cond evt="onClick" delay="0">
                    <p:tgtEl>
                      <p:spTgt spid="6"/>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Traditional Workflow</a:t>
            </a:r>
          </a:p>
        </p:txBody>
      </p:sp>
      <p:sp>
        <p:nvSpPr>
          <p:cNvPr id="3" name="文本框 2"/>
          <p:cNvSpPr txBox="1"/>
          <p:nvPr/>
        </p:nvSpPr>
        <p:spPr>
          <a:xfrm>
            <a:off x="180340" y="821690"/>
            <a:ext cx="2733040" cy="521970"/>
          </a:xfrm>
          <a:prstGeom prst="rect">
            <a:avLst/>
          </a:prstGeom>
          <a:noFill/>
        </p:spPr>
        <p:txBody>
          <a:bodyPr wrap="square" rtlCol="0">
            <a:spAutoFit/>
          </a:bodyPr>
          <a:lstStyle/>
          <a:p>
            <a:pPr lvl="0" algn="l">
              <a:buClrTx/>
              <a:buSzTx/>
              <a:buFontTx/>
            </a:pPr>
            <a:r>
              <a:rPr lang="en-US" altLang="zh-CN" sz="2800">
                <a:latin typeface="Times New Roman" panose="02020603050405020304" charset="0"/>
                <a:cs typeface="Times New Roman" panose="02020603050405020304" charset="0"/>
                <a:sym typeface="+mn-ea"/>
              </a:rPr>
              <a:t>Outlined steps:</a:t>
            </a:r>
          </a:p>
        </p:txBody>
      </p:sp>
      <p:sp>
        <p:nvSpPr>
          <p:cNvPr id="5" name="文本框 4"/>
          <p:cNvSpPr txBox="1"/>
          <p:nvPr/>
        </p:nvSpPr>
        <p:spPr>
          <a:xfrm>
            <a:off x="180340" y="1313180"/>
            <a:ext cx="11617325" cy="36830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1. Clean all events using Hough transform methods.Discard events that have fewer than some preset number of points.</a:t>
            </a:r>
            <a:endParaRPr lang="zh-CN" altLang="en-US">
              <a:latin typeface="Times New Roman" panose="02020603050405020304" charset="0"/>
              <a:cs typeface="Times New Roman" panose="02020603050405020304" charset="0"/>
            </a:endParaRPr>
          </a:p>
        </p:txBody>
      </p:sp>
      <p:sp>
        <p:nvSpPr>
          <p:cNvPr id="4" name="文本框 3"/>
          <p:cNvSpPr txBox="1"/>
          <p:nvPr/>
        </p:nvSpPr>
        <p:spPr>
          <a:xfrm>
            <a:off x="180340" y="1687195"/>
            <a:ext cx="11617325" cy="36830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2. Use naive Monto Carlo method to fit every track, assuming that each represents the desired reaction product.</a:t>
            </a:r>
          </a:p>
        </p:txBody>
      </p:sp>
      <p:sp>
        <p:nvSpPr>
          <p:cNvPr id="6" name="文本框 5"/>
          <p:cNvSpPr txBox="1"/>
          <p:nvPr/>
        </p:nvSpPr>
        <p:spPr>
          <a:xfrm>
            <a:off x="180340" y="2080895"/>
            <a:ext cx="11617325" cy="36830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3. Plot a histogram of the objective function for all events.</a:t>
            </a:r>
          </a:p>
        </p:txBody>
      </p:sp>
      <p:sp>
        <p:nvSpPr>
          <p:cNvPr id="8" name="文本框 7"/>
          <p:cNvSpPr txBox="1"/>
          <p:nvPr/>
        </p:nvSpPr>
        <p:spPr>
          <a:xfrm>
            <a:off x="174625" y="2480945"/>
            <a:ext cx="7712710" cy="36830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4.Visually determine a cutoff for a ‘‘good fit’’, or low objective function value.</a:t>
            </a:r>
          </a:p>
        </p:txBody>
      </p:sp>
      <p:sp>
        <p:nvSpPr>
          <p:cNvPr id="7" name="文本框 6"/>
          <p:cNvSpPr txBox="1"/>
          <p:nvPr/>
        </p:nvSpPr>
        <p:spPr>
          <a:xfrm>
            <a:off x="175895" y="2880360"/>
            <a:ext cx="5693410" cy="36830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5.Define all events within that cut as events of interest .</a:t>
            </a:r>
            <a:endParaRPr lang="zh-CN" altLang="en-US">
              <a:latin typeface="Times New Roman" panose="02020603050405020304" charset="0"/>
              <a:cs typeface="Times New Roman" panose="02020603050405020304" charset="0"/>
            </a:endParaRPr>
          </a:p>
        </p:txBody>
      </p:sp>
      <p:sp>
        <p:nvSpPr>
          <p:cNvPr id="10" name="文本框 9"/>
          <p:cNvSpPr txBox="1"/>
          <p:nvPr/>
        </p:nvSpPr>
        <p:spPr>
          <a:xfrm>
            <a:off x="174625" y="3349625"/>
            <a:ext cx="3794125" cy="521970"/>
          </a:xfrm>
          <a:prstGeom prst="rect">
            <a:avLst/>
          </a:prstGeom>
          <a:noFill/>
        </p:spPr>
        <p:txBody>
          <a:bodyPr wrap="square" rtlCol="0">
            <a:spAutoFit/>
          </a:bodyPr>
          <a:lstStyle/>
          <a:p>
            <a:r>
              <a:rPr lang="en-US" altLang="zh-CN" sz="2800">
                <a:latin typeface="Times New Roman" panose="02020603050405020304" charset="0"/>
                <a:cs typeface="Times New Roman" panose="02020603050405020304" charset="0"/>
              </a:rPr>
              <a:t>Several Disadvantages:</a:t>
            </a:r>
          </a:p>
        </p:txBody>
      </p:sp>
      <p:sp>
        <p:nvSpPr>
          <p:cNvPr id="11" name="文本框 10"/>
          <p:cNvSpPr txBox="1"/>
          <p:nvPr/>
        </p:nvSpPr>
        <p:spPr>
          <a:xfrm>
            <a:off x="149225" y="3972560"/>
            <a:ext cx="2585720" cy="368300"/>
          </a:xfrm>
          <a:prstGeom prst="rect">
            <a:avLst/>
          </a:prstGeom>
          <a:noFill/>
        </p:spPr>
        <p:txBody>
          <a:bodyPr wrap="square" rtlCol="0">
            <a:spAutoFit/>
          </a:bodyPr>
          <a:lstStyle/>
          <a:p>
            <a:pPr algn="ctr"/>
            <a:r>
              <a:rPr lang="en-US" altLang="zh-CN">
                <a:latin typeface="Times New Roman" panose="02020603050405020304" charset="0"/>
                <a:cs typeface="Times New Roman" panose="02020603050405020304" charset="0"/>
              </a:rPr>
              <a:t>1. The lack of verfication</a:t>
            </a:r>
            <a:endParaRPr lang="zh-CN" altLang="en-US">
              <a:latin typeface="Times New Roman" panose="02020603050405020304" charset="0"/>
              <a:cs typeface="Times New Roman" panose="02020603050405020304" charset="0"/>
            </a:endParaRPr>
          </a:p>
        </p:txBody>
      </p:sp>
      <p:sp>
        <p:nvSpPr>
          <p:cNvPr id="9" name="文本框 8"/>
          <p:cNvSpPr txBox="1"/>
          <p:nvPr/>
        </p:nvSpPr>
        <p:spPr>
          <a:xfrm>
            <a:off x="132715" y="4353560"/>
            <a:ext cx="3836035" cy="645160"/>
          </a:xfrm>
          <a:prstGeom prst="rect">
            <a:avLst/>
          </a:prstGeom>
          <a:noFill/>
        </p:spPr>
        <p:txBody>
          <a:bodyPr wrap="square" rtlCol="0">
            <a:spAutoFit/>
          </a:bodyPr>
          <a:lstStyle/>
          <a:p>
            <a:pPr algn="ctr"/>
            <a:r>
              <a:rPr lang="en-US" altLang="zh-CN">
                <a:latin typeface="Times New Roman" panose="02020603050405020304" charset="0"/>
                <a:cs typeface="Times New Roman" panose="02020603050405020304" charset="0"/>
              </a:rPr>
              <a:t>2. The subjectivity and potential biases of a "one-size-fits-all" standard.</a:t>
            </a:r>
          </a:p>
        </p:txBody>
      </p:sp>
      <p:sp>
        <p:nvSpPr>
          <p:cNvPr id="19" name="文本框 18"/>
          <p:cNvSpPr txBox="1"/>
          <p:nvPr/>
        </p:nvSpPr>
        <p:spPr>
          <a:xfrm>
            <a:off x="85725" y="4941570"/>
            <a:ext cx="4255770" cy="645160"/>
          </a:xfrm>
          <a:prstGeom prst="rect">
            <a:avLst/>
          </a:prstGeom>
          <a:noFill/>
        </p:spPr>
        <p:txBody>
          <a:bodyPr wrap="square" rtlCol="0">
            <a:spAutoFit/>
          </a:bodyPr>
          <a:lstStyle/>
          <a:p>
            <a:pPr algn="ctr"/>
            <a:r>
              <a:rPr lang="en-US" altLang="zh-CN">
                <a:latin typeface="Times New Roman" panose="02020603050405020304" charset="0"/>
                <a:cs typeface="Times New Roman" panose="02020603050405020304" charset="0"/>
              </a:rPr>
              <a:t>3. The prejudice raised by preceding steps.</a:t>
            </a:r>
          </a:p>
          <a:p>
            <a:pPr algn="ctr"/>
            <a:r>
              <a:rPr lang="en-US" altLang="zh-CN">
                <a:latin typeface="Times New Roman" panose="02020603050405020304" charset="0"/>
                <a:cs typeface="Times New Roman" panose="02020603050405020304" charset="0"/>
              </a:rPr>
              <a:t>(chain reactions)</a:t>
            </a:r>
          </a:p>
        </p:txBody>
      </p:sp>
      <p:sp>
        <p:nvSpPr>
          <p:cNvPr id="21" name="文本框 20"/>
          <p:cNvSpPr txBox="1"/>
          <p:nvPr/>
        </p:nvSpPr>
        <p:spPr>
          <a:xfrm>
            <a:off x="5400040" y="4340860"/>
            <a:ext cx="5074285" cy="706755"/>
          </a:xfrm>
          <a:prstGeom prst="rect">
            <a:avLst/>
          </a:prstGeom>
          <a:noFill/>
        </p:spPr>
        <p:txBody>
          <a:bodyPr wrap="square" rtlCol="0">
            <a:spAutoFit/>
          </a:bodyPr>
          <a:lstStyle/>
          <a:p>
            <a:pPr algn="ctr"/>
            <a:r>
              <a:rPr lang="en-US" altLang="zh-CN" sz="2000" b="1">
                <a:solidFill>
                  <a:srgbClr val="FF0000"/>
                </a:solidFill>
                <a:latin typeface="Times New Roman" panose="02020603050405020304" charset="0"/>
                <a:cs typeface="Times New Roman" panose="02020603050405020304" charset="0"/>
              </a:rPr>
              <a:t> These above degrades the efficacy of any ensuing analysis steps.</a:t>
            </a:r>
          </a:p>
        </p:txBody>
      </p:sp>
      <p:sp>
        <p:nvSpPr>
          <p:cNvPr id="22" name="日期占位符 21"/>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Traditional Workflow</a:t>
            </a:r>
          </a:p>
        </p:txBody>
      </p:sp>
      <p:sp>
        <p:nvSpPr>
          <p:cNvPr id="10" name="文本框 9"/>
          <p:cNvSpPr txBox="1"/>
          <p:nvPr/>
        </p:nvSpPr>
        <p:spPr>
          <a:xfrm>
            <a:off x="174625" y="974725"/>
            <a:ext cx="3794125" cy="521970"/>
          </a:xfrm>
          <a:prstGeom prst="rect">
            <a:avLst/>
          </a:prstGeom>
          <a:noFill/>
        </p:spPr>
        <p:txBody>
          <a:bodyPr wrap="square" rtlCol="0">
            <a:spAutoFit/>
          </a:bodyPr>
          <a:lstStyle/>
          <a:p>
            <a:r>
              <a:rPr lang="en-US" altLang="zh-CN" sz="2800">
                <a:latin typeface="Times New Roman" panose="02020603050405020304" charset="0"/>
                <a:cs typeface="Times New Roman" panose="02020603050405020304" charset="0"/>
              </a:rPr>
              <a:t>Several Disadvantages:</a:t>
            </a:r>
          </a:p>
        </p:txBody>
      </p:sp>
      <p:sp>
        <p:nvSpPr>
          <p:cNvPr id="11" name="文本框 10"/>
          <p:cNvSpPr txBox="1"/>
          <p:nvPr/>
        </p:nvSpPr>
        <p:spPr>
          <a:xfrm>
            <a:off x="174625" y="1597660"/>
            <a:ext cx="2585720" cy="36830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1. The lack of verfication</a:t>
            </a:r>
            <a:endParaRPr lang="zh-CN" altLang="en-US">
              <a:latin typeface="Times New Roman" panose="02020603050405020304" charset="0"/>
              <a:cs typeface="Times New Roman" panose="02020603050405020304" charset="0"/>
            </a:endParaRPr>
          </a:p>
        </p:txBody>
      </p:sp>
      <p:sp>
        <p:nvSpPr>
          <p:cNvPr id="9" name="文本框 8"/>
          <p:cNvSpPr txBox="1"/>
          <p:nvPr/>
        </p:nvSpPr>
        <p:spPr>
          <a:xfrm>
            <a:off x="3533140" y="1597660"/>
            <a:ext cx="3861435" cy="645160"/>
          </a:xfrm>
          <a:prstGeom prst="rect">
            <a:avLst/>
          </a:prstGeom>
          <a:noFill/>
        </p:spPr>
        <p:txBody>
          <a:bodyPr wrap="square" rtlCol="0">
            <a:spAutoFit/>
          </a:bodyPr>
          <a:lstStyle/>
          <a:p>
            <a:pPr algn="ctr"/>
            <a:r>
              <a:rPr lang="en-US" altLang="zh-CN">
                <a:latin typeface="Times New Roman" panose="02020603050405020304" charset="0"/>
                <a:cs typeface="Times New Roman" panose="02020603050405020304" charset="0"/>
              </a:rPr>
              <a:t>2. The subjectivity and potential biases of a "one-size-fits-all" standard.</a:t>
            </a:r>
          </a:p>
        </p:txBody>
      </p:sp>
      <p:sp>
        <p:nvSpPr>
          <p:cNvPr id="19" name="文本框 18"/>
          <p:cNvSpPr txBox="1"/>
          <p:nvPr/>
        </p:nvSpPr>
        <p:spPr>
          <a:xfrm>
            <a:off x="7953375" y="1597660"/>
            <a:ext cx="4109720" cy="36830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3. The prejudice raised by preceding steps.</a:t>
            </a:r>
          </a:p>
        </p:txBody>
      </p:sp>
      <p:grpSp>
        <p:nvGrpSpPr>
          <p:cNvPr id="23" name="组合 22"/>
          <p:cNvGrpSpPr/>
          <p:nvPr/>
        </p:nvGrpSpPr>
        <p:grpSpPr>
          <a:xfrm>
            <a:off x="301625" y="2185670"/>
            <a:ext cx="9516745" cy="4083050"/>
            <a:chOff x="475" y="3442"/>
            <a:chExt cx="14987" cy="6430"/>
          </a:xfrm>
        </p:grpSpPr>
        <p:pic>
          <p:nvPicPr>
            <p:cNvPr id="13" name="图片 12" descr="Gemini_Generated_Image_SingerImagery"/>
            <p:cNvPicPr>
              <a:picLocks noChangeAspect="1"/>
            </p:cNvPicPr>
            <p:nvPr/>
          </p:nvPicPr>
          <p:blipFill>
            <a:blip r:embed="rId2"/>
            <a:stretch>
              <a:fillRect/>
            </a:stretch>
          </p:blipFill>
          <p:spPr>
            <a:xfrm>
              <a:off x="3192" y="3442"/>
              <a:ext cx="12271" cy="6431"/>
            </a:xfrm>
            <a:prstGeom prst="rect">
              <a:avLst/>
            </a:prstGeom>
          </p:spPr>
        </p:pic>
        <p:sp>
          <p:nvSpPr>
            <p:cNvPr id="12" name="文本框 11"/>
            <p:cNvSpPr txBox="1"/>
            <p:nvPr/>
          </p:nvSpPr>
          <p:spPr>
            <a:xfrm>
              <a:off x="475" y="3705"/>
              <a:ext cx="4475" cy="822"/>
            </a:xfrm>
            <a:prstGeom prst="rect">
              <a:avLst/>
            </a:prstGeom>
            <a:noFill/>
          </p:spPr>
          <p:txBody>
            <a:bodyPr wrap="square" rtlCol="0">
              <a:spAutoFit/>
            </a:bodyPr>
            <a:lstStyle/>
            <a:p>
              <a:r>
                <a:rPr lang="en-US" altLang="zh-CN" sz="2800">
                  <a:latin typeface="Times New Roman" panose="02020603050405020304" charset="0"/>
                  <a:cs typeface="Times New Roman" panose="02020603050405020304" charset="0"/>
                </a:rPr>
                <a:t>Simple Imagery:</a:t>
              </a:r>
            </a:p>
          </p:txBody>
        </p:sp>
        <p:sp>
          <p:nvSpPr>
            <p:cNvPr id="18" name="文本框 17"/>
            <p:cNvSpPr txBox="1"/>
            <p:nvPr/>
          </p:nvSpPr>
          <p:spPr>
            <a:xfrm>
              <a:off x="5997" y="8793"/>
              <a:ext cx="6661" cy="483"/>
            </a:xfrm>
            <a:prstGeom prst="rect">
              <a:avLst/>
            </a:prstGeom>
            <a:noFill/>
          </p:spPr>
          <p:txBody>
            <a:bodyPr wrap="square" rtlCol="0">
              <a:spAutoFit/>
            </a:bodyPr>
            <a:lstStyle/>
            <a:p>
              <a:pPr algn="ctr"/>
              <a:r>
                <a:rPr lang="en-US" altLang="zh-CN" sz="1400">
                  <a:latin typeface="Times New Roman" panose="02020603050405020304" charset="0"/>
                  <a:cs typeface="Times New Roman" panose="02020603050405020304" charset="0"/>
                </a:rPr>
                <a:t>Generated by Gemini</a:t>
              </a:r>
            </a:p>
          </p:txBody>
        </p:sp>
        <p:sp>
          <p:nvSpPr>
            <p:cNvPr id="22" name="文本框 21"/>
            <p:cNvSpPr txBox="1"/>
            <p:nvPr/>
          </p:nvSpPr>
          <p:spPr>
            <a:xfrm>
              <a:off x="5123" y="6029"/>
              <a:ext cx="1342" cy="344"/>
            </a:xfrm>
            <a:prstGeom prst="rect">
              <a:avLst/>
            </a:prstGeom>
            <a:solidFill>
              <a:schemeClr val="bg1"/>
            </a:solidFill>
          </p:spPr>
          <p:txBody>
            <a:bodyPr wrap="square" rtlCol="0">
              <a:noAutofit/>
            </a:bodyPr>
            <a:lstStyle/>
            <a:p>
              <a:pPr algn="ctr"/>
              <a:r>
                <a:rPr lang="en-US" altLang="zh-CN" sz="1200" b="1">
                  <a:latin typeface="Times New Roman" panose="02020603050405020304" charset="0"/>
                  <a:cs typeface="Times New Roman" panose="02020603050405020304" charset="0"/>
                </a:rPr>
                <a:t>amazingly</a:t>
              </a:r>
            </a:p>
          </p:txBody>
        </p:sp>
      </p:grpSp>
      <p:sp>
        <p:nvSpPr>
          <p:cNvPr id="24" name="文本框 23"/>
          <p:cNvSpPr txBox="1"/>
          <p:nvPr/>
        </p:nvSpPr>
        <p:spPr>
          <a:xfrm>
            <a:off x="3033395" y="2364740"/>
            <a:ext cx="6125845" cy="706755"/>
          </a:xfrm>
          <a:prstGeom prst="rect">
            <a:avLst/>
          </a:prstGeom>
          <a:noFill/>
        </p:spPr>
        <p:txBody>
          <a:bodyPr wrap="square" rtlCol="0">
            <a:spAutoFit/>
          </a:bodyPr>
          <a:lstStyle/>
          <a:p>
            <a:pPr algn="ctr"/>
            <a:r>
              <a:rPr lang="en-US" altLang="zh-CN" sz="2000">
                <a:solidFill>
                  <a:srgbClr val="FF0000"/>
                </a:solidFill>
                <a:latin typeface="Times New Roman" panose="02020603050405020304" charset="0"/>
                <a:cs typeface="Times New Roman" panose="02020603050405020304" charset="0"/>
              </a:rPr>
              <a:t>But we haven't actually heard them singing by ourselves! (corresponding to "independent verification").</a:t>
            </a:r>
          </a:p>
        </p:txBody>
      </p:sp>
      <p:sp>
        <p:nvSpPr>
          <p:cNvPr id="7" name="日期占位符 6"/>
          <p:cNvSpPr>
            <a:spLocks noGrp="1"/>
          </p:cNvSpPr>
          <p:nvPr>
            <p:ph type="dt" sz="half" idx="10"/>
          </p:nvPr>
        </p:nvSpPr>
        <p:spPr/>
        <p:txBody>
          <a:bodyPr/>
          <a:lstStyle/>
          <a:p>
            <a:fld id="{760FBDFE-C587-4B4C-A407-44438C67B59E}" type="datetime2">
              <a:rPr lang="en-US" altLang="en-US" smtClean="0"/>
              <a:t>Sunday, April 12, 2026</a:t>
            </a:fld>
            <a:endParaRPr lang="zh-CN" altLang="en-US"/>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down)">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additive="base">
                                        <p:cTn id="12" dur="500" fill="hold"/>
                                        <p:tgtEl>
                                          <p:spTgt spid="24"/>
                                        </p:tgtEl>
                                        <p:attrNameLst>
                                          <p:attrName>ppt_x</p:attrName>
                                        </p:attrNameLst>
                                      </p:cBhvr>
                                      <p:tavLst>
                                        <p:tav tm="0">
                                          <p:val>
                                            <p:strVal val="#ppt_x"/>
                                          </p:val>
                                        </p:tav>
                                        <p:tav tm="100000">
                                          <p:val>
                                            <p:strVal val="#ppt_x"/>
                                          </p:val>
                                        </p:tav>
                                      </p:tavLst>
                                    </p:anim>
                                    <p:anim calcmode="lin" valueType="num">
                                      <p:cBhvr additive="base">
                                        <p:cTn id="13"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4" grpId="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TFkMmU0ODRiNDhiOGM5MmIxOWQ0ZTljMjA3NmExZmUifQ=="/>
  <p:tag name="RESOURCE_RECORD_KEY" val="{&quot;10&quot;:[50001574,50043682,21557347,21572628,21573244,21602304,50026891],&quot;13&quot;:[4364938],&quot;29&quot;:[50000042,50000049,50000076],&quot;65&quot;:[20233299]}"/>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3299"/>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UNIT_VALUE" val="340"/>
  <p:tag name="KSO_WM_TEMPLATE_CATEGORY" val="custom"/>
  <p:tag name="KSO_WM_TEMPLATE_INDEX" val="20233299"/>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299"/>
  <p:tag name="KSO_WM_TEMPLATE_THUMBS_INDEX" val="1、9"/>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f*1"/>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1"/>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 name="RESOURCE_RECORD_KEY" val="{&quot;10&quot;:[50001574,21602304,50026891],&quot;65&quot;:[20233299]}"/>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125.2,&quot;left&quot;:62.9,&quot;top&quot;:349,&quot;width&quot;:811.85}"/>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125.2,&quot;left&quot;:62.9,&quot;top&quot;:349,&quot;width&quot;:811.85}"/>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125.2,&quot;left&quot;:62.9,&quot;top&quot;:349,&quot;width&quot;:811.85}"/>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125.2,&quot;left&quot;:62.9,&quot;top&quot;:349,&quot;width&quot;:811.85}"/>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125.2,&quot;left&quot;:62.9,&quot;top&quot;:349,&quot;width&quot;:811.85}"/>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125.2,&quot;left&quot;:62.9,&quot;top&quot;:349,&quot;width&quot;:811.85}"/>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125.2,&quot;left&quot;:62.9,&quot;top&quot;:349,&quot;width&quot;:811.85}"/>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125.2,&quot;left&quot;:62.9,&quot;top&quot;:349,&quot;width&quot;:811.85}"/>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125.2,&quot;left&quot;:62.9,&quot;top&quot;:349,&quot;width&quot;:811.85}"/>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125.2,&quot;left&quot;:62.9,&quot;top&quot;:349,&quot;width&quot;:811.85}"/>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 name="RESOURCE_RECORD_KEY" val="{&quot;10&quot;:[50001574],&quot;65&quot;:[20233299]}"/>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 name="RESOURCE_RECORD_KEY" val="{&quot;10&quot;:[50001574],&quot;65&quot;:[20233299]}"/>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 name="RESOURCE_RECORD_KEY" val="{&quot;10&quot;:[21557347,21572628,21573244],&quot;65&quot;:[20233299]}"/>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341.1,&quot;left&quot;:84.05,&quot;top&quot;:169.15,&quot;width&quot;:715.2}"/>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341.1,&quot;left&quot;:84.05,&quot;top&quot;:169.15,&quot;width&quot;:715.2}"/>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341.1,&quot;left&quot;:84.05,&quot;top&quot;:169.15,&quot;width&quot;:715.2}"/>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341.1,&quot;left&quot;:84.05,&quot;top&quot;:169.15,&quot;width&quot;:715.2}"/>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341.1,&quot;left&quot;:84.05,&quot;top&quot;:169.15,&quot;width&quot;:715.2}"/>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341.1,&quot;left&quot;:84.05,&quot;top&quot;:169.15,&quot;width&quot;:715.2}"/>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341.1,&quot;left&quot;:84.05,&quot;top&quot;:169.15,&quot;width&quot;:715.2}"/>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341.1,&quot;left&quot;:84.05,&quot;top&quot;:169.15,&quot;width&quot;:715.2}"/>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341.1,&quot;left&quot;:84.05,&quot;top&quot;:169.15,&quot;width&quot;:715.2}"/>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341.1,&quot;left&quot;:84.05,&quot;top&quot;:169.15,&quot;width&quot;:715.2}"/>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341.1,&quot;left&quot;:84.05,&quot;top&quot;:169.15,&quot;width&quot;:715.2}"/>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341.1,&quot;left&quot;:84.05,&quot;top&quot;:169.15,&quot;width&quot;:715.2}"/>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341.1,&quot;left&quot;:84.05,&quot;top&quot;:169.15,&quot;width&quot;:715.2}"/>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341.1,&quot;left&quot;:84.05,&quot;top&quot;:169.15,&quot;width&quot;:715.2}"/>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341.1,&quot;left&quot;:84.05,&quot;top&quot;:169.15,&quot;width&quot;:715.2}"/>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341.1,&quot;left&quot;:84.05,&quot;top&quot;:169.15,&quot;width&quot;:715.2}"/>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299"/>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自定义 104">
      <a:dk1>
        <a:srgbClr val="000000"/>
      </a:dk1>
      <a:lt1>
        <a:srgbClr val="FFFFFF"/>
      </a:lt1>
      <a:dk2>
        <a:srgbClr val="000000"/>
      </a:dk2>
      <a:lt2>
        <a:srgbClr val="FFFFFF"/>
      </a:lt2>
      <a:accent1>
        <a:srgbClr val="057174"/>
      </a:accent1>
      <a:accent2>
        <a:srgbClr val="3A8C42"/>
      </a:accent2>
      <a:accent3>
        <a:srgbClr val="487AB5"/>
      </a:accent3>
      <a:accent4>
        <a:srgbClr val="4D65BB"/>
      </a:accent4>
      <a:accent5>
        <a:srgbClr val="745EB4"/>
      </a:accent5>
      <a:accent6>
        <a:srgbClr val="3098B9"/>
      </a:accent6>
      <a:hlink>
        <a:srgbClr val="658BD5"/>
      </a:hlink>
      <a:folHlink>
        <a:srgbClr val="A16AA5"/>
      </a:folHlink>
    </a:clrScheme>
    <a:fontScheme name="自定义 45">
      <a:majorFont>
        <a:latin typeface="MiSans Demibold"/>
        <a:ea typeface="微软雅黑"/>
        <a:cs typeface=""/>
      </a:majorFont>
      <a:minorFont>
        <a:latin typeface="MiSans Demibold"/>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2223</Words>
  <Application>Microsoft Office PowerPoint</Application>
  <PresentationFormat>Widescreen</PresentationFormat>
  <Paragraphs>331</Paragraphs>
  <Slides>25</Slides>
  <Notes>9</Notes>
  <HiddenSlides>0</HiddenSlides>
  <MMClips>1</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25</vt:i4>
      </vt:variant>
    </vt:vector>
  </HeadingPairs>
  <TitlesOfParts>
    <vt:vector size="35" baseType="lpstr">
      <vt:lpstr>微软雅黑</vt:lpstr>
      <vt:lpstr>微软雅黑</vt:lpstr>
      <vt:lpstr>MiSans Demibold</vt:lpstr>
      <vt:lpstr>Arial</vt:lpstr>
      <vt:lpstr>Calibri</vt:lpstr>
      <vt:lpstr>Times New Roman</vt:lpstr>
      <vt:lpstr>Wingdings</vt:lpstr>
      <vt:lpstr>WPS</vt:lpstr>
      <vt:lpstr>2_Office 主题​​</vt:lpstr>
      <vt:lpstr>WPS 公式 3.0</vt:lpstr>
      <vt:lpstr>PowerPoint Presentation</vt:lpstr>
      <vt:lpstr>Physical motivation and data challenges </vt:lpstr>
      <vt:lpstr>Convolutional Neural Networks (CNN)  for MATE data</vt:lpstr>
      <vt:lpstr>Method 1: Benchmark CNN (ResNet-18)</vt:lpstr>
      <vt:lpstr>Method 1: Benchmark CNN (ResNet-18)</vt:lpstr>
      <vt:lpstr>Method 2: Gated-Fusion CNN </vt:lpstr>
      <vt:lpstr>Method 3: Cross-Attention CNN </vt:lpstr>
      <vt:lpstr>Performance Metrics</vt:lpstr>
      <vt:lpstr>Model Performance Comparison</vt:lpstr>
      <vt:lpstr>Summary</vt:lpstr>
      <vt:lpstr>PowerPoint Presentation</vt:lpstr>
      <vt:lpstr>MATE: A new generation detector</vt:lpstr>
      <vt:lpstr>Detailed Motivation </vt:lpstr>
      <vt:lpstr>ResNet-18 detailed Structure</vt:lpstr>
      <vt:lpstr>A Further more Motivation ： High-Dimensional Connections</vt:lpstr>
      <vt:lpstr>An Automated, Two-Stage Workflow</vt:lpstr>
      <vt:lpstr>N.Further Explanations</vt:lpstr>
      <vt:lpstr>Cross-Attention Performance </vt:lpstr>
      <vt:lpstr>Attention Entropy</vt:lpstr>
      <vt:lpstr>Attention Entropy</vt:lpstr>
      <vt:lpstr>Interpretability Analysis</vt:lpstr>
      <vt:lpstr>Mechanism of Cross-Attention Architecture</vt:lpstr>
      <vt:lpstr>Mechanism of Cross-Attention Architecture</vt:lpstr>
      <vt:lpstr>Traditional Workflow</vt:lpstr>
      <vt:lpstr>Traditional Workflow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智恒 胡</cp:lastModifiedBy>
  <cp:revision>2069</cp:revision>
  <dcterms:created xsi:type="dcterms:W3CDTF">2019-06-19T02:08:00Z</dcterms:created>
  <dcterms:modified xsi:type="dcterms:W3CDTF">2026-04-12T08:43:59Z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31BD9FBFBFB749A1BD0A8659AE729552_13</vt:lpwstr>
  </property>
</Properties>
</file>