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ConcatFusion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13C/14C (matched)</c:v>
                  </c:pt>
                  <c:pt idx="1">
                    <c:v>3He/4He (caveat)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86.07</c:v>
                </c:pt>
                <c:pt idx="1">
                  <c:v>96.98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GatedFusion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13C/14C (matched)</c:v>
                  </c:pt>
                  <c:pt idx="1">
                    <c:v>3He/4He (caveat)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85.74</c:v>
                </c:pt>
                <c:pt idx="1">
                  <c:v>96.94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CrossAtt</c:v>
                </c:pt>
              </c:strCache>
            </c:strRef>
          </c:tx>
          <c:spPr>
            <a:solidFill>
              <a:srgbClr val="B336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13C/14C (matched)</c:v>
                  </c:pt>
                  <c:pt idx="1">
                    <c:v>3He/4He (caveat)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84.63</c:v>
                </c:pt>
                <c:pt idx="1">
                  <c:v>95.8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change vs ResNet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0.5 MeV</c:v>
                  </c:pt>
                  <c:pt idx="1">
                    <c:v>2.0 MeV</c:v>
                  </c:pt>
                  <c:pt idx="2">
                    <c:v>3.2 MeV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-11.5</c:v>
                </c:pt>
                <c:pt idx="1">
                  <c:v>-20</c:v>
                </c:pt>
                <c:pt idx="2">
                  <c:v>-22.4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2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A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FB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 AT-TPC  ·  PHYSICS-INFORMED CNN PROGRAM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Beyond the Paper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85800" y="221284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verified archive of work completed after the manuscript's last edit </a:t>
            </a:r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(main.tex, 2026-04-22)</a:t>
            </a:r>
            <a:pPr indent="0" marL="0">
              <a:buNone/>
            </a:pPr>
            <a:r>
              <a:rPr lang="en-US" sz="1400" dirty="0">
                <a:solidFill>
                  <a:srgbClr val="DCE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candidate material for paper revision and thesis chapters. Every number below is checked against run logs, metrics.json, configs, specs, and figure files.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3246120"/>
            <a:ext cx="1700784" cy="960120"/>
          </a:xfrm>
          <a:prstGeom prst="rect">
            <a:avLst/>
          </a:prstGeom>
          <a:solidFill>
            <a:srgbClr val="23355C"/>
          </a:solidFill>
          <a:ln w="9525">
            <a:solidFill>
              <a:srgbClr val="3A4F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32104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findings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24328" y="3246120"/>
            <a:ext cx="1700784" cy="960120"/>
          </a:xfrm>
          <a:prstGeom prst="rect">
            <a:avLst/>
          </a:prstGeom>
          <a:solidFill>
            <a:srgbClr val="23355C"/>
          </a:solidFill>
          <a:ln w="9525">
            <a:solidFill>
              <a:srgbClr val="3A4F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0632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70632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(comment-only)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62856" y="3246120"/>
            <a:ext cx="1700784" cy="960120"/>
          </a:xfrm>
          <a:prstGeom prst="rect">
            <a:avLst/>
          </a:prstGeom>
          <a:solidFill>
            <a:srgbClr val="23355C"/>
          </a:solidFill>
          <a:ln w="9525">
            <a:solidFill>
              <a:srgbClr val="3A4F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709160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from paper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01384" y="3246120"/>
            <a:ext cx="1700784" cy="960120"/>
          </a:xfrm>
          <a:prstGeom prst="rect">
            <a:avLst/>
          </a:prstGeom>
          <a:solidFill>
            <a:srgbClr val="23355C"/>
          </a:solidFill>
          <a:ln w="9525">
            <a:solidFill>
              <a:srgbClr val="3A4F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47688" y="33467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647688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/ contradicted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617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summary  ·  2026-06-11  ·  source: Progress_Beyond_Paper_20260611.md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12700">
            <a:solidFill>
              <a:srgbClr val="5A6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manuscript &amp; how to read this deck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41148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54864" cy="32461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517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manuscript as it stands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1847088"/>
            <a:ext cx="37307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CNN with cross-attention fusion for isotope identification in the MATE AT-TPC — classification only.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figures; no regression results, no classical-baseline comparisons, no statistical significance testing.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260–303: a 44-line commented TODO(advisor-review) block pre-registers wording for the energy-regression work but renders nothing.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modified 2026-04-22 — every result in this deck post-dates or extends it.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is verified against repository artifacts; candidates that failed verification are listed in the appendix.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1371600"/>
            <a:ext cx="3886200" cy="199339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371600"/>
            <a:ext cx="54864" cy="19933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001768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Paper-status legend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01768" y="18653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 w="12700">
            <a:solidFill>
              <a:srgbClr val="B97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8653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9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89320" y="17647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coverage is the commented advisor-review block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01768" y="237744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89320" y="22768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coverage anywhere in the manuscript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01768" y="28895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9E2F4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01768" y="28895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98932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contradicts standing paper text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639312"/>
            <a:ext cx="3886200" cy="97840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639312"/>
            <a:ext cx="54864" cy="9784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5001768" y="37307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Deck 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01768" y="3986784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New experiments  ·  2 New baselines  ·  3 New analyses  ·  4 Methods &amp; infrastructure  ·  5 Figures  ·  6 Presented, not published  ·  Appendix: rejected candidates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NEW EXPERIMENTS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 w="12700">
            <a:solidFill>
              <a:srgbClr val="B97E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9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PARTIAL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TRK5 / TRK6 — per-event kinetic-energy regression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998464" y="1243584"/>
            <a:ext cx="2639719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TRK5_TRK6_comparison\F2_per_energy_bin_r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298448"/>
            <a:ext cx="2529991" cy="3154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98464" y="4544568"/>
            <a:ext cx="26397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per-energy-bin RMSE, bootstrap 95% CIs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371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0.0188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TRK6 (cross-attn) test RMSE, MeV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31720" y="1371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0.0229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33172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TRK5 (ResNet) test RMSE, MeV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06240" y="13716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7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−18.0%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20624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cross-attn vs ResNet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2395728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Regenerated 1.2M-event continuous-energy dataset, E ~ U[0.3, 4.0] MeV per event; 180k test events / 450k valid slots.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per-event ΔRMSE +0.004327 MeV (CI [0.004260, 0.004396]); Wilcoxon p ≈ 0; Cohen's d 0.293.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TRK6 relative RMSE 0.873%; best bin 0.00304 MeV (0.8–1.3 MeV).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gate 2026-05-14: TRK6 is the primary CNN result — claim qualified to per-event regression, 9 enumerated limitations.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the single largest unpublished body of results; only the commented block mentions it — zero rendered prose.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NEW EXPERIMENTS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9E2F4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STALE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EXP2 fusion ranking — Concat &gt; Gated &gt; CrossAtt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" y="1371600"/>
          <a:ext cx="49377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" y="42245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(%) — seed 42, 100k events, HC preprocessing, ~11.23M params each. Y-axis starts at 80%.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715000" y="1371600"/>
            <a:ext cx="2971800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15000" y="1371600"/>
            <a:ext cx="54864" cy="3246120"/>
          </a:xfrm>
          <a:prstGeom prst="rect">
            <a:avLst/>
          </a:prstGeom>
          <a:solidFill>
            <a:srgbClr val="6B4FA0"/>
          </a:solidFill>
          <a:ln/>
        </p:spPr>
      </p:sp>
      <p:sp>
        <p:nvSpPr>
          <p:cNvPr id="14" name="Text 11"/>
          <p:cNvSpPr/>
          <p:nvPr/>
        </p:nvSpPr>
        <p:spPr>
          <a:xfrm>
            <a:off x="5916168" y="151790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is STALE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916168" y="1828800"/>
            <a:ext cx="2606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is the worst fusion mechanism in every comparison run (single seed).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3He/4He caveat: CrossAtt cell evaluated on a 25k val set vs 35k for Gated/Concat — mismatched validation sets.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implication: shift emphasis from “cross-attention is optimal” to “physics features improve discrimination regardless of fusion strategy”.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does not mention Gated/Concat as evaluated variants; new modules gated_fusion.py / concat_fusion.py.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NEW EXPERIMENTS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TRK3/4-v2 — per-track polar-angle regression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0.832°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TRK4-v2 (cross-attn) MAE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331720" y="137160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0.992°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331720" y="18288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TRK3-v2 (ResNet) MAE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0" y="13716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7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−16.1%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206240" y="18288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MAE, Welch p &lt; ε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395728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4-slot angle regression: SmoothL1, sentinel −1.0, ascending-θ slot sort (replaces Hungarian matching).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diagnosis: TRK3 v1's ~4.6× train/val MAE gap was a dropout-0.3 measurement artifact + over-regularization; v2 uses dropout 0.05, wd 1e-5 (v1 MAE 1.112° → 0.992°).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High-tier (&lt;1°) fraction: 65.32% → 72.87%.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TRK4-v1 never trained (HP vs architecture not disentangled on the cross-attn side); single seed.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cross-attention's strongest measurable win — a cleaner architecture story than the confounded classification claims.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760720" y="1298448"/>
            <a:ext cx="2926080" cy="3319272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60720" y="1298448"/>
            <a:ext cx="54864" cy="331927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5961888" y="14264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Benefit grows with energy</a:t>
            </a:r>
            <a:endParaRPr lang="en-US" sz="125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897880" y="1920240"/>
          <a:ext cx="269748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NEW EXPERIMENTS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TRK1 / TRK2 — track-count task is saturated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17320"/>
            <a:ext cx="54864" cy="155448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99.9983%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" y="21214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TRK1 (plain ResNet) accuracy — 3 errors / 180,000 test events; CI [99.9951, 99.9994]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14700" y="141732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14700" y="1417320"/>
            <a:ext cx="54864" cy="1554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3515868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99.9994%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15868" y="21214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TRK2 (cross-attention) accuracy — 1 error / 180,000 test events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417320"/>
            <a:ext cx="25146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417320"/>
            <a:ext cx="54864" cy="1554480"/>
          </a:xfrm>
          <a:prstGeom prst="rect">
            <a:avLst/>
          </a:prstGeom>
          <a:solidFill>
            <a:srgbClr val="B97E00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1600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7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0.48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73368" y="2121408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paired test — difference NOT significant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91840"/>
            <a:ext cx="54864" cy="1371600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34015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conclusion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3694176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Phase-1 reconstruction on 1.2M isotropic alpha-source events (1–4 tracks × 0.5 / 2.0 / 3.2 MeV); trained 2026-03-21/23, metrics finalized 2026-03-25.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is saturated and cannot discriminate architectures — an honest ceiling / negative result.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demonstration that the method handles multi-track events (paper covers single-particle classification only); establishes the multiplicity capability the energy and angle work builds 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93976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0939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NEW BASELINES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 w="12700">
            <a:solidFill>
              <a:srgbClr val="B97E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9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PARTIAL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energy baselines — RANSAC, Hough, HC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65776" y="1271016"/>
            <a:ext cx="3594096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TRK5_TRK6_comparison\F1_residual_hist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325880"/>
            <a:ext cx="3484368" cy="2743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65776" y="4160520"/>
            <a:ext cx="359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— residual overlay, 5-method suite (regenerated 2026-06-10)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4206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1005840"/>
                <a:gridCol w="8229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(MeV)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err (MeV)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slots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RANSAC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38,386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−1.0383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 (Hierarchy Cluster)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1.4269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−1.2069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27889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54–76×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57200" y="32461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RMSE than the CNNs on the identical TRK5 test split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57200" y="3657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Image-only baselines on the SHA-1-audited TRK5 split (180,000 truth events; 179,964 in error stats); track length → energy via the SRIM lookup (4.2).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systematically underestimate energy; HC = Hierarchy Cluster (scipy agglomerative, ward) — explicitly NOT Hough.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is moderated by the LM-refined RANSAC (next slide).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93976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093976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NEW BASELINES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LM-refined RANSAC (June 9–10, 2026 — uncommitted)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08776" y="1243584"/>
            <a:ext cx="2627448" cy="3264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TRK5_TRK6_comparison\RANSAC Comparision\F2_per_energy_bin_rm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298448"/>
            <a:ext cx="2517720" cy="31546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208776" y="4544568"/>
            <a:ext cx="2627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— per-bin RMSE (RANSAC variant)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3533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0.159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" y="181051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LM-refined RANSAC RMSE (rel. 10.61%)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331720" y="13533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7–8×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331720" y="18105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plain RANSAC (1.176 MeV on this set)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251960" y="13533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7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8.47×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251960" y="181051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worse than TRK6 (0.0188 MeV)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2395728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Re-evaluated on the NEW alpha_sim_0_20_160 dataset (59,992 events); LM-refined fit at full coverage (177,864 events; 2,861 missing of 383,935 truth slots); MAE 0.1076 MeV.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5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the comparative narrative: CNN advantage shrinks from ~60× (plain baselines) to ~8× against the best classical method.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456432"/>
            <a:ext cx="5394960" cy="11612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456432"/>
            <a:ext cx="54864" cy="1161288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" y="35478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Cautions (must carry into any paper text)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8368" y="38221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dataset/split than the May comparison matrix — not directly commensurate (F7 masks these pairs).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overwrote the 2026-05-18 ransac-opt test metrics (the runs directory is git-untracked); post-dates last commit 7a92841 — uncommitted.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NEW ANALYSES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9E2F4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STALE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A/Z — wrong governing parameter for dE/dx PID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931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54864" cy="1920240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Paper's framing (still in main.tex)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built on Δ(A/Z): abstract quotes “Δ(A/Z) ~ 8%” for 13C/14C; Table 1 quantifies A/Z.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Tassan-Got / Z²A correction appears anywhere — the recorded decision was never propagated.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54864" cy="19202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1499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investigation (2026-03-06)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6048" y="18288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Tassan-Got identification parameter: Z²·A^μ (NIM B 194, 2002); TPC range–energy scaling goes as A/Z².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Counter-example: d vs ⁴He have identical A/Z = 2, yet Z²A of 2 vs 16 — the A/Z narrative fails cross-element.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11880"/>
            <a:ext cx="54864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703320"/>
            <a:ext cx="7818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grace &amp; required action:  </a:t>
            </a:r>
            <a:pPr indent="0" marL="0">
              <a:buNone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same-Z isotope pairs (all comparisons in the paper) the Δ(A/Z) ranking equals a ΔA ranking, so statements are not wrong in practice — but for an NST reviewer this is a correctness risk in the central motivation. Recorded decision: soften the abstract's conventional-method critique to practical drawbacks.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NEW ANALYSES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sweeps, -opt runs &amp; significance matrix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538909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TRK_baseline_parameter_sweeps\baseline_parameter_sweep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353312"/>
            <a:ext cx="5279370" cy="16276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0723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Validation-split grid sweeps: RANSAC 5 cfgs · Hough 27 cfgs · HC 15 cfgs (winners: 3.0 mm; ρ 5.0 / θ 0.5° / NMS 3×3; ward / x_weight 0)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199632" y="1298448"/>
            <a:ext cx="2484667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4" name="Image 1" descr="D:\Something\research\MATE-Automation-V4\outputs\figures\TRK5_TRK6_comparison\F7_pairwise_significance_matr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1353312"/>
            <a:ext cx="2374939" cy="12984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99632" y="2743200"/>
            <a:ext cx="2484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— pairwise significance (unpaired-RANSAC pairs masked)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57200" y="3611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-opt test re-runs moved baselines only marginally: ΔRMSE 0.0246 / 0.0179 / 0.0064 MeV — the ~1 MeV gap to TRK6 is NOT an under-tuning artifact.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28 method pairs Bonferroni-significant (Wilcoxon, max p = 5.1e-253; 1000 bootstrap resamples; Cohen's d recorded).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the complete statistical machinery the paper currently lacks — it has no significance testing at all.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on-disk ransac-opt artifacts overwritten 2026-06-10; the 0.0246 delta survives only in the frozen comparison_matrix.json.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NEW ANALYSES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 w="12700">
            <a:solidFill>
              <a:srgbClr val="B97E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9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PARTIAL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Range clipping — partial clipped-energy recovery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3533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33.4%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test slots are range-clipped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194560" y="1353312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0.030–0.034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94560" y="18105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clipped-region RMSE (MeV) vs 2.0–2.3 for plain classical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1353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7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2.28 / 3.50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18105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ratio TRK5 / TRK6 (clipped ÷ unclipped RMSE)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229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Physics-rich finding: the CNN must learn more than geometric range (e.g., charge-deposition profile) to recover clipped-track energy — a natural physics-informed narrative hook.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June-10 LM-refined RANSAC reaches 0.083 MeV in the [3.3, 4.0] MeV bin (ratio 0.576) — “classical methods are crippled by clipping” no longer holds as a blanket claim.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TRK6's ratio (3.503) is a larger relative degradation than the baselines' (~2.2); the recovery claim rests on absolute clipped RMSE, not the ratio.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F3/F3.5 were cut from the suite on 2026-06-10; the analysis survives in both metrics.json range_clipping blocks — revisit at drafting.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02336" y="3767328"/>
            <a:ext cx="2200325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8" name="Image 0" descr="D:\Something\research\MATE-Automation-V4\outputs\figures\Energy Regression-comparison\F3_range_clipping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22192"/>
            <a:ext cx="2090597" cy="841248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2779776" y="3767328"/>
            <a:ext cx="2425891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20" name="Image 1" descr="D:\Something\research\MATE-Automation-V4\outputs\figures\Energy Regression-comparison\F3_5_recovery_ratio_explai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3822192"/>
            <a:ext cx="2316163" cy="8412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40680" y="3822192"/>
            <a:ext cx="3246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/ F3.5 — range-clipping analysis and degradation-ratio explainer (superseded 2026-05-27 suite; both cut from the current suite on 2026-06-10)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997964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NEW ANALYSES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Cross-task report &amp; paper-ready tables TRK-T1…T6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2336" y="1316736"/>
            <a:ext cx="3911843" cy="1938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Angular Regression-comparison\cross_task_honest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802115" cy="18288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02336" y="3291840"/>
            <a:ext cx="39118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cross_task_honest_comparison — the T5 verdict in one figure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0080" y="3639312"/>
            <a:ext cx="713232" cy="292608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63931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463040" y="3602736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Isotope ID 3He/4He: ConcatFusion 96.98% vs EXP1-XA 95.80% (−1.19 pp; documented comparator asymmetry)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" y="3995928"/>
            <a:ext cx="713232" cy="292608"/>
          </a:xfrm>
          <a:prstGeom prst="rect">
            <a:avLst/>
          </a:prstGeom>
          <a:solidFill>
            <a:srgbClr val="B97E00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39959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463040" y="3959352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Track-count classification: +0.0011 pp at ceiling — task saturated (1.4)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40080" y="4352544"/>
            <a:ext cx="713232" cy="2926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43525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463040" y="4315968"/>
            <a:ext cx="7223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regression: −0.1599° MAE (1.3) — the defensible cross-attention claim is task-dependent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0" y="1316736"/>
            <a:ext cx="3931920" cy="21579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1316736"/>
            <a:ext cx="54864" cy="215798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1"/>
          <p:cNvSpPr/>
          <p:nvPr/>
        </p:nvSpPr>
        <p:spPr>
          <a:xfrm>
            <a:off x="4956048" y="1463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exists, ready to land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956048" y="1810512"/>
            <a:ext cx="3520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narrative report runs/TRK-comparison-angle/summary.md (2026-04-11).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compiled CSV/LaTeX tables: T1 classification · T2 energy-stratified accuracy · T3 regression summary · T4 angle error by energy · T5 cross-task verdict · T6 HP effect.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Report's own Status line: paper integration deferred — prepared but never landed.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METHODS &amp; INFRA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 w="12700">
            <a:solidFill>
              <a:srgbClr val="B97E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9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PARTIAL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continuous-energy dataset &amp; 19-probe QA gate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559552" y="1316736"/>
            <a:ext cx="3126709" cy="2898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TRK-energy-regression\event_examples\trk_energy_example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1371600"/>
            <a:ext cx="3016981" cy="2788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559552" y="4251960"/>
            <a:ext cx="31267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v2-dataset event-example gallery (K = 1…4)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353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1.2M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" y="18105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4-file v2 layout (300k each, IMP server)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057400" y="1353312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 GB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2057400" y="18105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uncompressed trk_all_ uncompressed_v2.h5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657600" y="135331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97E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/ 1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3657600" y="18105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probes pass / warn — “GATE PASS WITH WARN”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57200" y="237744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extended to emit energy_truth_mev (N, 4) with sentinel; QA levels 1–6 + level-7 verdict (uniformity χ² 43.40, KS p 0.376; θ isotropy KS p 0.579; zero NaN).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b="1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discovered the AC2 contract: NimpSim samples ONE energy per event, broadcast to all slots (max per-event slot std = one float32 ULP) → forces the claim narrowing to PER-EVENT energy regression.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Training-correctness fix: a hard-coded deg→rad π/180 scale would have shrunk MeV targets ~57×.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the methods-section content a regression chapter requires; broadcast contract pre-registered only in the comment block.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22860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METHODS &amp; INFRA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6ECD4"/>
          </a:solidFill>
          <a:ln w="12700">
            <a:solidFill>
              <a:srgbClr val="B97E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97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PARTIAL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SRIM lookup — alpha in He:CO₂ 95:5 at 0.5 bar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97764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57276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8.03 · E</a:t>
            </a:r>
            <a:pPr indent="0" marL="0">
              <a:buNone/>
            </a:pPr>
            <a:r>
              <a:rPr lang="en-US" sz="2600" b="1" baseline="30000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1.32</a:t>
            </a:r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" y="2148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power-law fit (A = 8.0316, n = 1.3214); 100-row log-spaced table over [0.05, 10.0] MeV with provenance metadata + re-runnable generator/validator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54864" cy="16459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16" name="Text 14"/>
          <p:cNvSpPr/>
          <p:nvPr/>
        </p:nvSpPr>
        <p:spPr>
          <a:xfrm>
            <a:off x="4956048" y="15179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3 / 3 PASS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956048" y="193852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Am-241-in-air anchor 40.85 mm exact (+0.00%)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Bragg cross-check −5.40% at 0.30 MeV (within ±10%)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monotonicity across the full table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NIST ASTAR + Bragg additivity fallback (pysrim/SRIM.exe unavailable); log-log piecewise-linear interpolation.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Sole range→energy inverter for all three classical baselines (common.py srim_range_to_energy) and sole SRIM source for the range-clipping analysis (forward direction).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Straggling columns flagged as ~10×-understated analytic placeholders — excluded from baseline consumption.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▪"/>
            </a:pPr>
            <a:r>
              <a:rPr lang="en-US" sz="105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caveat: AC8 item (d) pre-registers “pysrim SR (tabulation) mode”, but the executed branch was the ASTAR fallback — wording must be corrected.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17904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517904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FIGURES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near-complete publication figure suite exists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8463" y="1335024"/>
            <a:ext cx="160627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pic>
        <p:nvPicPr>
          <p:cNvPr id="11" name="Image 0" descr="D:\Something\research\MATE-Automation-V4\outputs\figures\TRK5_TRK6_comparison\F1_residual_hist_over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039" y="1371600"/>
            <a:ext cx="1533122" cy="12070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633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residual overlay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954146" y="1335024"/>
            <a:ext cx="1041149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pic>
        <p:nvPicPr>
          <p:cNvPr id="14" name="Image 1" descr="D:\Something\research\MATE-Automation-V4\outputs\figures\TRK5_TRK6_comparison\F2_per_energy_bin_rm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0722" y="1371600"/>
            <a:ext cx="967997" cy="1207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2633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per-bin RMSE + CIs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760684" y="1335024"/>
            <a:ext cx="163431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pic>
        <p:nvPicPr>
          <p:cNvPr id="17" name="Image 2" descr="D:\Something\research\MATE-Automation-V4\outputs\figures\TRK5_TRK6_comparison\F4_predicted_vs_truth_hexb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260" y="1371600"/>
            <a:ext cx="1561160" cy="1207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63440" y="2633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pred-vs-truth hexbin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20624" y="3129162"/>
            <a:ext cx="1901952" cy="102029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pic>
        <p:nvPicPr>
          <p:cNvPr id="20" name="Image 3" descr="D:\Something\research\MATE-Automation-V4\outputs\figures\TRK5_TRK6_comparison\F5_per_track_count_rm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165738"/>
            <a:ext cx="1828800" cy="9471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5720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per-track-count RMSE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523744" y="3102807"/>
            <a:ext cx="1901952" cy="107301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pic>
        <p:nvPicPr>
          <p:cNvPr id="23" name="Image 4" descr="D:\Something\research\MATE-Automation-V4\outputs\figures\TRK5_TRK6_comparison\F7_pairwise_significance_matri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0" y="3139383"/>
            <a:ext cx="1828800" cy="99985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56032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significance matrix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4761166" y="2999232"/>
            <a:ext cx="1633348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</p:spPr>
      </p:sp>
      <p:pic>
        <p:nvPicPr>
          <p:cNvPr id="26" name="Image 5" descr="D:\Something\research\MATE-Automation-V4\outputs\figures\TRK5_TRK6_comparison\F8_residual_vs_truth_hexb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742" y="3035808"/>
            <a:ext cx="1560196" cy="12070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663440" y="42976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residual-vs-truth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6812280" y="1316736"/>
            <a:ext cx="18745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6812280" y="1316736"/>
            <a:ext cx="54864" cy="3291840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30" name="Text 22"/>
          <p:cNvSpPr/>
          <p:nvPr/>
        </p:nvSpPr>
        <p:spPr>
          <a:xfrm>
            <a:off x="6976872" y="144475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</a:t>
            </a:r>
            <a:endParaRPr lang="en-US" sz="1300" dirty="0"/>
          </a:p>
        </p:txBody>
      </p:sp>
      <p:sp>
        <p:nvSpPr>
          <p:cNvPr id="31" name="Text 23"/>
          <p:cNvSpPr/>
          <p:nvPr/>
        </p:nvSpPr>
        <p:spPr>
          <a:xfrm>
            <a:off x="6976872" y="1755648"/>
            <a:ext cx="15727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main.tex has exactly 12 \includegraphics — none energy-regression.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Academic-draw compliant; 5-method -opt suite regenerated 2026-06-10.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2026-05-14 predecessor suite reviewer-approved; the 06-10 regeneration not re-reviewed.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Drafting prose is the only missing step.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17904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517904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FIGURES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Ready-made geometry figures the paper never references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481328"/>
            <a:ext cx="2120327" cy="178217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pic>
        <p:nvPicPr>
          <p:cNvPr id="11" name="Image 0" descr="D:\Something\research\MATE-Automation-V4\10_Papers-Thesis\Physics_Informed\figures\mate_3d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27048"/>
            <a:ext cx="2028887" cy="169073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3327515"/>
            <a:ext cx="212032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mate_3d_schematic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60407" y="1481328"/>
            <a:ext cx="3882364" cy="178217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pic>
        <p:nvPicPr>
          <p:cNvPr id="14" name="Image 1" descr="D:\Something\research\MATE-Automation-V4\10_Papers-Thesis\Physics_Informed\figures\mate_geometry_sche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127" y="1527048"/>
            <a:ext cx="3790924" cy="169073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60407" y="3327515"/>
            <a:ext cx="38823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mate_geometry_schema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871371" y="1481328"/>
            <a:ext cx="1861149" cy="1782179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pic>
        <p:nvPicPr>
          <p:cNvPr id="17" name="Image 2" descr="D:\Something\research\MATE-Automation-V4\10_Papers-Thesis\Physics_Informed\figures\mate_pad_geome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7091" y="1527048"/>
            <a:ext cx="1769709" cy="16907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71371" y="3327515"/>
            <a:ext cx="186114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mate_pad_geometry (3792 triangular pads, beam hole)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6"/>
          <p:cNvSpPr/>
          <p:nvPr/>
        </p:nvSpPr>
        <p:spPr>
          <a:xfrm>
            <a:off x="658368" y="4114800"/>
            <a:ext cx="7818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Low-effort integration win:  </a:t>
            </a:r>
            <a:pPr indent="0" marL="0">
              <a:buNone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dated 2026-04-23/24 (after main.tex's last edit), with generator scripts; main.tex includes none — Section 2 currently describes the 80×48 triangular-pad geometry in text only.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150108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1501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 PRESENTED, NOT PUBLISHED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beats MATEROOT's published angular resolution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928616" y="1271016"/>
            <a:ext cx="3856424" cy="2715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sx="100000" sy="100000" kx="0" ky="0" algn="bl" rotWithShape="0" blurRad="76200" dist="25400" dir="5400000">
              <a:srgbClr val="16243D">
                <a:alpha val="12000"/>
              </a:srgbClr>
            </a:outerShdw>
          </a:effectLst>
        </p:spPr>
      </p:sp>
      <p:pic>
        <p:nvPicPr>
          <p:cNvPr id="11" name="Image 0" descr="D:\Something\research\MATE-Automation-V4\outputs\figures\Angular Regression-comparison\angular_resolut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325880"/>
            <a:ext cx="3746696" cy="26060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928616" y="4023360"/>
            <a:ext cx="385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MATEROOT Fig. 4/8 overlay vs CNN (group_meeting_20260326.pptx)</a:t>
            </a:r>
            <a:endParaRPr lang="en-US" sz="8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34440"/>
                <a:gridCol w="123444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σθ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MATEROOT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1.764°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~168 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0.513°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B39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~0.68°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278892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1.3–2×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457200" y="32461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published (Lu Li et al., NST)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514600" y="27889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49% → ~0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51460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wrong-track-count rate, MATEROOT vs CNN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57200" y="3657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at group meeting 2026-03-26; 8 figure pairs incl. digitized overlays; RANSAC distance-parameter fragility documented.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caveat: different simulation campaigns, ~15–20% range-mapping uncertainty.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50" b="1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external-positioning result in the repository — a natural anchor for a trajectory-reconstruction paper or chapter.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3150108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3150108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 PRESENTED, NOT PUBLISHED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F7E0DD"/>
          </a:solidFill>
          <a:ln w="12700">
            <a:solidFill>
              <a:srgbClr val="B336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B33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ABSENT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decks — provenance of the TRK story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4846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417320"/>
            <a:ext cx="54864" cy="20116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1554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Imai (UTokyo) meeting — 2026-04-13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1883664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imai_meeting_20260413.pptx, built 2026-04-12 (PptxGenJS/Node); markdown 01–07 are assembled source material.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thesis experiments, MATE NST-paper numbers (ResNet-50 90.47% exp / 97.89% sim, 12C+12C elastic-vs-fusion, F1 = 0.931), the mid-March EXP pivot, TRK pipeline shipped 2026-04-11.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1417320"/>
            <a:ext cx="30175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0" y="1417320"/>
            <a:ext cx="54864" cy="20116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5870448" y="1554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Mid-term assessment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70448" y="1883664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Chinese-language deck 硕士中期考核_胡智恒_2026-04.pptx.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100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decks first committed 2026-05-22 (commit 7a92841).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54864" cy="7315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822192"/>
            <a:ext cx="7818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pPr indent="0" marL="0">
              <a:buNone/>
            </a:pPr>
            <a:r>
              <a:rPr lang="en-US" sz="105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for paper content, but useful provenance — the TRK trajectory-reconstruction story was already the project's externally presented progress narrative in April 2026 while the manuscript remained classification-only.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699248" y="292608"/>
            <a:ext cx="987552" cy="27432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 w="12700">
            <a:solidFill>
              <a:srgbClr val="5A6B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07808" y="29260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CONTEXT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Checked and rejected during verification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9319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371600"/>
            <a:ext cx="54864" cy="1481328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4630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EXP1 matched-training-size (“headline gain is data scaling”)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186537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verified, but the significance misattributes the target: it undercuts the V6-ablation +0.8 pp claim, NOT the abstract's +4.2 pp 3He/4He claim, whose confound remains unresolved. “Built the entire src/” also overstated.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39319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371600"/>
            <a:ext cx="54864" cy="1481328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4630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 deck “Energy Regression Comparison” (2026-05-18)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186537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has 17 slides, not 19; headline paired-diff sign was flipped in source notes (correct: ResNet − CrossAtt = +0.00433 MeV); SoTA-anchor and decision-request slides exist only in the 05-19 notes version.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39319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200400"/>
            <a:ext cx="54864" cy="1481328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2918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TRK angular-resolution supplement toolchain (June 2026)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369417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“+106/+93 lines” is diffstat churn (net +62/+69); “validated end-to-end” is false — inference, ROOT conversion, and plot merge never executed; smoke test used a 3-event synthetic NPZ.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393192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6"/>
            </a:solidFill>
            <a:prstDash val="solid"/>
          </a:ln>
          <a:effectLst>
            <a:outerShdw sx="100000" sy="100000" kx="0" ky="0" algn="bl" rotWithShape="0" blurRad="63500" dist="12700" dir="5400000">
              <a:srgbClr val="16243D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00400"/>
            <a:ext cx="54864" cy="1481328"/>
          </a:xfrm>
          <a:prstGeom prst="rect">
            <a:avLst/>
          </a:prstGeom>
          <a:solidFill>
            <a:srgbClr val="B3362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291840"/>
            <a:ext cx="3584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36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EXP5 / EXP7 figure artifacts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694176"/>
            <a:ext cx="3584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2B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 disqualifying: EXP5 figures render hard-coded placeholder data (RUN_DIRS all None); EXP7 falls back to an unmatched legacy AFTPC_V3 run (91.5%) with a reconstructed confusion matrix. No EXP5/EXP7 training ever ran.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71600" cy="274320"/>
          </a:xfrm>
          <a:prstGeom prst="rect">
            <a:avLst/>
          </a:prstGeom>
          <a:solidFill>
            <a:srgbClr val="1624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92608"/>
            <a:ext cx="1371600" cy="2743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67665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624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16 findings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DD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Beyond the Paper  ·  archive summary  ·  2026-06-11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229600" y="48737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43584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377440"/>
                <a:gridCol w="685800"/>
                <a:gridCol w="4754880"/>
              </a:tblGrid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One-line significance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D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TRK5/TRK6 energy regression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Extends the paper to quantitative reconstruction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fusion comparison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Concat &gt; Gated &gt; CrossAtt — challenges the framing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TRK3/4-v2 angle regression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cross-attention win (−16.1% MAE)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TRK1/2 track-count classification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Multi-track capability demonstrated; task saturated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baselines (RANSAC/Hough/HC)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Conventional context; 54–76× worse than CNNs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LM-refined RANSAC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Newest result; CNN advantage shrinks ~60× → ~8×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A/Z governing-parameter correction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6B4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 risk in central motivation (Z²·A^μ)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Sweeps + significance matrix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Pre-empts under-tuning objection; full statistics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Range-clipping analysis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recovers clipped-track energy — physics hook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Cross-task report, tables T1–T6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Task-dependent architecture narrative, LaTeX-ready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 dataset + 19-probe QA gate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Per-event broadcast contract — load-bearing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SRIM range→energy lookup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97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 content; pre-registered wording needs fix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Energy-regression figure suite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Near-complete figure package; prose is the only gap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 schematics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Low-effort Section-2 integration win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TRK vs MATEROOT comparison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published angular resolution 1.3–2×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1624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 decks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B336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445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Provenance of the presented TRK narrative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D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Beyond the Paper — 2026-06-11</dc:title>
  <dc:subject>PptxGenJS Presentation</dc:subject>
  <dc:creator>MATE-Automation-V4 archive</dc:creator>
  <cp:lastModifiedBy>MATE-Automation-V4 archive</cp:lastModifiedBy>
  <cp:revision>1</cp:revision>
  <dcterms:created xsi:type="dcterms:W3CDTF">2026-06-11T02:31:13Z</dcterms:created>
  <dcterms:modified xsi:type="dcterms:W3CDTF">2026-06-11T02:31:13Z</dcterms:modified>
</cp:coreProperties>
</file>