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87" r:id="rId2"/>
    <p:sldId id="262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21" autoAdjust="0"/>
    <p:restoredTop sz="96667" autoAdjust="0"/>
  </p:normalViewPr>
  <p:slideViewPr>
    <p:cSldViewPr snapToGrid="0" snapToObjects="1">
      <p:cViewPr varScale="1">
        <p:scale>
          <a:sx n="85" d="100"/>
          <a:sy n="85" d="100"/>
        </p:scale>
        <p:origin x="126" y="9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82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TALKING POINTS:</a:t>
            </a:r>
          </a:p>
          <a:p>
            <a:r>
              <a:rPr dirty="0"/>
              <a:t>- Shell evolution is the fundamental question: how does nuclear structure change as we add neutrons far from stability?</a:t>
            </a:r>
          </a:p>
          <a:p>
            <a:r>
              <a:rPr dirty="0"/>
              <a:t>- Magic numbers we learned (2,8,20,28,50,82,126) aren't universal -- tensor force monopole reshuffles levels (Otsuka et al., RMP 2020).</a:t>
            </a:r>
          </a:p>
          <a:p>
            <a:r>
              <a:rPr dirty="0"/>
              <a:t>- Direct reactions are the tool: single-step, ~10^-22 s, probe nuclear surface. DWBA analysis extracts C2S.</a:t>
            </a:r>
          </a:p>
          <a:p>
            <a:r>
              <a:rPr dirty="0"/>
              <a:t>- Active-target TPCs solve the luminosity problem for exotic beam experiments at facilities like HIRFL-RIBLL (IMP) and RIKEN RIBF.</a:t>
            </a:r>
          </a:p>
          <a:p>
            <a:r>
              <a:rPr dirty="0"/>
              <a:t>- But the killer problem is PID: you need clean channel identification to gate on the correct reaction. Classical </a:t>
            </a:r>
            <a:r>
              <a:rPr dirty="0" err="1"/>
              <a:t>dE</a:t>
            </a:r>
            <a:r>
              <a:rPr dirty="0"/>
              <a:t>-E cuts struggle with overlapping Bethe-Bloch curves, especially for similar A/Z species.</a:t>
            </a:r>
          </a:p>
          <a:p>
            <a:r>
              <a:rPr dirty="0"/>
              <a:t>- This motivates our ML approach.</a:t>
            </a:r>
          </a:p>
          <a:p>
            <a:endParaRPr dirty="0"/>
          </a:p>
          <a:p>
            <a:r>
              <a:rPr dirty="0"/>
              <a:t>FIGURE: MATE-TPC schematic from NST paper (pad plane + GEM + field cage).</a:t>
            </a:r>
          </a:p>
          <a:p>
            <a:r>
              <a:rPr dirty="0"/>
              <a:t>Figure path: D:\obsidian\OrbitOS\50_Resources\Physics\literature\MLforPhysics\NST-ML-12C12C-MATE\_page_3_Figure_9.jpeg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Traditional PID in TPCs: dE/dx along track + integrated energy. Works well for well-separated species, but struggles for 3He/4He (Delta A/Z ~33%) and especially 13C/14C (Delta A/Z ~8%).</a:t>
            </a:r>
          </a:p>
          <a:p>
            <a:r>
              <a:t>- Hough transform for track finding: our NST paper showed ML corrected ~1.5% mislabeled events.</a:t>
            </a:r>
          </a:p>
          <a:p>
            <a:r>
              <a:t>- MATE detector specifics: GEM amplification (not Micromegas), triangular pad readout (48 rows x 80 pads = 3,792 pads), dual-gain for beam vs recoil.</a:t>
            </a:r>
          </a:p>
          <a:p>
            <a:r>
              <a:t>- The 2D projection images (charge deposition + drift time) contain rich spatial information: Bragg peak location, track length, curvature -- all species-dependent features that a CNN can learn.</a:t>
            </a:r>
          </a:p>
          <a:p>
            <a:r>
              <a:t>- This is why we convert ROOT simulation data -&gt; HDF5 -&gt; 2-channel 80x48 images and feed to ResNet.</a:t>
            </a:r>
          </a:p>
          <a:p>
            <a:r>
              <a:t>- CrossAttention mechanism fuses 4 handcrafted physics features (moments of inertia Iyy, Izz, Iyz, total mass) with the CNN spatial representation.</a:t>
            </a:r>
          </a:p>
          <a:p>
            <a:endParaRPr/>
          </a:p>
          <a:p>
            <a:r>
              <a:t>FIGURE: Example TPC track images showing different particle species.</a:t>
            </a:r>
          </a:p>
          <a:p>
            <a:r>
              <a:t>Figure path (embedded): D:\Something\research\MATE-Automation-V4\10_Papers-Thesis\Physics_Informed\figures\example_tracks.png</a:t>
            </a:r>
          </a:p>
          <a:p>
            <a:r>
              <a:t>Also useful: D:\obsidian\OrbitOS\50_Resources\Physics\literature\MLforPhysics\NST-ML-12C12C-MATE\_page_5_Figure_3.jpeg (3D track displays from NST paper)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Three levels of results to present:</a:t>
            </a:r>
          </a:p>
          <a:p>
            <a:r>
              <a:t>  1. Published PID results (NST-2025-0958, submitted Nov 2025): 90-97% elastic/fusion on 12C+12C, ~95% across 5 fusion channels</a:t>
            </a:r>
          </a:p>
          <a:p>
            <a:r>
              <a:t>  2. Thesis architecture study: CrossAtt+HC fusion mechanism. EXP1 showed 95.80% at matched 100k training size. EXP2 compared CrossAtt vs GatedFusion vs ConcatFusion.</a:t>
            </a:r>
          </a:p>
          <a:p>
            <a:r>
              <a:t>  3. NEW: Trajectory reconstruction (TRK series, completed April 2026). Same CrossAttention framework applied to angle regression task.</a:t>
            </a:r>
          </a:p>
          <a:p>
            <a:endParaRPr/>
          </a:p>
          <a:p>
            <a:r>
              <a:t>KEY NUMBERS:</a:t>
            </a:r>
          </a:p>
          <a:p>
            <a:r>
              <a:t>- EXP1: CrossAtt+HC = 95.80% (3He/4He, 100k matched). Architecture effect is +0.024 pp vs baseline (not significant at p=0.813), BUT data scaling to 400k gives +1.77 pp (p&lt;1e-73). This is honest -- architecture helps, but data volume matters more for PID.</a:t>
            </a:r>
          </a:p>
          <a:p>
            <a:r>
              <a:t>- TRK: CrossAtt reduces angle MAE by 16.1% (0.992 -&gt; 0.832 degrees, p&lt;1e-16, CIs fully disjoint). This is the clearest architecture win.</a:t>
            </a:r>
          </a:p>
          <a:p>
            <a:r>
              <a:t>- The generalization story is powerful: same backbone + CrossAtt fusion works for classification AND regression tasks on TPC data.</a:t>
            </a:r>
          </a:p>
          <a:p>
            <a:endParaRPr/>
          </a:p>
          <a:p>
            <a:r>
              <a:t>- 13C/14C is the hardest case: only 8% A/Z difference. CrossAtt gets 84.6% vs ConcatFusion 86.1% -- still challenging.</a:t>
            </a:r>
          </a:p>
          <a:p>
            <a:endParaRPr/>
          </a:p>
          <a:p>
            <a:r>
              <a:t>FIGURES:</a:t>
            </a:r>
          </a:p>
          <a:p>
            <a:r>
              <a:t>- cross_task_honest_comparison.png: Three-panel comparison (Isotope ID / Track Classification / Angle Regression)</a:t>
            </a:r>
          </a:p>
          <a:p>
            <a:r>
              <a:t>  Path: D:\Something\research\MATE-Automation-V4\runs\TRK-comparison\figures\cross_task_honest_comparison.png</a:t>
            </a:r>
          </a:p>
          <a:p>
            <a:r>
              <a:t>- paradigm_comparison.png: Two-paradigm comparison (Range-Energy PID vs ML)</a:t>
            </a:r>
          </a:p>
          <a:p>
            <a:r>
              <a:t>  Path: D:\Something\research\MATE-Automation-V4\runs\EXP1-XA-HC-100k\20260317_191552_seed42\figures\paradigm_comparison.png</a:t>
            </a:r>
          </a:p>
          <a:p>
            <a:r>
              <a:t>- v6_confusion_matrix_grid.png: Confusion matrices across ablation variants</a:t>
            </a:r>
          </a:p>
          <a:p>
            <a:r>
              <a:t>  Path: D:\Something\research\MATE-Automation-V4\10_Papers-Thesis\Physics_Informed\figures\v6_confusion_matrix_grid.png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slide is the BRIDGE -- connecting IMP research to Imai's program at UTokyo CNS.</a:t>
            </a:r>
          </a:p>
          <a:p>
            <a:r>
              <a:t>- DONUTS group operates at RIKEN RIBF via OEDO-SHARAQ beamline: energy-degraded exotic beams for direct reactions.</a:t>
            </a:r>
          </a:p>
          <a:p>
            <a:r>
              <a:t>- The PID challenge is identical in principle: separate light recoils from heavy beam background in an active-target TPC environment.</a:t>
            </a:r>
          </a:p>
          <a:p>
            <a:r>
              <a:t>- SAKURA program: surrogate (d,p) reactions to constrain (n,gamma) for r-process nucleosynthesis. The 79Se(d,p) result (Imai, PLB 2024) is the flagship -- shows why clean PID matters for cross-section extraction.</a:t>
            </a:r>
          </a:p>
          <a:p>
            <a:r>
              <a:t>- DG-M-THGEM detector (Iwamoto, Ota, Imai et al., PTEP 2023): dual-gain GEM-based active target, similar in principle to MATE. ML-PID framework transfers naturally.</a:t>
            </a:r>
          </a:p>
          <a:p>
            <a:r>
              <a:t>- Key message: I'm not asking to replicate my thesis -- I'm bringing a validated toolkit that addresses a real analysis bottleneck in DONUTS experiments.</a:t>
            </a:r>
          </a:p>
          <a:p>
            <a:r>
              <a:t>- Mention CAT-M detector (shared CNS infrastructure between NUSPEQ/Aoi and DONUTS/Imai groups).</a:t>
            </a:r>
          </a:p>
          <a:p>
            <a:endParaRPr/>
          </a:p>
          <a:p>
            <a:r>
              <a:t>FIGURE: OEDO-SHARAQ beamline schematic.</a:t>
            </a:r>
          </a:p>
          <a:p>
            <a:r>
              <a:t>Path: D:\obsidian\OrbitOS\50_Resources\Attachments\OEDO-SHARAQ.png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is the forward-looking slide. End on a collaborative note -- invite Imai's input.</a:t>
            </a:r>
          </a:p>
          <a:p>
            <a:r>
              <a:t>- Key question to ASK: "Given the DONUTS program's current priorities, where would ML-based PID have the most immediate impact?"</a:t>
            </a:r>
          </a:p>
          <a:p>
            <a:r>
              <a:t>- Transfer learning is a genuine open question: MATE has 3,792 triangular pads; DONUTS detectors may have different geometries. Domain adaptation (DANN/MCD) methods are ready to explore.</a:t>
            </a:r>
          </a:p>
          <a:p>
            <a:r>
              <a:t>- SAKURA reactions are more complex than simple binary classification -- multi-body final states may need multi-class or hierarchical classification approaches.</a:t>
            </a:r>
          </a:p>
          <a:p>
            <a:r>
              <a:t>- Mention: the MATE-Automation codebase is modular and well-documented. Adapting to a new detector is a config change + retraining, not a rewrite.</a:t>
            </a:r>
          </a:p>
          <a:p>
            <a:r>
              <a:t>- The ATPC Flow framework (mentioned in RCNP collaboration meeting notes) is the existing analysis software. Integration point: ML inference as a module within that pipeline.</a:t>
            </a:r>
          </a:p>
          <a:p>
            <a:r>
              <a:t>- End with: "I'm eager to learn how this work can contribute to the group's goals, and I welcome your suggestions on the most valuable direction to pursue during the PhD."</a:t>
            </a:r>
          </a:p>
          <a:p>
            <a:endParaRPr/>
          </a:p>
          <a:p>
            <a:r>
              <a:t>TIMELINE CONTEXT (if asked):</a:t>
            </a:r>
          </a:p>
          <a:p>
            <a:r>
              <a:t>- IMP graduation: June 2027</a:t>
            </a:r>
          </a:p>
          <a:p>
            <a:r>
              <a:t>- UTokyo PhD D1 enrollment: October 2027 (primary) or October 2028 (fallback via kenkyusei)</a:t>
            </a:r>
          </a:p>
          <a:p>
            <a:r>
              <a:t>- TOEFL iBT Attempt #1: August 30, 2026</a:t>
            </a:r>
          </a:p>
          <a:p>
            <a:r>
              <a:t>- GRE Physics: Sept/Oct 2026</a:t>
            </a:r>
          </a:p>
          <a:p>
            <a:r>
              <a:t>- UTokyo entrance exam: Jan-Feb 2027 (estimated)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Physics Motivation: Direct &amp; Surrogate Reactions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1 / 5</a:t>
            </a:r>
          </a:p>
        </p:txBody>
      </p:sp>
      <p:sp>
        <p:nvSpPr>
          <p:cNvPr id="30" name="DiagramTitle"/>
          <p:cNvSpPr txBox="1"/>
          <p:nvPr/>
        </p:nvSpPr>
        <p:spPr>
          <a:xfrm>
            <a:off x="6858000" y="889000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500" b="1" dirty="0">
                <a:solidFill>
                  <a:srgbClr val="174994"/>
                </a:solidFill>
                <a:latin typeface="Times New Roman"/>
              </a:rPr>
              <a:t>Surrogate Reaction Method</a:t>
            </a:r>
          </a:p>
        </p:txBody>
      </p:sp>
      <p:sp>
        <p:nvSpPr>
          <p:cNvPr id="45" name="Formula"/>
          <p:cNvSpPr txBox="1"/>
          <p:nvPr/>
        </p:nvSpPr>
        <p:spPr>
          <a:xfrm>
            <a:off x="6896100" y="5393447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σ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(n,x) = ∑</a:t>
            </a:r>
            <a:r>
              <a:rPr lang="en-US" sz="1600" baseline="-25000" dirty="0">
                <a:solidFill>
                  <a:srgbClr val="2D2D2D"/>
                </a:solidFill>
                <a:latin typeface="Times New Roman"/>
              </a:rPr>
              <a:t>J,π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σ</a:t>
            </a:r>
            <a:r>
              <a:rPr lang="en-US" sz="1600" baseline="-25000" dirty="0">
                <a:solidFill>
                  <a:srgbClr val="2D2D2D"/>
                </a:solidFill>
                <a:latin typeface="Times New Roman"/>
              </a:rPr>
              <a:t>CN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(n+A;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J</a:t>
            </a:r>
            <a:r>
              <a:rPr lang="en-US" sz="1600" baseline="30000" dirty="0">
                <a:solidFill>
                  <a:srgbClr val="2D2D2D"/>
                </a:solidFill>
                <a:latin typeface="Times New Roman"/>
              </a:rPr>
              <a:t>π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) ×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P</a:t>
            </a:r>
            <a:r>
              <a:rPr lang="en-US" sz="1600" baseline="-25000" dirty="0">
                <a:solidFill>
                  <a:srgbClr val="2D2D2D"/>
                </a:solidFill>
                <a:latin typeface="Times New Roman"/>
              </a:rPr>
              <a:t>decay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(B*; </a:t>
            </a:r>
            <a:r>
              <a:rPr lang="en-US" sz="1600" i="1" dirty="0">
                <a:solidFill>
                  <a:srgbClr val="2D2D2D"/>
                </a:solidFill>
                <a:latin typeface="Times New Roman"/>
              </a:rPr>
              <a:t>J</a:t>
            </a:r>
            <a:r>
              <a:rPr lang="en-US" sz="1600" baseline="30000" dirty="0">
                <a:solidFill>
                  <a:srgbClr val="2D2D2D"/>
                </a:solidFill>
                <a:latin typeface="Times New Roman"/>
              </a:rPr>
              <a:t>π</a:t>
            </a:r>
            <a:r>
              <a:rPr lang="en-US" sz="1600" dirty="0">
                <a:solidFill>
                  <a:srgbClr val="2D2D2D"/>
                </a:solidFill>
                <a:latin typeface="Times New Roman"/>
              </a:rPr>
              <a:t>)</a:t>
            </a:r>
          </a:p>
        </p:txBody>
      </p:sp>
      <p:sp>
        <p:nvSpPr>
          <p:cNvPr id="46" name="Ref"/>
          <p:cNvSpPr txBox="1"/>
          <p:nvPr/>
        </p:nvSpPr>
        <p:spPr>
          <a:xfrm>
            <a:off x="6896100" y="5698247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i="1" dirty="0">
                <a:solidFill>
                  <a:srgbClr val="888888"/>
                </a:solidFill>
                <a:latin typeface="Times New Roman"/>
              </a:rPr>
              <a:t>Escher et al., Rev. Mod. Phys. 84, 353 (2012)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C06186-F23E-1901-2EF8-728DB3B66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601" y="1219200"/>
            <a:ext cx="4000500" cy="39116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2B06D01-DC5E-4474-9882-93590E914CD6}"/>
              </a:ext>
            </a:extLst>
          </p:cNvPr>
          <p:cNvSpPr/>
          <p:nvPr/>
        </p:nvSpPr>
        <p:spPr>
          <a:xfrm>
            <a:off x="254000" y="939800"/>
            <a:ext cx="431800" cy="431800"/>
          </a:xfrm>
          <a:prstGeom prst="ellips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5DC444F-2DAD-4730-A01C-0CE49DD391E3}"/>
              </a:ext>
            </a:extLst>
          </p:cNvPr>
          <p:cNvSpPr/>
          <p:nvPr/>
        </p:nvSpPr>
        <p:spPr>
          <a:xfrm>
            <a:off x="254000" y="2286000"/>
            <a:ext cx="431800" cy="431800"/>
          </a:xfrm>
          <a:prstGeom prst="ellips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5243E31-674B-458D-B94D-C0D83A5B3D4B}"/>
              </a:ext>
            </a:extLst>
          </p:cNvPr>
          <p:cNvSpPr/>
          <p:nvPr/>
        </p:nvSpPr>
        <p:spPr>
          <a:xfrm>
            <a:off x="254000" y="3632200"/>
            <a:ext cx="431800" cy="431800"/>
          </a:xfrm>
          <a:prstGeom prst="ellips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57F8D4-8D22-4931-A0FD-E9E6E2446B3C}"/>
              </a:ext>
            </a:extLst>
          </p:cNvPr>
          <p:cNvSpPr/>
          <p:nvPr/>
        </p:nvSpPr>
        <p:spPr>
          <a:xfrm>
            <a:off x="254000" y="4978400"/>
            <a:ext cx="431800" cy="431800"/>
          </a:xfrm>
          <a:prstGeom prst="ellips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9BC905-D017-407A-9F5B-E372D05CC6A7}"/>
              </a:ext>
            </a:extLst>
          </p:cNvPr>
          <p:cNvSpPr/>
          <p:nvPr/>
        </p:nvSpPr>
        <p:spPr>
          <a:xfrm>
            <a:off x="457200" y="1397000"/>
            <a:ext cx="38100" cy="863600"/>
          </a:xfrm>
          <a:prstGeom prst="rect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FA6849-3635-4F87-B8CB-3CA53A051F01}"/>
              </a:ext>
            </a:extLst>
          </p:cNvPr>
          <p:cNvSpPr/>
          <p:nvPr/>
        </p:nvSpPr>
        <p:spPr>
          <a:xfrm rot="10800000">
            <a:off x="406400" y="2159000"/>
            <a:ext cx="127000" cy="101600"/>
          </a:xfrm>
          <a:prstGeom prst="triangl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CF6893-2268-4669-9D0F-A6D1C070D763}"/>
              </a:ext>
            </a:extLst>
          </p:cNvPr>
          <p:cNvSpPr/>
          <p:nvPr/>
        </p:nvSpPr>
        <p:spPr>
          <a:xfrm>
            <a:off x="457200" y="2743200"/>
            <a:ext cx="38100" cy="863600"/>
          </a:xfrm>
          <a:prstGeom prst="rect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4A2E380-6FA1-40A6-922D-1580900C73A3}"/>
              </a:ext>
            </a:extLst>
          </p:cNvPr>
          <p:cNvSpPr/>
          <p:nvPr/>
        </p:nvSpPr>
        <p:spPr>
          <a:xfrm rot="10800000">
            <a:off x="406400" y="3505200"/>
            <a:ext cx="127000" cy="101600"/>
          </a:xfrm>
          <a:prstGeom prst="triangl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265BE2-DF71-4A9D-BE3A-B19630B60945}"/>
              </a:ext>
            </a:extLst>
          </p:cNvPr>
          <p:cNvSpPr/>
          <p:nvPr/>
        </p:nvSpPr>
        <p:spPr>
          <a:xfrm>
            <a:off x="457200" y="4089400"/>
            <a:ext cx="38100" cy="863600"/>
          </a:xfrm>
          <a:prstGeom prst="rect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D4D2BDBA-49B9-4013-9904-B5B36975CCE2}"/>
              </a:ext>
            </a:extLst>
          </p:cNvPr>
          <p:cNvSpPr/>
          <p:nvPr/>
        </p:nvSpPr>
        <p:spPr>
          <a:xfrm rot="10800000">
            <a:off x="406400" y="4851400"/>
            <a:ext cx="127000" cy="101600"/>
          </a:xfrm>
          <a:prstGeom prst="triangle">
            <a:avLst/>
          </a:prstGeom>
          <a:solidFill>
            <a:srgbClr val="17499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33417F-2279-4031-8FB4-CF743A373134}"/>
              </a:ext>
            </a:extLst>
          </p:cNvPr>
          <p:cNvSpPr txBox="1"/>
          <p:nvPr/>
        </p:nvSpPr>
        <p:spPr>
          <a:xfrm>
            <a:off x="812800" y="894947"/>
            <a:ext cx="5918200" cy="101566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174994"/>
                </a:solidFill>
                <a:latin typeface="Times New Roman"/>
              </a:rPr>
              <a:t>Shell evolution &amp; shape coexistence</a:t>
            </a:r>
          </a:p>
          <a:p>
            <a:pPr>
              <a:buNone/>
            </a:pPr>
            <a:r>
              <a:rPr lang="en-US" sz="2000" dirty="0">
                <a:solidFill>
                  <a:srgbClr val="2D2D2D"/>
                </a:solidFill>
                <a:latin typeface="Times New Roman"/>
              </a:rPr>
              <a:t>Magic numbers erode in neutron-rich nuclei; tensor 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NN</a:t>
            </a:r>
            <a:r>
              <a:rPr lang="en-US" sz="2000" dirty="0">
                <a:solidFill>
                  <a:srgbClr val="2D2D2D"/>
                </a:solidFill>
                <a:latin typeface="Times New Roman"/>
              </a:rPr>
              <a:t> force drives coexisting deformations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D078F6-F017-42D6-AE7B-9D6A52307F4E}"/>
              </a:ext>
            </a:extLst>
          </p:cNvPr>
          <p:cNvSpPr txBox="1"/>
          <p:nvPr/>
        </p:nvSpPr>
        <p:spPr>
          <a:xfrm>
            <a:off x="812800" y="2241147"/>
            <a:ext cx="5918200" cy="101566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174994"/>
                </a:solidFill>
                <a:latin typeface="Times New Roman"/>
              </a:rPr>
              <a:t>Probe via direct &amp; surrogate reactions</a:t>
            </a:r>
          </a:p>
          <a:p>
            <a:pPr>
              <a:buNone/>
            </a:pPr>
            <a:r>
              <a:rPr lang="en-US" sz="2000" dirty="0">
                <a:solidFill>
                  <a:srgbClr val="2D2D2D"/>
                </a:solidFill>
                <a:latin typeface="Times New Roman"/>
              </a:rPr>
              <a:t>(d,p) / (p,d) → 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C</a:t>
            </a:r>
            <a:r>
              <a:rPr lang="en-US" sz="2000" baseline="30000" dirty="0">
                <a:solidFill>
                  <a:srgbClr val="2D2D2D"/>
                </a:solidFill>
                <a:latin typeface="Times New Roman"/>
              </a:rPr>
              <a:t>2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S</a:t>
            </a:r>
            <a:r>
              <a:rPr lang="en-US" sz="2000" dirty="0">
                <a:solidFill>
                  <a:srgbClr val="2D2D2D"/>
                </a:solidFill>
                <a:latin typeface="Times New Roman"/>
              </a:rPr>
              <a:t>, 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J</a:t>
            </a:r>
            <a:r>
              <a:rPr lang="en-US" sz="2000" baseline="30000" dirty="0">
                <a:solidFill>
                  <a:srgbClr val="2D2D2D"/>
                </a:solidFill>
                <a:latin typeface="Times New Roman"/>
              </a:rPr>
              <a:t>π</a:t>
            </a:r>
            <a:r>
              <a:rPr lang="en-US" sz="2000" dirty="0">
                <a:solidFill>
                  <a:srgbClr val="2D2D2D"/>
                </a:solidFill>
                <a:latin typeface="Times New Roman"/>
              </a:rPr>
              <a:t>; surrogates constrain 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r</a:t>
            </a:r>
            <a:r>
              <a:rPr lang="en-US" sz="2000" dirty="0">
                <a:solidFill>
                  <a:srgbClr val="2D2D2D"/>
                </a:solidFill>
                <a:latin typeface="Times New Roman"/>
              </a:rPr>
              <a:t>-process (n,γ) rates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2329D1-4B6E-4E40-BE55-1CAB04418595}"/>
              </a:ext>
            </a:extLst>
          </p:cNvPr>
          <p:cNvSpPr txBox="1"/>
          <p:nvPr/>
        </p:nvSpPr>
        <p:spPr>
          <a:xfrm>
            <a:off x="812800" y="3587347"/>
            <a:ext cx="5918200" cy="101566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174994"/>
                </a:solidFill>
                <a:latin typeface="Times New Roman"/>
              </a:rPr>
              <a:t>Active-target TPCs for rare-isotope beams</a:t>
            </a:r>
          </a:p>
          <a:p>
            <a:pPr>
              <a:buNone/>
            </a:pPr>
            <a:r>
              <a:rPr lang="en-US" sz="2000" dirty="0">
                <a:solidFill>
                  <a:srgbClr val="2D2D2D"/>
                </a:solidFill>
                <a:latin typeface="Times New Roman"/>
              </a:rPr>
              <a:t>Gas = target + detector → thick-target luminosity, full kinematics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F96D69-F251-45D6-A610-B1948F963929}"/>
              </a:ext>
            </a:extLst>
          </p:cNvPr>
          <p:cNvSpPr txBox="1"/>
          <p:nvPr/>
        </p:nvSpPr>
        <p:spPr>
          <a:xfrm>
            <a:off x="812800" y="4933547"/>
            <a:ext cx="5918200" cy="101566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174994"/>
                </a:solidFill>
                <a:latin typeface="Times New Roman"/>
              </a:rPr>
              <a:t>Bottleneck: particle ID in the TPC</a:t>
            </a:r>
          </a:p>
          <a:p>
            <a:pPr>
              <a:buNone/>
            </a:pPr>
            <a:r>
              <a:rPr lang="en-US" sz="2000" dirty="0">
                <a:solidFill>
                  <a:srgbClr val="2D2D2D"/>
                </a:solidFill>
                <a:latin typeface="Times New Roman"/>
              </a:rPr>
              <a:t>Overlapping d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E</a:t>
            </a:r>
            <a:r>
              <a:rPr lang="en-US" sz="2000" dirty="0">
                <a:solidFill>
                  <a:srgbClr val="2D2D2D"/>
                </a:solidFill>
                <a:latin typeface="Times New Roman"/>
              </a:rPr>
              <a:t>/d</a:t>
            </a:r>
            <a:r>
              <a:rPr lang="en-US" sz="2000" i="1" dirty="0">
                <a:solidFill>
                  <a:srgbClr val="2D2D2D"/>
                </a:solidFill>
                <a:latin typeface="Times New Roman"/>
              </a:rPr>
              <a:t>x</a:t>
            </a:r>
            <a:r>
              <a:rPr lang="en-US" sz="2000" dirty="0">
                <a:solidFill>
                  <a:srgbClr val="2D2D2D"/>
                </a:solidFill>
                <a:latin typeface="Times New Roman"/>
              </a:rPr>
              <a:t> bands, pile-up → ML-based PID required</a:t>
            </a:r>
          </a:p>
        </p:txBody>
      </p:sp>
      <p:pic>
        <p:nvPicPr>
          <p:cNvPr id="47" name="Graphic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" y="990600"/>
            <a:ext cx="330200" cy="330200"/>
          </a:xfrm>
          <a:prstGeom prst="rect">
            <a:avLst/>
          </a:prstGeom>
        </p:spPr>
      </p:pic>
      <p:pic>
        <p:nvPicPr>
          <p:cNvPr id="48" name="Graphic 4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800" y="2336800"/>
            <a:ext cx="330200" cy="330200"/>
          </a:xfrm>
          <a:prstGeom prst="rect">
            <a:avLst/>
          </a:prstGeom>
        </p:spPr>
      </p:pic>
      <p:pic>
        <p:nvPicPr>
          <p:cNvPr id="49" name="Graphic 4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4800" y="3683000"/>
            <a:ext cx="330200" cy="330200"/>
          </a:xfrm>
          <a:prstGeom prst="rect">
            <a:avLst/>
          </a:prstGeom>
        </p:spPr>
      </p:pic>
      <p:pic>
        <p:nvPicPr>
          <p:cNvPr id="50" name="Graphic 5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4800" y="5029200"/>
            <a:ext cx="330200" cy="33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417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The PID Problem in Active-Target TPCs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2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Traditional methods struggle with TPC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dE-E: overlapping distributions at similar A/Z (e.g., ³He/⁴He, ¹³C/¹⁴C)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Bragg-curve fitting: pile-up, dynamic range across beam vs. recoil region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Hough transform mislabels ~1.5% of events (NST-2025-0958)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MATE-TPC at IMP (HIRFL-RIBLL)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GEM readout, 3,792 triangular pads (48×80), GET electronics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¹²C+¹²C commissioning data: elastic vs. fusion + 5 reaction channels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Key insight: 2D track images encode species-specific spatial signatures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Bragg peak position, track curvature, energy deposition pattern → underutilized by cuts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Our approach: CNNs on track images → the MATE-Automation pipeline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ResNet-18 backbone + CrossAttention fusion of physics features</a:t>
            </a:r>
          </a:p>
        </p:txBody>
      </p:sp>
      <p:pic>
        <p:nvPicPr>
          <p:cNvPr id="7" name="Picture 6" descr="_page_5_Figur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234440"/>
            <a:ext cx="4086982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765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Results: Event Classification to Trajectory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3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58368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PID Classification (NST-2025-0958, ¹²C+¹²C)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Elastic/fusion: 90–97% accuracy (ResNet-50, sim+exp)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5-channel fusion discrimination: ~95% (p, α, n, ⁸Be, 2α)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Precision 0.948, Recall 0.914, F1 0.931 on experimental data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Architecture Study (EXP1/EXP2, thesis)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CrossAtt+HC on 3He/4He: 95.80% (controlled, matched 100k)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EXP2 fusion comparison: CrossAtt vs Gated vs Concat on 13C/14C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Trajectory Reconstruction (TRK series, new)</a:t>
            </a:r>
          </a:p>
          <a:p>
            <a:pPr lvl="1">
              <a:spcAft>
                <a:spcPts val="600"/>
              </a:spcAft>
              <a:defRPr sz="15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Same framework extended to angle regression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CrossAtt reduces MAE by 16.1% (0.99°→0.83°, p&lt;10⁻¹⁶)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High-precision fraction: 65.3%→72.9% (+7.6 pp)</a:t>
            </a:r>
          </a:p>
          <a:p>
            <a:pPr>
              <a:spcAft>
                <a:spcPts val="600"/>
              </a:spcAft>
              <a:defRPr sz="15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Takeaway: pipeline generalizes — classification AND regression</a:t>
            </a:r>
          </a:p>
        </p:txBody>
      </p:sp>
      <p:pic>
        <p:nvPicPr>
          <p:cNvPr id="7" name="Picture 6" descr="cross_task_hones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234440"/>
            <a:ext cx="4572000" cy="219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041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Connection: From MATE-TPC (IMP) to DONUTS (UTokyo CNS)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4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6858000" cy="41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ML-PID for active-target TPCs maps directly to the DONUTS program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OEDO-SHARAQ: inverse-kinematics direct reactions on exotic nuclei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(d,p), (p,d) transfer reactions at 10–30 MeV/u via RIKEN RIBF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Same PID challenge: separate light recoils (p, d, α) from beam background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DG-M-THGEM active target: GEM-based, dual gain, stable to 2.5×10⁶ pps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SAKURA: surrogate (d,p) for r-process (n,γ) cross-sections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⁹⁹Se(d,p) flagship result (Imai et al., PLB 2024) → reliable PID essential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Extending to more exotic targets: ML-PID improves channel discrimination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Transferable capabilities from my work: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ResNet + CrossAtt framework adaptable to different TPC geometries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Full pipeline: simulation → image → ML inference → validated on experimental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Track reconstruction + angle regression adds trajectory analysis capability</a:t>
            </a:r>
          </a:p>
        </p:txBody>
      </p:sp>
      <p:pic>
        <p:nvPicPr>
          <p:cNvPr id="7" name="Picture 6" descr="OEDO-SHAR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31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43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04088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6012"/>
            <a:ext cx="10911535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Times New Roman"/>
              </a:defRPr>
            </a:pPr>
            <a:r>
              <a:rPr lang="en-US" dirty="0"/>
              <a:t>Outlook: 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263640"/>
            <a:ext cx="11277295" cy="25400"/>
          </a:xfrm>
          <a:prstGeom prst="rect">
            <a:avLst/>
          </a:prstGeom>
          <a:solidFill>
            <a:srgbClr val="174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05152" y="6400800"/>
            <a:ext cx="5036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A4A4A"/>
                </a:solidFill>
                <a:latin typeface="Times New Roman"/>
              </a:defRPr>
            </a:pPr>
            <a:r>
              <a:rPr lang="en-US" dirty="0"/>
              <a:t>5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0584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Extend CrossAtt-PID framework to DONUTS detector data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Adapt pipeline from MATE triangular pads → DG-M-THGEM geometry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Leverage simulation infrastructure for new target/beam combinations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Open questions for discussion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Transfer learning: how well does the model generalize across TPC geometries?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Beam conditions: different rates, gas mixtures, dynamic range at RIKEN RIBF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Complex reaction channels in SAKURA: multi-body final states, (d,pγ) coincidences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Integration with existing ATPC Flow analysis framework (Python/C++/Rust)</a:t>
            </a:r>
          </a:p>
          <a:p>
            <a:pPr>
              <a:spcAft>
                <a:spcPts val="600"/>
              </a:spcAft>
              <a:defRPr sz="1600" b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Broader vision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ML-augmented analysis as standard tool for next-generation RI-beam experiments</a:t>
            </a:r>
          </a:p>
          <a:p>
            <a:pPr lvl="1">
              <a:spcAft>
                <a:spcPts val="600"/>
              </a:spcAft>
              <a:defRPr sz="1600">
                <a:solidFill>
                  <a:srgbClr val="2D2D2D"/>
                </a:solidFill>
                <a:latin typeface="Times New Roman"/>
              </a:defRPr>
            </a:pPr>
            <a:r>
              <a:rPr lang="en-US" dirty="0"/>
              <a:t>From PID → full event reconstruction: vertex, track, angle, channel ID in one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539" y="5577840"/>
            <a:ext cx="58821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174994"/>
                </a:solidFill>
                <a:latin typeface="Times New Roman"/>
              </a:defRPr>
            </a:pPr>
            <a:r>
              <a:rPr lang="en-US" dirty="0"/>
              <a:t>Looking forward to your guidance on the highest-impact application.</a:t>
            </a:r>
          </a:p>
        </p:txBody>
      </p:sp>
    </p:spTree>
    <p:extLst>
      <p:ext uri="{BB962C8B-B14F-4D97-AF65-F5344CB8AC3E}">
        <p14:creationId xmlns:p14="http://schemas.microsoft.com/office/powerpoint/2010/main" val="99227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62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CB73592-DE60-4015-83C5-39037CDCF43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ca900e-b63c-4fe2-a426-9eb7c8cc968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2017</Words>
  <Application>Microsoft Office PowerPoint</Application>
  <PresentationFormat>Widescreen</PresentationFormat>
  <Paragraphs>135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智恒 胡</cp:lastModifiedBy>
  <cp:revision>4</cp:revision>
  <dcterms:created xsi:type="dcterms:W3CDTF">2013-01-27T09:14:16Z</dcterms:created>
  <dcterms:modified xsi:type="dcterms:W3CDTF">2026-04-12T10:10:04Z</dcterms:modified>
  <cp:category/>
</cp:coreProperties>
</file>