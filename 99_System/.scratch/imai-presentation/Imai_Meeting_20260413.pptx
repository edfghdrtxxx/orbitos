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68" r:id="rId2"/>
    <p:sldId id="262" r:id="rId3"/>
    <p:sldId id="263" r:id="rId4"/>
    <p:sldId id="264" r:id="rId5"/>
    <p:sldId id="265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121" autoAdjust="0"/>
    <p:restoredTop sz="94731" autoAdjust="0"/>
  </p:normalViewPr>
  <p:slideViewPr>
    <p:cSldViewPr snapToGrid="0" snapToObjects="1">
      <p:cViewPr varScale="1">
        <p:scale>
          <a:sx n="98" d="100"/>
          <a:sy n="98" d="100"/>
        </p:scale>
        <p:origin x="96" y="6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558221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TALKING POINTS:</a:t>
            </a:r>
          </a:p>
          <a:p>
            <a:r>
              <a:t>- Shell evolution is the fundamental question: how does nuclear structure change as we add neutrons far from stability?</a:t>
            </a:r>
          </a:p>
          <a:p>
            <a:r>
              <a:t>- Magic numbers we learned (2,8,20,28,50,82,126) aren't universal -- tensor force monopole reshuffles levels (Otsuka et al., RMP 2020).</a:t>
            </a:r>
          </a:p>
          <a:p>
            <a:r>
              <a:t>- Direct reactions are the tool: single-step, ~10^-22 s, probe nuclear surface. DWBA analysis extracts C2S.</a:t>
            </a:r>
          </a:p>
          <a:p>
            <a:r>
              <a:t>- Active-target TPCs solve the luminosity problem for exotic beam experiments at facilities like HIRFL-RIBLL (IMP) and RIKEN RIBF.</a:t>
            </a:r>
          </a:p>
          <a:p>
            <a:r>
              <a:t>- But the killer problem is PID: you need clean channel identification to gate on the correct reaction. Classical dE-E cuts struggle with overlapping Bethe-Bloch curves, especially for similar A/Z species.</a:t>
            </a:r>
          </a:p>
          <a:p>
            <a:r>
              <a:t>- This motivates our ML approach.</a:t>
            </a:r>
          </a:p>
          <a:p>
            <a:endParaRPr/>
          </a:p>
          <a:p>
            <a:r>
              <a:t>FIGURE: MATE-TPC schematic from NST paper (pad plane + GEM + field cage).</a:t>
            </a:r>
          </a:p>
          <a:p>
            <a:r>
              <a:t>Figure path: D:\obsidian\OrbitOS\50_Resources\Physics\literature\MLforPhysics\NST-ML-12C12C-MATE\_page_3_Figure_9.jpeg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TALKING POINTS:</a:t>
            </a:r>
          </a:p>
          <a:p>
            <a:r>
              <a:t>- Traditional PID in TPCs: dE/dx along track + integrated energy. Works well for well-separated species, but struggles for 3He/4He (Delta A/Z ~33%) and especially 13C/14C (Delta A/Z ~8%).</a:t>
            </a:r>
          </a:p>
          <a:p>
            <a:r>
              <a:t>- Hough transform for track finding: our NST paper showed ML corrected ~1.5% mislabeled events.</a:t>
            </a:r>
          </a:p>
          <a:p>
            <a:r>
              <a:t>- MATE detector specifics: GEM amplification (not Micromegas), triangular pad readout (48 rows x 80 pads = 3,792 pads), dual-gain for beam vs recoil.</a:t>
            </a:r>
          </a:p>
          <a:p>
            <a:r>
              <a:t>- The 2D projection images (charge deposition + drift time) contain rich spatial information: Bragg peak location, track length, curvature -- all species-dependent features that a CNN can learn.</a:t>
            </a:r>
          </a:p>
          <a:p>
            <a:r>
              <a:t>- This is why we convert ROOT simulation data -&gt; HDF5 -&gt; 2-channel 80x48 images and feed to ResNet.</a:t>
            </a:r>
          </a:p>
          <a:p>
            <a:r>
              <a:t>- CrossAttention mechanism fuses 4 handcrafted physics features (moments of inertia Iyy, Izz, Iyz, total mass) with the CNN spatial representation.</a:t>
            </a:r>
          </a:p>
          <a:p>
            <a:endParaRPr/>
          </a:p>
          <a:p>
            <a:r>
              <a:t>FIGURE: Example TPC track images showing different particle species.</a:t>
            </a:r>
          </a:p>
          <a:p>
            <a:r>
              <a:t>Figure path (embedded): D:\Something\research\MATE-Automation-V4\10_Papers-Thesis\Physics_Informed\figures\example_tracks.png</a:t>
            </a:r>
          </a:p>
          <a:p>
            <a:r>
              <a:t>Also useful: D:\obsidian\OrbitOS\50_Resources\Physics\literature\MLforPhysics\NST-ML-12C12C-MATE\_page_5_Figure_3.jpeg (3D track displays from NST paper)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TALKING POINTS:</a:t>
            </a:r>
          </a:p>
          <a:p>
            <a:r>
              <a:t>- Three levels of results to present:</a:t>
            </a:r>
          </a:p>
          <a:p>
            <a:r>
              <a:t>  1. Published PID results (NST-2025-0958, submitted Nov 2025): 90-97% elastic/fusion on 12C+12C, ~95% across 5 fusion channels</a:t>
            </a:r>
          </a:p>
          <a:p>
            <a:r>
              <a:t>  2. Thesis architecture study: CrossAtt+HC fusion mechanism. EXP1 showed 95.80% at matched 100k training size. EXP2 compared CrossAtt vs GatedFusion vs ConcatFusion.</a:t>
            </a:r>
          </a:p>
          <a:p>
            <a:r>
              <a:t>  3. NEW: Trajectory reconstruction (TRK series, completed April 2026). Same CrossAttention framework applied to angle regression task.</a:t>
            </a:r>
          </a:p>
          <a:p>
            <a:endParaRPr/>
          </a:p>
          <a:p>
            <a:r>
              <a:t>KEY NUMBERS:</a:t>
            </a:r>
          </a:p>
          <a:p>
            <a:r>
              <a:t>- EXP1: CrossAtt+HC = 95.80% (3He/4He, 100k matched). Architecture effect is +0.024 pp vs baseline (not significant at p=0.813), BUT data scaling to 400k gives +1.77 pp (p&lt;1e-73). This is honest -- architecture helps, but data volume matters more for PID.</a:t>
            </a:r>
          </a:p>
          <a:p>
            <a:r>
              <a:t>- TRK: CrossAtt reduces angle MAE by 16.1% (0.992 -&gt; 0.832 degrees, p&lt;1e-16, CIs fully disjoint). This is the clearest architecture win.</a:t>
            </a:r>
          </a:p>
          <a:p>
            <a:r>
              <a:t>- The generalization story is powerful: same backbone + CrossAtt fusion works for classification AND regression tasks on TPC data.</a:t>
            </a:r>
          </a:p>
          <a:p>
            <a:endParaRPr/>
          </a:p>
          <a:p>
            <a:r>
              <a:t>- 13C/14C is the hardest case: only 8% A/Z difference. CrossAtt gets 84.6% vs ConcatFusion 86.1% -- still challenging.</a:t>
            </a:r>
          </a:p>
          <a:p>
            <a:endParaRPr/>
          </a:p>
          <a:p>
            <a:r>
              <a:t>FIGURES:</a:t>
            </a:r>
          </a:p>
          <a:p>
            <a:r>
              <a:t>- cross_task_honest_comparison.png: Three-panel comparison (Isotope ID / Track Classification / Angle Regression)</a:t>
            </a:r>
          </a:p>
          <a:p>
            <a:r>
              <a:t>  Path: D:\Something\research\MATE-Automation-V4\runs\TRK-comparison\figures\cross_task_honest_comparison.png</a:t>
            </a:r>
          </a:p>
          <a:p>
            <a:r>
              <a:t>- paradigm_comparison.png: Two-paradigm comparison (Range-Energy PID vs ML)</a:t>
            </a:r>
          </a:p>
          <a:p>
            <a:r>
              <a:t>  Path: D:\Something\research\MATE-Automation-V4\runs\EXP1-XA-HC-100k\20260317_191552_seed42\figures\paradigm_comparison.png</a:t>
            </a:r>
          </a:p>
          <a:p>
            <a:r>
              <a:t>- v6_confusion_matrix_grid.png: Confusion matrices across ablation variants</a:t>
            </a:r>
          </a:p>
          <a:p>
            <a:r>
              <a:t>  Path: D:\Something\research\MATE-Automation-V4\10_Papers-Thesis\Physics_Informed\figures\v6_confusion_matrix_grid.png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TALKING POINTS:</a:t>
            </a:r>
          </a:p>
          <a:p>
            <a:r>
              <a:t>- This slide is the BRIDGE -- connecting IMP research to Imai's program at UTokyo CNS.</a:t>
            </a:r>
          </a:p>
          <a:p>
            <a:r>
              <a:t>- DONUTS group operates at RIKEN RIBF via OEDO-SHARAQ beamline: energy-degraded exotic beams for direct reactions.</a:t>
            </a:r>
          </a:p>
          <a:p>
            <a:r>
              <a:t>- The PID challenge is identical in principle: separate light recoils from heavy beam background in an active-target TPC environment.</a:t>
            </a:r>
          </a:p>
          <a:p>
            <a:r>
              <a:t>- SAKURA program: surrogate (d,p) reactions to constrain (n,gamma) for r-process nucleosynthesis. The 79Se(d,p) result (Imai, PLB 2024) is the flagship -- shows why clean PID matters for cross-section extraction.</a:t>
            </a:r>
          </a:p>
          <a:p>
            <a:r>
              <a:t>- DG-M-THGEM detector (Iwamoto, Ota, Imai et al., PTEP 2023): dual-gain GEM-based active target, similar in principle to MATE. ML-PID framework transfers naturally.</a:t>
            </a:r>
          </a:p>
          <a:p>
            <a:r>
              <a:t>- Key message: I'm not asking to replicate my thesis -- I'm bringing a validated toolkit that addresses a real analysis bottleneck in DONUTS experiments.</a:t>
            </a:r>
          </a:p>
          <a:p>
            <a:r>
              <a:t>- Mention CAT-M detector (shared CNS infrastructure between NUSPEQ/Aoi and DONUTS/Imai groups).</a:t>
            </a:r>
          </a:p>
          <a:p>
            <a:endParaRPr/>
          </a:p>
          <a:p>
            <a:r>
              <a:t>FIGURE: OEDO-SHARAQ beamline schematic.</a:t>
            </a:r>
          </a:p>
          <a:p>
            <a:r>
              <a:t>Path: D:\obsidian\OrbitOS\50_Resources\Attachments\OEDO-SHARAQ.png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TALKING POINTS:</a:t>
            </a:r>
          </a:p>
          <a:p>
            <a:r>
              <a:t>- This is the forward-looking slide. End on a collaborative note -- invite Imai's input.</a:t>
            </a:r>
          </a:p>
          <a:p>
            <a:r>
              <a:t>- Key question to ASK: "Given the DONUTS program's current priorities, where would ML-based PID have the most immediate impact?"</a:t>
            </a:r>
          </a:p>
          <a:p>
            <a:r>
              <a:t>- Transfer learning is a genuine open question: MATE has 3,792 triangular pads; DONUTS detectors may have different geometries. Domain adaptation (DANN/MCD) methods are ready to explore.</a:t>
            </a:r>
          </a:p>
          <a:p>
            <a:r>
              <a:t>- SAKURA reactions are more complex than simple binary classification -- multi-body final states may need multi-class or hierarchical classification approaches.</a:t>
            </a:r>
          </a:p>
          <a:p>
            <a:r>
              <a:t>- Mention: the MATE-Automation codebase is modular and well-documented. Adapting to a new detector is a config change + retraining, not a rewrite.</a:t>
            </a:r>
          </a:p>
          <a:p>
            <a:r>
              <a:t>- The ATPC Flow framework (mentioned in RCNP collaboration meeting notes) is the existing analysis software. Integration point: ML inference as a module within that pipeline.</a:t>
            </a:r>
          </a:p>
          <a:p>
            <a:r>
              <a:t>- End with: "I'm eager to learn how this work can contribute to the group's goals, and I welcome your suggestions on the most valuable direction to pursue during the PhD."</a:t>
            </a:r>
          </a:p>
          <a:p>
            <a:endParaRPr/>
          </a:p>
          <a:p>
            <a:r>
              <a:t>TIMELINE CONTEXT (if asked):</a:t>
            </a:r>
          </a:p>
          <a:p>
            <a:r>
              <a:t>- IMP graduation: June 2027</a:t>
            </a:r>
          </a:p>
          <a:p>
            <a:r>
              <a:t>- UTokyo PhD D1 enrollment: October 2027 (primary) or October 2028 (fallback via kenkyusei)</a:t>
            </a:r>
          </a:p>
          <a:p>
            <a:r>
              <a:t>- TOEFL iBT Attempt #1: August 30, 2026</a:t>
            </a:r>
          </a:p>
          <a:p>
            <a:r>
              <a:t>- GRE Physics: Sept/Oct 2026</a:t>
            </a:r>
          </a:p>
          <a:p>
            <a:r>
              <a:t>- UTokyo entrance exam: Jan-Feb 2027 (estimated)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04088"/>
          </a:xfrm>
          <a:prstGeom prst="rect">
            <a:avLst/>
          </a:prstGeom>
          <a:solidFill>
            <a:srgbClr val="174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96012"/>
            <a:ext cx="10911535" cy="3662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Times New Roman"/>
              </a:defRPr>
            </a:pPr>
            <a:r>
              <a:rPr lang="en-US" dirty="0"/>
              <a:t>Physics Motivation: Nuclear Structure Through Direct Reactions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263640"/>
            <a:ext cx="11277295" cy="25400"/>
          </a:xfrm>
          <a:prstGeom prst="rect">
            <a:avLst/>
          </a:prstGeom>
          <a:solidFill>
            <a:srgbClr val="174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05152" y="6400800"/>
            <a:ext cx="503663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4A4A4A"/>
                </a:solidFill>
                <a:latin typeface="Times New Roman"/>
              </a:defRPr>
            </a:pPr>
            <a:r>
              <a:rPr lang="en-US" dirty="0"/>
              <a:t>1 /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6858000" cy="3339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74994"/>
                </a:solidFill>
                <a:latin typeface="Times New Roman"/>
              </a:defRPr>
            </a:pPr>
            <a:r>
              <a:rPr lang="en-US" dirty="0"/>
              <a:t>Shell evolution far from stability</a:t>
            </a:r>
          </a:p>
          <a:p>
            <a:pPr lvl="1">
              <a:spcAft>
                <a:spcPts val="600"/>
              </a:spcAft>
              <a:defRPr sz="1600">
                <a:solidFill>
                  <a:srgbClr val="2D2D2D"/>
                </a:solidFill>
                <a:latin typeface="Times New Roman"/>
              </a:defRPr>
            </a:pPr>
            <a:r>
              <a:rPr lang="en-US" dirty="0"/>
              <a:t>Classic magic numbers erode in neutron-rich nuclei; tensor </a:t>
            </a:r>
            <a:r>
              <a:rPr lang="en-US" i="1" dirty="0"/>
              <a:t>NN</a:t>
            </a:r>
            <a:r>
              <a:rPr lang="en-US" dirty="0"/>
              <a:t> force reshapes single-particle levels</a:t>
            </a:r>
          </a:p>
          <a:p>
            <a:pPr>
              <a:spcAft>
                <a:spcPts val="600"/>
              </a:spcAft>
              <a:defRPr sz="1600" b="1">
                <a:solidFill>
                  <a:srgbClr val="174994"/>
                </a:solidFill>
                <a:latin typeface="Times New Roman"/>
              </a:defRPr>
            </a:pPr>
            <a:r>
              <a:rPr lang="en-US" dirty="0"/>
              <a:t>Direct reactions as the spectroscopic tool</a:t>
            </a:r>
          </a:p>
          <a:p>
            <a:pPr lvl="1">
              <a:spcAft>
                <a:spcPts val="600"/>
              </a:spcAft>
              <a:defRPr sz="1600">
                <a:solidFill>
                  <a:srgbClr val="2D2D2D"/>
                </a:solidFill>
                <a:latin typeface="Times New Roman"/>
              </a:defRPr>
            </a:pPr>
            <a:r>
              <a:rPr lang="en-US" dirty="0"/>
              <a:t>(d,p) / (p,d) at 10–30 MeV/u in inverse kinematics → </a:t>
            </a:r>
            <a:r>
              <a:rPr lang="en-US" i="1" dirty="0"/>
              <a:t>C</a:t>
            </a:r>
            <a:r>
              <a:rPr lang="en-US" baseline="30000" dirty="0"/>
              <a:t>2</a:t>
            </a:r>
            <a:r>
              <a:rPr lang="en-US" i="1" dirty="0"/>
              <a:t>S</a:t>
            </a:r>
            <a:r>
              <a:rPr lang="en-US" dirty="0"/>
              <a:t>, </a:t>
            </a:r>
            <a:r>
              <a:rPr lang="en-US" i="1" dirty="0"/>
              <a:t>J</a:t>
            </a:r>
            <a:r>
              <a:rPr lang="en-US" baseline="30000" dirty="0"/>
              <a:t>π</a:t>
            </a:r>
            <a:r>
              <a:rPr lang="en-US" dirty="0"/>
              <a:t>, occupancies</a:t>
            </a:r>
          </a:p>
          <a:p>
            <a:pPr>
              <a:spcAft>
                <a:spcPts val="600"/>
              </a:spcAft>
              <a:defRPr sz="1600" b="1">
                <a:solidFill>
                  <a:srgbClr val="174994"/>
                </a:solidFill>
                <a:latin typeface="Times New Roman"/>
              </a:defRPr>
            </a:pPr>
            <a:r>
              <a:rPr lang="en-US" dirty="0"/>
              <a:t>Active-target TPCs: luminosity without resolution loss</a:t>
            </a:r>
          </a:p>
          <a:p>
            <a:pPr lvl="1">
              <a:spcAft>
                <a:spcPts val="600"/>
              </a:spcAft>
              <a:defRPr sz="1600">
                <a:solidFill>
                  <a:srgbClr val="2D2D2D"/>
                </a:solidFill>
                <a:latin typeface="Times New Roman"/>
              </a:defRPr>
            </a:pPr>
            <a:r>
              <a:rPr lang="en-US" dirty="0"/>
              <a:t>Gas = target → thick-target statistics, full kinematics, near-unity efficiency for low-energy recoils</a:t>
            </a:r>
          </a:p>
          <a:p>
            <a:pPr>
              <a:spcAft>
                <a:spcPts val="600"/>
              </a:spcAft>
              <a:defRPr sz="1600" b="1">
                <a:solidFill>
                  <a:srgbClr val="174994"/>
                </a:solidFill>
                <a:latin typeface="Times New Roman"/>
              </a:defRPr>
            </a:pPr>
            <a:r>
              <a:rPr lang="en-US" dirty="0"/>
              <a:t>The bottleneck: particle identification in the TPC</a:t>
            </a:r>
          </a:p>
          <a:p>
            <a:pPr lvl="1">
              <a:spcAft>
                <a:spcPts val="600"/>
              </a:spcAft>
              <a:defRPr sz="1600">
                <a:solidFill>
                  <a:srgbClr val="2D2D2D"/>
                </a:solidFill>
                <a:latin typeface="Times New Roman"/>
              </a:defRPr>
            </a:pPr>
            <a:r>
              <a:rPr lang="en-US" dirty="0"/>
              <a:t>Overlapping d</a:t>
            </a:r>
            <a:r>
              <a:rPr lang="en-US" i="1" dirty="0"/>
              <a:t>E</a:t>
            </a:r>
            <a:r>
              <a:rPr lang="en-US" dirty="0"/>
              <a:t>/d</a:t>
            </a:r>
            <a:r>
              <a:rPr lang="en-US" i="1" dirty="0"/>
              <a:t>x</a:t>
            </a:r>
            <a:r>
              <a:rPr lang="en-US" dirty="0"/>
              <a:t> bands, pile-up, orders-of-magnitude dynamic range → ML-based PID required</a:t>
            </a:r>
          </a:p>
        </p:txBody>
      </p:sp>
    </p:spTree>
    <p:extLst>
      <p:ext uri="{BB962C8B-B14F-4D97-AF65-F5344CB8AC3E}">
        <p14:creationId xmlns:p14="http://schemas.microsoft.com/office/powerpoint/2010/main" val="796464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04088"/>
          </a:xfrm>
          <a:prstGeom prst="rect">
            <a:avLst/>
          </a:prstGeom>
          <a:solidFill>
            <a:srgbClr val="174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96012"/>
            <a:ext cx="10911535" cy="3662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Times New Roman"/>
              </a:defRPr>
            </a:pPr>
            <a:r>
              <a:rPr lang="en-US" dirty="0"/>
              <a:t>The PID Problem in Active-Target TPCs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263640"/>
            <a:ext cx="11277295" cy="25400"/>
          </a:xfrm>
          <a:prstGeom prst="rect">
            <a:avLst/>
          </a:prstGeom>
          <a:solidFill>
            <a:srgbClr val="174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05152" y="6400800"/>
            <a:ext cx="503663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4A4A4A"/>
                </a:solidFill>
                <a:latin typeface="Times New Roman"/>
              </a:defRPr>
            </a:pPr>
            <a:r>
              <a:rPr lang="en-US" dirty="0"/>
              <a:t>2 /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6858000" cy="38164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74994"/>
                </a:solidFill>
                <a:latin typeface="Times New Roman"/>
              </a:defRPr>
            </a:pPr>
            <a:r>
              <a:rPr lang="en-US" dirty="0"/>
              <a:t>Traditional methods struggle with TPC data</a:t>
            </a:r>
          </a:p>
          <a:p>
            <a:pPr lvl="1">
              <a:spcAft>
                <a:spcPts val="600"/>
              </a:spcAft>
              <a:defRPr sz="1600">
                <a:solidFill>
                  <a:srgbClr val="2D2D2D"/>
                </a:solidFill>
                <a:latin typeface="Times New Roman"/>
              </a:defRPr>
            </a:pPr>
            <a:r>
              <a:rPr lang="en-US" dirty="0"/>
              <a:t>dE-E: overlapping distributions at similar A/Z (e.g., ³He/⁴He, ¹³C/¹⁴C)</a:t>
            </a:r>
          </a:p>
          <a:p>
            <a:pPr lvl="1">
              <a:spcAft>
                <a:spcPts val="600"/>
              </a:spcAft>
              <a:defRPr sz="1600">
                <a:solidFill>
                  <a:srgbClr val="2D2D2D"/>
                </a:solidFill>
                <a:latin typeface="Times New Roman"/>
              </a:defRPr>
            </a:pPr>
            <a:r>
              <a:rPr lang="en-US" dirty="0"/>
              <a:t>Bragg-curve fitting: pile-up, dynamic range across beam vs. recoil region</a:t>
            </a:r>
          </a:p>
          <a:p>
            <a:pPr lvl="1">
              <a:spcAft>
                <a:spcPts val="600"/>
              </a:spcAft>
              <a:defRPr sz="1600">
                <a:solidFill>
                  <a:srgbClr val="2D2D2D"/>
                </a:solidFill>
                <a:latin typeface="Times New Roman"/>
              </a:defRPr>
            </a:pPr>
            <a:r>
              <a:rPr lang="en-US" dirty="0"/>
              <a:t>Hough transform mislabels ~1.5% of events (NST-2025-0958)</a:t>
            </a:r>
          </a:p>
          <a:p>
            <a:pPr>
              <a:spcAft>
                <a:spcPts val="600"/>
              </a:spcAft>
              <a:defRPr sz="1600" b="1">
                <a:solidFill>
                  <a:srgbClr val="174994"/>
                </a:solidFill>
                <a:latin typeface="Times New Roman"/>
              </a:defRPr>
            </a:pPr>
            <a:r>
              <a:rPr lang="en-US" dirty="0"/>
              <a:t>MATE-TPC at IMP (HIRFL-RIBLL)</a:t>
            </a:r>
          </a:p>
          <a:p>
            <a:pPr lvl="1">
              <a:spcAft>
                <a:spcPts val="600"/>
              </a:spcAft>
              <a:defRPr sz="1600">
                <a:solidFill>
                  <a:srgbClr val="2D2D2D"/>
                </a:solidFill>
                <a:latin typeface="Times New Roman"/>
              </a:defRPr>
            </a:pPr>
            <a:r>
              <a:rPr lang="en-US" dirty="0"/>
              <a:t>GEM readout, 3,792 triangular pads (48×80), GET electronics</a:t>
            </a:r>
          </a:p>
          <a:p>
            <a:pPr lvl="1">
              <a:spcAft>
                <a:spcPts val="600"/>
              </a:spcAft>
              <a:defRPr sz="1600">
                <a:solidFill>
                  <a:srgbClr val="2D2D2D"/>
                </a:solidFill>
                <a:latin typeface="Times New Roman"/>
              </a:defRPr>
            </a:pPr>
            <a:r>
              <a:rPr lang="en-US" dirty="0"/>
              <a:t>¹²C+¹²C commissioning data: elastic vs. fusion + 5 reaction channels</a:t>
            </a:r>
          </a:p>
          <a:p>
            <a:pPr>
              <a:spcAft>
                <a:spcPts val="600"/>
              </a:spcAft>
              <a:defRPr sz="1600" b="1">
                <a:solidFill>
                  <a:srgbClr val="174994"/>
                </a:solidFill>
                <a:latin typeface="Times New Roman"/>
              </a:defRPr>
            </a:pPr>
            <a:r>
              <a:rPr lang="en-US" dirty="0"/>
              <a:t>Key insight: 2D track images encode species-specific spatial signatures</a:t>
            </a:r>
          </a:p>
          <a:p>
            <a:pPr lvl="1">
              <a:spcAft>
                <a:spcPts val="600"/>
              </a:spcAft>
              <a:defRPr sz="1600">
                <a:solidFill>
                  <a:srgbClr val="2D2D2D"/>
                </a:solidFill>
                <a:latin typeface="Times New Roman"/>
              </a:defRPr>
            </a:pPr>
            <a:r>
              <a:rPr lang="en-US" dirty="0"/>
              <a:t>Bragg peak position, track curvature, energy deposition pattern → underutilized by cuts</a:t>
            </a:r>
          </a:p>
          <a:p>
            <a:pPr>
              <a:spcAft>
                <a:spcPts val="600"/>
              </a:spcAft>
              <a:defRPr sz="1600" b="1">
                <a:solidFill>
                  <a:srgbClr val="174994"/>
                </a:solidFill>
                <a:latin typeface="Times New Roman"/>
              </a:defRPr>
            </a:pPr>
            <a:r>
              <a:rPr lang="en-US" dirty="0"/>
              <a:t>Our approach: CNNs on track images → the MATE-Automation pipeline</a:t>
            </a:r>
          </a:p>
          <a:p>
            <a:pPr lvl="1">
              <a:spcAft>
                <a:spcPts val="600"/>
              </a:spcAft>
              <a:defRPr sz="1600">
                <a:solidFill>
                  <a:srgbClr val="2D2D2D"/>
                </a:solidFill>
                <a:latin typeface="Times New Roman"/>
              </a:defRPr>
            </a:pPr>
            <a:r>
              <a:rPr lang="en-US" dirty="0"/>
              <a:t>ResNet-18 backbone + CrossAttention fusion of physics features</a:t>
            </a:r>
          </a:p>
        </p:txBody>
      </p:sp>
      <p:pic>
        <p:nvPicPr>
          <p:cNvPr id="7" name="Picture 6" descr="_page_5_Figure_3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1234440"/>
            <a:ext cx="4086982" cy="4389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57654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04088"/>
          </a:xfrm>
          <a:prstGeom prst="rect">
            <a:avLst/>
          </a:prstGeom>
          <a:solidFill>
            <a:srgbClr val="174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96012"/>
            <a:ext cx="10911535" cy="3662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Times New Roman"/>
              </a:defRPr>
            </a:pPr>
            <a:r>
              <a:rPr lang="en-US" dirty="0"/>
              <a:t>Results: Event Classification to Trajectory Reconstruction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263640"/>
            <a:ext cx="11277295" cy="25400"/>
          </a:xfrm>
          <a:prstGeom prst="rect">
            <a:avLst/>
          </a:prstGeom>
          <a:solidFill>
            <a:srgbClr val="174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05152" y="6400800"/>
            <a:ext cx="503663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4A4A4A"/>
                </a:solidFill>
                <a:latin typeface="Times New Roman"/>
              </a:defRPr>
            </a:pPr>
            <a:r>
              <a:rPr lang="en-US" dirty="0"/>
              <a:t>3 /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6583680" cy="3708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174994"/>
                </a:solidFill>
                <a:latin typeface="Times New Roman"/>
              </a:defRPr>
            </a:pPr>
            <a:r>
              <a:rPr lang="en-US" dirty="0"/>
              <a:t>PID Classification (NST-2025-0958, ¹²C+¹²C)</a:t>
            </a:r>
          </a:p>
          <a:p>
            <a:pPr lvl="1">
              <a:spcAft>
                <a:spcPts val="600"/>
              </a:spcAft>
              <a:defRPr sz="1500" b="1">
                <a:solidFill>
                  <a:srgbClr val="2D2D2D"/>
                </a:solidFill>
                <a:latin typeface="Times New Roman"/>
              </a:defRPr>
            </a:pPr>
            <a:r>
              <a:rPr lang="en-US" dirty="0"/>
              <a:t>Elastic/fusion: 90–97% accuracy (ResNet-50, sim+exp)</a:t>
            </a:r>
          </a:p>
          <a:p>
            <a:pPr lvl="1">
              <a:spcAft>
                <a:spcPts val="600"/>
              </a:spcAft>
              <a:defRPr sz="1500" b="1">
                <a:solidFill>
                  <a:srgbClr val="2D2D2D"/>
                </a:solidFill>
                <a:latin typeface="Times New Roman"/>
              </a:defRPr>
            </a:pPr>
            <a:r>
              <a:rPr lang="en-US" dirty="0"/>
              <a:t>5-channel fusion discrimination: ~95% (p, α, n, ⁸Be, 2α)</a:t>
            </a:r>
          </a:p>
          <a:p>
            <a:pPr lvl="1">
              <a:spcAft>
                <a:spcPts val="600"/>
              </a:spcAft>
              <a:defRPr sz="1500">
                <a:solidFill>
                  <a:srgbClr val="2D2D2D"/>
                </a:solidFill>
                <a:latin typeface="Times New Roman"/>
              </a:defRPr>
            </a:pPr>
            <a:r>
              <a:rPr lang="en-US" dirty="0"/>
              <a:t>Precision 0.948, Recall 0.914, F1 0.931 on experimental data</a:t>
            </a:r>
          </a:p>
          <a:p>
            <a:pPr>
              <a:spcAft>
                <a:spcPts val="600"/>
              </a:spcAft>
              <a:defRPr sz="1500" b="1">
                <a:solidFill>
                  <a:srgbClr val="174994"/>
                </a:solidFill>
                <a:latin typeface="Times New Roman"/>
              </a:defRPr>
            </a:pPr>
            <a:r>
              <a:rPr lang="en-US" dirty="0"/>
              <a:t>Architecture Study (EXP1/EXP2, thesis)</a:t>
            </a:r>
          </a:p>
          <a:p>
            <a:pPr lvl="1">
              <a:spcAft>
                <a:spcPts val="600"/>
              </a:spcAft>
              <a:defRPr sz="1500" b="1">
                <a:solidFill>
                  <a:srgbClr val="2D2D2D"/>
                </a:solidFill>
                <a:latin typeface="Times New Roman"/>
              </a:defRPr>
            </a:pPr>
            <a:r>
              <a:rPr lang="en-US" dirty="0"/>
              <a:t>CrossAtt+HC on 3He/4He: 95.80% (controlled, matched 100k)</a:t>
            </a:r>
          </a:p>
          <a:p>
            <a:pPr lvl="1">
              <a:spcAft>
                <a:spcPts val="600"/>
              </a:spcAft>
              <a:defRPr sz="1500">
                <a:solidFill>
                  <a:srgbClr val="2D2D2D"/>
                </a:solidFill>
                <a:latin typeface="Times New Roman"/>
              </a:defRPr>
            </a:pPr>
            <a:r>
              <a:rPr lang="en-US" dirty="0"/>
              <a:t>EXP2 fusion comparison: CrossAtt vs Gated vs Concat on 13C/14C</a:t>
            </a:r>
          </a:p>
          <a:p>
            <a:pPr>
              <a:spcAft>
                <a:spcPts val="600"/>
              </a:spcAft>
              <a:defRPr sz="1500" b="1">
                <a:solidFill>
                  <a:srgbClr val="174994"/>
                </a:solidFill>
                <a:latin typeface="Times New Roman"/>
              </a:defRPr>
            </a:pPr>
            <a:r>
              <a:rPr lang="en-US" dirty="0"/>
              <a:t>Trajectory Reconstruction (TRK series, new)</a:t>
            </a:r>
          </a:p>
          <a:p>
            <a:pPr lvl="1">
              <a:spcAft>
                <a:spcPts val="600"/>
              </a:spcAft>
              <a:defRPr sz="1500">
                <a:solidFill>
                  <a:srgbClr val="2D2D2D"/>
                </a:solidFill>
                <a:latin typeface="Times New Roman"/>
              </a:defRPr>
            </a:pPr>
            <a:r>
              <a:rPr lang="en-US" dirty="0"/>
              <a:t>Same framework extended to angle regression</a:t>
            </a:r>
          </a:p>
          <a:p>
            <a:pPr lvl="1">
              <a:spcAft>
                <a:spcPts val="600"/>
              </a:spcAft>
              <a:defRPr sz="1500" b="1">
                <a:solidFill>
                  <a:srgbClr val="2D2D2D"/>
                </a:solidFill>
                <a:latin typeface="Times New Roman"/>
              </a:defRPr>
            </a:pPr>
            <a:r>
              <a:rPr lang="en-US" dirty="0"/>
              <a:t>CrossAtt reduces MAE by 16.1% (0.99°→0.83°, p&lt;10⁻¹⁶)</a:t>
            </a:r>
          </a:p>
          <a:p>
            <a:pPr lvl="1">
              <a:spcAft>
                <a:spcPts val="600"/>
              </a:spcAft>
              <a:defRPr sz="1500" b="1">
                <a:solidFill>
                  <a:srgbClr val="2D2D2D"/>
                </a:solidFill>
                <a:latin typeface="Times New Roman"/>
              </a:defRPr>
            </a:pPr>
            <a:r>
              <a:rPr lang="en-US" dirty="0"/>
              <a:t>High-precision fraction: 65.3%→72.9% (+7.6 pp)</a:t>
            </a:r>
          </a:p>
          <a:p>
            <a:pPr>
              <a:spcAft>
                <a:spcPts val="600"/>
              </a:spcAft>
              <a:defRPr sz="1500" b="1">
                <a:solidFill>
                  <a:srgbClr val="174994"/>
                </a:solidFill>
                <a:latin typeface="Times New Roman"/>
              </a:defRPr>
            </a:pPr>
            <a:r>
              <a:rPr lang="en-US" dirty="0"/>
              <a:t>Takeaway: pipeline generalizes — classification AND regression</a:t>
            </a:r>
          </a:p>
        </p:txBody>
      </p:sp>
      <p:pic>
        <p:nvPicPr>
          <p:cNvPr id="7" name="Picture 6" descr="cross_task_honest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1234440"/>
            <a:ext cx="4572000" cy="2199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70415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04088"/>
          </a:xfrm>
          <a:prstGeom prst="rect">
            <a:avLst/>
          </a:prstGeom>
          <a:solidFill>
            <a:srgbClr val="174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96012"/>
            <a:ext cx="10911535" cy="3662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Times New Roman"/>
              </a:defRPr>
            </a:pPr>
            <a:r>
              <a:rPr lang="en-US" dirty="0"/>
              <a:t>Connection: From MATE-TPC (IMP) to DONUTS (UTokyo CNS)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263640"/>
            <a:ext cx="11277295" cy="25400"/>
          </a:xfrm>
          <a:prstGeom prst="rect">
            <a:avLst/>
          </a:prstGeom>
          <a:solidFill>
            <a:srgbClr val="174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05152" y="6400800"/>
            <a:ext cx="503663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4A4A4A"/>
                </a:solidFill>
                <a:latin typeface="Times New Roman"/>
              </a:defRPr>
            </a:pPr>
            <a:r>
              <a:rPr lang="en-US" dirty="0"/>
              <a:t>4 /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6858000" cy="41395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74994"/>
                </a:solidFill>
                <a:latin typeface="Times New Roman"/>
              </a:defRPr>
            </a:pPr>
            <a:r>
              <a:rPr lang="en-US" dirty="0"/>
              <a:t>ML-PID for active-target TPCs maps directly to the DONUTS program</a:t>
            </a:r>
          </a:p>
          <a:p>
            <a:pPr>
              <a:spcAft>
                <a:spcPts val="600"/>
              </a:spcAft>
              <a:defRPr sz="1600" b="1">
                <a:solidFill>
                  <a:srgbClr val="174994"/>
                </a:solidFill>
                <a:latin typeface="Times New Roman"/>
              </a:defRPr>
            </a:pPr>
            <a:r>
              <a:rPr lang="en-US" dirty="0"/>
              <a:t>OEDO-SHARAQ: inverse-kinematics direct reactions on exotic nuclei</a:t>
            </a:r>
          </a:p>
          <a:p>
            <a:pPr lvl="1">
              <a:spcAft>
                <a:spcPts val="600"/>
              </a:spcAft>
              <a:defRPr sz="1600">
                <a:solidFill>
                  <a:srgbClr val="2D2D2D"/>
                </a:solidFill>
                <a:latin typeface="Times New Roman"/>
              </a:defRPr>
            </a:pPr>
            <a:r>
              <a:rPr lang="en-US" dirty="0"/>
              <a:t>(d,p), (p,d) transfer reactions at 10–30 MeV/u via RIKEN RIBF</a:t>
            </a:r>
          </a:p>
          <a:p>
            <a:pPr lvl="1">
              <a:spcAft>
                <a:spcPts val="600"/>
              </a:spcAft>
              <a:defRPr sz="1600">
                <a:solidFill>
                  <a:srgbClr val="2D2D2D"/>
                </a:solidFill>
                <a:latin typeface="Times New Roman"/>
              </a:defRPr>
            </a:pPr>
            <a:r>
              <a:rPr lang="en-US" dirty="0"/>
              <a:t>Same PID challenge: separate light recoils (p, d, α) from beam background</a:t>
            </a:r>
          </a:p>
          <a:p>
            <a:pPr lvl="1">
              <a:spcAft>
                <a:spcPts val="600"/>
              </a:spcAft>
              <a:defRPr sz="1600">
                <a:solidFill>
                  <a:srgbClr val="2D2D2D"/>
                </a:solidFill>
                <a:latin typeface="Times New Roman"/>
              </a:defRPr>
            </a:pPr>
            <a:r>
              <a:rPr lang="en-US" dirty="0"/>
              <a:t>DG-M-THGEM active target: GEM-based, dual gain, stable to 2.5×10⁶ pps</a:t>
            </a:r>
          </a:p>
          <a:p>
            <a:pPr>
              <a:spcAft>
                <a:spcPts val="600"/>
              </a:spcAft>
              <a:defRPr sz="1600" b="1">
                <a:solidFill>
                  <a:srgbClr val="174994"/>
                </a:solidFill>
                <a:latin typeface="Times New Roman"/>
              </a:defRPr>
            </a:pPr>
            <a:r>
              <a:rPr lang="en-US" dirty="0"/>
              <a:t>SAKURA: surrogate (d,p) for r-process (n,γ) cross-sections</a:t>
            </a:r>
          </a:p>
          <a:p>
            <a:pPr lvl="1">
              <a:spcAft>
                <a:spcPts val="600"/>
              </a:spcAft>
              <a:defRPr sz="1600">
                <a:solidFill>
                  <a:srgbClr val="2D2D2D"/>
                </a:solidFill>
                <a:latin typeface="Times New Roman"/>
              </a:defRPr>
            </a:pPr>
            <a:r>
              <a:rPr lang="en-US" dirty="0"/>
              <a:t>⁹⁹Se(d,p) flagship result (Imai et al., PLB 2024) → reliable PID essential</a:t>
            </a:r>
          </a:p>
          <a:p>
            <a:pPr lvl="1">
              <a:spcAft>
                <a:spcPts val="600"/>
              </a:spcAft>
              <a:defRPr sz="1600">
                <a:solidFill>
                  <a:srgbClr val="2D2D2D"/>
                </a:solidFill>
                <a:latin typeface="Times New Roman"/>
              </a:defRPr>
            </a:pPr>
            <a:r>
              <a:rPr lang="en-US" dirty="0"/>
              <a:t>Extending to more exotic targets: ML-PID improves channel discrimination</a:t>
            </a:r>
          </a:p>
          <a:p>
            <a:pPr>
              <a:spcAft>
                <a:spcPts val="600"/>
              </a:spcAft>
              <a:defRPr sz="1600" b="1">
                <a:solidFill>
                  <a:srgbClr val="174994"/>
                </a:solidFill>
                <a:latin typeface="Times New Roman"/>
              </a:defRPr>
            </a:pPr>
            <a:r>
              <a:rPr lang="en-US" dirty="0"/>
              <a:t>Transferable capabilities from my work:</a:t>
            </a:r>
          </a:p>
          <a:p>
            <a:pPr lvl="1">
              <a:spcAft>
                <a:spcPts val="600"/>
              </a:spcAft>
              <a:defRPr sz="1600">
                <a:solidFill>
                  <a:srgbClr val="2D2D2D"/>
                </a:solidFill>
                <a:latin typeface="Times New Roman"/>
              </a:defRPr>
            </a:pPr>
            <a:r>
              <a:rPr lang="en-US" dirty="0"/>
              <a:t>ResNet + CrossAtt framework adaptable to different TPC geometries</a:t>
            </a:r>
          </a:p>
          <a:p>
            <a:pPr lvl="1">
              <a:spcAft>
                <a:spcPts val="600"/>
              </a:spcAft>
              <a:defRPr sz="1600">
                <a:solidFill>
                  <a:srgbClr val="2D2D2D"/>
                </a:solidFill>
                <a:latin typeface="Times New Roman"/>
              </a:defRPr>
            </a:pPr>
            <a:r>
              <a:rPr lang="en-US" dirty="0"/>
              <a:t>Full pipeline: simulation → image → ML inference → validated on experimental data</a:t>
            </a:r>
          </a:p>
          <a:p>
            <a:pPr lvl="1">
              <a:spcAft>
                <a:spcPts val="600"/>
              </a:spcAft>
              <a:defRPr sz="1600">
                <a:solidFill>
                  <a:srgbClr val="2D2D2D"/>
                </a:solidFill>
                <a:latin typeface="Times New Roman"/>
              </a:defRPr>
            </a:pPr>
            <a:r>
              <a:rPr lang="en-US" dirty="0"/>
              <a:t>Track reconstruction + angle regression adds trajectory analysis capability</a:t>
            </a:r>
          </a:p>
        </p:txBody>
      </p:sp>
      <p:pic>
        <p:nvPicPr>
          <p:cNvPr id="7" name="Picture 6" descr="OEDO-SHARAQ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1371600"/>
            <a:ext cx="4114800" cy="23148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38433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04088"/>
          </a:xfrm>
          <a:prstGeom prst="rect">
            <a:avLst/>
          </a:prstGeom>
          <a:solidFill>
            <a:srgbClr val="174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96012"/>
            <a:ext cx="10911535" cy="3662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Times New Roman"/>
              </a:defRPr>
            </a:pPr>
            <a:r>
              <a:rPr lang="en-US" dirty="0"/>
              <a:t>Outlook: Next Steps and Open Questions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263640"/>
            <a:ext cx="11277295" cy="25400"/>
          </a:xfrm>
          <a:prstGeom prst="rect">
            <a:avLst/>
          </a:prstGeom>
          <a:solidFill>
            <a:srgbClr val="174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05152" y="6400800"/>
            <a:ext cx="503663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4A4A4A"/>
                </a:solidFill>
                <a:latin typeface="Times New Roman"/>
              </a:defRPr>
            </a:pPr>
            <a:r>
              <a:rPr lang="en-US" dirty="0"/>
              <a:t>5 /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10058400" cy="357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74994"/>
                </a:solidFill>
                <a:latin typeface="Times New Roman"/>
              </a:defRPr>
            </a:pPr>
            <a:r>
              <a:rPr lang="en-US" dirty="0"/>
              <a:t>Extend CrossAtt-PID framework to DONUTS detector data</a:t>
            </a:r>
          </a:p>
          <a:p>
            <a:pPr lvl="1">
              <a:spcAft>
                <a:spcPts val="600"/>
              </a:spcAft>
              <a:defRPr sz="1600">
                <a:solidFill>
                  <a:srgbClr val="2D2D2D"/>
                </a:solidFill>
                <a:latin typeface="Times New Roman"/>
              </a:defRPr>
            </a:pPr>
            <a:r>
              <a:rPr lang="en-US" dirty="0"/>
              <a:t>Adapt pipeline from MATE triangular pads → DG-M-THGEM geometry</a:t>
            </a:r>
          </a:p>
          <a:p>
            <a:pPr lvl="1">
              <a:spcAft>
                <a:spcPts val="600"/>
              </a:spcAft>
              <a:defRPr sz="1600">
                <a:solidFill>
                  <a:srgbClr val="2D2D2D"/>
                </a:solidFill>
                <a:latin typeface="Times New Roman"/>
              </a:defRPr>
            </a:pPr>
            <a:r>
              <a:rPr lang="en-US" dirty="0"/>
              <a:t>Leverage simulation infrastructure for new target/beam combinations</a:t>
            </a:r>
          </a:p>
          <a:p>
            <a:pPr>
              <a:spcAft>
                <a:spcPts val="600"/>
              </a:spcAft>
              <a:defRPr sz="1600" b="1">
                <a:solidFill>
                  <a:srgbClr val="174994"/>
                </a:solidFill>
                <a:latin typeface="Times New Roman"/>
              </a:defRPr>
            </a:pPr>
            <a:r>
              <a:rPr lang="en-US" dirty="0"/>
              <a:t>Open questions for discussion</a:t>
            </a:r>
          </a:p>
          <a:p>
            <a:pPr lvl="1">
              <a:spcAft>
                <a:spcPts val="600"/>
              </a:spcAft>
              <a:defRPr sz="1600">
                <a:solidFill>
                  <a:srgbClr val="2D2D2D"/>
                </a:solidFill>
                <a:latin typeface="Times New Roman"/>
              </a:defRPr>
            </a:pPr>
            <a:r>
              <a:rPr lang="en-US" dirty="0"/>
              <a:t>Transfer learning: how well does the model generalize across TPC geometries?</a:t>
            </a:r>
          </a:p>
          <a:p>
            <a:pPr lvl="1">
              <a:spcAft>
                <a:spcPts val="600"/>
              </a:spcAft>
              <a:defRPr sz="1600">
                <a:solidFill>
                  <a:srgbClr val="2D2D2D"/>
                </a:solidFill>
                <a:latin typeface="Times New Roman"/>
              </a:defRPr>
            </a:pPr>
            <a:r>
              <a:rPr lang="en-US" dirty="0"/>
              <a:t>Beam conditions: different rates, gas mixtures, dynamic range at RIKEN RIBF</a:t>
            </a:r>
          </a:p>
          <a:p>
            <a:pPr lvl="1">
              <a:spcAft>
                <a:spcPts val="600"/>
              </a:spcAft>
              <a:defRPr sz="1600">
                <a:solidFill>
                  <a:srgbClr val="2D2D2D"/>
                </a:solidFill>
                <a:latin typeface="Times New Roman"/>
              </a:defRPr>
            </a:pPr>
            <a:r>
              <a:rPr lang="en-US" dirty="0"/>
              <a:t>Complex reaction channels in SAKURA: multi-body final states, (d,pγ) coincidences</a:t>
            </a:r>
          </a:p>
          <a:p>
            <a:pPr lvl="1">
              <a:spcAft>
                <a:spcPts val="600"/>
              </a:spcAft>
              <a:defRPr sz="1600">
                <a:solidFill>
                  <a:srgbClr val="2D2D2D"/>
                </a:solidFill>
                <a:latin typeface="Times New Roman"/>
              </a:defRPr>
            </a:pPr>
            <a:r>
              <a:rPr lang="en-US" dirty="0"/>
              <a:t>Integration with existing ATPC Flow analysis framework (Python/C++/Rust)</a:t>
            </a:r>
          </a:p>
          <a:p>
            <a:pPr>
              <a:spcAft>
                <a:spcPts val="600"/>
              </a:spcAft>
              <a:defRPr sz="1600" b="1">
                <a:solidFill>
                  <a:srgbClr val="174994"/>
                </a:solidFill>
                <a:latin typeface="Times New Roman"/>
              </a:defRPr>
            </a:pPr>
            <a:r>
              <a:rPr lang="en-US" dirty="0"/>
              <a:t>Broader vision</a:t>
            </a:r>
          </a:p>
          <a:p>
            <a:pPr lvl="1">
              <a:spcAft>
                <a:spcPts val="600"/>
              </a:spcAft>
              <a:defRPr sz="1600">
                <a:solidFill>
                  <a:srgbClr val="2D2D2D"/>
                </a:solidFill>
                <a:latin typeface="Times New Roman"/>
              </a:defRPr>
            </a:pPr>
            <a:r>
              <a:rPr lang="en-US" dirty="0"/>
              <a:t>ML-augmented analysis as standard tool for next-generation RI-beam experiments</a:t>
            </a:r>
          </a:p>
          <a:p>
            <a:pPr lvl="1">
              <a:spcAft>
                <a:spcPts val="600"/>
              </a:spcAft>
              <a:defRPr sz="1600">
                <a:solidFill>
                  <a:srgbClr val="2D2D2D"/>
                </a:solidFill>
                <a:latin typeface="Times New Roman"/>
              </a:defRPr>
            </a:pPr>
            <a:r>
              <a:rPr lang="en-US" dirty="0"/>
              <a:t>From PID → full event reconstruction: vertex, track, angle, channel ID in one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02539" y="5577840"/>
            <a:ext cx="5882123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i="1">
                <a:solidFill>
                  <a:srgbClr val="174994"/>
                </a:solidFill>
                <a:latin typeface="Times New Roman"/>
              </a:defRPr>
            </a:pPr>
            <a:r>
              <a:rPr lang="en-US" dirty="0"/>
              <a:t>Looking forward to your guidance on the highest-impact application.</a:t>
            </a:r>
          </a:p>
        </p:txBody>
      </p:sp>
    </p:spTree>
    <p:extLst>
      <p:ext uri="{BB962C8B-B14F-4D97-AF65-F5344CB8AC3E}">
        <p14:creationId xmlns:p14="http://schemas.microsoft.com/office/powerpoint/2010/main" val="9922739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82" row="9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7CB73592-DE60-4015-83C5-39037CDCF43A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f3ca900e-b63c-4fe2-a426-9eb7c8cc968c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1985</Words>
  <Application>Microsoft Office PowerPoint</Application>
  <PresentationFormat>Widescreen</PresentationFormat>
  <Paragraphs>132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智恒 胡</cp:lastModifiedBy>
  <cp:revision>2</cp:revision>
  <dcterms:created xsi:type="dcterms:W3CDTF">2013-01-27T09:14:16Z</dcterms:created>
  <dcterms:modified xsi:type="dcterms:W3CDTF">2026-04-12T09:06:51Z</dcterms:modified>
  <cp:category/>
</cp:coreProperties>
</file>