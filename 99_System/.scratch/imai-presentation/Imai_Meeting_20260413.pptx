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7"/>
  </p:notesMasterIdLst>
  <p:sldIdLst>
    <p:sldId id="298" r:id="rId2"/>
    <p:sldId id="299" r:id="rId3"/>
    <p:sldId id="263" r:id="rId4"/>
    <p:sldId id="264" r:id="rId5"/>
    <p:sldId id="265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749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21" autoAdjust="0"/>
    <p:restoredTop sz="46667" autoAdjust="0"/>
  </p:normalViewPr>
  <p:slideViewPr>
    <p:cSldViewPr snapToGrid="0" snapToObjects="1">
      <p:cViewPr varScale="1">
        <p:scale>
          <a:sx n="58" d="100"/>
          <a:sy n="58" d="100"/>
        </p:scale>
        <p:origin x="168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5822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Let me start by framing the physics motivation behind this work.</a:t>
            </a:r>
          </a:p>
          <a:p>
            <a:r>
              <a:rPr lang="en-US" dirty="0"/>
              <a:t>One of the most exciting frontiers in nuclear structure is the evolution of shell structure far from stability. We know that the traditional magic numbers can erode in neutron-rich nuclei, and the tensor component of the nucleon-nucleon force drives the coexistence of different nuclear shapes. Understanding this is a central question in modern nuclear physics.</a:t>
            </a:r>
          </a:p>
          <a:p>
            <a:r>
              <a:rPr lang="en-US" dirty="0"/>
              <a:t>How do we probe this experimentally? Through direct reactions like (</a:t>
            </a:r>
            <a:r>
              <a:rPr lang="en-US" dirty="0" err="1"/>
              <a:t>d,p</a:t>
            </a:r>
            <a:r>
              <a:rPr lang="en-US" dirty="0"/>
              <a:t>) and (</a:t>
            </a:r>
            <a:r>
              <a:rPr lang="en-US" dirty="0" err="1"/>
              <a:t>p,d</a:t>
            </a:r>
            <a:r>
              <a:rPr lang="en-US" dirty="0"/>
              <a:t>) transfer, which give us spectroscopic factors and spin-parity assignments. And through surrogate reactions, which allow us to indirectly constrain neutron-capture cross sections critical for r-process nucleosynthesis — reactions we simply cannot measure directly with short-lived isotopes.</a:t>
            </a:r>
          </a:p>
          <a:p>
            <a:r>
              <a:rPr lang="en-US" dirty="0"/>
              <a:t>The diagram on the right illustrates the surrogate reaction method: the desired cross section sigma of </a:t>
            </a:r>
            <a:r>
              <a:rPr lang="en-US" dirty="0" err="1"/>
              <a:t>n,x</a:t>
            </a:r>
            <a:r>
              <a:rPr lang="en-US" dirty="0"/>
              <a:t> is decomposed into a compound-nucleus formation cross section times a decay probability, summed over all spin-parity values. </a:t>
            </a:r>
            <a:r>
              <a:rPr lang="en-US"/>
              <a:t>This formalism is </a:t>
            </a:r>
            <a:r>
              <a:rPr lang="en-US" dirty="0"/>
              <a:t>the theoretical foundation for the surrogate approach.</a:t>
            </a:r>
          </a:p>
          <a:p>
            <a:r>
              <a:rPr lang="en-US" dirty="0"/>
              <a:t>Now, to carry out these measurements on rare-isotope beams, active-target time projection chambers — or TPCs — have become the instrument of choice. The gas volume serves simultaneously as the target and the detector, giving us thick-target luminosity with full kinematic coverage.</a:t>
            </a:r>
          </a:p>
          <a:p>
            <a:r>
              <a:rPr lang="en-US" dirty="0"/>
              <a:t>But here is the bottleneck: each experiment generates several terabytes of raw data. How to efficiently extract useful physics information from this massive volume becomes a key challenge, and this is what motivates our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Traditional PID in TPCs: dE/dx along track + integrated energy. Works well for well-separated species, but struggles for 3He/4He (Delta A/Z ~33%) and especially 13C/14C (Delta A/Z ~8%).</a:t>
            </a:r>
          </a:p>
          <a:p>
            <a:r>
              <a:t>- Hough transform for track finding: our NST paper showed ML corrected ~1.5% mislabeled events.</a:t>
            </a:r>
          </a:p>
          <a:p>
            <a:r>
              <a:t>- MATE detector specifics: GEM amplification (not Micromegas), triangular pad readout (48 rows x 80 pads = 3,792 pads), dual-gain for beam vs recoil.</a:t>
            </a:r>
          </a:p>
          <a:p>
            <a:r>
              <a:t>- The 2D projection images (charge deposition + drift time) contain rich spatial information: Bragg peak location, track length, curvature -- all species-dependent features that a CNN can learn.</a:t>
            </a:r>
          </a:p>
          <a:p>
            <a:r>
              <a:t>- This is why we convert ROOT simulation data -&gt; HDF5 -&gt; 2-channel 80x48 images and feed to ResNet.</a:t>
            </a:r>
          </a:p>
          <a:p>
            <a:r>
              <a:t>- CrossAttention mechanism fuses 4 handcrafted physics features (moments of inertia Iyy, Izz, Iyz, total mass) with the CNN spatial representation.</a:t>
            </a:r>
          </a:p>
          <a:p>
            <a:endParaRPr/>
          </a:p>
          <a:p>
            <a:r>
              <a:t>FIGURE: Example TPC track images showing different particle species.</a:t>
            </a:r>
          </a:p>
          <a:p>
            <a:r>
              <a:t>Figure path (embedded): D:\Something\research\MATE-Automation-V4\10_Papers-Thesis\Physics_Informed\figures\example_tracks.png</a:t>
            </a:r>
          </a:p>
          <a:p>
            <a:r>
              <a:t>Also useful: D:\obsidian\OrbitOS\50_Resources\Physics\literature\MLforPhysics\NST-ML-12C12C-MATE\_page_5_Figure_3.jpeg (3D track displays from NST paper)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Three levels of results to present:</a:t>
            </a:r>
          </a:p>
          <a:p>
            <a:r>
              <a:t>  1. Published PID results (NST-2025-0958, submitted Nov 2025): 90-97% elastic/fusion on 12C+12C, ~95% across 5 fusion channels</a:t>
            </a:r>
          </a:p>
          <a:p>
            <a:r>
              <a:t>  2. Thesis architecture study: CrossAtt+HC fusion mechanism. EXP1 showed 95.80% at matched 100k training size. EXP2 compared CrossAtt vs GatedFusion vs ConcatFusion.</a:t>
            </a:r>
          </a:p>
          <a:p>
            <a:r>
              <a:t>  3. NEW: Trajectory reconstruction (TRK series, completed April 2026). Same CrossAttention framework applied to angle regression task.</a:t>
            </a:r>
          </a:p>
          <a:p>
            <a:endParaRPr/>
          </a:p>
          <a:p>
            <a:r>
              <a:t>KEY NUMBERS:</a:t>
            </a:r>
          </a:p>
          <a:p>
            <a:r>
              <a:t>- EXP1: CrossAtt+HC = 95.80% (3He/4He, 100k matched). Architecture effect is +0.024 pp vs baseline (not significant at p=0.813), BUT data scaling to 400k gives +1.77 pp (p&lt;1e-73). This is honest -- architecture helps, but data volume matters more for PID.</a:t>
            </a:r>
          </a:p>
          <a:p>
            <a:r>
              <a:t>- TRK: CrossAtt reduces angle MAE by 16.1% (0.992 -&gt; 0.832 degrees, p&lt;1e-16, CIs fully disjoint). This is the clearest architecture win.</a:t>
            </a:r>
          </a:p>
          <a:p>
            <a:r>
              <a:t>- The generalization story is powerful: same backbone + CrossAtt fusion works for classification AND regression tasks on TPC data.</a:t>
            </a:r>
          </a:p>
          <a:p>
            <a:endParaRPr/>
          </a:p>
          <a:p>
            <a:r>
              <a:t>- 13C/14C is the hardest case: only 8% A/Z difference. CrossAtt gets 84.6% vs ConcatFusion 86.1% -- still challenging.</a:t>
            </a:r>
          </a:p>
          <a:p>
            <a:endParaRPr/>
          </a:p>
          <a:p>
            <a:r>
              <a:t>FIGURES:</a:t>
            </a:r>
          </a:p>
          <a:p>
            <a:r>
              <a:t>- cross_task_honest_comparison.png: Three-panel comparison (Isotope ID / Track Classification / Angle Regression)</a:t>
            </a:r>
          </a:p>
          <a:p>
            <a:r>
              <a:t>  Path: D:\Something\research\MATE-Automation-V4\runs\TRK-comparison\figures\cross_task_honest_comparison.png</a:t>
            </a:r>
          </a:p>
          <a:p>
            <a:r>
              <a:t>- paradigm_comparison.png: Two-paradigm comparison (Range-Energy PID vs ML)</a:t>
            </a:r>
          </a:p>
          <a:p>
            <a:r>
              <a:t>  Path: D:\Something\research\MATE-Automation-V4\runs\EXP1-XA-HC-100k\20260317_191552_seed42\figures\paradigm_comparison.png</a:t>
            </a:r>
          </a:p>
          <a:p>
            <a:r>
              <a:t>- v6_confusion_matrix_grid.png: Confusion matrices across ablation variants</a:t>
            </a:r>
          </a:p>
          <a:p>
            <a:r>
              <a:t>  Path: D:\Something\research\MATE-Automation-V4\10_Papers-Thesis\Physics_Informed\figures\v6_confusion_matrix_grid.png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This slide is the BRIDGE -- connecting IMP research to Imai's program at UTokyo CNS.</a:t>
            </a:r>
          </a:p>
          <a:p>
            <a:r>
              <a:t>- DONUTS group operates at RIKEN RIBF via OEDO-SHARAQ beamline: energy-degraded exotic beams for direct reactions.</a:t>
            </a:r>
          </a:p>
          <a:p>
            <a:r>
              <a:t>- The PID challenge is identical in principle: separate light recoils from heavy beam background in an active-target TPC environment.</a:t>
            </a:r>
          </a:p>
          <a:p>
            <a:r>
              <a:t>- SAKURA program: surrogate (d,p) reactions to constrain (n,gamma) for r-process nucleosynthesis. The 79Se(d,p) result (Imai, PLB 2024) is the flagship -- shows why clean PID matters for cross-section extraction.</a:t>
            </a:r>
          </a:p>
          <a:p>
            <a:r>
              <a:t>- DG-M-THGEM detector (Iwamoto, Ota, Imai et al., PTEP 2023): dual-gain GEM-based active target, similar in principle to MATE. ML-PID framework transfers naturally.</a:t>
            </a:r>
          </a:p>
          <a:p>
            <a:r>
              <a:t>- Key message: I'm not asking to replicate my thesis -- I'm bringing a validated toolkit that addresses a real analysis bottleneck in DONUTS experiments.</a:t>
            </a:r>
          </a:p>
          <a:p>
            <a:r>
              <a:t>- Mention CAT-M detector (shared CNS infrastructure between NUSPEQ/Aoi and DONUTS/Imai groups).</a:t>
            </a:r>
          </a:p>
          <a:p>
            <a:endParaRPr/>
          </a:p>
          <a:p>
            <a:r>
              <a:t>FIGURE: OEDO-SHARAQ beamline schematic.</a:t>
            </a:r>
          </a:p>
          <a:p>
            <a:r>
              <a:t>Path: D:\obsidian\OrbitOS\50_Resources\Attachments\OEDO-SHARAQ.png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TALKING POINTS:</a:t>
            </a:r>
          </a:p>
          <a:p>
            <a:r>
              <a:t>- This is the forward-looking slide. End on a collaborative note -- invite Imai's input.</a:t>
            </a:r>
          </a:p>
          <a:p>
            <a:r>
              <a:t>- Key question to ASK: "Given the DONUTS program's current priorities, where would ML-based PID have the most immediate impact?"</a:t>
            </a:r>
          </a:p>
          <a:p>
            <a:r>
              <a:t>- Transfer learning is a genuine open question: MATE has 3,792 triangular pads; DONUTS detectors may have different geometries. Domain adaptation (DANN/MCD) methods are ready to explore.</a:t>
            </a:r>
          </a:p>
          <a:p>
            <a:r>
              <a:t>- SAKURA reactions are more complex than simple binary classification -- multi-body final states may need multi-class or hierarchical classification approaches.</a:t>
            </a:r>
          </a:p>
          <a:p>
            <a:r>
              <a:t>- Mention: the MATE-Automation codebase is modular and well-documented. Adapting to a new detector is a config change + retraining, not a rewrite.</a:t>
            </a:r>
          </a:p>
          <a:p>
            <a:r>
              <a:t>- The ATPC Flow framework (mentioned in RCNP collaboration meeting notes) is the existing analysis software. Integration point: ML inference as a module within that pipeline.</a:t>
            </a:r>
          </a:p>
          <a:p>
            <a:r>
              <a:t>- End with: "I'm eager to learn how this work can contribute to the group's goals, and I welcome your suggestions on the most valuable direction to pursue during the PhD."</a:t>
            </a:r>
          </a:p>
          <a:p>
            <a:endParaRPr/>
          </a:p>
          <a:p>
            <a:r>
              <a:t>TIMELINE CONTEXT (if asked):</a:t>
            </a:r>
          </a:p>
          <a:p>
            <a:r>
              <a:t>- IMP graduation: June 2027</a:t>
            </a:r>
          </a:p>
          <a:p>
            <a:r>
              <a:t>- UTokyo PhD D1 enrollment: October 2027 (primary) or October 2028 (fallback via kenkyusei)</a:t>
            </a:r>
          </a:p>
          <a:p>
            <a:r>
              <a:t>- TOEFL iBT Attempt #1: August 30, 2026</a:t>
            </a:r>
          </a:p>
          <a:p>
            <a:r>
              <a:t>- GRE Physics: Sept/Oct 2026</a:t>
            </a:r>
          </a:p>
          <a:p>
            <a:r>
              <a:t>- UTokyo entrance exam: Jan-Feb 2027 (estimated)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04088"/>
          </a:xfrm>
          <a:prstGeom prst="rect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96012"/>
            <a:ext cx="109115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Times New Roman"/>
              </a:defRPr>
            </a:pPr>
            <a:r>
              <a:rPr lang="en-US" dirty="0"/>
              <a:t>Physics Motivation: Direct &amp; Surrogate Reactions</a:t>
            </a:r>
          </a:p>
        </p:txBody>
      </p:sp>
      <p:sp>
        <p:nvSpPr>
          <p:cNvPr id="30" name="DiagramTitle"/>
          <p:cNvSpPr txBox="1"/>
          <p:nvPr/>
        </p:nvSpPr>
        <p:spPr>
          <a:xfrm>
            <a:off x="6858000" y="889000"/>
            <a:ext cx="4191000" cy="330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500" b="1" dirty="0">
                <a:solidFill>
                  <a:srgbClr val="174994"/>
                </a:solidFill>
                <a:latin typeface="Times New Roman"/>
              </a:rPr>
              <a:t>Surrogate Reaction Method</a:t>
            </a:r>
          </a:p>
        </p:txBody>
      </p:sp>
      <p:sp>
        <p:nvSpPr>
          <p:cNvPr id="45" name="Formula"/>
          <p:cNvSpPr txBox="1"/>
          <p:nvPr/>
        </p:nvSpPr>
        <p:spPr>
          <a:xfrm>
            <a:off x="6896100" y="5393447"/>
            <a:ext cx="46990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600" i="1" dirty="0">
                <a:solidFill>
                  <a:srgbClr val="2D2D2D"/>
                </a:solidFill>
                <a:latin typeface="Times New Roman"/>
              </a:rPr>
              <a:t>σ</a:t>
            </a:r>
            <a:r>
              <a:rPr lang="en-US" sz="1600" dirty="0">
                <a:solidFill>
                  <a:srgbClr val="2D2D2D"/>
                </a:solidFill>
                <a:latin typeface="Times New Roman"/>
              </a:rPr>
              <a:t>(n,x) = ∑</a:t>
            </a:r>
            <a:r>
              <a:rPr lang="en-US" sz="1600" baseline="-25000" dirty="0">
                <a:solidFill>
                  <a:srgbClr val="2D2D2D"/>
                </a:solidFill>
                <a:latin typeface="Times New Roman"/>
              </a:rPr>
              <a:t>J,π</a:t>
            </a:r>
            <a:r>
              <a:rPr lang="en-US" sz="1600" dirty="0">
                <a:solidFill>
                  <a:srgbClr val="2D2D2D"/>
                </a:solidFill>
                <a:latin typeface="Times New Roman"/>
              </a:rPr>
              <a:t> </a:t>
            </a:r>
            <a:r>
              <a:rPr lang="en-US" sz="1600" i="1" dirty="0">
                <a:solidFill>
                  <a:srgbClr val="2D2D2D"/>
                </a:solidFill>
                <a:latin typeface="Times New Roman"/>
              </a:rPr>
              <a:t>σ</a:t>
            </a:r>
            <a:r>
              <a:rPr lang="en-US" sz="1600" baseline="-25000" dirty="0">
                <a:solidFill>
                  <a:srgbClr val="2D2D2D"/>
                </a:solidFill>
                <a:latin typeface="Times New Roman"/>
              </a:rPr>
              <a:t>CN</a:t>
            </a:r>
            <a:r>
              <a:rPr lang="en-US" sz="1600" dirty="0">
                <a:solidFill>
                  <a:srgbClr val="2D2D2D"/>
                </a:solidFill>
                <a:latin typeface="Times New Roman"/>
              </a:rPr>
              <a:t>(n+A; </a:t>
            </a:r>
            <a:r>
              <a:rPr lang="en-US" sz="1600" i="1" dirty="0">
                <a:solidFill>
                  <a:srgbClr val="2D2D2D"/>
                </a:solidFill>
                <a:latin typeface="Times New Roman"/>
              </a:rPr>
              <a:t>J</a:t>
            </a:r>
            <a:r>
              <a:rPr lang="en-US" sz="1600" baseline="30000" dirty="0">
                <a:solidFill>
                  <a:srgbClr val="2D2D2D"/>
                </a:solidFill>
                <a:latin typeface="Times New Roman"/>
              </a:rPr>
              <a:t>π</a:t>
            </a:r>
            <a:r>
              <a:rPr lang="en-US" sz="1600" dirty="0">
                <a:solidFill>
                  <a:srgbClr val="2D2D2D"/>
                </a:solidFill>
                <a:latin typeface="Times New Roman"/>
              </a:rPr>
              <a:t>) × </a:t>
            </a:r>
            <a:r>
              <a:rPr lang="en-US" sz="1600" i="1" dirty="0">
                <a:solidFill>
                  <a:srgbClr val="2D2D2D"/>
                </a:solidFill>
                <a:latin typeface="Times New Roman"/>
              </a:rPr>
              <a:t>P</a:t>
            </a:r>
            <a:r>
              <a:rPr lang="en-US" sz="1600" baseline="-25000" dirty="0">
                <a:solidFill>
                  <a:srgbClr val="2D2D2D"/>
                </a:solidFill>
                <a:latin typeface="Times New Roman"/>
              </a:rPr>
              <a:t>decay</a:t>
            </a:r>
            <a:r>
              <a:rPr lang="en-US" sz="1600" dirty="0">
                <a:solidFill>
                  <a:srgbClr val="2D2D2D"/>
                </a:solidFill>
                <a:latin typeface="Times New Roman"/>
              </a:rPr>
              <a:t>(B*; </a:t>
            </a:r>
            <a:r>
              <a:rPr lang="en-US" sz="1600" i="1" dirty="0">
                <a:solidFill>
                  <a:srgbClr val="2D2D2D"/>
                </a:solidFill>
                <a:latin typeface="Times New Roman"/>
              </a:rPr>
              <a:t>J</a:t>
            </a:r>
            <a:r>
              <a:rPr lang="en-US" sz="1600" baseline="30000" dirty="0">
                <a:solidFill>
                  <a:srgbClr val="2D2D2D"/>
                </a:solidFill>
                <a:latin typeface="Times New Roman"/>
              </a:rPr>
              <a:t>π</a:t>
            </a:r>
            <a:r>
              <a:rPr lang="en-US" sz="1600" dirty="0">
                <a:solidFill>
                  <a:srgbClr val="2D2D2D"/>
                </a:solidFill>
                <a:latin typeface="Times New Roman"/>
              </a:rPr>
              <a:t>)</a:t>
            </a:r>
          </a:p>
        </p:txBody>
      </p:sp>
      <p:sp>
        <p:nvSpPr>
          <p:cNvPr id="46" name="Ref"/>
          <p:cNvSpPr txBox="1"/>
          <p:nvPr/>
        </p:nvSpPr>
        <p:spPr>
          <a:xfrm>
            <a:off x="6896100" y="5698247"/>
            <a:ext cx="46990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/>
            <a:r>
              <a:rPr lang="en-US" sz="1200" i="1" dirty="0">
                <a:solidFill>
                  <a:srgbClr val="888888"/>
                </a:solidFill>
                <a:latin typeface="Times New Roman"/>
              </a:rPr>
              <a:t>Escher et al., Rev. Mod. Phys. 84, 353 (2012)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AC06186-F23E-1901-2EF8-728DB3B665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601" y="1219200"/>
            <a:ext cx="4000500" cy="3911600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C2B06D01-DC5E-4474-9882-93590E914CD6}"/>
              </a:ext>
            </a:extLst>
          </p:cNvPr>
          <p:cNvSpPr/>
          <p:nvPr/>
        </p:nvSpPr>
        <p:spPr>
          <a:xfrm>
            <a:off x="254000" y="939800"/>
            <a:ext cx="431800" cy="431800"/>
          </a:xfrm>
          <a:prstGeom prst="ellipse">
            <a:avLst/>
          </a:prstGeom>
          <a:solidFill>
            <a:srgbClr val="17499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5DC444F-2DAD-4730-A01C-0CE49DD391E3}"/>
              </a:ext>
            </a:extLst>
          </p:cNvPr>
          <p:cNvSpPr/>
          <p:nvPr/>
        </p:nvSpPr>
        <p:spPr>
          <a:xfrm>
            <a:off x="254000" y="2286000"/>
            <a:ext cx="431800" cy="431800"/>
          </a:xfrm>
          <a:prstGeom prst="ellipse">
            <a:avLst/>
          </a:prstGeom>
          <a:solidFill>
            <a:srgbClr val="17499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5243E31-674B-458D-B94D-C0D83A5B3D4B}"/>
              </a:ext>
            </a:extLst>
          </p:cNvPr>
          <p:cNvSpPr/>
          <p:nvPr/>
        </p:nvSpPr>
        <p:spPr>
          <a:xfrm>
            <a:off x="254000" y="3632200"/>
            <a:ext cx="431800" cy="431800"/>
          </a:xfrm>
          <a:prstGeom prst="ellipse">
            <a:avLst/>
          </a:prstGeom>
          <a:solidFill>
            <a:srgbClr val="17499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057F8D4-8D22-4931-A0FD-E9E6E2446B3C}"/>
              </a:ext>
            </a:extLst>
          </p:cNvPr>
          <p:cNvSpPr/>
          <p:nvPr/>
        </p:nvSpPr>
        <p:spPr>
          <a:xfrm>
            <a:off x="254000" y="4978400"/>
            <a:ext cx="431800" cy="431800"/>
          </a:xfrm>
          <a:prstGeom prst="ellipse">
            <a:avLst/>
          </a:prstGeom>
          <a:solidFill>
            <a:srgbClr val="17499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9BC905-D017-407A-9F5B-E372D05CC6A7}"/>
              </a:ext>
            </a:extLst>
          </p:cNvPr>
          <p:cNvSpPr/>
          <p:nvPr/>
        </p:nvSpPr>
        <p:spPr>
          <a:xfrm>
            <a:off x="457200" y="1397000"/>
            <a:ext cx="38100" cy="863600"/>
          </a:xfrm>
          <a:prstGeom prst="rect">
            <a:avLst/>
          </a:prstGeom>
          <a:solidFill>
            <a:srgbClr val="17499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77FA6849-3635-4F87-B8CB-3CA53A051F01}"/>
              </a:ext>
            </a:extLst>
          </p:cNvPr>
          <p:cNvSpPr/>
          <p:nvPr/>
        </p:nvSpPr>
        <p:spPr>
          <a:xfrm rot="10800000">
            <a:off x="406400" y="2159000"/>
            <a:ext cx="127000" cy="101600"/>
          </a:xfrm>
          <a:prstGeom prst="triangle">
            <a:avLst/>
          </a:prstGeom>
          <a:solidFill>
            <a:srgbClr val="17499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7CF6893-2268-4669-9D0F-A6D1C070D763}"/>
              </a:ext>
            </a:extLst>
          </p:cNvPr>
          <p:cNvSpPr/>
          <p:nvPr/>
        </p:nvSpPr>
        <p:spPr>
          <a:xfrm>
            <a:off x="457200" y="2743200"/>
            <a:ext cx="38100" cy="863600"/>
          </a:xfrm>
          <a:prstGeom prst="rect">
            <a:avLst/>
          </a:prstGeom>
          <a:solidFill>
            <a:srgbClr val="17499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A4A2E380-6FA1-40A6-922D-1580900C73A3}"/>
              </a:ext>
            </a:extLst>
          </p:cNvPr>
          <p:cNvSpPr/>
          <p:nvPr/>
        </p:nvSpPr>
        <p:spPr>
          <a:xfrm rot="10800000">
            <a:off x="406400" y="3505200"/>
            <a:ext cx="127000" cy="101600"/>
          </a:xfrm>
          <a:prstGeom prst="triangle">
            <a:avLst/>
          </a:prstGeom>
          <a:solidFill>
            <a:srgbClr val="17499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F265BE2-DF71-4A9D-BE3A-B19630B60945}"/>
              </a:ext>
            </a:extLst>
          </p:cNvPr>
          <p:cNvSpPr/>
          <p:nvPr/>
        </p:nvSpPr>
        <p:spPr>
          <a:xfrm>
            <a:off x="457200" y="4089400"/>
            <a:ext cx="38100" cy="863600"/>
          </a:xfrm>
          <a:prstGeom prst="rect">
            <a:avLst/>
          </a:prstGeom>
          <a:solidFill>
            <a:srgbClr val="17499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D4D2BDBA-49B9-4013-9904-B5B36975CCE2}"/>
              </a:ext>
            </a:extLst>
          </p:cNvPr>
          <p:cNvSpPr/>
          <p:nvPr/>
        </p:nvSpPr>
        <p:spPr>
          <a:xfrm rot="10800000">
            <a:off x="406400" y="4851400"/>
            <a:ext cx="127000" cy="101600"/>
          </a:xfrm>
          <a:prstGeom prst="triangle">
            <a:avLst/>
          </a:prstGeom>
          <a:solidFill>
            <a:srgbClr val="174994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B33417F-2279-4031-8FB4-CF743A373134}"/>
              </a:ext>
            </a:extLst>
          </p:cNvPr>
          <p:cNvSpPr txBox="1"/>
          <p:nvPr/>
        </p:nvSpPr>
        <p:spPr>
          <a:xfrm>
            <a:off x="812800" y="894947"/>
            <a:ext cx="5918200" cy="101566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174994"/>
                </a:solidFill>
                <a:latin typeface="Times New Roman"/>
              </a:rPr>
              <a:t>Shell evolution &amp; shape coexistence</a:t>
            </a:r>
          </a:p>
          <a:p>
            <a:pPr>
              <a:buNone/>
            </a:pPr>
            <a:r>
              <a:rPr lang="en-US" sz="2000" dirty="0">
                <a:solidFill>
                  <a:srgbClr val="2D2D2D"/>
                </a:solidFill>
                <a:latin typeface="Times New Roman"/>
              </a:rPr>
              <a:t>Magic numbers erode in neutron-rich nuclei; tensor </a:t>
            </a:r>
            <a:r>
              <a:rPr lang="en-US" sz="2000" i="1" dirty="0">
                <a:solidFill>
                  <a:srgbClr val="2D2D2D"/>
                </a:solidFill>
                <a:latin typeface="Times New Roman"/>
              </a:rPr>
              <a:t>NN</a:t>
            </a:r>
            <a:r>
              <a:rPr lang="en-US" sz="2000" dirty="0">
                <a:solidFill>
                  <a:srgbClr val="2D2D2D"/>
                </a:solidFill>
                <a:latin typeface="Times New Roman"/>
              </a:rPr>
              <a:t> force drives coexisting deformations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D078F6-F017-42D6-AE7B-9D6A52307F4E}"/>
              </a:ext>
            </a:extLst>
          </p:cNvPr>
          <p:cNvSpPr txBox="1"/>
          <p:nvPr/>
        </p:nvSpPr>
        <p:spPr>
          <a:xfrm>
            <a:off x="812800" y="2241147"/>
            <a:ext cx="5918200" cy="101566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174994"/>
                </a:solidFill>
                <a:latin typeface="Times New Roman"/>
              </a:rPr>
              <a:t>Probe via direct &amp; surrogate reactions</a:t>
            </a:r>
          </a:p>
          <a:p>
            <a:pPr>
              <a:buNone/>
            </a:pPr>
            <a:r>
              <a:rPr lang="en-US" sz="2000" dirty="0">
                <a:solidFill>
                  <a:srgbClr val="2D2D2D"/>
                </a:solidFill>
                <a:latin typeface="Times New Roman"/>
              </a:rPr>
              <a:t>(d,p) / (p,d) → </a:t>
            </a:r>
            <a:r>
              <a:rPr lang="en-US" sz="2000" i="1" dirty="0">
                <a:solidFill>
                  <a:srgbClr val="2D2D2D"/>
                </a:solidFill>
                <a:latin typeface="Times New Roman"/>
              </a:rPr>
              <a:t>C</a:t>
            </a:r>
            <a:r>
              <a:rPr lang="en-US" sz="2000" baseline="30000" dirty="0">
                <a:solidFill>
                  <a:srgbClr val="2D2D2D"/>
                </a:solidFill>
                <a:latin typeface="Times New Roman"/>
              </a:rPr>
              <a:t>2</a:t>
            </a:r>
            <a:r>
              <a:rPr lang="en-US" sz="2000" i="1" dirty="0">
                <a:solidFill>
                  <a:srgbClr val="2D2D2D"/>
                </a:solidFill>
                <a:latin typeface="Times New Roman"/>
              </a:rPr>
              <a:t>S</a:t>
            </a:r>
            <a:r>
              <a:rPr lang="en-US" sz="2000" dirty="0">
                <a:solidFill>
                  <a:srgbClr val="2D2D2D"/>
                </a:solidFill>
                <a:latin typeface="Times New Roman"/>
              </a:rPr>
              <a:t>, </a:t>
            </a:r>
            <a:r>
              <a:rPr lang="en-US" sz="2000" i="1" dirty="0">
                <a:solidFill>
                  <a:srgbClr val="2D2D2D"/>
                </a:solidFill>
                <a:latin typeface="Times New Roman"/>
              </a:rPr>
              <a:t>J</a:t>
            </a:r>
            <a:r>
              <a:rPr lang="en-US" sz="2000" baseline="30000" dirty="0">
                <a:solidFill>
                  <a:srgbClr val="2D2D2D"/>
                </a:solidFill>
                <a:latin typeface="Times New Roman"/>
              </a:rPr>
              <a:t>π</a:t>
            </a:r>
            <a:r>
              <a:rPr lang="en-US" sz="2000" dirty="0">
                <a:solidFill>
                  <a:srgbClr val="2D2D2D"/>
                </a:solidFill>
                <a:latin typeface="Times New Roman"/>
              </a:rPr>
              <a:t>; surrogates constrain </a:t>
            </a:r>
            <a:r>
              <a:rPr lang="en-US" sz="2000" b="1" i="1" dirty="0">
                <a:solidFill>
                  <a:srgbClr val="CC0000"/>
                </a:solidFill>
                <a:latin typeface="Times New Roman"/>
              </a:rPr>
              <a:t>r</a:t>
            </a:r>
            <a:r>
              <a:rPr lang="en-US" sz="2000" b="1" dirty="0">
                <a:solidFill>
                  <a:srgbClr val="CC0000"/>
                </a:solidFill>
                <a:latin typeface="Times New Roman"/>
              </a:rPr>
              <a:t>-process (n,γ) rates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A2329D1-4B6E-4E40-BE55-1CAB04418595}"/>
              </a:ext>
            </a:extLst>
          </p:cNvPr>
          <p:cNvSpPr txBox="1"/>
          <p:nvPr/>
        </p:nvSpPr>
        <p:spPr>
          <a:xfrm>
            <a:off x="812800" y="3587347"/>
            <a:ext cx="5918200" cy="101566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174994"/>
                </a:solidFill>
                <a:latin typeface="Times New Roman"/>
              </a:rPr>
              <a:t>Active-target TPCs for rare-isotope beams</a:t>
            </a:r>
          </a:p>
          <a:p>
            <a:pPr>
              <a:buNone/>
            </a:pPr>
            <a:r>
              <a:rPr lang="en-US" sz="2000" dirty="0">
                <a:solidFill>
                  <a:srgbClr val="2D2D2D"/>
                </a:solidFill>
                <a:latin typeface="Times New Roman"/>
              </a:rPr>
              <a:t>Gas = target + detector → thick-target luminosity, full kinematics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4F96D69-F251-45D6-A610-B1948F963929}"/>
              </a:ext>
            </a:extLst>
          </p:cNvPr>
          <p:cNvSpPr txBox="1"/>
          <p:nvPr/>
        </p:nvSpPr>
        <p:spPr>
          <a:xfrm>
            <a:off x="812800" y="4933547"/>
            <a:ext cx="5918200" cy="1015663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174994"/>
                </a:solidFill>
                <a:latin typeface="Times New Roman"/>
              </a:rPr>
              <a:t>Bottleneck: </a:t>
            </a:r>
            <a:r>
              <a:rPr lang="en-US" sz="2000" b="1" dirty="0">
                <a:solidFill>
                  <a:srgbClr val="CC0000"/>
                </a:solidFill>
                <a:latin typeface="Times New Roman"/>
              </a:rPr>
              <a:t>TB-scale data</a:t>
            </a:r>
            <a:r>
              <a:rPr lang="en-US" sz="2000" b="1" dirty="0">
                <a:solidFill>
                  <a:srgbClr val="174994"/>
                </a:solidFill>
                <a:latin typeface="Times New Roman"/>
              </a:rPr>
              <a:t> per experiment</a:t>
            </a:r>
          </a:p>
          <a:p>
            <a:pPr>
              <a:buNone/>
            </a:pPr>
            <a:r>
              <a:rPr lang="en-US" sz="2000" dirty="0">
                <a:solidFill>
                  <a:srgbClr val="2D2D2D"/>
                </a:solidFill>
                <a:latin typeface="Times New Roman"/>
              </a:rPr>
              <a:t>Each run produces several TB of raw data → extracting physics from this volume is a key challenge</a:t>
            </a:r>
          </a:p>
        </p:txBody>
      </p:sp>
      <p:pic>
        <p:nvPicPr>
          <p:cNvPr id="47" name="Graphic 4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4800" y="990600"/>
            <a:ext cx="330200" cy="330200"/>
          </a:xfrm>
          <a:prstGeom prst="rect">
            <a:avLst/>
          </a:prstGeom>
        </p:spPr>
      </p:pic>
      <p:pic>
        <p:nvPicPr>
          <p:cNvPr id="48" name="Graphic 4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4800" y="2336800"/>
            <a:ext cx="330200" cy="330200"/>
          </a:xfrm>
          <a:prstGeom prst="rect">
            <a:avLst/>
          </a:prstGeom>
        </p:spPr>
      </p:pic>
      <p:pic>
        <p:nvPicPr>
          <p:cNvPr id="49" name="Graphic 4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04800" y="3683000"/>
            <a:ext cx="330200" cy="330200"/>
          </a:xfrm>
          <a:prstGeom prst="rect">
            <a:avLst/>
          </a:prstGeom>
        </p:spPr>
      </p:pic>
      <p:pic>
        <p:nvPicPr>
          <p:cNvPr id="50" name="Graphic 5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04800" y="5029200"/>
            <a:ext cx="330200" cy="330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6263640"/>
            <a:ext cx="11277295" cy="25400"/>
          </a:xfrm>
          <a:prstGeom prst="rect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505152" y="6400800"/>
            <a:ext cx="50366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A4A4A"/>
                </a:solidFill>
                <a:latin typeface="Times New Roman"/>
              </a:defRPr>
            </a:pPr>
            <a:r>
              <a:rPr lang="en-US" dirty="0"/>
              <a:t>1 / 5</a:t>
            </a:r>
          </a:p>
        </p:txBody>
      </p:sp>
    </p:spTree>
    <p:extLst>
      <p:ext uri="{BB962C8B-B14F-4D97-AF65-F5344CB8AC3E}">
        <p14:creationId xmlns:p14="http://schemas.microsoft.com/office/powerpoint/2010/main" val="30317731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04088"/>
          </a:xfrm>
          <a:prstGeom prst="rect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96012"/>
            <a:ext cx="10911535" cy="366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Times New Roman"/>
              </a:defRPr>
            </a:pPr>
            <a:r>
              <a:rPr lang="en-US" dirty="0"/>
              <a:t>The PID Problem in Active-Target TPCs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00100"/>
            <a:ext cx="1059984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74994"/>
                </a:solidFill>
                <a:latin typeface="Times New Roman"/>
              </a:defRPr>
            </a:pPr>
            <a:r>
              <a:rPr lang="en-US" sz="2000" dirty="0"/>
              <a:t>Traditional methods struggle with TPC data</a:t>
            </a:r>
          </a:p>
          <a:p>
            <a:pPr lvl="1">
              <a:spcAft>
                <a:spcPts val="600"/>
              </a:spcAft>
              <a:defRPr sz="1600">
                <a:solidFill>
                  <a:srgbClr val="2D2D2D"/>
                </a:solidFill>
                <a:latin typeface="Times New Roman"/>
              </a:defRPr>
            </a:pPr>
            <a:r>
              <a:rPr lang="en-US" sz="2000" dirty="0"/>
              <a:t>dE-E: overlapping distributions at similar A/Z (e.g., ³He/⁴He, ¹³C/¹⁴C)</a:t>
            </a:r>
          </a:p>
          <a:p>
            <a:pPr lvl="1">
              <a:spcAft>
                <a:spcPts val="600"/>
              </a:spcAft>
              <a:defRPr sz="1600">
                <a:solidFill>
                  <a:srgbClr val="2D2D2D"/>
                </a:solidFill>
                <a:latin typeface="Times New Roman"/>
              </a:defRPr>
            </a:pPr>
            <a:r>
              <a:rPr lang="en-US" sz="2000" dirty="0"/>
              <a:t>Bragg-curve fitting: pile-up, dynamic range across beam vs. recoil region</a:t>
            </a:r>
          </a:p>
          <a:p>
            <a:pPr lvl="1">
              <a:spcAft>
                <a:spcPts val="600"/>
              </a:spcAft>
              <a:defRPr sz="1600">
                <a:solidFill>
                  <a:srgbClr val="2D2D2D"/>
                </a:solidFill>
                <a:latin typeface="Times New Roman"/>
              </a:defRPr>
            </a:pPr>
            <a:r>
              <a:rPr lang="en-US" sz="2000" dirty="0"/>
              <a:t>Hough transform mislabels ~1.5% of events (NST-2025-0958)</a:t>
            </a:r>
          </a:p>
          <a:p>
            <a:pPr>
              <a:spcAft>
                <a:spcPts val="600"/>
              </a:spcAft>
              <a:defRPr sz="1600" b="1">
                <a:solidFill>
                  <a:srgbClr val="174994"/>
                </a:solidFill>
                <a:latin typeface="Times New Roman"/>
              </a:defRPr>
            </a:pPr>
            <a:r>
              <a:rPr lang="en-US" sz="2000" dirty="0"/>
              <a:t>MATE-TPC at IMP (HIRFL-RIBLL)</a:t>
            </a:r>
          </a:p>
          <a:p>
            <a:pPr lvl="1">
              <a:spcAft>
                <a:spcPts val="600"/>
              </a:spcAft>
              <a:defRPr sz="1600">
                <a:solidFill>
                  <a:srgbClr val="2D2D2D"/>
                </a:solidFill>
                <a:latin typeface="Times New Roman"/>
              </a:defRPr>
            </a:pPr>
            <a:r>
              <a:rPr lang="en-US" sz="2000" dirty="0"/>
              <a:t>GEM readout, 3,792 triangular pads (48×80), GET electronics</a:t>
            </a:r>
          </a:p>
          <a:p>
            <a:pPr lvl="1">
              <a:spcAft>
                <a:spcPts val="600"/>
              </a:spcAft>
              <a:defRPr sz="1600">
                <a:solidFill>
                  <a:srgbClr val="2D2D2D"/>
                </a:solidFill>
                <a:latin typeface="Times New Roman"/>
              </a:defRPr>
            </a:pPr>
            <a:r>
              <a:rPr lang="en-US" sz="2000" dirty="0"/>
              <a:t>¹²C+¹²C commissioning data: elastic vs. fusion + 5 reaction channels</a:t>
            </a:r>
          </a:p>
          <a:p>
            <a:pPr>
              <a:spcAft>
                <a:spcPts val="600"/>
              </a:spcAft>
              <a:defRPr sz="1600" b="1">
                <a:solidFill>
                  <a:srgbClr val="174994"/>
                </a:solidFill>
                <a:latin typeface="Times New Roman"/>
              </a:defRPr>
            </a:pPr>
            <a:r>
              <a:rPr lang="en-US" sz="2000" dirty="0"/>
              <a:t>Key insight: 2D track images encode species-specific spatial signatures</a:t>
            </a:r>
          </a:p>
          <a:p>
            <a:pPr lvl="1">
              <a:spcAft>
                <a:spcPts val="600"/>
              </a:spcAft>
              <a:defRPr sz="1600">
                <a:solidFill>
                  <a:srgbClr val="2D2D2D"/>
                </a:solidFill>
                <a:latin typeface="Times New Roman"/>
              </a:defRPr>
            </a:pPr>
            <a:r>
              <a:rPr lang="en-US" sz="2000" dirty="0"/>
              <a:t>Bragg peak position, track curvature, energy deposition pattern → underutilized by cuts</a:t>
            </a:r>
          </a:p>
          <a:p>
            <a:pPr>
              <a:spcAft>
                <a:spcPts val="600"/>
              </a:spcAft>
              <a:defRPr sz="1600" b="1">
                <a:solidFill>
                  <a:srgbClr val="174994"/>
                </a:solidFill>
                <a:latin typeface="Times New Roman"/>
              </a:defRPr>
            </a:pPr>
            <a:r>
              <a:rPr lang="en-US" sz="2000" dirty="0"/>
              <a:t>Our approach: CNNs on track images → the MATE-Automation pipeline</a:t>
            </a:r>
          </a:p>
          <a:p>
            <a:pPr lvl="1">
              <a:spcAft>
                <a:spcPts val="600"/>
              </a:spcAft>
              <a:defRPr sz="1600">
                <a:solidFill>
                  <a:srgbClr val="2D2D2D"/>
                </a:solidFill>
                <a:latin typeface="Times New Roman"/>
              </a:defRPr>
            </a:pPr>
            <a:r>
              <a:rPr lang="en-US" sz="2000" dirty="0"/>
              <a:t>ResNet-18 backbone + CrossAttention fusion of physics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263640"/>
            <a:ext cx="11277295" cy="25400"/>
          </a:xfrm>
          <a:prstGeom prst="rect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505152" y="6400800"/>
            <a:ext cx="50366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A4A4A"/>
                </a:solidFill>
                <a:latin typeface="Times New Roman"/>
              </a:defRPr>
            </a:pPr>
            <a:r>
              <a:rPr lang="en-US" dirty="0"/>
              <a:t>2 / 5</a:t>
            </a:r>
          </a:p>
        </p:txBody>
      </p:sp>
    </p:spTree>
    <p:extLst>
      <p:ext uri="{BB962C8B-B14F-4D97-AF65-F5344CB8AC3E}">
        <p14:creationId xmlns:p14="http://schemas.microsoft.com/office/powerpoint/2010/main" val="3404036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04088"/>
          </a:xfrm>
          <a:prstGeom prst="rect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96012"/>
            <a:ext cx="10911535" cy="366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Times New Roman"/>
              </a:defRPr>
            </a:pPr>
            <a:r>
              <a:rPr lang="en-US" dirty="0"/>
              <a:t>Results: Event Classification to Trajectory Reconstruction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263640"/>
            <a:ext cx="11277295" cy="25400"/>
          </a:xfrm>
          <a:prstGeom prst="rect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505152" y="6400800"/>
            <a:ext cx="50366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A4A4A"/>
                </a:solidFill>
                <a:latin typeface="Times New Roman"/>
              </a:defRPr>
            </a:pPr>
            <a:r>
              <a:rPr lang="en-US" dirty="0"/>
              <a:t>3 /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6583680" cy="37087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74994"/>
                </a:solidFill>
                <a:latin typeface="Times New Roman"/>
              </a:defRPr>
            </a:pPr>
            <a:r>
              <a:rPr lang="en-US" dirty="0"/>
              <a:t>PID Classification (NST-2025-0958, ¹²C+¹²C)</a:t>
            </a:r>
          </a:p>
          <a:p>
            <a:pPr lvl="1">
              <a:spcAft>
                <a:spcPts val="600"/>
              </a:spcAft>
              <a:defRPr sz="1500" b="1">
                <a:solidFill>
                  <a:srgbClr val="2D2D2D"/>
                </a:solidFill>
                <a:latin typeface="Times New Roman"/>
              </a:defRPr>
            </a:pPr>
            <a:r>
              <a:rPr lang="en-US" dirty="0"/>
              <a:t>Elastic/fusion: 90–97% accuracy (ResNet-50, sim+exp)</a:t>
            </a:r>
          </a:p>
          <a:p>
            <a:pPr lvl="1">
              <a:spcAft>
                <a:spcPts val="600"/>
              </a:spcAft>
              <a:defRPr sz="1500" b="1">
                <a:solidFill>
                  <a:srgbClr val="2D2D2D"/>
                </a:solidFill>
                <a:latin typeface="Times New Roman"/>
              </a:defRPr>
            </a:pPr>
            <a:r>
              <a:rPr lang="en-US" dirty="0"/>
              <a:t>5-channel fusion discrimination: ~95% (p, α, n, ⁸Be, 2α)</a:t>
            </a:r>
          </a:p>
          <a:p>
            <a:pPr lvl="1">
              <a:spcAft>
                <a:spcPts val="600"/>
              </a:spcAft>
              <a:defRPr sz="1500">
                <a:solidFill>
                  <a:srgbClr val="2D2D2D"/>
                </a:solidFill>
                <a:latin typeface="Times New Roman"/>
              </a:defRPr>
            </a:pPr>
            <a:r>
              <a:rPr lang="en-US" dirty="0"/>
              <a:t>Precision 0.948, Recall 0.914, F1 0.931 on experimental data</a:t>
            </a:r>
          </a:p>
          <a:p>
            <a:pPr>
              <a:spcAft>
                <a:spcPts val="600"/>
              </a:spcAft>
              <a:defRPr sz="1500" b="1">
                <a:solidFill>
                  <a:srgbClr val="174994"/>
                </a:solidFill>
                <a:latin typeface="Times New Roman"/>
              </a:defRPr>
            </a:pPr>
            <a:r>
              <a:rPr lang="en-US" dirty="0"/>
              <a:t>Architecture Study (EXP1/EXP2, thesis)</a:t>
            </a:r>
          </a:p>
          <a:p>
            <a:pPr lvl="1">
              <a:spcAft>
                <a:spcPts val="600"/>
              </a:spcAft>
              <a:defRPr sz="1500" b="1">
                <a:solidFill>
                  <a:srgbClr val="2D2D2D"/>
                </a:solidFill>
                <a:latin typeface="Times New Roman"/>
              </a:defRPr>
            </a:pPr>
            <a:r>
              <a:rPr lang="en-US" dirty="0"/>
              <a:t>CrossAtt+HC on 3He/4He: 95.80% (controlled, matched 100k)</a:t>
            </a:r>
          </a:p>
          <a:p>
            <a:pPr lvl="1">
              <a:spcAft>
                <a:spcPts val="600"/>
              </a:spcAft>
              <a:defRPr sz="1500">
                <a:solidFill>
                  <a:srgbClr val="2D2D2D"/>
                </a:solidFill>
                <a:latin typeface="Times New Roman"/>
              </a:defRPr>
            </a:pPr>
            <a:r>
              <a:rPr lang="en-US" dirty="0"/>
              <a:t>EXP2 fusion comparison: CrossAtt vs Gated vs Concat on 13C/14C</a:t>
            </a:r>
          </a:p>
          <a:p>
            <a:pPr>
              <a:spcAft>
                <a:spcPts val="600"/>
              </a:spcAft>
              <a:defRPr sz="1500" b="1">
                <a:solidFill>
                  <a:srgbClr val="174994"/>
                </a:solidFill>
                <a:latin typeface="Times New Roman"/>
              </a:defRPr>
            </a:pPr>
            <a:r>
              <a:rPr lang="en-US" dirty="0"/>
              <a:t>Trajectory Reconstruction (TRK series, new)</a:t>
            </a:r>
          </a:p>
          <a:p>
            <a:pPr lvl="1">
              <a:spcAft>
                <a:spcPts val="600"/>
              </a:spcAft>
              <a:defRPr sz="1500">
                <a:solidFill>
                  <a:srgbClr val="2D2D2D"/>
                </a:solidFill>
                <a:latin typeface="Times New Roman"/>
              </a:defRPr>
            </a:pPr>
            <a:r>
              <a:rPr lang="en-US" dirty="0"/>
              <a:t>Same framework extended to angle regression</a:t>
            </a:r>
          </a:p>
          <a:p>
            <a:pPr lvl="1">
              <a:spcAft>
                <a:spcPts val="600"/>
              </a:spcAft>
              <a:defRPr sz="1500" b="1">
                <a:solidFill>
                  <a:srgbClr val="2D2D2D"/>
                </a:solidFill>
                <a:latin typeface="Times New Roman"/>
              </a:defRPr>
            </a:pPr>
            <a:r>
              <a:rPr lang="en-US" dirty="0"/>
              <a:t>CrossAtt reduces MAE by 16.1% (0.99°→0.83°, p&lt;10⁻¹⁶)</a:t>
            </a:r>
          </a:p>
          <a:p>
            <a:pPr lvl="1">
              <a:spcAft>
                <a:spcPts val="600"/>
              </a:spcAft>
              <a:defRPr sz="1500" b="1">
                <a:solidFill>
                  <a:srgbClr val="2D2D2D"/>
                </a:solidFill>
                <a:latin typeface="Times New Roman"/>
              </a:defRPr>
            </a:pPr>
            <a:r>
              <a:rPr lang="en-US" dirty="0"/>
              <a:t>High-precision fraction: 65.3%→72.9% (+7.6 pp)</a:t>
            </a:r>
          </a:p>
          <a:p>
            <a:pPr>
              <a:spcAft>
                <a:spcPts val="600"/>
              </a:spcAft>
              <a:defRPr sz="1500" b="1">
                <a:solidFill>
                  <a:srgbClr val="174994"/>
                </a:solidFill>
                <a:latin typeface="Times New Roman"/>
              </a:defRPr>
            </a:pPr>
            <a:r>
              <a:rPr lang="en-US" dirty="0"/>
              <a:t>Takeaway: pipeline generalizes — classification AND regression</a:t>
            </a:r>
          </a:p>
        </p:txBody>
      </p:sp>
      <p:pic>
        <p:nvPicPr>
          <p:cNvPr id="7" name="Picture 6" descr="cross_task_honest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234440"/>
            <a:ext cx="4572000" cy="2199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041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04088"/>
          </a:xfrm>
          <a:prstGeom prst="rect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96012"/>
            <a:ext cx="10911535" cy="366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Times New Roman"/>
              </a:defRPr>
            </a:pPr>
            <a:r>
              <a:rPr lang="en-US" dirty="0"/>
              <a:t>Connection: From MATE-TPC (IMP) to DONUTS (UTokyo CNS)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263640"/>
            <a:ext cx="11277295" cy="25400"/>
          </a:xfrm>
          <a:prstGeom prst="rect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505152" y="6400800"/>
            <a:ext cx="50366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A4A4A"/>
                </a:solidFill>
                <a:latin typeface="Times New Roman"/>
              </a:defRPr>
            </a:pPr>
            <a:r>
              <a:rPr lang="en-US" dirty="0"/>
              <a:t>4 /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6858000" cy="4139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74994"/>
                </a:solidFill>
                <a:latin typeface="Times New Roman"/>
              </a:defRPr>
            </a:pPr>
            <a:r>
              <a:rPr lang="en-US" dirty="0"/>
              <a:t>ML-PID for active-target TPCs maps directly to the DONUTS program</a:t>
            </a:r>
          </a:p>
          <a:p>
            <a:pPr>
              <a:spcAft>
                <a:spcPts val="600"/>
              </a:spcAft>
              <a:defRPr sz="1600" b="1">
                <a:solidFill>
                  <a:srgbClr val="174994"/>
                </a:solidFill>
                <a:latin typeface="Times New Roman"/>
              </a:defRPr>
            </a:pPr>
            <a:r>
              <a:rPr lang="en-US" dirty="0"/>
              <a:t>OEDO-SHARAQ: inverse-kinematics direct reactions on exotic nuclei</a:t>
            </a:r>
          </a:p>
          <a:p>
            <a:pPr lvl="1">
              <a:spcAft>
                <a:spcPts val="600"/>
              </a:spcAft>
              <a:defRPr sz="1600">
                <a:solidFill>
                  <a:srgbClr val="2D2D2D"/>
                </a:solidFill>
                <a:latin typeface="Times New Roman"/>
              </a:defRPr>
            </a:pPr>
            <a:r>
              <a:rPr lang="en-US" dirty="0"/>
              <a:t>(d,p), (p,d) transfer reactions at 10–30 MeV/u via RIKEN RIBF</a:t>
            </a:r>
          </a:p>
          <a:p>
            <a:pPr lvl="1">
              <a:spcAft>
                <a:spcPts val="600"/>
              </a:spcAft>
              <a:defRPr sz="1600">
                <a:solidFill>
                  <a:srgbClr val="2D2D2D"/>
                </a:solidFill>
                <a:latin typeface="Times New Roman"/>
              </a:defRPr>
            </a:pPr>
            <a:r>
              <a:rPr lang="en-US" dirty="0"/>
              <a:t>Same PID challenge: separate light recoils (p, d, α) from beam background</a:t>
            </a:r>
          </a:p>
          <a:p>
            <a:pPr lvl="1">
              <a:spcAft>
                <a:spcPts val="600"/>
              </a:spcAft>
              <a:defRPr sz="1600">
                <a:solidFill>
                  <a:srgbClr val="2D2D2D"/>
                </a:solidFill>
                <a:latin typeface="Times New Roman"/>
              </a:defRPr>
            </a:pPr>
            <a:r>
              <a:rPr lang="en-US" dirty="0"/>
              <a:t>DG-M-THGEM active target: GEM-based, dual gain, stable to 2.5×10⁶ pps</a:t>
            </a:r>
          </a:p>
          <a:p>
            <a:pPr>
              <a:spcAft>
                <a:spcPts val="600"/>
              </a:spcAft>
              <a:defRPr sz="1600" b="1">
                <a:solidFill>
                  <a:srgbClr val="174994"/>
                </a:solidFill>
                <a:latin typeface="Times New Roman"/>
              </a:defRPr>
            </a:pPr>
            <a:r>
              <a:rPr lang="en-US" dirty="0"/>
              <a:t>SAKURA: surrogate (d,p) for r-process (n,γ) cross-sections</a:t>
            </a:r>
          </a:p>
          <a:p>
            <a:pPr lvl="1">
              <a:spcAft>
                <a:spcPts val="600"/>
              </a:spcAft>
              <a:defRPr sz="1600">
                <a:solidFill>
                  <a:srgbClr val="2D2D2D"/>
                </a:solidFill>
                <a:latin typeface="Times New Roman"/>
              </a:defRPr>
            </a:pPr>
            <a:r>
              <a:rPr lang="en-US" dirty="0"/>
              <a:t>⁹⁹Se(d,p) flagship result (Imai et al., PLB 2024) → reliable PID essential</a:t>
            </a:r>
          </a:p>
          <a:p>
            <a:pPr lvl="1">
              <a:spcAft>
                <a:spcPts val="600"/>
              </a:spcAft>
              <a:defRPr sz="1600">
                <a:solidFill>
                  <a:srgbClr val="2D2D2D"/>
                </a:solidFill>
                <a:latin typeface="Times New Roman"/>
              </a:defRPr>
            </a:pPr>
            <a:r>
              <a:rPr lang="en-US" dirty="0"/>
              <a:t>Extending to more exotic targets: ML-PID improves channel discrimination</a:t>
            </a:r>
          </a:p>
          <a:p>
            <a:pPr>
              <a:spcAft>
                <a:spcPts val="600"/>
              </a:spcAft>
              <a:defRPr sz="1600" b="1">
                <a:solidFill>
                  <a:srgbClr val="174994"/>
                </a:solidFill>
                <a:latin typeface="Times New Roman"/>
              </a:defRPr>
            </a:pPr>
            <a:r>
              <a:rPr lang="en-US" dirty="0"/>
              <a:t>Transferable capabilities from my work:</a:t>
            </a:r>
          </a:p>
          <a:p>
            <a:pPr lvl="1">
              <a:spcAft>
                <a:spcPts val="600"/>
              </a:spcAft>
              <a:defRPr sz="1600">
                <a:solidFill>
                  <a:srgbClr val="2D2D2D"/>
                </a:solidFill>
                <a:latin typeface="Times New Roman"/>
              </a:defRPr>
            </a:pPr>
            <a:r>
              <a:rPr lang="en-US" dirty="0"/>
              <a:t>ResNet + CrossAtt framework adaptable to different TPC geometries</a:t>
            </a:r>
          </a:p>
          <a:p>
            <a:pPr lvl="1">
              <a:spcAft>
                <a:spcPts val="600"/>
              </a:spcAft>
              <a:defRPr sz="1600">
                <a:solidFill>
                  <a:srgbClr val="2D2D2D"/>
                </a:solidFill>
                <a:latin typeface="Times New Roman"/>
              </a:defRPr>
            </a:pPr>
            <a:r>
              <a:rPr lang="en-US" dirty="0"/>
              <a:t>Full pipeline: simulation → image → ML inference → validated on experimental data</a:t>
            </a:r>
          </a:p>
          <a:p>
            <a:pPr lvl="1">
              <a:spcAft>
                <a:spcPts val="600"/>
              </a:spcAft>
              <a:defRPr sz="1600">
                <a:solidFill>
                  <a:srgbClr val="2D2D2D"/>
                </a:solidFill>
                <a:latin typeface="Times New Roman"/>
              </a:defRPr>
            </a:pPr>
            <a:r>
              <a:rPr lang="en-US" dirty="0"/>
              <a:t>Track reconstruction + angle regression adds trajectory analysis capability</a:t>
            </a:r>
          </a:p>
        </p:txBody>
      </p:sp>
      <p:pic>
        <p:nvPicPr>
          <p:cNvPr id="7" name="Picture 6" descr="OEDO-SHARA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371600"/>
            <a:ext cx="4114800" cy="2314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843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04088"/>
          </a:xfrm>
          <a:prstGeom prst="rect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96012"/>
            <a:ext cx="10911535" cy="366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Times New Roman"/>
              </a:defRPr>
            </a:pPr>
            <a:r>
              <a:rPr lang="en-US" dirty="0"/>
              <a:t>Outlook: Next Steps and Open Questions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263640"/>
            <a:ext cx="11277295" cy="25400"/>
          </a:xfrm>
          <a:prstGeom prst="rect">
            <a:avLst/>
          </a:prstGeom>
          <a:solidFill>
            <a:srgbClr val="1749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505152" y="6400800"/>
            <a:ext cx="50366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4A4A4A"/>
                </a:solidFill>
                <a:latin typeface="Times New Roman"/>
              </a:defRPr>
            </a:pPr>
            <a:r>
              <a:rPr lang="en-US" dirty="0"/>
              <a:t>5 /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10058400" cy="357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74994"/>
                </a:solidFill>
                <a:latin typeface="Times New Roman"/>
              </a:defRPr>
            </a:pPr>
            <a:r>
              <a:rPr lang="en-US" dirty="0"/>
              <a:t>Extend CrossAtt-PID framework to DONUTS detector data</a:t>
            </a:r>
          </a:p>
          <a:p>
            <a:pPr lvl="1">
              <a:spcAft>
                <a:spcPts val="600"/>
              </a:spcAft>
              <a:defRPr sz="1600">
                <a:solidFill>
                  <a:srgbClr val="2D2D2D"/>
                </a:solidFill>
                <a:latin typeface="Times New Roman"/>
              </a:defRPr>
            </a:pPr>
            <a:r>
              <a:rPr lang="en-US" dirty="0"/>
              <a:t>Adapt pipeline from MATE triangular pads → DG-M-THGEM geometry</a:t>
            </a:r>
          </a:p>
          <a:p>
            <a:pPr lvl="1">
              <a:spcAft>
                <a:spcPts val="600"/>
              </a:spcAft>
              <a:defRPr sz="1600">
                <a:solidFill>
                  <a:srgbClr val="2D2D2D"/>
                </a:solidFill>
                <a:latin typeface="Times New Roman"/>
              </a:defRPr>
            </a:pPr>
            <a:r>
              <a:rPr lang="en-US" dirty="0"/>
              <a:t>Leverage simulation infrastructure for new target/beam combinations</a:t>
            </a:r>
          </a:p>
          <a:p>
            <a:pPr>
              <a:spcAft>
                <a:spcPts val="600"/>
              </a:spcAft>
              <a:defRPr sz="1600" b="1">
                <a:solidFill>
                  <a:srgbClr val="174994"/>
                </a:solidFill>
                <a:latin typeface="Times New Roman"/>
              </a:defRPr>
            </a:pPr>
            <a:r>
              <a:rPr lang="en-US" dirty="0"/>
              <a:t>Open questions for discussion</a:t>
            </a:r>
          </a:p>
          <a:p>
            <a:pPr lvl="1">
              <a:spcAft>
                <a:spcPts val="600"/>
              </a:spcAft>
              <a:defRPr sz="1600">
                <a:solidFill>
                  <a:srgbClr val="2D2D2D"/>
                </a:solidFill>
                <a:latin typeface="Times New Roman"/>
              </a:defRPr>
            </a:pPr>
            <a:r>
              <a:rPr lang="en-US" dirty="0"/>
              <a:t>Transfer learning: how well does the model generalize across TPC geometries?</a:t>
            </a:r>
          </a:p>
          <a:p>
            <a:pPr lvl="1">
              <a:spcAft>
                <a:spcPts val="600"/>
              </a:spcAft>
              <a:defRPr sz="1600">
                <a:solidFill>
                  <a:srgbClr val="2D2D2D"/>
                </a:solidFill>
                <a:latin typeface="Times New Roman"/>
              </a:defRPr>
            </a:pPr>
            <a:r>
              <a:rPr lang="en-US" dirty="0"/>
              <a:t>Beam conditions: different rates, gas mixtures, dynamic range at RIKEN RIBF</a:t>
            </a:r>
          </a:p>
          <a:p>
            <a:pPr lvl="1">
              <a:spcAft>
                <a:spcPts val="600"/>
              </a:spcAft>
              <a:defRPr sz="1600">
                <a:solidFill>
                  <a:srgbClr val="2D2D2D"/>
                </a:solidFill>
                <a:latin typeface="Times New Roman"/>
              </a:defRPr>
            </a:pPr>
            <a:r>
              <a:rPr lang="en-US" dirty="0"/>
              <a:t>Complex reaction channels in SAKURA: multi-body final states, (d,pγ) coincidences</a:t>
            </a:r>
          </a:p>
          <a:p>
            <a:pPr lvl="1">
              <a:spcAft>
                <a:spcPts val="600"/>
              </a:spcAft>
              <a:defRPr sz="1600">
                <a:solidFill>
                  <a:srgbClr val="2D2D2D"/>
                </a:solidFill>
                <a:latin typeface="Times New Roman"/>
              </a:defRPr>
            </a:pPr>
            <a:r>
              <a:rPr lang="en-US" dirty="0"/>
              <a:t>Integration with existing ATPC Flow analysis framework (Python/C++/Rust)</a:t>
            </a:r>
          </a:p>
          <a:p>
            <a:pPr>
              <a:spcAft>
                <a:spcPts val="600"/>
              </a:spcAft>
              <a:defRPr sz="1600" b="1">
                <a:solidFill>
                  <a:srgbClr val="174994"/>
                </a:solidFill>
                <a:latin typeface="Times New Roman"/>
              </a:defRPr>
            </a:pPr>
            <a:r>
              <a:rPr lang="en-US" dirty="0"/>
              <a:t>Broader vision</a:t>
            </a:r>
          </a:p>
          <a:p>
            <a:pPr lvl="1">
              <a:spcAft>
                <a:spcPts val="600"/>
              </a:spcAft>
              <a:defRPr sz="1600">
                <a:solidFill>
                  <a:srgbClr val="2D2D2D"/>
                </a:solidFill>
                <a:latin typeface="Times New Roman"/>
              </a:defRPr>
            </a:pPr>
            <a:r>
              <a:rPr lang="en-US" dirty="0"/>
              <a:t>ML-augmented analysis as standard tool for next-generation RI-beam experiments</a:t>
            </a:r>
          </a:p>
          <a:p>
            <a:pPr lvl="1">
              <a:spcAft>
                <a:spcPts val="600"/>
              </a:spcAft>
              <a:defRPr sz="1600">
                <a:solidFill>
                  <a:srgbClr val="2D2D2D"/>
                </a:solidFill>
                <a:latin typeface="Times New Roman"/>
              </a:defRPr>
            </a:pPr>
            <a:r>
              <a:rPr lang="en-US" dirty="0"/>
              <a:t>From PID → full event reconstruction: vertex, track, angle, channel ID in one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02539" y="5577840"/>
            <a:ext cx="588212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174994"/>
                </a:solidFill>
                <a:latin typeface="Times New Roman"/>
              </a:defRPr>
            </a:pPr>
            <a:r>
              <a:rPr lang="en-US" dirty="0"/>
              <a:t>Looking forward to your guidance on the highest-impact application.</a:t>
            </a:r>
          </a:p>
        </p:txBody>
      </p:sp>
    </p:spTree>
    <p:extLst>
      <p:ext uri="{BB962C8B-B14F-4D97-AF65-F5344CB8AC3E}">
        <p14:creationId xmlns:p14="http://schemas.microsoft.com/office/powerpoint/2010/main" val="9922739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75995293779]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70" row="9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CB73592-DE60-4015-83C5-39037CDCF43A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f3ca900e-b63c-4fe2-a426-9eb7c8cc968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221</TotalTime>
  <Words>2108</Words>
  <Application>Microsoft Office PowerPoint</Application>
  <PresentationFormat>Widescreen</PresentationFormat>
  <Paragraphs>131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Office Theme [1775995293779]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智恒 胡</cp:lastModifiedBy>
  <cp:revision>11</cp:revision>
  <dcterms:created xsi:type="dcterms:W3CDTF">2013-01-27T09:14:16Z</dcterms:created>
  <dcterms:modified xsi:type="dcterms:W3CDTF">2026-04-12T12:24:05Z</dcterms:modified>
  <cp:category/>
</cp:coreProperties>
</file>